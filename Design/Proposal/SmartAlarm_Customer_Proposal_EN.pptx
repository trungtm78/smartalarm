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e1e6a89b0f54e3b" Type="http://schemas.openxmlformats.org/package/2006/relationships/metadata/core-properties" Target="docProps/core.xml"/><Relationship Id="R92c8cac5f02f4a96" Type="http://schemas.openxmlformats.org/officeDocument/2006/relationships/officeDocument" Target="ppt/presentation.xml"/><Relationship Id="Re19df09942bc49f0" Type="http://schemas.openxmlformats.org/officeDocument/2006/relationships/extended-properties" Target="docProps/app.xml"/></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bd79aac9c2dc4787"/>
  </p:sldMasterIdLst>
  <p:notesMasterIdLst>
    <p:notesMasterId xmlns:r="http://schemas.openxmlformats.org/officeDocument/2006/relationships" r:id="R03ee1456718c4107"/>
  </p:notesMasterIdLst>
  <p:sldIdLst>
    <p:sldId xmlns:r="http://schemas.openxmlformats.org/officeDocument/2006/relationships" id="256" r:id="Rd3b824b3c56a4a1c"/>
    <p:sldId xmlns:r="http://schemas.openxmlformats.org/officeDocument/2006/relationships" id="257" r:id="R772d01f8182244ce"/>
    <p:sldId xmlns:r="http://schemas.openxmlformats.org/officeDocument/2006/relationships" id="258" r:id="Rf1c7bd4bf711459f"/>
    <p:sldId xmlns:r="http://schemas.openxmlformats.org/officeDocument/2006/relationships" id="259" r:id="R64d978f4974741dc"/>
    <p:sldId xmlns:r="http://schemas.openxmlformats.org/officeDocument/2006/relationships" id="260" r:id="R402d61dffd5d4594"/>
    <p:sldId xmlns:r="http://schemas.openxmlformats.org/officeDocument/2006/relationships" id="261" r:id="Rd77e658bd5564dc1"/>
    <p:sldId xmlns:r="http://schemas.openxmlformats.org/officeDocument/2006/relationships" id="262" r:id="Rf31d67a014264d99"/>
    <p:sldId xmlns:r="http://schemas.openxmlformats.org/officeDocument/2006/relationships" id="263" r:id="R8986666c9c5b423e"/>
    <p:sldId xmlns:r="http://schemas.openxmlformats.org/officeDocument/2006/relationships" id="264" r:id="R06a82829f3d84e3d"/>
    <p:sldId xmlns:r="http://schemas.openxmlformats.org/officeDocument/2006/relationships" id="265" r:id="R592bd631568a4cbe"/>
    <p:sldId xmlns:r="http://schemas.openxmlformats.org/officeDocument/2006/relationships" id="266" r:id="Rd4683dc28cbc4f86"/>
    <p:sldId xmlns:r="http://schemas.openxmlformats.org/officeDocument/2006/relationships" id="267" r:id="R67ff4ddf145d42f4"/>
    <p:sldId xmlns:r="http://schemas.openxmlformats.org/officeDocument/2006/relationships" id="268" r:id="R3f9581d678784e7d"/>
    <p:sldId xmlns:r="http://schemas.openxmlformats.org/officeDocument/2006/relationships" id="269" r:id="R923f1f01be59492d"/>
    <p:sldId xmlns:r="http://schemas.openxmlformats.org/officeDocument/2006/relationships" id="270" r:id="R8963dff127a44f92"/>
    <p:sldId xmlns:r="http://schemas.openxmlformats.org/officeDocument/2006/relationships" id="271" r:id="R7bf6e96f7f9a479b"/>
    <p:sldId xmlns:r="http://schemas.openxmlformats.org/officeDocument/2006/relationships" id="272" r:id="R0f8eb29643e1440b"/>
    <p:sldId xmlns:r="http://schemas.openxmlformats.org/officeDocument/2006/relationships" id="273" r:id="R5d6aa3c6efe64338"/>
    <p:sldId xmlns:r="http://schemas.openxmlformats.org/officeDocument/2006/relationships" id="274" r:id="R07add42806dc4e46"/>
    <p:sldId xmlns:r="http://schemas.openxmlformats.org/officeDocument/2006/relationships" id="275" r:id="R286474b05c614a6e"/>
    <p:sldId xmlns:r="http://schemas.openxmlformats.org/officeDocument/2006/relationships" id="276" r:id="R7cbb952dba4e46c9"/>
    <p:sldId xmlns:r="http://schemas.openxmlformats.org/officeDocument/2006/relationships" id="277" r:id="R1d1f894c05d54e9a"/>
    <p:sldId xmlns:r="http://schemas.openxmlformats.org/officeDocument/2006/relationships" id="278" r:id="Ra6dedbc91f1247d7"/>
    <p:sldId xmlns:r="http://schemas.openxmlformats.org/officeDocument/2006/relationships" id="279" r:id="R041e5bc6ac5844b6"/>
    <p:sldId xmlns:r="http://schemas.openxmlformats.org/officeDocument/2006/relationships" id="280" r:id="R65a65cbb64974781"/>
    <p:sldId id="295" r:id="rId6"/>
    <p:sldId id="294" r:id="rId5"/>
    <p:sldId id="293" r:id="rId4"/>
    <p:sldId id="292" r:id="rId3"/>
    <p:sldId id="291" r:id="rId2"/>
    <p:sldId id="290" r:id="rId1"/>
    <p:sldId xmlns:r="http://schemas.openxmlformats.org/officeDocument/2006/relationships" id="281" r:id="R21172d8909bf41c5"/>
    <p:sldId xmlns:r="http://schemas.openxmlformats.org/officeDocument/2006/relationships" id="282" r:id="Reec033de8d89447f"/>
    <p:sldId xmlns:r="http://schemas.openxmlformats.org/officeDocument/2006/relationships" id="283" r:id="Rb27e9e9ad96e47d6"/>
    <p:sldId xmlns:r="http://schemas.openxmlformats.org/officeDocument/2006/relationships" id="284" r:id="Rb1c3df0506e04065"/>
    <p:sldId xmlns:r="http://schemas.openxmlformats.org/officeDocument/2006/relationships" id="285" r:id="R96205d0d0f124809"/>
    <p:sldId xmlns:r="http://schemas.openxmlformats.org/officeDocument/2006/relationships" id="286" r:id="R20780b76b66f45e1"/>
    <p:sldId xmlns:r="http://schemas.openxmlformats.org/officeDocument/2006/relationships" id="287" r:id="Rf66d74e65c4845bc"/>
    <p:sldId xmlns:r="http://schemas.openxmlformats.org/officeDocument/2006/relationships" id="288" r:id="Ra3e8d53283b14724"/>
    <p:sldId xmlns:r="http://schemas.openxmlformats.org/officeDocument/2006/relationships" id="289" r:id="R90ac0099787843fc"/>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351" r:id="rId62"/>
    <p:sldId id="352" r:id="rId63"/>
    <p:sldId id="353" r:id="rId64"/>
    <p:sldId id="354" r:id="rId65"/>
    <p:sldId id="355" r:id="rId66"/>
    <p:sldId id="356" r:id="rId67"/>
    <p:sldId id="357" r:id="rId68"/>
    <p:sldId id="358" r:id="rId69"/>
    <p:sldId id="359" r:id="rId70"/>
    <p:sldId id="360" r:id="rId71"/>
    <p:sldId id="361" r:id="rId72"/>
    <p:sldId id="362" r:id="rId73"/>
    <p:sldId id="363" r:id="rId74"/>
    <p:sldId id="364" r:id="rId75"/>
    <p:sldId id="365" r:id="rId76"/>
    <p:sldId id="366" r:id="rId77"/>
    <p:sldId id="367" r:id="rId78"/>
    <p:sldId id="368" r:id="rId79"/>
    <p:sldId id="369" r:id="rId80"/>
    <p:sldId id="370" r:id="rId81"/>
    <p:sldId id="371" r:id="rId82"/>
    <p:sldId id="372" r:id="rId83"/>
    <p:sldId id="373" r:id="rId84"/>
    <p:sldId id="374" r:id="rId85"/>
    <p:sldId id="375" r:id="rId86"/>
    <p:sldId id="376" r:id="rId87"/>
    <p:sldId id="377" r:id="rId88"/>
    <p:sldId id="378" r:id="rId89"/>
    <p:sldId id="379" r:id="rId90"/>
    <p:sldId id="380" r:id="rId91"/>
    <p:sldId id="381" r:id="rId92"/>
    <p:sldId id="382" r:id="rId93"/>
    <p:sldId id="383" r:id="rId94"/>
    <p:sldId id="384" r:id="rId95"/>
    <p:sldId id="385" r:id="rId96"/>
    <p:sldId id="386" r:id="rId97"/>
    <p:sldId id="387" r:id="rId98"/>
    <p:sldId id="388" r:id="rId99"/>
    <p:sldId id="389" r:id="rId100"/>
    <p:sldId id="390" r:id="rId101"/>
    <p:sldId id="391" r:id="rId102"/>
    <p:sldId id="392" r:id="rId103"/>
    <p:sldId id="393" r:id="rId104"/>
    <p:sldId id="394" r:id="rId105"/>
    <p:sldId id="395" r:id="rId106"/>
    <p:sldId id="396" r:id="rId107"/>
    <p:sldId id="397" r:id="rId108"/>
    <p:sldId id="398" r:id="rId109"/>
    <p:sldId id="399" r:id="rId110"/>
    <p:sldId id="400" r:id="rId111"/>
    <p:sldId id="401" r:id="rId112"/>
    <p:sldId id="402" r:id="rId113"/>
    <p:sldId id="403" r:id="rId114"/>
    <p:sldId id="404" r:id="rId115"/>
    <p:sldId id="405" r:id="rId116"/>
    <p:sldId id="406" r:id="rId117"/>
    <p:sldId id="407" r:id="rId118"/>
    <p:sldId id="408" r:id="rId119"/>
    <p:sldId id="409" r:id="rId120"/>
    <p:sldId id="410" r:id="rId121"/>
    <p:sldId id="411" r:id="rId122"/>
    <p:sldId id="412" r:id="rId123"/>
    <p:sldId id="413" r:id="rId124"/>
    <p:sldId id="414" r:id="rId125"/>
    <p:sldId id="415" r:id="rId126"/>
    <p:sldId id="416" r:id="rId127"/>
    <p:sldId id="417" r:id="rId128"/>
    <p:sldId id="418" r:id="rId129"/>
    <p:sldId id="419" r:id="rId130"/>
    <p:sldId id="420" r:id="rId131"/>
    <p:sldId id="421" r:id="rId1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ee1456718c4107" Type="http://schemas.openxmlformats.org/officeDocument/2006/relationships/notesMaster" Target="notesMasters/notesMaster1.xml"/><Relationship Id="R041e5bc6ac5844b6" Type="http://schemas.openxmlformats.org/officeDocument/2006/relationships/slide" Target="slides/slide24.xml"/><Relationship Id="R06a82829f3d84e3d" Type="http://schemas.openxmlformats.org/officeDocument/2006/relationships/slide" Target="slides/slide9.xml"/><Relationship Id="R07add42806dc4e46" Type="http://schemas.openxmlformats.org/officeDocument/2006/relationships/slide" Target="slides/slide19.xml"/><Relationship Id="R0f8eb29643e1440b" Type="http://schemas.openxmlformats.org/officeDocument/2006/relationships/slide" Target="slides/slide17.xml"/><Relationship Id="R1d1f894c05d54e9a" Type="http://schemas.openxmlformats.org/officeDocument/2006/relationships/slide" Target="slides/slide22.xml"/><Relationship Id="R20780b76b66f45e1" Type="http://schemas.openxmlformats.org/officeDocument/2006/relationships/slide" Target="slides/slide37.xml"/><Relationship Id="R21172d8909bf41c5" Type="http://schemas.openxmlformats.org/officeDocument/2006/relationships/slide" Target="slides/slide32.xml"/><Relationship Id="R286474b05c614a6e" Type="http://schemas.openxmlformats.org/officeDocument/2006/relationships/slide" Target="slides/slide20.xml"/><Relationship Id="R3f9581d678784e7d" Type="http://schemas.openxmlformats.org/officeDocument/2006/relationships/slide" Target="slides/slide13.xml"/><Relationship Id="R402d61dffd5d4594" Type="http://schemas.openxmlformats.org/officeDocument/2006/relationships/slide" Target="slides/slide5.xml"/><Relationship Id="R592bd631568a4cbe" Type="http://schemas.openxmlformats.org/officeDocument/2006/relationships/slide" Target="slides/slide10.xml"/><Relationship Id="R5d6aa3c6efe64338" Type="http://schemas.openxmlformats.org/officeDocument/2006/relationships/slide" Target="slides/slide18.xml"/><Relationship Id="R64d978f4974741dc" Type="http://schemas.openxmlformats.org/officeDocument/2006/relationships/slide" Target="slides/slide4.xml"/><Relationship Id="R65a65cbb64974781" Type="http://schemas.openxmlformats.org/officeDocument/2006/relationships/slide" Target="slides/slide25.xml"/><Relationship Id="R67ff4ddf145d42f4" Type="http://schemas.openxmlformats.org/officeDocument/2006/relationships/slide" Target="slides/slide12.xml"/><Relationship Id="R772d01f8182244ce" Type="http://schemas.openxmlformats.org/officeDocument/2006/relationships/slide" Target="slides/slide2.xml"/><Relationship Id="R7bf6e96f7f9a479b" Type="http://schemas.openxmlformats.org/officeDocument/2006/relationships/slide" Target="slides/slide16.xml"/><Relationship Id="R7cbb952dba4e46c9" Type="http://schemas.openxmlformats.org/officeDocument/2006/relationships/slide" Target="slides/slide21.xml"/><Relationship Id="R8963dff127a44f92" Type="http://schemas.openxmlformats.org/officeDocument/2006/relationships/slide" Target="slides/slide15.xml"/><Relationship Id="R8986666c9c5b423e" Type="http://schemas.openxmlformats.org/officeDocument/2006/relationships/slide" Target="slides/slide8.xml"/><Relationship Id="R90ac0099787843fc" Type="http://schemas.openxmlformats.org/officeDocument/2006/relationships/slide" Target="slides/slide40.xml"/><Relationship Id="R923f1f01be59492d" Type="http://schemas.openxmlformats.org/officeDocument/2006/relationships/slide" Target="slides/slide14.xml"/><Relationship Id="R96205d0d0f124809" Type="http://schemas.openxmlformats.org/officeDocument/2006/relationships/slide" Target="slides/slide36.xml"/><Relationship Id="Ra3e8d53283b14724" Type="http://schemas.openxmlformats.org/officeDocument/2006/relationships/slide" Target="slides/slide39.xml"/><Relationship Id="Ra4aa1e9f28754beb" Type="http://schemas.openxmlformats.org/officeDocument/2006/relationships/tableStyles" Target="tableStyles.xml"/><Relationship Id="Ra6dedbc91f1247d7" Type="http://schemas.openxmlformats.org/officeDocument/2006/relationships/slide" Target="slides/slide23.xml"/><Relationship Id="Rb1c3df0506e04065" Type="http://schemas.openxmlformats.org/officeDocument/2006/relationships/slide" Target="slides/slide35.xml"/><Relationship Id="Rb27e9e9ad96e47d6" Type="http://schemas.openxmlformats.org/officeDocument/2006/relationships/slide" Target="slides/slide34.xml"/><Relationship Id="Rbd79aac9c2dc4787" Type="http://schemas.openxmlformats.org/officeDocument/2006/relationships/slideMaster" Target="slideMasters/slideMaster1.xml"/><Relationship Id="Rd3b824b3c56a4a1c" Type="http://schemas.openxmlformats.org/officeDocument/2006/relationships/slide" Target="slides/slide1.xml"/><Relationship Id="Rd4683dc28cbc4f86" Type="http://schemas.openxmlformats.org/officeDocument/2006/relationships/slide" Target="slides/slide11.xml"/><Relationship Id="Rd77e658bd5564dc1" Type="http://schemas.openxmlformats.org/officeDocument/2006/relationships/slide" Target="slides/slide6.xml"/><Relationship Id="Reec033de8d89447f" Type="http://schemas.openxmlformats.org/officeDocument/2006/relationships/slide" Target="slides/slide33.xml"/><Relationship Id="Rf1c7bd4bf711459f" Type="http://schemas.openxmlformats.org/officeDocument/2006/relationships/slide" Target="slides/slide3.xml"/><Relationship Id="Rf31d67a014264d99" Type="http://schemas.openxmlformats.org/officeDocument/2006/relationships/slide" Target="slides/slide7.xml"/><Relationship Id="Rf66d74e65c4845bc" Type="http://schemas.openxmlformats.org/officeDocument/2006/relationships/slide" Target="slides/slide38.xml"/><Relationship Id="Rfb6c2608c7b349ac" Type="http://schemas.openxmlformats.org/officeDocument/2006/relationships/presProps" Target="presProps.xml"/><Relationship Id="Rfbf7b41cae924b95" Type="http://schemas.openxmlformats.org/officeDocument/2006/relationships/theme" Target="theme/theme1.xml"/><Relationship Id="rId1" Type="http://schemas.openxmlformats.org/officeDocument/2006/relationships/slide" Target="slides/slide31.xml"/><Relationship Id="rId2" Type="http://schemas.openxmlformats.org/officeDocument/2006/relationships/slide" Target="slides/slide30.xml"/><Relationship Id="rId3" Type="http://schemas.openxmlformats.org/officeDocument/2006/relationships/slide" Target="slides/slide29.xml"/><Relationship Id="rId4" Type="http://schemas.openxmlformats.org/officeDocument/2006/relationships/slide" Target="slides/slide28.xml"/><Relationship Id="rId5" Type="http://schemas.openxmlformats.org/officeDocument/2006/relationships/slide" Target="slides/slide27.xml"/><Relationship Id="rId6" Type="http://schemas.openxmlformats.org/officeDocument/2006/relationships/slide" Target="slides/slide26.xml"/><Relationship Id="rId7" Type="http://schemas.openxmlformats.org/officeDocument/2006/relationships/slide" Target="slides/slide41.xml"/><Relationship Id="rId8" Type="http://schemas.openxmlformats.org/officeDocument/2006/relationships/slide" Target="slides/slide42.xml"/><Relationship Id="rId9" Type="http://schemas.openxmlformats.org/officeDocument/2006/relationships/slide" Target="slides/slide43.xml"/><Relationship Id="rId10" Type="http://schemas.openxmlformats.org/officeDocument/2006/relationships/slide" Target="slides/slide44.xml"/><Relationship Id="rId11" Type="http://schemas.openxmlformats.org/officeDocument/2006/relationships/slide" Target="slides/slide45.xml"/><Relationship Id="rId12" Type="http://schemas.openxmlformats.org/officeDocument/2006/relationships/slide" Target="slides/slide46.xml"/><Relationship Id="rId13" Type="http://schemas.openxmlformats.org/officeDocument/2006/relationships/slide" Target="slides/slide47.xml"/><Relationship Id="rId14" Type="http://schemas.openxmlformats.org/officeDocument/2006/relationships/slide" Target="slides/slide48.xml"/><Relationship Id="rId15" Type="http://schemas.openxmlformats.org/officeDocument/2006/relationships/slide" Target="slides/slide49.xml"/><Relationship Id="rId16" Type="http://schemas.openxmlformats.org/officeDocument/2006/relationships/slide" Target="slides/slide50.xml"/><Relationship Id="rId17" Type="http://schemas.openxmlformats.org/officeDocument/2006/relationships/slide" Target="slides/slide51.xml"/><Relationship Id="rId18" Type="http://schemas.openxmlformats.org/officeDocument/2006/relationships/slide" Target="slides/slide52.xml"/><Relationship Id="rId19" Type="http://schemas.openxmlformats.org/officeDocument/2006/relationships/slide" Target="slides/slide53.xml"/><Relationship Id="rId20" Type="http://schemas.openxmlformats.org/officeDocument/2006/relationships/slide" Target="slides/slide54.xml"/><Relationship Id="rId21" Type="http://schemas.openxmlformats.org/officeDocument/2006/relationships/slide" Target="slides/slide55.xml"/><Relationship Id="rId22" Type="http://schemas.openxmlformats.org/officeDocument/2006/relationships/slide" Target="slides/slide56.xml"/><Relationship Id="rId23" Type="http://schemas.openxmlformats.org/officeDocument/2006/relationships/slide" Target="slides/slide57.xml"/><Relationship Id="rId24" Type="http://schemas.openxmlformats.org/officeDocument/2006/relationships/slide" Target="slides/slide58.xml"/><Relationship Id="rId25" Type="http://schemas.openxmlformats.org/officeDocument/2006/relationships/slide" Target="slides/slide59.xml"/><Relationship Id="rId26" Type="http://schemas.openxmlformats.org/officeDocument/2006/relationships/slide" Target="slides/slide60.xml"/><Relationship Id="rId27" Type="http://schemas.openxmlformats.org/officeDocument/2006/relationships/slide" Target="slides/slide61.xml"/><Relationship Id="rId28" Type="http://schemas.openxmlformats.org/officeDocument/2006/relationships/slide" Target="slides/slide62.xml"/><Relationship Id="rId29" Type="http://schemas.openxmlformats.org/officeDocument/2006/relationships/slide" Target="slides/slide63.xml"/><Relationship Id="rId30" Type="http://schemas.openxmlformats.org/officeDocument/2006/relationships/slide" Target="slides/slide64.xml"/><Relationship Id="rId31" Type="http://schemas.openxmlformats.org/officeDocument/2006/relationships/slide" Target="slides/slide65.xml"/><Relationship Id="rId32" Type="http://schemas.openxmlformats.org/officeDocument/2006/relationships/slide" Target="slides/slide66.xml"/><Relationship Id="rId33" Type="http://schemas.openxmlformats.org/officeDocument/2006/relationships/slide" Target="slides/slide67.xml"/><Relationship Id="rId34" Type="http://schemas.openxmlformats.org/officeDocument/2006/relationships/slide" Target="slides/slide68.xml"/><Relationship Id="rId35" Type="http://schemas.openxmlformats.org/officeDocument/2006/relationships/slide" Target="slides/slide69.xml"/><Relationship Id="rId36" Type="http://schemas.openxmlformats.org/officeDocument/2006/relationships/slide" Target="slides/slide70.xml"/><Relationship Id="rId37" Type="http://schemas.openxmlformats.org/officeDocument/2006/relationships/slide" Target="slides/slide71.xml"/><Relationship Id="rId38" Type="http://schemas.openxmlformats.org/officeDocument/2006/relationships/slide" Target="slides/slide72.xml"/><Relationship Id="rId39" Type="http://schemas.openxmlformats.org/officeDocument/2006/relationships/slide" Target="slides/slide73.xml"/><Relationship Id="rId40" Type="http://schemas.openxmlformats.org/officeDocument/2006/relationships/slide" Target="slides/slide74.xml"/><Relationship Id="rId41" Type="http://schemas.openxmlformats.org/officeDocument/2006/relationships/slide" Target="slides/slide75.xml"/><Relationship Id="rId42" Type="http://schemas.openxmlformats.org/officeDocument/2006/relationships/slide" Target="slides/slide76.xml"/><Relationship Id="rId43" Type="http://schemas.openxmlformats.org/officeDocument/2006/relationships/slide" Target="slides/slide77.xml"/><Relationship Id="rId44" Type="http://schemas.openxmlformats.org/officeDocument/2006/relationships/slide" Target="slides/slide78.xml"/><Relationship Id="rId45" Type="http://schemas.openxmlformats.org/officeDocument/2006/relationships/slide" Target="slides/slide79.xml"/><Relationship Id="rId46" Type="http://schemas.openxmlformats.org/officeDocument/2006/relationships/slide" Target="slides/slide80.xml"/><Relationship Id="rId47" Type="http://schemas.openxmlformats.org/officeDocument/2006/relationships/slide" Target="slides/slide81.xml"/><Relationship Id="rId48" Type="http://schemas.openxmlformats.org/officeDocument/2006/relationships/slide" Target="slides/slide82.xml"/><Relationship Id="rId49" Type="http://schemas.openxmlformats.org/officeDocument/2006/relationships/slide" Target="slides/slide83.xml"/><Relationship Id="rId50" Type="http://schemas.openxmlformats.org/officeDocument/2006/relationships/slide" Target="slides/slide84.xml"/><Relationship Id="rId51" Type="http://schemas.openxmlformats.org/officeDocument/2006/relationships/slide" Target="slides/slide85.xml"/><Relationship Id="rId52" Type="http://schemas.openxmlformats.org/officeDocument/2006/relationships/slide" Target="slides/slide86.xml"/><Relationship Id="rId53" Type="http://schemas.openxmlformats.org/officeDocument/2006/relationships/slide" Target="slides/slide87.xml"/><Relationship Id="rId54" Type="http://schemas.openxmlformats.org/officeDocument/2006/relationships/slide" Target="slides/slide88.xml"/><Relationship Id="rId55" Type="http://schemas.openxmlformats.org/officeDocument/2006/relationships/slide" Target="slides/slide89.xml"/><Relationship Id="rId56" Type="http://schemas.openxmlformats.org/officeDocument/2006/relationships/slide" Target="slides/slide90.xml"/><Relationship Id="rId57" Type="http://schemas.openxmlformats.org/officeDocument/2006/relationships/slide" Target="slides/slide91.xml"/><Relationship Id="rId58" Type="http://schemas.openxmlformats.org/officeDocument/2006/relationships/slide" Target="slides/slide92.xml"/><Relationship Id="rId59" Type="http://schemas.openxmlformats.org/officeDocument/2006/relationships/slide" Target="slides/slide93.xml"/><Relationship Id="rId60" Type="http://schemas.openxmlformats.org/officeDocument/2006/relationships/slide" Target="slides/slide94.xml"/><Relationship Id="rId61" Type="http://schemas.openxmlformats.org/officeDocument/2006/relationships/slide" Target="slides/slide95.xml"/><Relationship Id="rId62" Type="http://schemas.openxmlformats.org/officeDocument/2006/relationships/slide" Target="slides/slide96.xml"/><Relationship Id="rId63" Type="http://schemas.openxmlformats.org/officeDocument/2006/relationships/slide" Target="slides/slide97.xml"/><Relationship Id="rId64" Type="http://schemas.openxmlformats.org/officeDocument/2006/relationships/slide" Target="slides/slide98.xml"/><Relationship Id="rId65" Type="http://schemas.openxmlformats.org/officeDocument/2006/relationships/slide" Target="slides/slide99.xml"/><Relationship Id="rId66" Type="http://schemas.openxmlformats.org/officeDocument/2006/relationships/slide" Target="slides/slide100.xml"/><Relationship Id="rId67" Type="http://schemas.openxmlformats.org/officeDocument/2006/relationships/slide" Target="slides/slide101.xml"/><Relationship Id="rId68" Type="http://schemas.openxmlformats.org/officeDocument/2006/relationships/slide" Target="slides/slide102.xml"/><Relationship Id="rId69" Type="http://schemas.openxmlformats.org/officeDocument/2006/relationships/slide" Target="slides/slide103.xml"/><Relationship Id="rId70" Type="http://schemas.openxmlformats.org/officeDocument/2006/relationships/slide" Target="slides/slide104.xml"/><Relationship Id="rId71" Type="http://schemas.openxmlformats.org/officeDocument/2006/relationships/slide" Target="slides/slide105.xml"/><Relationship Id="rId72" Type="http://schemas.openxmlformats.org/officeDocument/2006/relationships/slide" Target="slides/slide106.xml"/><Relationship Id="rId73" Type="http://schemas.openxmlformats.org/officeDocument/2006/relationships/slide" Target="slides/slide107.xml"/><Relationship Id="rId74" Type="http://schemas.openxmlformats.org/officeDocument/2006/relationships/slide" Target="slides/slide108.xml"/><Relationship Id="rId75" Type="http://schemas.openxmlformats.org/officeDocument/2006/relationships/slide" Target="slides/slide109.xml"/><Relationship Id="rId76" Type="http://schemas.openxmlformats.org/officeDocument/2006/relationships/slide" Target="slides/slide110.xml"/><Relationship Id="rId77" Type="http://schemas.openxmlformats.org/officeDocument/2006/relationships/slide" Target="slides/slide111.xml"/><Relationship Id="rId78" Type="http://schemas.openxmlformats.org/officeDocument/2006/relationships/slide" Target="slides/slide112.xml"/><Relationship Id="rId79" Type="http://schemas.openxmlformats.org/officeDocument/2006/relationships/slide" Target="slides/slide113.xml"/><Relationship Id="rId80" Type="http://schemas.openxmlformats.org/officeDocument/2006/relationships/slide" Target="slides/slide114.xml"/><Relationship Id="rId81" Type="http://schemas.openxmlformats.org/officeDocument/2006/relationships/slide" Target="slides/slide115.xml"/><Relationship Id="rId82" Type="http://schemas.openxmlformats.org/officeDocument/2006/relationships/slide" Target="slides/slide116.xml"/><Relationship Id="rId83" Type="http://schemas.openxmlformats.org/officeDocument/2006/relationships/slide" Target="slides/slide117.xml"/><Relationship Id="rId84" Type="http://schemas.openxmlformats.org/officeDocument/2006/relationships/slide" Target="slides/slide118.xml"/><Relationship Id="rId85" Type="http://schemas.openxmlformats.org/officeDocument/2006/relationships/slide" Target="slides/slide119.xml"/><Relationship Id="rId86" Type="http://schemas.openxmlformats.org/officeDocument/2006/relationships/slide" Target="slides/slide120.xml"/><Relationship Id="rId87" Type="http://schemas.openxmlformats.org/officeDocument/2006/relationships/slide" Target="slides/slide121.xml"/><Relationship Id="rId88" Type="http://schemas.openxmlformats.org/officeDocument/2006/relationships/slide" Target="slides/slide122.xml"/><Relationship Id="rId89" Type="http://schemas.openxmlformats.org/officeDocument/2006/relationships/slide" Target="slides/slide123.xml"/><Relationship Id="rId90" Type="http://schemas.openxmlformats.org/officeDocument/2006/relationships/slide" Target="slides/slide124.xml"/><Relationship Id="rId91" Type="http://schemas.openxmlformats.org/officeDocument/2006/relationships/slide" Target="slides/slide125.xml"/><Relationship Id="rId92" Type="http://schemas.openxmlformats.org/officeDocument/2006/relationships/slide" Target="slides/slide126.xml"/><Relationship Id="rId93" Type="http://schemas.openxmlformats.org/officeDocument/2006/relationships/slide" Target="slides/slide127.xml"/><Relationship Id="rId94" Type="http://schemas.openxmlformats.org/officeDocument/2006/relationships/slide" Target="slides/slide128.xml"/><Relationship Id="rId95" Type="http://schemas.openxmlformats.org/officeDocument/2006/relationships/slide" Target="slides/slide129.xml"/><Relationship Id="rId96" Type="http://schemas.openxmlformats.org/officeDocument/2006/relationships/slide" Target="slides/slide130.xml"/><Relationship Id="rId97" Type="http://schemas.openxmlformats.org/officeDocument/2006/relationships/slide" Target="slides/slide131.xml"/><Relationship Id="rId98" Type="http://schemas.openxmlformats.org/officeDocument/2006/relationships/slide" Target="slides/slide132.xml"/><Relationship Id="rId99" Type="http://schemas.openxmlformats.org/officeDocument/2006/relationships/slide" Target="slides/slide133.xml"/><Relationship Id="rId100" Type="http://schemas.openxmlformats.org/officeDocument/2006/relationships/slide" Target="slides/slide134.xml"/><Relationship Id="rId101" Type="http://schemas.openxmlformats.org/officeDocument/2006/relationships/slide" Target="slides/slide135.xml"/><Relationship Id="rId102" Type="http://schemas.openxmlformats.org/officeDocument/2006/relationships/slide" Target="slides/slide136.xml"/><Relationship Id="rId103" Type="http://schemas.openxmlformats.org/officeDocument/2006/relationships/slide" Target="slides/slide137.xml"/><Relationship Id="rId104" Type="http://schemas.openxmlformats.org/officeDocument/2006/relationships/slide" Target="slides/slide138.xml"/><Relationship Id="rId105" Type="http://schemas.openxmlformats.org/officeDocument/2006/relationships/slide" Target="slides/slide139.xml"/><Relationship Id="rId106" Type="http://schemas.openxmlformats.org/officeDocument/2006/relationships/slide" Target="slides/slide140.xml"/><Relationship Id="rId107" Type="http://schemas.openxmlformats.org/officeDocument/2006/relationships/slide" Target="slides/slide141.xml"/><Relationship Id="rId108" Type="http://schemas.openxmlformats.org/officeDocument/2006/relationships/slide" Target="slides/slide142.xml"/><Relationship Id="rId109" Type="http://schemas.openxmlformats.org/officeDocument/2006/relationships/slide" Target="slides/slide143.xml"/><Relationship Id="rId110" Type="http://schemas.openxmlformats.org/officeDocument/2006/relationships/slide" Target="slides/slide144.xml"/><Relationship Id="rId111" Type="http://schemas.openxmlformats.org/officeDocument/2006/relationships/slide" Target="slides/slide145.xml"/><Relationship Id="rId112" Type="http://schemas.openxmlformats.org/officeDocument/2006/relationships/slide" Target="slides/slide146.xml"/><Relationship Id="rId113" Type="http://schemas.openxmlformats.org/officeDocument/2006/relationships/slide" Target="slides/slide147.xml"/><Relationship Id="rId114" Type="http://schemas.openxmlformats.org/officeDocument/2006/relationships/slide" Target="slides/slide148.xml"/><Relationship Id="rId115" Type="http://schemas.openxmlformats.org/officeDocument/2006/relationships/slide" Target="slides/slide149.xml"/><Relationship Id="rId116" Type="http://schemas.openxmlformats.org/officeDocument/2006/relationships/slide" Target="slides/slide150.xml"/><Relationship Id="rId117" Type="http://schemas.openxmlformats.org/officeDocument/2006/relationships/slide" Target="slides/slide151.xml"/><Relationship Id="rId118" Type="http://schemas.openxmlformats.org/officeDocument/2006/relationships/slide" Target="slides/slide152.xml"/><Relationship Id="rId119" Type="http://schemas.openxmlformats.org/officeDocument/2006/relationships/slide" Target="slides/slide153.xml"/><Relationship Id="rId120" Type="http://schemas.openxmlformats.org/officeDocument/2006/relationships/slide" Target="slides/slide154.xml"/><Relationship Id="rId121" Type="http://schemas.openxmlformats.org/officeDocument/2006/relationships/slide" Target="slides/slide155.xml"/><Relationship Id="rId122" Type="http://schemas.openxmlformats.org/officeDocument/2006/relationships/slide" Target="slides/slide156.xml"/><Relationship Id="rId123" Type="http://schemas.openxmlformats.org/officeDocument/2006/relationships/slide" Target="slides/slide157.xml"/><Relationship Id="rId124" Type="http://schemas.openxmlformats.org/officeDocument/2006/relationships/slide" Target="slides/slide158.xml"/><Relationship Id="rId125" Type="http://schemas.openxmlformats.org/officeDocument/2006/relationships/slide" Target="slides/slide159.xml"/><Relationship Id="rId126" Type="http://schemas.openxmlformats.org/officeDocument/2006/relationships/slide" Target="slides/slide160.xml"/><Relationship Id="rId127" Type="http://schemas.openxmlformats.org/officeDocument/2006/relationships/slide" Target="slides/slide161.xml"/><Relationship Id="rId128" Type="http://schemas.openxmlformats.org/officeDocument/2006/relationships/slide" Target="slides/slide162.xml"/><Relationship Id="rId129" Type="http://schemas.openxmlformats.org/officeDocument/2006/relationships/slide" Target="slides/slide163.xml"/><Relationship Id="rId130" Type="http://schemas.openxmlformats.org/officeDocument/2006/relationships/slide" Target="slides/slide164.xml"/><Relationship Id="rId131" Type="http://schemas.openxmlformats.org/officeDocument/2006/relationships/slide" Target="slides/slide165.xml"/><Relationship Id="rId132" Type="http://schemas.openxmlformats.org/officeDocument/2006/relationships/slide" Target="slides/slide166.xml"/></Relationships>
</file>

<file path=ppt/notesMasters/_rels/notesMaster1.xml.rels><?xml version='1.0' encoding='UTF-8' standalone='yes'?>
<Relationships xmlns="http://schemas.openxmlformats.org/package/2006/relationships"><Relationship Id="R681627191897420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bddb84c71a446b4" Type="http://schemas.openxmlformats.org/officeDocument/2006/relationships/slide" Target="../slides/slide1.xml"/><Relationship Id="R8cec7fbe1f014835"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c453aa6bc79449e" Type="http://schemas.openxmlformats.org/officeDocument/2006/relationships/notesMaster" Target="../notesMasters/notesMaster1.xml"/><Relationship Id="Rd296cea242f64958"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9508b638ac346b7" Type="http://schemas.openxmlformats.org/officeDocument/2006/relationships/notesMaster" Target="../notesMasters/notesMaster1.xml"/><Relationship Id="R9c46fc0af64b4a8e"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fdad88427ee4d21" Type="http://schemas.openxmlformats.org/officeDocument/2006/relationships/notesMaster" Target="../notesMasters/notesMaster1.xml"/><Relationship Id="Rf7fd3164e56640bc"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e88c7c8a80c4a63" Type="http://schemas.openxmlformats.org/officeDocument/2006/relationships/notesMaster" Target="../notesMasters/notesMaster1.xml"/><Relationship Id="Reff3e312ec674c2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1d5f2abaea64741" Type="http://schemas.openxmlformats.org/officeDocument/2006/relationships/notesMaster" Target="../notesMasters/notesMaster1.xml"/><Relationship Id="Rf589275c0a534e97"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3cb0f62b9f0d4c42" Type="http://schemas.openxmlformats.org/officeDocument/2006/relationships/notesMaster" Target="../notesMasters/notesMaster1.xml"/><Relationship Id="R871f45899d144cbe"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291a06f3840c441e" Type="http://schemas.openxmlformats.org/officeDocument/2006/relationships/slide" Target="../slides/slide8.xml"/><Relationship Id="R9a6f88a7a5f4486f"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14ee780090c4c53" Type="http://schemas.openxmlformats.org/officeDocument/2006/relationships/slide" Target="../slides/slide9.xml"/><Relationship Id="R3ede97ff6ce84883"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032d6004bd04e13" Type="http://schemas.openxmlformats.org/officeDocument/2006/relationships/notesMaster" Target="../notesMasters/notesMaster1.xml"/><Relationship Id="Rf8999cc1abc24a3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7cc811a73ee4cbc" Type="http://schemas.openxmlformats.org/officeDocument/2006/relationships/slide" Target="../slides/slide11.xml"/><Relationship Id="R6db42b30f33e45f0"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406eb8365ae94866" Type="http://schemas.openxmlformats.org/officeDocument/2006/relationships/slide" Target="../slides/slide12.xml"/><Relationship Id="Rb77dc15a14ca4a89"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7943f20fffa848c3" Type="http://schemas.openxmlformats.org/officeDocument/2006/relationships/slide" Target="../slides/slide13.xml"/><Relationship Id="Rc9fdd27fbb9b4a7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71326de7cbe4706" Type="http://schemas.openxmlformats.org/officeDocument/2006/relationships/notesMaster" Target="../notesMasters/notesMaster1.xml"/><Relationship Id="Re317d3da68cb489d"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23461ce253164d60" Type="http://schemas.openxmlformats.org/officeDocument/2006/relationships/notesMaster" Target="../notesMasters/notesMaster1.xml"/><Relationship Id="R8406d0c12409494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32f4b4e7e2af4240" Type="http://schemas.openxmlformats.org/officeDocument/2006/relationships/slide" Target="../slides/slide16.xml"/><Relationship Id="Rf7f85108a00841c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9948eb58ac24737" Type="http://schemas.openxmlformats.org/officeDocument/2006/relationships/slide" Target="../slides/slide17.xml"/><Relationship Id="Rdb6f194a3784480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60eb62bb34eb4f7d" Type="http://schemas.openxmlformats.org/officeDocument/2006/relationships/slide" Target="../slides/slide18.xml"/><Relationship Id="Rf5842f4e181442e7"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b9e53713f56f422b" Type="http://schemas.openxmlformats.org/officeDocument/2006/relationships/notesMaster" Target="../notesMasters/notesMaster1.xml"/><Relationship Id="Re79bfe720d1b4a08"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60ca92791f174821" Type="http://schemas.openxmlformats.org/officeDocument/2006/relationships/slide" Target="../slides/slide20.xml"/><Relationship Id="Rb6e4dbe2d6244a3f"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463ac6e719a445c3" Type="http://schemas.openxmlformats.org/officeDocument/2006/relationships/slide" Target="../slides/slide21.xml"/><Relationship Id="R7362b7125ad843f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a0ef5f01c80a4efc" Type="http://schemas.openxmlformats.org/officeDocument/2006/relationships/notesMaster" Target="../notesMasters/notesMaster1.xml"/><Relationship Id="Rca06c891a0b04f5c"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9251c8ca28974110" Type="http://schemas.openxmlformats.org/officeDocument/2006/relationships/slide" Target="../slides/slide23.xml"/><Relationship Id="R9de1a23ff4dc4fe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5c08572b5f174f1f" Type="http://schemas.openxmlformats.org/officeDocument/2006/relationships/notesMaster" Target="../notesMasters/notesMaster1.xml"/><Relationship Id="Ra0f7fc503f4e4197"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511366edaafe4cf0" Type="http://schemas.openxmlformats.org/officeDocument/2006/relationships/slide" Target="../slides/slide25.xml"/><Relationship Id="Rfecc47c2bdd34eff"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dc78341509054700" Type="http://schemas.openxmlformats.org/officeDocument/2006/relationships/slide" Target="../slides/slide32.xml"/><Relationship Id="Re3cf702b5e294236"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a534907112784d53" Type="http://schemas.openxmlformats.org/officeDocument/2006/relationships/notesMaster" Target="../notesMasters/notesMaster1.xml"/><Relationship Id="Re842c12e11124110"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465beaab66fe44fc" Type="http://schemas.openxmlformats.org/officeDocument/2006/relationships/notesMaster" Target="../notesMasters/notesMaster1.xml"/><Relationship Id="R7d5116edc00b4e2b"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6357130691754196" Type="http://schemas.openxmlformats.org/officeDocument/2006/relationships/notesMaster" Target="../notesMasters/notesMaster1.xml"/><Relationship Id="R7355afec13e7445b"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e1bfa1630b7c4f18" Type="http://schemas.openxmlformats.org/officeDocument/2006/relationships/slide" Target="../slides/slide36.xml"/><Relationship Id="Rf8f9ed5e533746cc"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1c9e5f5a8c534302" Type="http://schemas.openxmlformats.org/officeDocument/2006/relationships/notesMaster" Target="../notesMasters/notesMaster1.xml"/><Relationship Id="R221e363880004465"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a7cdc6c14a104dad" Type="http://schemas.openxmlformats.org/officeDocument/2006/relationships/notesMaster" Target="../notesMasters/notesMaster1.xml"/><Relationship Id="Reb924442822f478a"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71f8a153d81249e7" Type="http://schemas.openxmlformats.org/officeDocument/2006/relationships/notesMaster" Target="../notesMasters/notesMaster1.xml"/><Relationship Id="R8ec10af5bddb4de4"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0581e3d5ff214985" Type="http://schemas.openxmlformats.org/officeDocument/2006/relationships/notesMaster" Target="../notesMasters/notesMaster1.xml"/><Relationship Id="R7a71d1a98a2e4d03"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SmartAlarm retains FireEscape's detection–guidance–SOS–confirmation cycle and extends it to multiple hazards and proactive rescue. Full product scope is designed from the outset, supporting Vietnamese, English and Japanese. The cover retains the source photograph, logo, master and visual identity.</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is connecting detection, situational understanding, guidance, personal contact and confirmation. People without a phone, unable to operate it or unable to self-evacuate must still be considered for assistance. Unknown status remains distinct from confirmed safety.</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all-in-one illustration connects detection, understanding, guidance, outreach, proactive rescue, coordination and safety confirmation. Inputs include fire, natural disasters, falls, collisions, sensors and SOS. The platform unifies context. Apps and speakers provide area-specific guidance. People with assistance needs receive proactive checks. Command coordinates teams and confirms each person. Arrows represent business relationships, not automatic control authority. Physical fire protection is explicitly added in this revision.</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acknowledgments: platform event receipt; provider message acceptance; a person reading it; a team accepting a task; arrival on site; and the person's safety confirmation. These statuses are not interchangeable. Record time and source for traceability.</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Tenant, partner organization, site, zone, person, asset, event, incident, task and connector models are industry-independent from the outset. Vertical packs add versioned taxonomies, message templates, forms, rules and SOPs. International deployments configure language, time zone, residency and local agencies.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 covers access, care profiles, indoor positioning surveys, PA coverage, backup power, local connectivity and playbooks. An incident does not close automatically because one person is safe. Closure requires handling or handing over outstanding requests and responsibilities.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cutaway: isolate the hazardous area; people who can self-evacuate follow verified routes; people needing assistance have a suitable alternative. Arrows are illustrative. Deployment routes require qualified site validation and hazard updates. An assistance/refuge point must belong to an approved plan; it cannot be inferred from an image.</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states: signal_received → verified_incident → warning_issued → response_assigned → person_contacted → safe_or_handover. The illustration does not imply a measured SLA. Assess evidence freshness and location before issuing guidance or assigning a team.</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assistance case may be created without SOS when exposure and assistance needs justify a check. Uncertain data triggers verification, not a claim that a person is trapped. Age or illness alone does not determine triage. Rescue teams and incident command make decisions under the relevant professional procedures.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Functional assistance needs are separated from full medical history. Users or authorized guardians manage the profile under policy. Presence has a source, uncertainty and timestamp. A later SOS is merged into the open case rather than generating duplicate dispatch. Validate consent or another applicable processing basis in each deployment market.</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infer a floor from GNSS without sufficient confidence. Residence registration does not prove presence. Indoor positioning requires surveys, reference points and site measurements; accuracy is not promised before testing. Old locations remain historical, not real-time. If heading is unreliable, provide landmark-based instructions.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Routing uses a versioned building graph and hazard overlay. Apply hard exclusions before the cost function. Constraints include accessibility, capacity, turn restrictions, hazard freshness and uncertainty. If no sufficiently reliable route exists, do not invent one: request assistance or use an approved refuge process. AI explains options; a tested routing engine calculates them. Absolute safety cannot be guaranteed in changing conditions.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UI. Turn-by-turn guidance requires suitable heading data; otherwise use landmarks. Use short instructions, controlled repetition and support for hearing/vision needs; never rely on color alone. Critical Vietnamese/English/Japanese content requires native-language and site review. Offline voice uses only content and conditions that remain valid. The three phone samples intentionally retain their demonstrated languages.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broadcast command identifies site/zone, language, content, version, priority and expiry. Manage TTS, recordings and live microphone separately. Drone audio depends on payload and integration and remains under authorized operators. Controller acceptance differs from completed playback; playback does not prove people heard it. The platform must respect local safety-system priority.</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orchestration uses idempotency and channel receipts. Expired commands are not retried indefinitely. Zone audio follows arbitration, including local emergency override. Live voice requires permission, timeout and audit. Warning permissions differ from suppression-control permissions; dedicated systems retain their own interlocks and procedures.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Disaster alerts retain issuer, identifier, area, onset/effective/expires and update/cancellation lineage; CAP 1.2 is an applicable integration standard. Official warnings are distinct from the tenant's response decisions. Shelters need capacity, accessibility and ownership information. Routes must respond to new hazards rather than continuing simply because they were previously issued.</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SOS taxonomy contains intent, severity, sensitivity, source and evidence. SOS types do not all imply the same emergency. Possible falls have configurable check-in timeouts and escalation. Discreet SOS must avoid audio that exposes the user. Road incidents need field access location, road direction, secondary hazards and links to local responders.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UI with simulated data. The command workspace connects evidence, hazards, permission-filtered care needs, personal status, missions and delivery. Actions have separate permissions. Tasks have owners and acceptance. Show uncertainty explicitly. Detailed product screens are included in the full screen specifications.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Dispatch considers capability, availability, location and coordination rights. Accepted differs from arrived, contacted, handed over and completed. Offline updates carry idempotency, source time and actor identity; resolve conflicts with command changes. Do not blindly replay outdated commands after reconnecting.</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confirmation can notify every registered group and contact under sharing policy. This does not authorize sharing medical history or precise location. Distinguish self-reported safety from responder-confirmed safety. Incident closure follows command criteria, not the number of push messages sent.</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LLM receives permission-filtered data, evidence IDs and a data cutoff. Responses carry citations, uncertainty and recommendations. It does not invent evacuation paths, diagnose people or issue equipment commands. Documents, camera outputs and connector content are untrusted inputs for prompt-injection protection. Use a model gateway, minimum necessary data, evaluation, audit and fallback. Real-time means event-driven updates over a defined data window, not an independent source of truth.</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hubs are functional boundaries, not two individual servers. Each domain has ownership and contracts, event-driven orchestration, outbox/inbox, bounded retry, authorized DLQ/replay and schema versioning. Integration Hub isolates vendor/protocol specifics; Alarm Hub owns business state. IAM, tenancy and policy enforcement apply throughout.</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Domains include event ingestion/correlation, incident command, SOS/accountability, dispatch, warning content, delivery, positioning, routing, care/assistance, collaboration, media/evidence and audit. State transitions have explicit conditions, permissions and side effects. Eventual consistency must not lose incident ownership; per-incident sequencing/fencing protects against competing commands.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connector manifest declares capability allowlists, event/schema versions, command constraints, health/heartbeat, authentication, network and residency. Apply MQTT, CloudEvents, CAP or OGC SensorThings where suitable; do not assume universal vendor compatibility. Adapters map device semantics and require testing. Accepted does not mean completed; correlate receipts and timeouts.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Drone operations require a mission owner, pilot, geofence, command authorization, loss-link behavior and manual override. PA requires zone, local priority, health and playback receipts. Fire alarms and suppression connect through compatible equipment and site procedures; the LLM is not an automatic release controller. Each market and operating environment requires deployment-specific assessment. The new physical integration section provides concrete manufacturer and standards evidence.</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regional-cell data planes, multiple availability zones and data residency. A global control plane does not replicate all health/location data. Apply single-writer/fencing within business scopes, durable workflows, backpressure and partitioning. Edge must not execute stale cloud commands after outages. RTO/RPO and SLO targets require sizing, benchmarking and recovery tests before contractual commitments.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RBAC and ABAC cover tenant, region, site, assignment, purpose and field scope. Use encryption, secrets management, audience-bound tokens, credential rotation and least privilege. Break-glass access requires a reason, time limit, audit and review. This proposal does not claim worldwide certification or compliance; legal/security review is a defined deployment activity.</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Internationalization covers plurals, time zones, units, formatting, line breaking and Japanese fonts. Critical content has locale-specific review, versions and effective dates. Test TTS pronunciation of site names; AI translation is a draft only. Missing languages use an approved, explicitly identified fallback. Do not force language from the data region. Vietnamese and Japanese examples are intentionally retained on this multilingual demonstration slide.</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 refers to defined screen IDs, not completed software screens. This proposal selects representative scenes; the catalog and prototype contain the full set. Workflow groups and the acceptance matrix provide traceability. Actual software still requires implementation and UAT. Mockups are not an operational system. The physical integration revision adds 20 screens, bringing the catalog to 233 screens and 33 workflow groups.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Acceptance covers rule correctness, site mapping, accessibility, human factors, load, fault injection, disaster recovery and operational exercises. Measure location accuracy, PA coverage, pronunciation and local-controller interaction at the site. Screenshot counts do not replace acceptance testing. Acceptance criteria link to documented ACs and workflows.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full-product delivery plan, not a temporary demonstration architecture or a reduced product scope. Development, integration, testing and acceptance milestones govern delivery. Schedule, budget, staffing and SLA depend on sizing and the integration inventory; no unsupported dates or prices are introduced.</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are proposed measures, not achieved results. Establish baselines and targets through surveys. Commercial scope covers platform, infrastructure, equipment, integration, content, operations and support. ROI, damage reduction and response guarantees require measurement and agreement. Local operational decisions remain with the customer under the agreed responsibilities.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source reviewed: the 34-slide FireEscape_Proposal_Expanded_EN.pptx; original source code is unavailable. The Introduction deck and video are only mentioned by that deck and have not been treated as reviewed sources. References include https://docs.oasis-open.org/emergency/cap/v1.2/CAP-v1.2.html ; https://docs.oasis-open.org/mqtt/mqtt/v5.0/mqtt-v5.0.html ; https://cloudevents.io/ ; https://www.ogc.org/standards/sensorthings/ ; https://mavlink.io/en/services/command.html ; https://www.w3.org/TR/WCAG22/ . No certification claim is made. Manufacturer evidence and standards research are included in the new integration documents.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SmartAlarm is a multi-hazard safety and rescue coordination platform. The complete proposal connects architecture, experience and deployment. This revision builds on the original FireEscape presentation, retaining AIPOWER identity and relevant original imagery while adding new all-in-one illustrations and scenarios.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existing systems through approved gateways/controllers: alarms/faults, pump status, pressure, waterflow, valve position, interlocks and local-control state. The illustration distinguishes heat-operated sprinklers from controlled-release zones. SmartAlarm adds monitoring, coordination and permitted commands; local automatic protection remains operational without cloud. Equipment imagery is conceptual, not an installation drawing or an accepted model configuration.</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asset registry covers existing equipment as well as new IoT assets. Ordinary heat-operated sprinkler heads do not expose individual cloud activation commands. Deluge/pre-action uses an approved releasing controller and cause-and-effect logic. Pumps have dedicated controllers. Doors, dampers and smoke control follow site-specific system logic. Robots/water monitors require an authorized operator, operating area and local override. Survey signal wiring, vendor gateways, physical feedback and test modes before enabling integration.</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the accompanying catalogs for model evidence and restrictions. Siemens: https://support.industry.siemens.com/cs/attachments/109789153/A6V10349679.pdf ; NOTIFIER: https://prod-edam.honeywell.com/content/dam/honeywell-edam/hbt/en-us/documents/manuals-and-guides/installation-guides/notifier-us/ba-fire-LS10014-000NF-E.pdf ; Potter: https://www.pottersignal.com/product/datasheet/5401600_PFC-4410G3.pdf . Catalogs distinguish region, firmware, license, evidence and unknowns. BACnet/Modbus support does not establish write permission; product imagery does not prove completed integration.</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architecture, not wiring instructions. Survey point lists, scaling, units, zone mapping, time/source/quality, feedback points, cause-and-effect revision, certification scope and support. Legacy OT without cryptography requires isolation and a gateway; adding mTLS upstream does not secure the legacy device itself. Do not bypass safety panels with generic relays. Unverified capabilities remain read-only. Enable control only with manufacturer evidence, site design and acceptance.</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Conventional sprinklers operate individually in response to heat, not cloud commands or smoke alarms. Source: https://www.usfa.fema.gov/gallery/pictographs/pictograph85.html . Releasing-system activation, abort and interlock conditions follow the approved site design; they are not universal. State: requested→validated→authorized→sent→controller_accepted→executing→effect_verified; timeout can mean unknown, not failed. Flow/pressure verifies a water effect, not that the fire is extinguished. Stop, reset and restoration require separate procedures and authority.</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standards/deployment dossier cites official sources and verified editions without claiming worldwide compliance. The research records NFPA72/13/20 editions2025, NFPA25 edition2026 and BACnet ISO16484-5:2026; a new standard edition does not establish an installed device supports it. Vendor RFIs confirm model, firmware, license, registers, read/write rights, freshness/timeouts and support. FAT/SAT exercises loss of cloud/edge, local override, wrong mapping, duplicate/expired commands, UNKNOWN outcomes, test isolation, feedback discrepancies, impairment and restoration. Field acceptance has not yet been performed.</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enumerates the current baseline. A/B/C are overlapping traceability layers, not additive counts of distinct features. IDs map to FRD, Screen Specifications and the Acceptance Matrix. Vendor-dependent functionality remains a proposed scope subject to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WF-01: Provision tenant/region, SSO/MFA, invitations and workspace access without account enumeration.</a:t>
            </a:r>
          </a:p>
          <a:p>
            <a:r>
              <a:t>Workflows: WF-01</a:t>
            </a:r>
          </a:p>
          <a:p>
            <a:r>
              <a:t>Screens: A01, A02, A03, A04, A05, A06, A07, A08, A09, A10, T03, T04, X04, X08</a:t>
            </a:r>
          </a:p>
          <a:p/>
          <a:p>
            <a:r>
              <a:t>WF-02: Manage site/floor/zone, approved plan revisions and location quality.</a:t>
            </a:r>
          </a:p>
          <a:p>
            <a:r>
              <a:t>Workflows: WF-02</a:t>
            </a:r>
          </a:p>
          <a:p>
            <a:r>
              <a:t>Screens: S01, S02, S03, S04, S05, X06</a:t>
            </a:r>
          </a:p>
          <a:p/>
          <a:p>
            <a:r>
              <a:t>WF-03: Durably ingest multi-source events with source/tenant validation, deduplication and quarantine.</a:t>
            </a:r>
          </a:p>
          <a:p>
            <a:r>
              <a:t>Workflows: WF-03</a:t>
            </a:r>
          </a:p>
          <a:p>
            <a:r>
              <a:t>Screens: O03, I03, D02, D03, D04</a:t>
            </a:r>
          </a:p>
          <a:p/>
          <a:p>
            <a:r>
              <a:t>WF-04: Review evidence and create/link/split incidents while retaining audit and ownership.</a:t>
            </a:r>
          </a:p>
          <a:p>
            <a:r>
              <a:t>Workflows: WF-04</a:t>
            </a:r>
          </a:p>
          <a:p>
            <a:r>
              <a:t>Screens: O05, O06, O07, S11, S12, S13, S14</a:t>
            </a:r>
          </a:p>
          <a:p/>
          <a:p>
            <a:r>
              <a:t>WF-05: Submit need-specific SOS with manual location, offline pending and reviewed cancellation.</a:t>
            </a:r>
          </a:p>
          <a:p>
            <a:r>
              <a:t>Workflows: WF-05</a:t>
            </a:r>
          </a:p>
          <a:p>
            <a:r>
              <a:t>Screens: C05, C06, C07, C08, C09, C10, C27, C28, X01, X02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WF-06: Check possible falls with a server timer and escalate non-response without diagnosis.</a:t>
            </a:r>
          </a:p>
          <a:p>
            <a:r>
              <a:t>Workflows: WF-06</a:t>
            </a:r>
          </a:p>
          <a:p>
            <a:r>
              <a:t>Screens: C24, C25</a:t>
            </a:r>
          </a:p>
          <a:p/>
          <a:p>
            <a:r>
              <a:t>WF-07: Report and dispatch road incidents using location, road direction and unknown injury status.</a:t>
            </a:r>
          </a:p>
          <a:p>
            <a:r>
              <a:t>Workflows: WF-07</a:t>
            </a:r>
          </a:p>
          <a:p>
            <a:r>
              <a:t>Screens: C26</a:t>
            </a:r>
          </a:p>
          <a:p/>
          <a:p>
            <a:r>
              <a:t>WF-08: Process CAP/disaster advisories with issuer, mode, polygon, lineage and expiry validation.</a:t>
            </a:r>
          </a:p>
          <a:p>
            <a:r>
              <a:t>Workflows: WF-08</a:t>
            </a:r>
          </a:p>
          <a:p>
            <a:r>
              <a:t>Screens: C14, C15, O28, O29</a:t>
            </a:r>
          </a:p>
          <a:p/>
          <a:p>
            <a:r>
              <a:t>WF-09: Author and approve exact warning content, audience and locale versions.</a:t>
            </a:r>
          </a:p>
          <a:p>
            <a:r>
              <a:t>Workflows: WF-09</a:t>
            </a:r>
          </a:p>
          <a:p>
            <a:r>
              <a:t>Screens: O13, O14, O15, T06</a:t>
            </a:r>
          </a:p>
          <a:p/>
          <a:p>
            <a:r>
              <a:t>WF-10: Track per-channel delivery, authenticated callbacks, bounded retries/fallback and escalation.</a:t>
            </a:r>
          </a:p>
          <a:p>
            <a:r>
              <a:t>Workflows: WF-10</a:t>
            </a:r>
          </a:p>
          <a:p>
            <a:r>
              <a:t>Screens: C13, O16, O17, T05, D07, C34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WF-11: Dispatch capable teams, accept tasks atomically, update progress and hand over ownership.</a:t>
            </a:r>
          </a:p>
          <a:p>
            <a:r>
              <a:t>Workflows: WF-11</a:t>
            </a:r>
          </a:p>
          <a:p>
            <a:r>
              <a:t>Screens: R01, R02, R03, R04, R05, R06, R07, R08, R09, R10, R11, R12, O08, O09, O10, X10, O34</a:t>
            </a:r>
          </a:p>
          <a:p/>
          <a:p>
            <a:r>
              <a:t>WF-12: Record sourced personal status and share with circles/contacts under consent.</a:t>
            </a:r>
          </a:p>
          <a:p>
            <a:r>
              <a:t>Workflows: WF-12</a:t>
            </a:r>
          </a:p>
          <a:p>
            <a:r>
              <a:t>Screens: C11, C12, C19, C20, C21, C22, C23, O11, O12, C31, C32, C33</a:t>
            </a:r>
          </a:p>
          <a:p/>
          <a:p>
            <a:r>
              <a:t>WF-13: Maintain shelters and approved guidance with versioned, expiring offline packs.</a:t>
            </a:r>
          </a:p>
          <a:p>
            <a:r>
              <a:t>Workflows: WF-13</a:t>
            </a:r>
          </a:p>
          <a:p>
            <a:r>
              <a:t>Screens: C01, C02, C03, C04, C16, C17, C18, O26, O27</a:t>
            </a:r>
          </a:p>
          <a:p/>
          <a:p>
            <a:r>
              <a:t>WF-14: Enroll devices, manage certificates/health, maintain/calibrate and expose coverage gaps.</a:t>
            </a:r>
          </a:p>
          <a:p>
            <a:r>
              <a:t>Workflows: WF-14</a:t>
            </a:r>
          </a:p>
          <a:p>
            <a:r>
              <a:t>Screens: S06, S07, S08, S09, S10</a:t>
            </a:r>
          </a:p>
          <a:p/>
          <a:p>
            <a:r>
              <a:t>WF-15: Control devices only within capability/interlock/TTL rules and verified outcome evidence.</a:t>
            </a:r>
          </a:p>
          <a:p>
            <a:r>
              <a:t>Workflows: WF-15</a:t>
            </a:r>
          </a:p>
          <a:p>
            <a:r>
              <a:t>Screens: O18, O19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WF-16: Plan/review drone missions with pilot authority, telemetry and local lost-link policy.</a:t>
            </a:r>
          </a:p>
          <a:p>
            <a:r>
              <a:t>Workflows: WF-16</a:t>
            </a:r>
          </a:p>
          <a:p>
            <a:r>
              <a:t>Screens: I11, I12, I13, I14, I15</a:t>
            </a:r>
          </a:p>
          <a:p/>
          <a:p>
            <a:r>
              <a:t>WF-17: Manage connector lifecycle from manifest/sandbox to activation, rotation and deprecation.</a:t>
            </a:r>
          </a:p>
          <a:p>
            <a:r>
              <a:t>Workflows: WF-17</a:t>
            </a:r>
          </a:p>
          <a:p>
            <a:r>
              <a:t>Screens: I01, I02, I04, I05, I06, I07, I08, I09, I10, D01, D05, D06, D08, O33</a:t>
            </a:r>
          </a:p>
          <a:p/>
          <a:p>
            <a:r>
              <a:t>WF-18: Provide locale/timezone support, residency and verified site/country emergency contacts.</a:t>
            </a:r>
          </a:p>
          <a:p>
            <a:r>
              <a:t>Workflows: WF-18</a:t>
            </a:r>
          </a:p>
          <a:p>
            <a:r>
              <a:t>Screens: T02, G05, G06, L01, L02, L03, L04, L05, L06</a:t>
            </a:r>
          </a:p>
          <a:p/>
          <a:p>
            <a:r>
              <a:t>WF-19: Apply retention/legal holds, scoped export/deletion and immutable audit.</a:t>
            </a:r>
          </a:p>
          <a:p>
            <a:r>
              <a:t>Workflows: WF-19</a:t>
            </a:r>
          </a:p>
          <a:p>
            <a:r>
              <a:t>Screens: C29, C30, O30, T09, T10, T11, G07, G08, G11, G12, H11</a:t>
            </a:r>
          </a:p>
          <a:p/>
          <a:p>
            <a:r>
              <a:t>WF-20: Close incidents, analyze/improve response, isolate drills and acknowledge shift handovers.</a:t>
            </a:r>
          </a:p>
          <a:p>
            <a:r>
              <a:t>Workflows: WF-20</a:t>
            </a:r>
          </a:p>
          <a:p>
            <a:r>
              <a:t>Screens: O01, O02, O04, O20, O21, O22, O23, O24, O25, T01, T07, T08, T12, T13, T14, T15, T16, T17, X03, X05, X07, X09, G01, G02, G03, G04, G09, G10, O31, O32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WF-21: Reach people without phones through approved PA zones/content, playback, live speech and fallback.</a:t>
            </a:r>
          </a:p>
          <a:p>
            <a:r>
              <a:t>Workflows: WF-21</a:t>
            </a:r>
          </a:p>
          <a:p>
            <a:r>
              <a:t>Screens: P01, P02, P03, P04, P05, P06, P07, P08, P09</a:t>
            </a:r>
          </a:p>
          <a:p/>
          <a:p>
            <a:r>
              <a:t>WF-22: Guide step-by-step using graph/hazard/accessibility constraints, replanning and SOS fallback.</a:t>
            </a:r>
          </a:p>
          <a:p>
            <a:r>
              <a:t>Workflows: WF-22</a:t>
            </a:r>
          </a:p>
          <a:p>
            <a:r>
              <a:t>Screens: C35, C36, C37, C38, C39, C40, S15, S16, O35, O36</a:t>
            </a:r>
          </a:p>
          <a:p/>
          <a:p>
            <a:r>
              <a:t>WF-23: Fuse uncertain position evidence and distinguish observed presence from registration.</a:t>
            </a:r>
          </a:p>
          <a:p>
            <a:r>
              <a:t>Workflows: WF-23</a:t>
            </a:r>
          </a:p>
          <a:p>
            <a:r>
              <a:t>Screens: H10, Q01, Q02, Q03</a:t>
            </a:r>
          </a:p>
          <a:p/>
          <a:p>
            <a:r>
              <a:t>WF-24: Optimize feasible routes under hard constraints, capacity and cohort balancing.</a:t>
            </a:r>
          </a:p>
          <a:p>
            <a:r>
              <a:t>Workflows: WF-24</a:t>
            </a:r>
          </a:p>
          <a:p>
            <a:r>
              <a:t>Screens: Q04, Q05, Q10</a:t>
            </a:r>
          </a:p>
          <a:p/>
          <a:p>
            <a:r>
              <a:t>WF-25: Ground AI summaries/SOP checks/drafts in evidence; human review, no autonomous actuation.</a:t>
            </a:r>
          </a:p>
          <a:p>
            <a:r>
              <a:t>Workflows: WF-25</a:t>
            </a:r>
          </a:p>
          <a:p>
            <a:r>
              <a:t>Screens: Q06, Q07, Q08, Q09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WF-26: Manage care profiles, caregiver authority, emergency subsets and audited access.</a:t>
            </a:r>
          </a:p>
          <a:p>
            <a:r>
              <a:t>Workflows: WF-26</a:t>
            </a:r>
          </a:p>
          <a:p>
            <a:r>
              <a:t>Screens: H01, H02, H03, H04, H05, H06, H07</a:t>
            </a:r>
          </a:p>
          <a:p/>
          <a:p>
            <a:r>
              <a:t>WF-27: Proactively identify/prioritize assistance before SOS using presence and evidence.</a:t>
            </a:r>
          </a:p>
          <a:p>
            <a:r>
              <a:t>Workflows: WF-27</a:t>
            </a:r>
          </a:p>
          <a:p>
            <a:r>
              <a:t>Screens: H08, H09, H12</a:t>
            </a:r>
          </a:p>
          <a:p/>
          <a:p>
            <a:r>
              <a:t>WF-28: Bind model/firmware/capability, point/zone mappings and approved cause-and-effect.</a:t>
            </a:r>
          </a:p>
          <a:p>
            <a:r>
              <a:t>Workflows: WF-28</a:t>
            </a:r>
          </a:p>
          <a:p>
            <a:r>
              <a:t>Screens: F02, F03, F04, F05, F06, F20</a:t>
            </a:r>
          </a:p>
          <a:p/>
          <a:p>
            <a:r>
              <a:t>WF-29: Supervise physical signals with provenance/freshness and independent local protection.</a:t>
            </a:r>
          </a:p>
          <a:p>
            <a:r>
              <a:t>Workflows: WF-29</a:t>
            </a:r>
          </a:p>
          <a:p>
            <a:r>
              <a:t>Screens: F01, F07, F08</a:t>
            </a:r>
          </a:p>
          <a:p/>
          <a:p>
            <a:r>
              <a:t>WF-30: Authorize/execute permitted commands, reconcile UNKNOWN and support local takeover.</a:t>
            </a:r>
          </a:p>
          <a:p>
            <a:r>
              <a:t>Workflows: WF-30</a:t>
            </a:r>
          </a:p>
          <a:p>
            <a:r>
              <a:t>Screens: F09, F10, F11, F12, F13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WF-31: Isolate impairment/tests, assign compensating measures and verify restoration.</a:t>
            </a:r>
          </a:p>
          <a:p>
            <a:r>
              <a:t>Workflows: WF-31</a:t>
            </a:r>
          </a:p>
          <a:p>
            <a:r>
              <a:t>Screens: F14, F18</a:t>
            </a:r>
          </a:p>
          <a:p/>
          <a:p>
            <a:r>
              <a:t>WF-32: Maintain compatibility/certification, FAT/SAT and configuration-specific capability gates.</a:t>
            </a:r>
          </a:p>
          <a:p>
            <a:r>
              <a:t>Workflows: WF-32</a:t>
            </a:r>
          </a:p>
          <a:p>
            <a:r>
              <a:t>Screens: F15, F16, F17</a:t>
            </a:r>
          </a:p>
          <a:p/>
          <a:p>
            <a:r>
              <a:t>WF-33: Dispatch robot/water-monitor missions with operators, limits and verified outcomes.</a:t>
            </a:r>
          </a:p>
          <a:p>
            <a:r>
              <a:t>Workflows: WF-33</a:t>
            </a:r>
          </a:p>
          <a:p>
            <a:r>
              <a:t>Screens: F19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FR-A01: Welcome &amp; region: Choose your safety region; continue.</a:t>
            </a:r>
          </a:p>
          <a:p>
            <a:r>
              <a:t>Workflows: WF-01</a:t>
            </a:r>
          </a:p>
          <a:p>
            <a:r>
              <a:t>Screens: A01</a:t>
            </a:r>
          </a:p>
          <a:p/>
          <a:p>
            <a:r>
              <a:t>FR-A02: Sign in: Your workspace, securely connected; sign in.</a:t>
            </a:r>
          </a:p>
          <a:p>
            <a:r>
              <a:t>Workflows: WF-01</a:t>
            </a:r>
          </a:p>
          <a:p>
            <a:r>
              <a:t>Screens: A02</a:t>
            </a:r>
          </a:p>
          <a:p/>
          <a:p>
            <a:r>
              <a:t>FR-A03: Verify identity: Confirm this sign-in; verify.</a:t>
            </a:r>
          </a:p>
          <a:p>
            <a:r>
              <a:t>Workflows: WF-01</a:t>
            </a:r>
          </a:p>
          <a:p>
            <a:r>
              <a:t>Screens: A03</a:t>
            </a:r>
          </a:p>
          <a:p/>
          <a:p>
            <a:r>
              <a:t>FR-A04: Workspace switcher: Choose an organization; enter workspace.</a:t>
            </a:r>
          </a:p>
          <a:p>
            <a:r>
              <a:t>Workflows: WF-01</a:t>
            </a:r>
          </a:p>
          <a:p>
            <a:r>
              <a:t>Screens: A04</a:t>
            </a:r>
          </a:p>
          <a:p/>
          <a:p>
            <a:r>
              <a:t>FR-A05: Recover access: Restore access without exposing account existence; send recovery link.</a:t>
            </a:r>
          </a:p>
          <a:p>
            <a:r>
              <a:t>Workflows: WF-01</a:t>
            </a:r>
          </a:p>
          <a:p>
            <a:r>
              <a:t>Screens: A05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FR-A06: Accept invitation: Review your organization invitation; accept invitation.</a:t>
            </a:r>
          </a:p>
          <a:p>
            <a:r>
              <a:t>Workflows: WF-01</a:t>
            </a:r>
          </a:p>
          <a:p>
            <a:r>
              <a:t>Screens: A06</a:t>
            </a:r>
          </a:p>
          <a:p/>
          <a:p>
            <a:r>
              <a:t>FR-A07: Permissions &amp; consent: Choose how SmartAlarm supports you; save choices.</a:t>
            </a:r>
          </a:p>
          <a:p>
            <a:r>
              <a:t>Workflows: WF-01</a:t>
            </a:r>
          </a:p>
          <a:p>
            <a:r>
              <a:t>Screens: A07</a:t>
            </a:r>
          </a:p>
          <a:p/>
          <a:p>
            <a:r>
              <a:t>FR-A08: Session &amp; device security: Review devices with access; review session.</a:t>
            </a:r>
          </a:p>
          <a:p>
            <a:r>
              <a:t>Workflows: WF-01</a:t>
            </a:r>
          </a:p>
          <a:p>
            <a:r>
              <a:t>Screens: A08</a:t>
            </a:r>
          </a:p>
          <a:p/>
          <a:p>
            <a:r>
              <a:t>FR-A09: Revoke session: End access on the selected device; revoke selected session.</a:t>
            </a:r>
          </a:p>
          <a:p>
            <a:r>
              <a:t>Workflows: WF-01</a:t>
            </a:r>
          </a:p>
          <a:p>
            <a:r>
              <a:t>Screens: A09</a:t>
            </a:r>
          </a:p>
          <a:p/>
          <a:p>
            <a:r>
              <a:t>FR-A10: Profile &amp; accessibility: Make the interface work for you; save profile.</a:t>
            </a:r>
          </a:p>
          <a:p>
            <a:r>
              <a:t>Workflows: WF-01</a:t>
            </a:r>
          </a:p>
          <a:p>
            <a:r>
              <a:t>Screens: A10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FR-C01: Safety home: A clear next step, when it matters; view active alert.</a:t>
            </a:r>
          </a:p>
          <a:p>
            <a:r>
              <a:t>Workflows: WF-13</a:t>
            </a:r>
          </a:p>
          <a:p>
            <a:r>
              <a:t>Screens: C01</a:t>
            </a:r>
          </a:p>
          <a:p/>
          <a:p>
            <a:r>
              <a:t>FR-C02: Alert detail: Fire reported in Building A; view guidance.</a:t>
            </a:r>
          </a:p>
          <a:p>
            <a:r>
              <a:t>Workflows: WF-13</a:t>
            </a:r>
          </a:p>
          <a:p>
            <a:r>
              <a:t>Screens: C02</a:t>
            </a:r>
          </a:p>
          <a:p/>
          <a:p>
            <a:r>
              <a:t>FR-C03: Evacuation guidance: Use the published evacuation plan; i need assistance.</a:t>
            </a:r>
          </a:p>
          <a:p>
            <a:r>
              <a:t>Workflows: WF-13</a:t>
            </a:r>
          </a:p>
          <a:p>
            <a:r>
              <a:t>Screens: C03</a:t>
            </a:r>
          </a:p>
          <a:p/>
          <a:p>
            <a:r>
              <a:t>FR-C04: Voice &amp; accessible guidance: Read or listen to the same instruction; return to plan.</a:t>
            </a:r>
          </a:p>
          <a:p>
            <a:r>
              <a:t>Workflows: WF-13</a:t>
            </a:r>
          </a:p>
          <a:p>
            <a:r>
              <a:t>Screens: C04</a:t>
            </a:r>
          </a:p>
          <a:p/>
          <a:p>
            <a:r>
              <a:t>FR-C05: SOS type: What kind of help do you need?; continue with selected need.</a:t>
            </a:r>
          </a:p>
          <a:p>
            <a:r>
              <a:t>Workflows: WF-05</a:t>
            </a:r>
          </a:p>
          <a:p>
            <a:r>
              <a:t>Screens: C05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FR-C06: SOS location &amp; details: Tell responders where to find you; review SOS.</a:t>
            </a:r>
          </a:p>
          <a:p>
            <a:r>
              <a:t>Workflows: WF-05</a:t>
            </a:r>
          </a:p>
          <a:p>
            <a:r>
              <a:t>Screens: C06</a:t>
            </a:r>
          </a:p>
          <a:p/>
          <a:p>
            <a:r>
              <a:t>FR-C07: Confirm SOS: Send this request to campus command?; send SOS.</a:t>
            </a:r>
          </a:p>
          <a:p>
            <a:r>
              <a:t>Workflows: WF-05</a:t>
            </a:r>
          </a:p>
          <a:p>
            <a:r>
              <a:t>Screens: C07</a:t>
            </a:r>
          </a:p>
          <a:p/>
          <a:p>
            <a:r>
              <a:t>FR-C08: SOS tracking: Your request has been received; contact assigned team.</a:t>
            </a:r>
          </a:p>
          <a:p>
            <a:r>
              <a:t>Workflows: WF-05</a:t>
            </a:r>
          </a:p>
          <a:p>
            <a:r>
              <a:t>Screens: C08</a:t>
            </a:r>
          </a:p>
          <a:p/>
          <a:p>
            <a:r>
              <a:t>FR-C09: Incident conversation: Stay connected to the response team; send message.</a:t>
            </a:r>
          </a:p>
          <a:p>
            <a:r>
              <a:t>Workflows: WF-05</a:t>
            </a:r>
          </a:p>
          <a:p>
            <a:r>
              <a:t>Screens: C09</a:t>
            </a:r>
          </a:p>
          <a:p/>
          <a:p>
            <a:r>
              <a:t>FR-C10: Update or cancel SOS: Update your situation; submit update.</a:t>
            </a:r>
          </a:p>
          <a:p>
            <a:r>
              <a:t>Workflows: WF-05</a:t>
            </a:r>
          </a:p>
          <a:p>
            <a:r>
              <a:t>Screens: C10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FR-C11: Confirm personal safety: Let your circle know your status; confirm my safety.</a:t>
            </a:r>
          </a:p>
          <a:p>
            <a:r>
              <a:t>Workflows: WF-12</a:t>
            </a:r>
          </a:p>
          <a:p>
            <a:r>
              <a:t>Screens: C11</a:t>
            </a:r>
          </a:p>
          <a:p/>
          <a:p>
            <a:r>
              <a:t>FR-C12: Safety receipt: Your safety update was saved; view delivery details.</a:t>
            </a:r>
          </a:p>
          <a:p>
            <a:r>
              <a:t>Workflows: WF-12</a:t>
            </a:r>
          </a:p>
          <a:p>
            <a:r>
              <a:t>Screens: C12</a:t>
            </a:r>
          </a:p>
          <a:p/>
          <a:p>
            <a:r>
              <a:t>FR-C13: Notification inbox: Updates that need your attention; open alert.</a:t>
            </a:r>
          </a:p>
          <a:p>
            <a:r>
              <a:t>Workflows: WF-10</a:t>
            </a:r>
          </a:p>
          <a:p>
            <a:r>
              <a:t>Screens: C13</a:t>
            </a:r>
          </a:p>
          <a:p/>
          <a:p>
            <a:r>
              <a:t>FR-C14: Nearby hazards: Know what is happening nearby; view hazard.</a:t>
            </a:r>
          </a:p>
          <a:p>
            <a:r>
              <a:t>Workflows: WF-08</a:t>
            </a:r>
          </a:p>
          <a:p>
            <a:r>
              <a:t>Screens: C14</a:t>
            </a:r>
          </a:p>
          <a:p/>
          <a:p>
            <a:r>
              <a:t>FR-C15: Disaster advisory: Flood watch for Riverside district; view shelter information.</a:t>
            </a:r>
          </a:p>
          <a:p>
            <a:r>
              <a:t>Workflows: WF-08</a:t>
            </a:r>
          </a:p>
          <a:p>
            <a:r>
              <a:t>Screens: C15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FR-C16: Shelters &amp; assembly points: Find a designated assistance point; open shelter details.</a:t>
            </a:r>
          </a:p>
          <a:p>
            <a:r>
              <a:t>Workflows: WF-13</a:t>
            </a:r>
          </a:p>
          <a:p>
            <a:r>
              <a:t>Screens: C16</a:t>
            </a:r>
          </a:p>
          <a:p/>
          <a:p>
            <a:r>
              <a:t>FR-C17: Shelter details: North shelter; save shelter offline.</a:t>
            </a:r>
          </a:p>
          <a:p>
            <a:r>
              <a:t>Workflows: WF-13</a:t>
            </a:r>
          </a:p>
          <a:p>
            <a:r>
              <a:t>Screens: C17</a:t>
            </a:r>
          </a:p>
          <a:p/>
          <a:p>
            <a:r>
              <a:t>FR-C18: Offline safety pack: Essential information on your device; review cached plan.</a:t>
            </a:r>
          </a:p>
          <a:p>
            <a:r>
              <a:t>Workflows: WF-13</a:t>
            </a:r>
          </a:p>
          <a:p>
            <a:r>
              <a:t>Screens: C18</a:t>
            </a:r>
          </a:p>
          <a:p/>
          <a:p>
            <a:r>
              <a:t>FR-C19: My circles: The people who should hear from you; open family.</a:t>
            </a:r>
          </a:p>
          <a:p>
            <a:r>
              <a:t>Workflows: WF-12</a:t>
            </a:r>
          </a:p>
          <a:p>
            <a:r>
              <a:t>Screens: C19</a:t>
            </a:r>
          </a:p>
          <a:p/>
          <a:p>
            <a:r>
              <a:t>FR-C20: Circle conversation: Family; view member status.</a:t>
            </a:r>
          </a:p>
          <a:p>
            <a:r>
              <a:t>Workflows: WF-12</a:t>
            </a:r>
          </a:p>
          <a:p>
            <a:r>
              <a:t>Screens: C20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FR-C21: Create or edit circle: Choose members and sharing rules; save circle.</a:t>
            </a:r>
          </a:p>
          <a:p>
            <a:r>
              <a:t>Workflows: WF-12</a:t>
            </a:r>
          </a:p>
          <a:p>
            <a:r>
              <a:t>Screens: C21</a:t>
            </a:r>
          </a:p>
          <a:p/>
          <a:p>
            <a:r>
              <a:t>FR-C22: Circle member status: A status is a report, not a guarantee; send check-in request.</a:t>
            </a:r>
          </a:p>
          <a:p>
            <a:r>
              <a:t>Workflows: WF-12</a:t>
            </a:r>
          </a:p>
          <a:p>
            <a:r>
              <a:t>Screens: C22</a:t>
            </a:r>
          </a:p>
          <a:p/>
          <a:p>
            <a:r>
              <a:t>FR-C23: Emergency contacts: Who should receive your updates?; save contacts.</a:t>
            </a:r>
          </a:p>
          <a:p>
            <a:r>
              <a:t>Workflows: WF-12</a:t>
            </a:r>
          </a:p>
          <a:p>
            <a:r>
              <a:t>Screens: C23</a:t>
            </a:r>
          </a:p>
          <a:p/>
          <a:p>
            <a:r>
              <a:t>FR-C24: Care &amp; fall detection: Configure a supported fall detector; review test alert.</a:t>
            </a:r>
          </a:p>
          <a:p>
            <a:r>
              <a:t>Workflows: WF-06</a:t>
            </a:r>
          </a:p>
          <a:p>
            <a:r>
              <a:t>Screens: C24</a:t>
            </a:r>
          </a:p>
          <a:p/>
          <a:p>
            <a:r>
              <a:t>FR-C25: Possible fall check-in: A possible fall was detected; i need help now.</a:t>
            </a:r>
          </a:p>
          <a:p>
            <a:r>
              <a:t>Workflows: WF-06</a:t>
            </a:r>
          </a:p>
          <a:p>
            <a:r>
              <a:t>Screens: C25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FR-C26: Road incident report: Report a road incident safely; review SOS.</a:t>
            </a:r>
          </a:p>
          <a:p>
            <a:r>
              <a:t>Workflows: WF-07</a:t>
            </a:r>
          </a:p>
          <a:p>
            <a:r>
              <a:t>Screens: C26</a:t>
            </a:r>
          </a:p>
          <a:p/>
          <a:p>
            <a:r>
              <a:t>FR-C27: Discreet assistance: Request help with a quiet interface; send discreet request.</a:t>
            </a:r>
          </a:p>
          <a:p>
            <a:r>
              <a:t>Workflows: WF-05</a:t>
            </a:r>
          </a:p>
          <a:p>
            <a:r>
              <a:t>Screens: C27</a:t>
            </a:r>
          </a:p>
          <a:p/>
          <a:p>
            <a:r>
              <a:t>FR-C28: My reports &amp; history: Your previous requests; view request.</a:t>
            </a:r>
          </a:p>
          <a:p>
            <a:r>
              <a:t>Workflows: WF-05</a:t>
            </a:r>
          </a:p>
          <a:p>
            <a:r>
              <a:t>Screens: C28</a:t>
            </a:r>
          </a:p>
          <a:p/>
          <a:p>
            <a:r>
              <a:t>FR-C29: Privacy &amp; data requests: Control optional sharing; review data request.</a:t>
            </a:r>
          </a:p>
          <a:p>
            <a:r>
              <a:t>Workflows: WF-19</a:t>
            </a:r>
          </a:p>
          <a:p>
            <a:r>
              <a:t>Screens: C29</a:t>
            </a:r>
          </a:p>
          <a:p/>
          <a:p>
            <a:r>
              <a:t>FR-C30: Data request receipt: Request DR-202 received; back to privacy.</a:t>
            </a:r>
          </a:p>
          <a:p>
            <a:r>
              <a:t>Workflows: WF-19</a:t>
            </a:r>
          </a:p>
          <a:p>
            <a:r>
              <a:t>Screens: C30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FR-C31: Circle membership &amp; invitations: Control who receives your updates; manage invitation.</a:t>
            </a:r>
          </a:p>
          <a:p>
            <a:r>
              <a:t>Workflows: WF-12</a:t>
            </a:r>
          </a:p>
          <a:p>
            <a:r>
              <a:t>Screens: C31</a:t>
            </a:r>
          </a:p>
          <a:p/>
          <a:p>
            <a:r>
              <a:t>FR-C32: Invite circle member: Invite someone you trust; create invitation.</a:t>
            </a:r>
          </a:p>
          <a:p>
            <a:r>
              <a:t>Workflows: WF-12</a:t>
            </a:r>
          </a:p>
          <a:p>
            <a:r>
              <a:t>Screens: C32</a:t>
            </a:r>
          </a:p>
          <a:p/>
          <a:p>
            <a:r>
              <a:t>FR-C33: Report or block conversation: Control unwanted social contact; submit report.</a:t>
            </a:r>
          </a:p>
          <a:p>
            <a:r>
              <a:t>Workflows: WF-12</a:t>
            </a:r>
          </a:p>
          <a:p>
            <a:r>
              <a:t>Screens: C33</a:t>
            </a:r>
          </a:p>
          <a:p/>
          <a:p>
            <a:r>
              <a:t>FR-C34: Notification preferences: Choose channels and quiet hours; save preferences.</a:t>
            </a:r>
          </a:p>
          <a:p>
            <a:r>
              <a:t>Workflows: WF-10</a:t>
            </a:r>
          </a:p>
          <a:p>
            <a:r>
              <a:t>Screens: C34</a:t>
            </a:r>
          </a:p>
          <a:p/>
          <a:p>
            <a:r>
              <a:t>FR-C35: Voice evacuation navigation: Follow reviewed steps away from the danger area; show next instruction.</a:t>
            </a:r>
          </a:p>
          <a:p>
            <a:r>
              <a:t>Workflows: WF-22</a:t>
            </a:r>
          </a:p>
          <a:p>
            <a:r>
              <a:t>Screens: C35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FR-C36: Navigation step &amp; orientation: Use the WEST STAIR sign as your landmark; repeat voice instruction.</a:t>
            </a:r>
          </a:p>
          <a:p>
            <a:r>
              <a:t>Workflows: WF-22</a:t>
            </a:r>
          </a:p>
          <a:p>
            <a:r>
              <a:t>Screens: C36</a:t>
            </a:r>
          </a:p>
          <a:p/>
          <a:p>
            <a:r>
              <a:t>FR-C37: Route change notification: The previous route is no longer recommended; review updated route.</a:t>
            </a:r>
          </a:p>
          <a:p>
            <a:r>
              <a:t>Workflows: WF-22</a:t>
            </a:r>
          </a:p>
          <a:p>
            <a:r>
              <a:t>Screens: C37</a:t>
            </a:r>
          </a:p>
          <a:p/>
          <a:p>
            <a:r>
              <a:t>FR-C38: Position uncertain / no route: We cannot verify a route from your position; request assistance.</a:t>
            </a:r>
          </a:p>
          <a:p>
            <a:r>
              <a:t>Workflows: WF-22</a:t>
            </a:r>
          </a:p>
          <a:p>
            <a:r>
              <a:t>Screens: C38</a:t>
            </a:r>
          </a:p>
          <a:p/>
          <a:p>
            <a:r>
              <a:t>FR-C39: Outdoor hazard avoidance: Leave the affected area using reviewed guidance; view next route step.</a:t>
            </a:r>
          </a:p>
          <a:p>
            <a:r>
              <a:t>Workflows: WF-22</a:t>
            </a:r>
          </a:p>
          <a:p>
            <a:r>
              <a:t>Screens: C39</a:t>
            </a:r>
          </a:p>
          <a:p/>
          <a:p>
            <a:r>
              <a:t>FR-C40: Voice language &amp; guidance settings: Choose how guidance reaches you; save guidance preferences.</a:t>
            </a:r>
          </a:p>
          <a:p>
            <a:r>
              <a:t>Workflows: WF-22</a:t>
            </a:r>
          </a:p>
          <a:p>
            <a:r>
              <a:t>Screens: C40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FR-R01: Shift &amp; readiness: Ready for your next assignment; view assignments.</a:t>
            </a:r>
          </a:p>
          <a:p>
            <a:r>
              <a:t>Workflows: WF-11</a:t>
            </a:r>
          </a:p>
          <a:p>
            <a:r>
              <a:t>Screens: R01</a:t>
            </a:r>
          </a:p>
          <a:p/>
          <a:p>
            <a:r>
              <a:t>FR-R02: Assignment inbox: Assignments for Rescue 02; open assignment.</a:t>
            </a:r>
          </a:p>
          <a:p>
            <a:r>
              <a:t>Workflows: WF-11</a:t>
            </a:r>
          </a:p>
          <a:p>
            <a:r>
              <a:t>Screens: R02</a:t>
            </a:r>
          </a:p>
          <a:p/>
          <a:p>
            <a:r>
              <a:t>FR-R03: Accept or decline task: Assist person at Room 505; accept assignment.</a:t>
            </a:r>
          </a:p>
          <a:p>
            <a:r>
              <a:t>Workflows: WF-11</a:t>
            </a:r>
          </a:p>
          <a:p>
            <a:r>
              <a:t>Screens: R03</a:t>
            </a:r>
          </a:p>
          <a:p/>
          <a:p>
            <a:r>
              <a:t>FR-R04: Navigation &amp; arrival: Building A · East access; report arrival.</a:t>
            </a:r>
          </a:p>
          <a:p>
            <a:r>
              <a:t>Workflows: WF-11</a:t>
            </a:r>
          </a:p>
          <a:p>
            <a:r>
              <a:t>Screens: R04</a:t>
            </a:r>
          </a:p>
          <a:p/>
          <a:p>
            <a:r>
              <a:t>FR-R05: Field situation: Floor 05 response context; open assistance record.</a:t>
            </a:r>
          </a:p>
          <a:p>
            <a:r>
              <a:t>Workflows: WF-11</a:t>
            </a:r>
          </a:p>
          <a:p>
            <a:r>
              <a:t>Screens: R05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FR-R06: Assistance &amp; triage record: Record observations, not diagnosis; save observation.</a:t>
            </a:r>
          </a:p>
          <a:p>
            <a:r>
              <a:t>Workflows: WF-11</a:t>
            </a:r>
          </a:p>
          <a:p>
            <a:r>
              <a:t>Screens: R06</a:t>
            </a:r>
          </a:p>
          <a:p/>
          <a:p>
            <a:r>
              <a:t>FR-R07: Task status &amp; handover: Hand over with a clear record; submit handover.</a:t>
            </a:r>
          </a:p>
          <a:p>
            <a:r>
              <a:t>Workflows: WF-11</a:t>
            </a:r>
          </a:p>
          <a:p>
            <a:r>
              <a:t>Screens: R07</a:t>
            </a:r>
          </a:p>
          <a:p/>
          <a:p>
            <a:r>
              <a:t>FR-R08: Task completion: Assignment completed; back to shift.</a:t>
            </a:r>
          </a:p>
          <a:p>
            <a:r>
              <a:t>Workflows: WF-11</a:t>
            </a:r>
          </a:p>
          <a:p>
            <a:r>
              <a:t>Screens: R08</a:t>
            </a:r>
          </a:p>
          <a:p/>
          <a:p>
            <a:r>
              <a:t>FR-R09: Team communications: Incident channel · INC-2041; send message.</a:t>
            </a:r>
          </a:p>
          <a:p>
            <a:r>
              <a:t>Workflows: WF-11</a:t>
            </a:r>
          </a:p>
          <a:p>
            <a:r>
              <a:t>Screens: R09</a:t>
            </a:r>
          </a:p>
          <a:p/>
          <a:p>
            <a:r>
              <a:t>FR-R10: Evidence capture: Attach a field observation; queue attachment.</a:t>
            </a:r>
          </a:p>
          <a:p>
            <a:r>
              <a:t>Workflows: WF-11</a:t>
            </a:r>
          </a:p>
          <a:p>
            <a:r>
              <a:t>Screens: R10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FR-R11: Offline outbox: Updates waiting to sync; resolve sync conflict.</a:t>
            </a:r>
          </a:p>
          <a:p>
            <a:r>
              <a:t>Workflows: WF-11</a:t>
            </a:r>
          </a:p>
          <a:p>
            <a:r>
              <a:t>Screens: R11</a:t>
            </a:r>
          </a:p>
          <a:p/>
          <a:p>
            <a:r>
              <a:t>FR-R12: Resolve field conflict: A newer assignment state exists; keep note and refresh.</a:t>
            </a:r>
          </a:p>
          <a:p>
            <a:r>
              <a:t>Workflows: WF-11</a:t>
            </a:r>
          </a:p>
          <a:p>
            <a:r>
              <a:t>Screens: R12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FR-O01: Command overview: Every signal. One coordinated response; open priority incident.</a:t>
            </a:r>
          </a:p>
          <a:p>
            <a:r>
              <a:t>Workflows: WF-20</a:t>
            </a:r>
          </a:p>
          <a:p>
            <a:r>
              <a:t>Screens: O01</a:t>
            </a:r>
          </a:p>
          <a:p/>
          <a:p>
            <a:r>
              <a:t>FR-O02: Live situation map: See incidents across your authorized region; open incident.</a:t>
            </a:r>
          </a:p>
          <a:p>
            <a:r>
              <a:t>Workflows: WF-20</a:t>
            </a:r>
          </a:p>
          <a:p>
            <a:r>
              <a:t>Screens: O02</a:t>
            </a:r>
          </a:p>
          <a:p/>
          <a:p>
            <a:r>
              <a:t>FR-O03: Signal triage queue: Separate evidence from assumptions; inspect signal.</a:t>
            </a:r>
          </a:p>
          <a:p>
            <a:r>
              <a:t>Workflows: WF-03</a:t>
            </a:r>
          </a:p>
          <a:p>
            <a:r>
              <a:t>Screens: O03</a:t>
            </a:r>
          </a:p>
          <a:p/>
          <a:p>
            <a:r>
              <a:t>FR-O04: Incident workspace: Fire · Building A / Floor 05; open dispatch.</a:t>
            </a:r>
          </a:p>
          <a:p>
            <a:r>
              <a:t>Workflows: WF-20</a:t>
            </a:r>
          </a:p>
          <a:p>
            <a:r>
              <a:t>Screens: O04</a:t>
            </a:r>
          </a:p>
          <a:p/>
          <a:p>
            <a:r>
              <a:t>FR-O05: Signal evidence review: Camera and sensor evidence; create incident from signal.</a:t>
            </a:r>
          </a:p>
          <a:p>
            <a:r>
              <a:t>Workflows: WF-04</a:t>
            </a:r>
          </a:p>
          <a:p>
            <a:r>
              <a:t>Screens: O05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FR-O06: Create incident: Establish the incident record; create incident.</a:t>
            </a:r>
          </a:p>
          <a:p>
            <a:r>
              <a:t>Workflows: WF-04</a:t>
            </a:r>
          </a:p>
          <a:p>
            <a:r>
              <a:t>Screens: O06</a:t>
            </a:r>
          </a:p>
          <a:p/>
          <a:p>
            <a:r>
              <a:t>FR-O07: Correlate or split incidents: Review possible duplicate reports; save correlation.</a:t>
            </a:r>
          </a:p>
          <a:p>
            <a:r>
              <a:t>Workflows: WF-04</a:t>
            </a:r>
          </a:p>
          <a:p>
            <a:r>
              <a:t>Screens: O07</a:t>
            </a:r>
          </a:p>
          <a:p/>
          <a:p>
            <a:r>
              <a:t>FR-O08: Dispatch board: Match the task to a capable team; review assignment.</a:t>
            </a:r>
          </a:p>
          <a:p>
            <a:r>
              <a:t>Workflows: WF-11</a:t>
            </a:r>
          </a:p>
          <a:p>
            <a:r>
              <a:t>Screens: O08</a:t>
            </a:r>
          </a:p>
          <a:p/>
          <a:p>
            <a:r>
              <a:t>FR-O09: Assign responder: Confirm ownership of the task; assign team.</a:t>
            </a:r>
          </a:p>
          <a:p>
            <a:r>
              <a:t>Workflows: WF-11</a:t>
            </a:r>
          </a:p>
          <a:p>
            <a:r>
              <a:t>Screens: O09</a:t>
            </a:r>
          </a:p>
          <a:p/>
          <a:p>
            <a:r>
              <a:t>FR-O10: Response timeline: A shared record of decisions; review people status.</a:t>
            </a:r>
          </a:p>
          <a:p>
            <a:r>
              <a:t>Workflows: WF-11</a:t>
            </a:r>
          </a:p>
          <a:p>
            <a:r>
              <a:t>Screens: O10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FR-O11: People accountability: Know what is reported and what is unknown; open person.</a:t>
            </a:r>
          </a:p>
          <a:p>
            <a:r>
              <a:t>Workflows: WF-12</a:t>
            </a:r>
          </a:p>
          <a:p>
            <a:r>
              <a:t>Screens: O11</a:t>
            </a:r>
          </a:p>
          <a:p/>
          <a:p>
            <a:r>
              <a:t>FR-O12: Person assistance detail: Alex Morgan · SOS-041; assign assistance.</a:t>
            </a:r>
          </a:p>
          <a:p>
            <a:r>
              <a:t>Workflows: WF-12</a:t>
            </a:r>
          </a:p>
          <a:p>
            <a:r>
              <a:t>Screens: O12</a:t>
            </a:r>
          </a:p>
          <a:p/>
          <a:p>
            <a:r>
              <a:t>FR-O13: Compose warning: Prepare a targeted warning; preview audience.</a:t>
            </a:r>
          </a:p>
          <a:p>
            <a:r>
              <a:t>Workflows: WF-09</a:t>
            </a:r>
          </a:p>
          <a:p>
            <a:r>
              <a:t>Screens: O13</a:t>
            </a:r>
          </a:p>
          <a:p/>
          <a:p>
            <a:r>
              <a:t>FR-O14: Warning preview &amp; audience: Review message and recipients; submit for approval.</a:t>
            </a:r>
          </a:p>
          <a:p>
            <a:r>
              <a:t>Workflows: WF-09</a:t>
            </a:r>
          </a:p>
          <a:p>
            <a:r>
              <a:t>Screens: O14</a:t>
            </a:r>
          </a:p>
          <a:p/>
          <a:p>
            <a:r>
              <a:t>FR-O15: Approve warning: Independent approval before broadcast; approve warning.</a:t>
            </a:r>
          </a:p>
          <a:p>
            <a:r>
              <a:t>Workflows: WF-09</a:t>
            </a:r>
          </a:p>
          <a:p>
            <a:r>
              <a:t>Screens: O15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FR-O16: Delivery &amp; escalation: Sending does not mean received; review failed deliveries.</a:t>
            </a:r>
          </a:p>
          <a:p>
            <a:r>
              <a:t>Workflows: WF-10</a:t>
            </a:r>
          </a:p>
          <a:p>
            <a:r>
              <a:t>Screens: O16</a:t>
            </a:r>
          </a:p>
          <a:p/>
          <a:p>
            <a:r>
              <a:t>FR-O17: Delivery failure review: Resolve notification gaps; queue fallback.</a:t>
            </a:r>
          </a:p>
          <a:p>
            <a:r>
              <a:t>Workflows: WF-10</a:t>
            </a:r>
          </a:p>
          <a:p>
            <a:r>
              <a:t>Screens: O17</a:t>
            </a:r>
          </a:p>
          <a:p/>
          <a:p>
            <a:r>
              <a:t>FR-O18: Physical command approval: Review a proposed equipment action; approve command.</a:t>
            </a:r>
          </a:p>
          <a:p>
            <a:r>
              <a:t>Workflows: WF-15</a:t>
            </a:r>
          </a:p>
          <a:p>
            <a:r>
              <a:t>Screens: O18</a:t>
            </a:r>
          </a:p>
          <a:p/>
          <a:p>
            <a:r>
              <a:t>FR-O19: Physical command status: Track controller evidence; refresh command evidence.</a:t>
            </a:r>
          </a:p>
          <a:p>
            <a:r>
              <a:t>Workflows: WF-15</a:t>
            </a:r>
          </a:p>
          <a:p>
            <a:r>
              <a:t>Screens: O19</a:t>
            </a:r>
          </a:p>
          <a:p/>
          <a:p>
            <a:r>
              <a:t>FR-O20: Incident closure review: Resolve outstanding obligations; close incident.</a:t>
            </a:r>
          </a:p>
          <a:p>
            <a:r>
              <a:t>Workflows: WF-20</a:t>
            </a:r>
          </a:p>
          <a:p>
            <a:r>
              <a:t>Screens: O20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FR-O21: After-action review: Learn from the response; create improvement action.</a:t>
            </a:r>
          </a:p>
          <a:p>
            <a:r>
              <a:t>Workflows: WF-20</a:t>
            </a:r>
          </a:p>
          <a:p>
            <a:r>
              <a:t>Screens: O21</a:t>
            </a:r>
          </a:p>
          <a:p/>
          <a:p>
            <a:r>
              <a:t>FR-O22: Improvement action: Give follow-up work an owner; save action.</a:t>
            </a:r>
          </a:p>
          <a:p>
            <a:r>
              <a:t>Workflows: WF-20</a:t>
            </a:r>
          </a:p>
          <a:p>
            <a:r>
              <a:t>Screens: O22</a:t>
            </a:r>
          </a:p>
          <a:p/>
          <a:p>
            <a:r>
              <a:t>FR-O23: Drill scheduler: Practice without contacting live recipients; open drill control.</a:t>
            </a:r>
          </a:p>
          <a:p>
            <a:r>
              <a:t>Workflows: WF-20</a:t>
            </a:r>
          </a:p>
          <a:p>
            <a:r>
              <a:t>Screens: O23</a:t>
            </a:r>
          </a:p>
          <a:p/>
          <a:p>
            <a:r>
              <a:t>FR-O24: Drill control room: EXERCISE · Building A evacuation; review drill report.</a:t>
            </a:r>
          </a:p>
          <a:p>
            <a:r>
              <a:t>Workflows: WF-20</a:t>
            </a:r>
          </a:p>
          <a:p>
            <a:r>
              <a:t>Screens: O24</a:t>
            </a:r>
          </a:p>
          <a:p/>
          <a:p>
            <a:r>
              <a:t>FR-O25: Shift handover: Transfer active operational responsibility; record handover.</a:t>
            </a:r>
          </a:p>
          <a:p>
            <a:r>
              <a:t>Workflows: WF-20</a:t>
            </a:r>
          </a:p>
          <a:p>
            <a:r>
              <a:t>Screens: O25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FR-O26: Shelter operations: Publish fresh shelter information; edit shelter.</a:t>
            </a:r>
          </a:p>
          <a:p>
            <a:r>
              <a:t>Workflows: WF-13</a:t>
            </a:r>
          </a:p>
          <a:p>
            <a:r>
              <a:t>Screens: O26</a:t>
            </a:r>
          </a:p>
          <a:p/>
          <a:p>
            <a:r>
              <a:t>FR-O27: Edit shelter status: Update a designated shelter; publish update.</a:t>
            </a:r>
          </a:p>
          <a:p>
            <a:r>
              <a:t>Workflows: WF-13</a:t>
            </a:r>
          </a:p>
          <a:p>
            <a:r>
              <a:t>Screens: O27</a:t>
            </a:r>
          </a:p>
          <a:p/>
          <a:p>
            <a:r>
              <a:t>FR-O28: Regional disaster feed: Review trusted public advisories; inspect advisory.</a:t>
            </a:r>
          </a:p>
          <a:p>
            <a:r>
              <a:t>Workflows: WF-08</a:t>
            </a:r>
          </a:p>
          <a:p>
            <a:r>
              <a:t>Screens: O28</a:t>
            </a:r>
          </a:p>
          <a:p/>
          <a:p>
            <a:r>
              <a:t>FR-O29: CAP advisory review: Preserve the issuing authority's context; create local response.</a:t>
            </a:r>
          </a:p>
          <a:p>
            <a:r>
              <a:t>Workflows: WF-08</a:t>
            </a:r>
          </a:p>
          <a:p>
            <a:r>
              <a:t>Screens: O29</a:t>
            </a:r>
          </a:p>
          <a:p/>
          <a:p>
            <a:r>
              <a:t>FR-O30: Search &amp; audit timeline: Find an event without changing history; inspect audit entry.</a:t>
            </a:r>
          </a:p>
          <a:p>
            <a:r>
              <a:t>Workflows: WF-19</a:t>
            </a:r>
          </a:p>
          <a:p>
            <a:r>
              <a:t>Screens: O30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FR-O31: Incident archive &amp; reopen: Review closed incidents with full history; review reopening.</a:t>
            </a:r>
          </a:p>
          <a:p>
            <a:r>
              <a:t>Workflows: WF-20</a:t>
            </a:r>
          </a:p>
          <a:p>
            <a:r>
              <a:t>Screens: O31</a:t>
            </a:r>
          </a:p>
          <a:p/>
          <a:p>
            <a:r>
              <a:t>FR-O32: Reopen incident: Record why response needs to resume; reopen incident.</a:t>
            </a:r>
          </a:p>
          <a:p>
            <a:r>
              <a:t>Workflows: WF-20</a:t>
            </a:r>
          </a:p>
          <a:p>
            <a:r>
              <a:t>Screens: O32</a:t>
            </a:r>
          </a:p>
          <a:p/>
          <a:p>
            <a:r>
              <a:t>FR-O33: Federated incident sharing: Share a controlled incident projection; review partner exchange.</a:t>
            </a:r>
          </a:p>
          <a:p>
            <a:r>
              <a:t>Workflows: WF-17</a:t>
            </a:r>
          </a:p>
          <a:p>
            <a:r>
              <a:t>Screens: O33</a:t>
            </a:r>
          </a:p>
          <a:p/>
          <a:p>
            <a:r>
              <a:t>FR-O34: Accessibility assistance queue: Assign support based on reported needs; assign capable unit.</a:t>
            </a:r>
          </a:p>
          <a:p>
            <a:r>
              <a:t>Workflows: WF-11</a:t>
            </a:r>
          </a:p>
          <a:p>
            <a:r>
              <a:t>Screens: O34</a:t>
            </a:r>
          </a:p>
          <a:p/>
          <a:p>
            <a:r>
              <a:t>FR-O35: Hazard zones &amp; route restrictions: Publish time-bounded movement restrictions; review guidance impact.</a:t>
            </a:r>
          </a:p>
          <a:p>
            <a:r>
              <a:t>Workflows: WF-22</a:t>
            </a:r>
          </a:p>
          <a:p>
            <a:r>
              <a:t>Screens: O35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FR-O36: Guidance distribution &amp; receipts: Keep app and speaker instructions consistent; open speaker operations.</a:t>
            </a:r>
          </a:p>
          <a:p>
            <a:r>
              <a:t>Workflows: WF-22</a:t>
            </a:r>
          </a:p>
          <a:p>
            <a:r>
              <a:t>Screens: O36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FR-S01: Site directory: One location model across industries; open site.</a:t>
            </a:r>
          </a:p>
          <a:p>
            <a:r>
              <a:t>Workflows: WF-02</a:t>
            </a:r>
          </a:p>
          <a:p>
            <a:r>
              <a:t>Screens: S01</a:t>
            </a:r>
          </a:p>
          <a:p/>
          <a:p>
            <a:r>
              <a:t>FR-S02: Site structure: Harbor Campus / Building A; edit location.</a:t>
            </a:r>
          </a:p>
          <a:p>
            <a:r>
              <a:t>Workflows: WF-02</a:t>
            </a:r>
          </a:p>
          <a:p>
            <a:r>
              <a:t>Screens: S02</a:t>
            </a:r>
          </a:p>
          <a:p/>
          <a:p>
            <a:r>
              <a:t>FR-S03: Location editor: Link physical and geographic context; save location.</a:t>
            </a:r>
          </a:p>
          <a:p>
            <a:r>
              <a:t>Workflows: WF-02</a:t>
            </a:r>
          </a:p>
          <a:p>
            <a:r>
              <a:t>Screens: S03</a:t>
            </a:r>
          </a:p>
          <a:p/>
          <a:p>
            <a:r>
              <a:t>FR-S04: Floor plan editor: Publish a reviewed evacuation map; review plan publication.</a:t>
            </a:r>
          </a:p>
          <a:p>
            <a:r>
              <a:t>Workflows: WF-02</a:t>
            </a:r>
          </a:p>
          <a:p>
            <a:r>
              <a:t>Screens: S04</a:t>
            </a:r>
          </a:p>
          <a:p/>
          <a:p>
            <a:r>
              <a:t>FR-S05: Plan approval &amp; versions: Keep published guidance traceable; publish reviewed draft.</a:t>
            </a:r>
          </a:p>
          <a:p>
            <a:r>
              <a:t>Workflows: WF-02</a:t>
            </a:r>
          </a:p>
          <a:p>
            <a:r>
              <a:t>Screens: S05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FR-S06: Device inventory: Know which devices can be trusted; open device.</a:t>
            </a:r>
          </a:p>
          <a:p>
            <a:r>
              <a:t>Workflows: WF-14</a:t>
            </a:r>
          </a:p>
          <a:p>
            <a:r>
              <a:t>Screens: S06</a:t>
            </a:r>
          </a:p>
          <a:p/>
          <a:p>
            <a:r>
              <a:t>FR-S07: Device detail &amp; health: CAM-A05-03; review device configuration.</a:t>
            </a:r>
          </a:p>
          <a:p>
            <a:r>
              <a:t>Workflows: WF-14</a:t>
            </a:r>
          </a:p>
          <a:p>
            <a:r>
              <a:t>Screens: S07</a:t>
            </a:r>
          </a:p>
          <a:p/>
          <a:p>
            <a:r>
              <a:t>FR-S08: Provision device: Bind a device to an authorized tenant; enroll device.</a:t>
            </a:r>
          </a:p>
          <a:p>
            <a:r>
              <a:t>Workflows: WF-14</a:t>
            </a:r>
          </a:p>
          <a:p>
            <a:r>
              <a:t>Screens: S08</a:t>
            </a:r>
          </a:p>
          <a:p/>
          <a:p>
            <a:r>
              <a:t>FR-S09: Camera wall: Review selected camera sources; open detection evidence.</a:t>
            </a:r>
          </a:p>
          <a:p>
            <a:r>
              <a:t>Workflows: WF-14</a:t>
            </a:r>
          </a:p>
          <a:p>
            <a:r>
              <a:t>Screens: S09</a:t>
            </a:r>
          </a:p>
          <a:p/>
          <a:p>
            <a:r>
              <a:t>FR-S10: Maintenance &amp; calibration: Keep suppression visible during maintenance; schedule maintenance.</a:t>
            </a:r>
          </a:p>
          <a:p>
            <a:r>
              <a:t>Workflows: WF-14</a:t>
            </a:r>
          </a:p>
          <a:p>
            <a:r>
              <a:t>Screens: S10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FR-S11: Rule library: Detection policies by hazard and site; edit rule.</a:t>
            </a:r>
          </a:p>
          <a:p>
            <a:r>
              <a:t>Workflows: WF-04</a:t>
            </a:r>
          </a:p>
          <a:p>
            <a:r>
              <a:t>Screens: S11</a:t>
            </a:r>
          </a:p>
          <a:p/>
          <a:p>
            <a:r>
              <a:t>FR-S12: Rule editor &amp; simulation: Test a rule against recorded events; view simulation results.</a:t>
            </a:r>
          </a:p>
          <a:p>
            <a:r>
              <a:t>Workflows: WF-04</a:t>
            </a:r>
          </a:p>
          <a:p>
            <a:r>
              <a:t>Screens: S12</a:t>
            </a:r>
          </a:p>
          <a:p/>
          <a:p>
            <a:r>
              <a:t>FR-S13: Rule test &amp; approval: Review behavioral changes before release; return rule for changes.</a:t>
            </a:r>
          </a:p>
          <a:p>
            <a:r>
              <a:t>Workflows: WF-04</a:t>
            </a:r>
          </a:p>
          <a:p>
            <a:r>
              <a:t>Screens: S13</a:t>
            </a:r>
          </a:p>
          <a:p/>
          <a:p>
            <a:r>
              <a:t>FR-S14: AI model monitoring: Track detector behavior by site; open review queue.</a:t>
            </a:r>
          </a:p>
          <a:p>
            <a:r>
              <a:t>Workflows: WF-04</a:t>
            </a:r>
          </a:p>
          <a:p>
            <a:r>
              <a:t>Screens: S14</a:t>
            </a:r>
          </a:p>
          <a:p/>
          <a:p>
            <a:r>
              <a:t>FR-S15: Evacuation graph editor: Build a versioned indoor and outdoor route graph; review route validation.</a:t>
            </a:r>
          </a:p>
          <a:p>
            <a:r>
              <a:t>Workflows: WF-22</a:t>
            </a:r>
          </a:p>
          <a:p>
            <a:r>
              <a:t>Screens: S15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FR-S16: Route simulation &amp; approval: Test hazards, accessibility and uncertainty; publish reviewed graph.</a:t>
            </a:r>
          </a:p>
          <a:p>
            <a:r>
              <a:t>Workflows: WF-22</a:t>
            </a:r>
          </a:p>
          <a:p>
            <a:r>
              <a:t>Screens: S16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FR-I01: Connector catalog: Connect systems through declared capabilities; configure connector.</a:t>
            </a:r>
          </a:p>
          <a:p>
            <a:r>
              <a:t>Workflows: WF-17</a:t>
            </a:r>
          </a:p>
          <a:p>
            <a:r>
              <a:t>Screens: I01</a:t>
            </a:r>
          </a:p>
          <a:p/>
          <a:p>
            <a:r>
              <a:t>FR-I02: Connector setup: Create a scoped connection; test connection.</a:t>
            </a:r>
          </a:p>
          <a:p>
            <a:r>
              <a:t>Workflows: WF-17</a:t>
            </a:r>
          </a:p>
          <a:p>
            <a:r>
              <a:t>Screens: I02</a:t>
            </a:r>
          </a:p>
          <a:p/>
          <a:p>
            <a:r>
              <a:t>FR-I03: Schema mapping: Map source data into a versioned event; run contract tests.</a:t>
            </a:r>
          </a:p>
          <a:p>
            <a:r>
              <a:t>Workflows: WF-03</a:t>
            </a:r>
          </a:p>
          <a:p>
            <a:r>
              <a:t>Screens: I03</a:t>
            </a:r>
          </a:p>
          <a:p/>
          <a:p>
            <a:r>
              <a:t>FR-I04: Connector test console: Prove behavior before enabling traffic; enable connector.</a:t>
            </a:r>
          </a:p>
          <a:p>
            <a:r>
              <a:t>Workflows: WF-17</a:t>
            </a:r>
          </a:p>
          <a:p>
            <a:r>
              <a:t>Screens: I04</a:t>
            </a:r>
          </a:p>
          <a:p/>
          <a:p>
            <a:r>
              <a:t>FR-I05: Connector health: Monitor transport and processing separately; inspect dead letters.</a:t>
            </a:r>
          </a:p>
          <a:p>
            <a:r>
              <a:t>Workflows: WF-17</a:t>
            </a:r>
          </a:p>
          <a:p>
            <a:r>
              <a:t>Screens: I05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FR-I06: Dead-letter &amp; replay: Replay only after inspecting the failure; replay event.</a:t>
            </a:r>
          </a:p>
          <a:p>
            <a:r>
              <a:t>Workflows: WF-17</a:t>
            </a:r>
          </a:p>
          <a:p>
            <a:r>
              <a:t>Screens: I06</a:t>
            </a:r>
          </a:p>
          <a:p/>
          <a:p>
            <a:r>
              <a:t>FR-I07: API clients &amp; scopes: Grant only required API access; save client.</a:t>
            </a:r>
          </a:p>
          <a:p>
            <a:r>
              <a:t>Workflows: WF-17</a:t>
            </a:r>
          </a:p>
          <a:p>
            <a:r>
              <a:t>Screens: I07</a:t>
            </a:r>
          </a:p>
          <a:p/>
          <a:p>
            <a:r>
              <a:t>FR-I08: Webhook subscriptions: Deliver filtered incident updates; send test payload.</a:t>
            </a:r>
          </a:p>
          <a:p>
            <a:r>
              <a:t>Workflows: WF-17</a:t>
            </a:r>
          </a:p>
          <a:p>
            <a:r>
              <a:t>Screens: I08</a:t>
            </a:r>
          </a:p>
          <a:p/>
          <a:p>
            <a:r>
              <a:t>FR-I09: Partner exchange agreements: Define cross-organization sharing; save agreement draft.</a:t>
            </a:r>
          </a:p>
          <a:p>
            <a:r>
              <a:t>Workflows: WF-17</a:t>
            </a:r>
          </a:p>
          <a:p>
            <a:r>
              <a:t>Screens: I09</a:t>
            </a:r>
          </a:p>
          <a:p/>
          <a:p>
            <a:r>
              <a:t>FR-I10: IOC exchange history: Verify what a partner actually received; inspect payload.</a:t>
            </a:r>
          </a:p>
          <a:p>
            <a:r>
              <a:t>Workflows: WF-17</a:t>
            </a:r>
          </a:p>
          <a:p>
            <a:r>
              <a:t>Screens: I10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FR-I11: Drone fleet: Mission readiness at a glance; plan mission.</a:t>
            </a:r>
          </a:p>
          <a:p>
            <a:r>
              <a:t>Workflows: WF-16</a:t>
            </a:r>
          </a:p>
          <a:p>
            <a:r>
              <a:t>Screens: I11</a:t>
            </a:r>
          </a:p>
          <a:p/>
          <a:p>
            <a:r>
              <a:t>FR-I12: Drone mission planning: Observe the perimeter of Building A; review mission approval.</a:t>
            </a:r>
          </a:p>
          <a:p>
            <a:r>
              <a:t>Workflows: WF-16</a:t>
            </a:r>
          </a:p>
          <a:p>
            <a:r>
              <a:t>Screens: I12</a:t>
            </a:r>
          </a:p>
          <a:p/>
          <a:p>
            <a:r>
              <a:t>FR-I13: Drone preflight &amp; approval: Local authority remains with the pilot; approve mission.</a:t>
            </a:r>
          </a:p>
          <a:p>
            <a:r>
              <a:t>Workflows: WF-16</a:t>
            </a:r>
          </a:p>
          <a:p>
            <a:r>
              <a:t>Screens: I13</a:t>
            </a:r>
          </a:p>
          <a:p/>
          <a:p>
            <a:r>
              <a:t>FR-I14: Drone mission telemetry: DR-01 · observation mission; review mission record.</a:t>
            </a:r>
          </a:p>
          <a:p>
            <a:r>
              <a:t>Workflows: WF-16</a:t>
            </a:r>
          </a:p>
          <a:p>
            <a:r>
              <a:t>Screens: I14</a:t>
            </a:r>
          </a:p>
          <a:p/>
          <a:p>
            <a:r>
              <a:t>FR-I15: Drone mission record: Preserve mission evidence; return to fleet.</a:t>
            </a:r>
          </a:p>
          <a:p>
            <a:r>
              <a:t>Workflows: WF-16</a:t>
            </a:r>
          </a:p>
          <a:p>
            <a:r>
              <a:t>Screens: I15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FR-T01: Tenant overview: Operate across regions with clear boundaries; manage organization.</a:t>
            </a:r>
          </a:p>
          <a:p>
            <a:r>
              <a:t>Workflows: WF-20</a:t>
            </a:r>
          </a:p>
          <a:p>
            <a:r>
              <a:t>Screens: T01</a:t>
            </a:r>
          </a:p>
          <a:p/>
          <a:p>
            <a:r>
              <a:t>FR-T02: Organization &amp; regions: Choose residency and local defaults; save settings.</a:t>
            </a:r>
          </a:p>
          <a:p>
            <a:r>
              <a:t>Workflows: WF-18</a:t>
            </a:r>
          </a:p>
          <a:p>
            <a:r>
              <a:t>Screens: T02</a:t>
            </a:r>
          </a:p>
          <a:p/>
          <a:p>
            <a:r>
              <a:t>FR-T03: Users &amp; invitations: Review access across the organization; edit membership.</a:t>
            </a:r>
          </a:p>
          <a:p>
            <a:r>
              <a:t>Workflows: WF-01</a:t>
            </a:r>
          </a:p>
          <a:p>
            <a:r>
              <a:t>Screens: T03</a:t>
            </a:r>
          </a:p>
          <a:p/>
          <a:p>
            <a:r>
              <a:t>FR-T04: Role &amp; scope editor: Separate operational duties; save role.</a:t>
            </a:r>
          </a:p>
          <a:p>
            <a:r>
              <a:t>Workflows: WF-01</a:t>
            </a:r>
          </a:p>
          <a:p>
            <a:r>
              <a:t>Screens: T04</a:t>
            </a:r>
          </a:p>
          <a:p/>
          <a:p>
            <a:r>
              <a:t>FR-T05: On-call &amp; escalation: Escalate when acknowledgment is missing; save escalation.</a:t>
            </a:r>
          </a:p>
          <a:p>
            <a:r>
              <a:t>Workflows: WF-10</a:t>
            </a:r>
          </a:p>
          <a:p>
            <a:r>
              <a:t>Screens: T05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FR-T06: Message templates &amp; languages: Publish reviewed instructions per locale; preview template.</a:t>
            </a:r>
          </a:p>
          <a:p>
            <a:r>
              <a:t>Workflows: WF-09</a:t>
            </a:r>
          </a:p>
          <a:p>
            <a:r>
              <a:t>Screens: T06</a:t>
            </a:r>
          </a:p>
          <a:p/>
          <a:p>
            <a:r>
              <a:t>FR-T07: Hazard taxonomy &amp; playbooks: Extend categories without changing the core; save draft playbook.</a:t>
            </a:r>
          </a:p>
          <a:p>
            <a:r>
              <a:t>Workflows: WF-20</a:t>
            </a:r>
          </a:p>
          <a:p>
            <a:r>
              <a:t>Screens: T07</a:t>
            </a:r>
          </a:p>
          <a:p/>
          <a:p>
            <a:r>
              <a:t>FR-T08: Playbook approval: Approve the operational sequence; publish playbook.</a:t>
            </a:r>
          </a:p>
          <a:p>
            <a:r>
              <a:t>Workflows: WF-20</a:t>
            </a:r>
          </a:p>
          <a:p>
            <a:r>
              <a:t>Screens: T08</a:t>
            </a:r>
          </a:p>
          <a:p/>
          <a:p>
            <a:r>
              <a:t>FR-T09: Retention &amp; legal holds: Apply policies by data class and region; save policy draft.</a:t>
            </a:r>
          </a:p>
          <a:p>
            <a:r>
              <a:t>Workflows: WF-19</a:t>
            </a:r>
          </a:p>
          <a:p>
            <a:r>
              <a:t>Screens: T09</a:t>
            </a:r>
          </a:p>
          <a:p/>
          <a:p>
            <a:r>
              <a:t>FR-T10: Privacy request review: Review request DR-202; approve export.</a:t>
            </a:r>
          </a:p>
          <a:p>
            <a:r>
              <a:t>Workflows: WF-19</a:t>
            </a:r>
          </a:p>
          <a:p>
            <a:r>
              <a:t>Screens: T10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FR-T11: Audit record: Immutable decision evidence; return to audit search.</a:t>
            </a:r>
          </a:p>
          <a:p>
            <a:r>
              <a:t>Workflows: WF-19</a:t>
            </a:r>
          </a:p>
          <a:p>
            <a:r>
              <a:t>Screens: T11</a:t>
            </a:r>
          </a:p>
          <a:p/>
          <a:p>
            <a:r>
              <a:t>FR-T12: Service health &amp; recovery: Separate degraded service from silent failure; open recovery runbook.</a:t>
            </a:r>
          </a:p>
          <a:p>
            <a:r>
              <a:t>Workflows: WF-20</a:t>
            </a:r>
          </a:p>
          <a:p>
            <a:r>
              <a:t>Screens: T12</a:t>
            </a:r>
          </a:p>
          <a:p/>
          <a:p>
            <a:r>
              <a:t>FR-T13: Recovery runbook: Regional incident data recovery; record drill outcome.</a:t>
            </a:r>
          </a:p>
          <a:p>
            <a:r>
              <a:t>Workflows: WF-20</a:t>
            </a:r>
          </a:p>
          <a:p>
            <a:r>
              <a:t>Screens: T13</a:t>
            </a:r>
          </a:p>
          <a:p/>
          <a:p>
            <a:r>
              <a:t>FR-T14: Usage &amp; subscription: Capacity and commercial visibility; review capacity policy.</a:t>
            </a:r>
          </a:p>
          <a:p>
            <a:r>
              <a:t>Workflows: WF-20</a:t>
            </a:r>
          </a:p>
          <a:p>
            <a:r>
              <a:t>Screens: T14</a:t>
            </a:r>
          </a:p>
          <a:p/>
          <a:p>
            <a:r>
              <a:t>FR-T15: Capacity &amp; quota policy: Protect emergency traffic during bursts; save capacity draft.</a:t>
            </a:r>
          </a:p>
          <a:p>
            <a:r>
              <a:t>Workflows: WF-20</a:t>
            </a:r>
          </a:p>
          <a:p>
            <a:r>
              <a:t>Screens: T15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FR-T16: Analytics &amp; export: Measure response without hiding gaps; prepare report.</a:t>
            </a:r>
          </a:p>
          <a:p>
            <a:r>
              <a:t>Workflows: WF-20</a:t>
            </a:r>
          </a:p>
          <a:p>
            <a:r>
              <a:t>Screens: T16</a:t>
            </a:r>
          </a:p>
          <a:p/>
          <a:p>
            <a:r>
              <a:t>FR-T17: Report schedule: Deliver an authorized operational report; save schedule draft.</a:t>
            </a:r>
          </a:p>
          <a:p>
            <a:r>
              <a:t>Workflows: WF-20</a:t>
            </a:r>
          </a:p>
          <a:p>
            <a:r>
              <a:t>Screens: T17</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FR-X01: No connection / SOS pending: Your SOS has not reached the server; view offline outbox.</a:t>
            </a:r>
          </a:p>
          <a:p>
            <a:r>
              <a:t>Workflows: WF-05</a:t>
            </a:r>
          </a:p>
          <a:p>
            <a:r>
              <a:t>Screens: X01</a:t>
            </a:r>
          </a:p>
          <a:p/>
          <a:p>
            <a:r>
              <a:t>FR-X02: Permission unavailable: Location permission is off; enter location manually.</a:t>
            </a:r>
          </a:p>
          <a:p>
            <a:r>
              <a:t>Workflows: WF-05</a:t>
            </a:r>
          </a:p>
          <a:p>
            <a:r>
              <a:t>Screens: X02</a:t>
            </a:r>
          </a:p>
          <a:p/>
          <a:p>
            <a:r>
              <a:t>FR-X03: No active incidents: No active incidents in this view; review device health.</a:t>
            </a:r>
          </a:p>
          <a:p>
            <a:r>
              <a:t>Workflows: WF-20</a:t>
            </a:r>
          </a:p>
          <a:p>
            <a:r>
              <a:t>Screens: X03</a:t>
            </a:r>
          </a:p>
          <a:p/>
          <a:p>
            <a:r>
              <a:t>FR-X04: Access denied: This record is outside your access scope; choose workspace.</a:t>
            </a:r>
          </a:p>
          <a:p>
            <a:r>
              <a:t>Workflows: WF-01</a:t>
            </a:r>
          </a:p>
          <a:p>
            <a:r>
              <a:t>Screens: X04</a:t>
            </a:r>
          </a:p>
          <a:p/>
          <a:p>
            <a:r>
              <a:t>FR-X05: Service unavailable: This service is temporarily unavailable; open offline pack.</a:t>
            </a:r>
          </a:p>
          <a:p>
            <a:r>
              <a:t>Workflows: WF-20</a:t>
            </a:r>
          </a:p>
          <a:p>
            <a:r>
              <a:t>Screens: X05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FR-X06: Unsaved changes &amp; conflict: A newer version was published; review latest version.</a:t>
            </a:r>
          </a:p>
          <a:p>
            <a:r>
              <a:t>Workflows: WF-02</a:t>
            </a:r>
          </a:p>
          <a:p>
            <a:r>
              <a:t>Screens: X06</a:t>
            </a:r>
          </a:p>
          <a:p/>
          <a:p>
            <a:r>
              <a:t>FR-X07: Empty search &amp; filter reset: No matches for these filters; reset search.</a:t>
            </a:r>
          </a:p>
          <a:p>
            <a:r>
              <a:t>Workflows: WF-20</a:t>
            </a:r>
          </a:p>
          <a:p>
            <a:r>
              <a:t>Screens: X07</a:t>
            </a:r>
          </a:p>
          <a:p/>
          <a:p>
            <a:r>
              <a:t>FR-X08: Expired session: Sign in again to continue; sign in.</a:t>
            </a:r>
          </a:p>
          <a:p>
            <a:r>
              <a:t>Workflows: WF-01</a:t>
            </a:r>
          </a:p>
          <a:p>
            <a:r>
              <a:t>Screens: X08</a:t>
            </a:r>
          </a:p>
          <a:p/>
          <a:p>
            <a:r>
              <a:t>FR-X09: Loading &amp; stale data: Refreshing the situation view; return to command.</a:t>
            </a:r>
          </a:p>
          <a:p>
            <a:r>
              <a:t>Workflows: WF-20</a:t>
            </a:r>
          </a:p>
          <a:p>
            <a:r>
              <a:t>Screens: X09</a:t>
            </a:r>
          </a:p>
          <a:p/>
          <a:p>
            <a:r>
              <a:t>FR-X10: Attachment rejected: This attachment could not be accepted; choose another attachment.</a:t>
            </a:r>
          </a:p>
          <a:p>
            <a:r>
              <a:t>Workflows: WF-11</a:t>
            </a:r>
          </a:p>
          <a:p>
            <a:r>
              <a:t>Screens: X10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FR-G01: Regional operations: Production cells, independently operated; inspect regional cell.</a:t>
            </a:r>
          </a:p>
          <a:p>
            <a:r>
              <a:t>Workflows: WF-20</a:t>
            </a:r>
          </a:p>
          <a:p>
            <a:r>
              <a:t>Screens: G01</a:t>
            </a:r>
          </a:p>
          <a:p/>
          <a:p>
            <a:r>
              <a:t>FR-G02: Regional cell detail: EU cell · operational readiness; review recovery readiness.</a:t>
            </a:r>
          </a:p>
          <a:p>
            <a:r>
              <a:t>Workflows: WF-20</a:t>
            </a:r>
          </a:p>
          <a:p>
            <a:r>
              <a:t>Screens: G02</a:t>
            </a:r>
          </a:p>
          <a:p/>
          <a:p>
            <a:r>
              <a:t>FR-G03: Disaster recovery drill: Validate recovery with recorded evidence; record drill evidence.</a:t>
            </a:r>
          </a:p>
          <a:p>
            <a:r>
              <a:t>Workflows: WF-20</a:t>
            </a:r>
          </a:p>
          <a:p>
            <a:r>
              <a:t>Screens: G03</a:t>
            </a:r>
          </a:p>
          <a:p/>
          <a:p>
            <a:r>
              <a:t>FR-G04: Recovery verification: Verify data and ownership before routing; review regional operations.</a:t>
            </a:r>
          </a:p>
          <a:p>
            <a:r>
              <a:t>Workflows: WF-20</a:t>
            </a:r>
          </a:p>
          <a:p>
            <a:r>
              <a:t>Screens: G04</a:t>
            </a:r>
          </a:p>
          <a:p/>
          <a:p>
            <a:r>
              <a:t>FR-G05: Tenant provisioning: Provision a production tenant boundary; review provisioning plan.</a:t>
            </a:r>
          </a:p>
          <a:p>
            <a:r>
              <a:t>Workflows: WF-18</a:t>
            </a:r>
          </a:p>
          <a:p>
            <a:r>
              <a:t>Screens: G05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FR-G06: Tenant lifecycle: Northstar · lifecycle controls; request support access.</a:t>
            </a:r>
          </a:p>
          <a:p>
            <a:r>
              <a:t>Workflows: WF-18</a:t>
            </a:r>
          </a:p>
          <a:p>
            <a:r>
              <a:t>Screens: G06</a:t>
            </a:r>
          </a:p>
          <a:p/>
          <a:p>
            <a:r>
              <a:t>FR-G07: Time-bound support access: Request the smallest support scope; submit access request.</a:t>
            </a:r>
          </a:p>
          <a:p>
            <a:r>
              <a:t>Workflows: WF-19</a:t>
            </a:r>
          </a:p>
          <a:p>
            <a:r>
              <a:t>Screens: G07</a:t>
            </a:r>
          </a:p>
          <a:p/>
          <a:p>
            <a:r>
              <a:t>FR-G08: Support access approval: Approve a scoped support session; approve scoped access.</a:t>
            </a:r>
          </a:p>
          <a:p>
            <a:r>
              <a:t>Workflows: WF-19</a:t>
            </a:r>
          </a:p>
          <a:p>
            <a:r>
              <a:t>Screens: G08</a:t>
            </a:r>
          </a:p>
          <a:p/>
          <a:p>
            <a:r>
              <a:t>FR-G09: Release &amp; schema compatibility: Release only compatible contracts; review release gate.</a:t>
            </a:r>
          </a:p>
          <a:p>
            <a:r>
              <a:t>Workflows: WF-20</a:t>
            </a:r>
          </a:p>
          <a:p>
            <a:r>
              <a:t>Screens: G09</a:t>
            </a:r>
          </a:p>
          <a:p/>
          <a:p>
            <a:r>
              <a:t>FR-G10: Release gate &amp; rollback: Verify behavior before promotion; record release decision.</a:t>
            </a:r>
          </a:p>
          <a:p>
            <a:r>
              <a:t>Workflows: WF-20</a:t>
            </a:r>
          </a:p>
          <a:p>
            <a:r>
              <a:t>Screens: G10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FR-G11: Security incidents: Respond to platform threats; open security case.</a:t>
            </a:r>
          </a:p>
          <a:p>
            <a:r>
              <a:t>Workflows: WF-19</a:t>
            </a:r>
          </a:p>
          <a:p>
            <a:r>
              <a:t>Screens: G11</a:t>
            </a:r>
          </a:p>
          <a:p/>
          <a:p>
            <a:r>
              <a:t>FR-G12: Security case &amp; containment: Contain the source without hiding coverage gaps; record containment.</a:t>
            </a:r>
          </a:p>
          <a:p>
            <a:r>
              <a:t>Workflows: WF-19</a:t>
            </a:r>
          </a:p>
          <a:p>
            <a:r>
              <a:t>Screens: G12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FR-D01: Developer workspace: Build against explicit contracts; open API explorer.</a:t>
            </a:r>
          </a:p>
          <a:p>
            <a:r>
              <a:t>Workflows: WF-17</a:t>
            </a:r>
          </a:p>
          <a:p>
            <a:r>
              <a:t>Screens: D01</a:t>
            </a:r>
          </a:p>
          <a:p/>
          <a:p>
            <a:r>
              <a:t>FR-D02: API explorer: POST /v1/events; run sandbox request.</a:t>
            </a:r>
          </a:p>
          <a:p>
            <a:r>
              <a:t>Workflows: WF-03</a:t>
            </a:r>
          </a:p>
          <a:p>
            <a:r>
              <a:t>Screens: D02</a:t>
            </a:r>
          </a:p>
          <a:p/>
          <a:p>
            <a:r>
              <a:t>FR-D03: Sandbox request results: Inspect the complete receipt; open schema registry.</a:t>
            </a:r>
          </a:p>
          <a:p>
            <a:r>
              <a:t>Workflows: WF-03</a:t>
            </a:r>
          </a:p>
          <a:p>
            <a:r>
              <a:t>Screens: D03</a:t>
            </a:r>
          </a:p>
          <a:p/>
          <a:p>
            <a:r>
              <a:t>FR-D04: Schema registry: Track compatibility before upgrading; view schema contract.</a:t>
            </a:r>
          </a:p>
          <a:p>
            <a:r>
              <a:t>Workflows: WF-03</a:t>
            </a:r>
          </a:p>
          <a:p>
            <a:r>
              <a:t>Screens: D04</a:t>
            </a:r>
          </a:p>
          <a:p/>
          <a:p>
            <a:r>
              <a:t>FR-D05: Connector manifest editor: Declare capabilities explicitly; submit for conformance.</a:t>
            </a:r>
          </a:p>
          <a:p>
            <a:r>
              <a:t>Workflows: WF-17</a:t>
            </a:r>
          </a:p>
          <a:p>
            <a:r>
              <a:t>Screens: D05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FR-D06: Conformance certification: Review adapter behavior under failure; approve adapter version.</a:t>
            </a:r>
          </a:p>
          <a:p>
            <a:r>
              <a:t>Workflows: WF-17</a:t>
            </a:r>
          </a:p>
          <a:p>
            <a:r>
              <a:t>Screens: D06</a:t>
            </a:r>
          </a:p>
          <a:p/>
          <a:p>
            <a:r>
              <a:t>FR-D07: Webhook delivery trace: Understand every delivery attempt; review subscription.</a:t>
            </a:r>
          </a:p>
          <a:p>
            <a:r>
              <a:t>Workflows: WF-10</a:t>
            </a:r>
          </a:p>
          <a:p>
            <a:r>
              <a:t>Screens: D07</a:t>
            </a:r>
          </a:p>
          <a:p/>
          <a:p>
            <a:r>
              <a:t>FR-D08: Credential rotation: Rotate credentials without exposing secrets; create rotation request.</a:t>
            </a:r>
          </a:p>
          <a:p>
            <a:r>
              <a:t>Workflows: WF-17</a:t>
            </a:r>
          </a:p>
          <a:p>
            <a:r>
              <a:t>Screens: D08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FR-L01: Language coverage: Three languages, one product meaning; open translation workspace.</a:t>
            </a:r>
          </a:p>
          <a:p>
            <a:r>
              <a:t>Workflows: WF-18</a:t>
            </a:r>
          </a:p>
          <a:p>
            <a:r>
              <a:t>Screens: L01</a:t>
            </a:r>
          </a:p>
          <a:p/>
          <a:p>
            <a:r>
              <a:t>FR-L02: Translation editor: Translate a versioned message; submit translation review.</a:t>
            </a:r>
          </a:p>
          <a:p>
            <a:r>
              <a:t>Workflows: WF-18</a:t>
            </a:r>
          </a:p>
          <a:p>
            <a:r>
              <a:t>Screens: L02</a:t>
            </a:r>
          </a:p>
          <a:p/>
          <a:p>
            <a:r>
              <a:t>FR-L03: Translation review: Review terminology and emergency meaning; approve translation version.</a:t>
            </a:r>
          </a:p>
          <a:p>
            <a:r>
              <a:t>Workflows: WF-18</a:t>
            </a:r>
          </a:p>
          <a:p>
            <a:r>
              <a:t>Screens: L03</a:t>
            </a:r>
          </a:p>
          <a:p/>
          <a:p>
            <a:r>
              <a:t>FR-L04: Voice &amp; pronunciation: Keep speech aligned with reviewed text; save voice configuration.</a:t>
            </a:r>
          </a:p>
          <a:p>
            <a:r>
              <a:t>Workflows: WF-18</a:t>
            </a:r>
          </a:p>
          <a:p>
            <a:r>
              <a:t>Screens: L04</a:t>
            </a:r>
          </a:p>
          <a:p/>
          <a:p>
            <a:r>
              <a:t>FR-L05: Locale fallback policy: Make missing translations visible; save language policy.</a:t>
            </a:r>
          </a:p>
          <a:p>
            <a:r>
              <a:t>Workflows: WF-18</a:t>
            </a:r>
          </a:p>
          <a:p>
            <a:r>
              <a:t>Screens: L05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FR-L06: Emergency terminology: Keep terms consistent across channels; review translation editor.</a:t>
            </a:r>
          </a:p>
          <a:p>
            <a:r>
              <a:t>Workflows: WF-18</a:t>
            </a:r>
          </a:p>
          <a:p>
            <a:r>
              <a:t>Screens: L06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FR-P01: Speaker zones &amp; coverage: Reach people without a smartphone; select broadcast zones.</a:t>
            </a:r>
          </a:p>
          <a:p>
            <a:r>
              <a:t>Workflows: WF-21</a:t>
            </a:r>
          </a:p>
          <a:p>
            <a:r>
              <a:t>Screens: P01</a:t>
            </a:r>
          </a:p>
          <a:p/>
          <a:p>
            <a:r>
              <a:t>FR-P02: Compose rescue announcement: Prepare an announcement for the right area; preview announcement.</a:t>
            </a:r>
          </a:p>
          <a:p>
            <a:r>
              <a:t>Workflows: WF-21</a:t>
            </a:r>
          </a:p>
          <a:p>
            <a:r>
              <a:t>Screens: P02</a:t>
            </a:r>
          </a:p>
          <a:p/>
          <a:p>
            <a:r>
              <a:t>FR-P03: Preview &amp; approve announcement: Check message, zones and playback behavior; approve sample playback.</a:t>
            </a:r>
          </a:p>
          <a:p>
            <a:r>
              <a:t>Workflows: WF-21</a:t>
            </a:r>
          </a:p>
          <a:p>
            <a:r>
              <a:t>Screens: P03</a:t>
            </a:r>
          </a:p>
          <a:p/>
          <a:p>
            <a:r>
              <a:t>FR-P04: Speaker playback monitoring: Track playback separately from command receipt; inspect speaker health.</a:t>
            </a:r>
          </a:p>
          <a:p>
            <a:r>
              <a:t>Workflows: WF-21</a:t>
            </a:r>
          </a:p>
          <a:p>
            <a:r>
              <a:t>Screens: P04</a:t>
            </a:r>
          </a:p>
          <a:p/>
          <a:p>
            <a:r>
              <a:t>FR-P05: Speaker device &amp; self-test: SPK-A05-08 · playback unknown; open coverage fallback.</a:t>
            </a:r>
          </a:p>
          <a:p>
            <a:r>
              <a:t>Workflows: WF-21</a:t>
            </a:r>
          </a:p>
          <a:p>
            <a:r>
              <a:t>Screens: P05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FR-P06: Live rescue microphone: Announce live to approved rescue zones; review live session.</a:t>
            </a:r>
          </a:p>
          <a:p>
            <a:r>
              <a:t>Workflows: WF-21</a:t>
            </a:r>
          </a:p>
          <a:p>
            <a:r>
              <a:t>Screens: P06</a:t>
            </a:r>
          </a:p>
          <a:p/>
          <a:p>
            <a:r>
              <a:t>FR-P07: Drone / vehicle speaker mission: Coordinate mobile public-address support; review mission.</a:t>
            </a:r>
          </a:p>
          <a:p>
            <a:r>
              <a:t>Workflows: WF-21</a:t>
            </a:r>
          </a:p>
          <a:p>
            <a:r>
              <a:t>Screens: P07</a:t>
            </a:r>
          </a:p>
          <a:p/>
          <a:p>
            <a:r>
              <a:t>FR-P08: Audio library &amp; TTS review: Use approved speech in every supported language; edit voice content.</a:t>
            </a:r>
          </a:p>
          <a:p>
            <a:r>
              <a:t>Workflows: WF-21</a:t>
            </a:r>
          </a:p>
          <a:p>
            <a:r>
              <a:t>Screens: P08</a:t>
            </a:r>
          </a:p>
          <a:p/>
          <a:p>
            <a:r>
              <a:t>FR-P09: PA priority &amp; arbitration: Avoid competing announcements; save arbitration policy.</a:t>
            </a:r>
          </a:p>
          <a:p>
            <a:r>
              <a:t>Workflows: WF-21</a:t>
            </a:r>
          </a:p>
          <a:p>
            <a:r>
              <a:t>Screens: P09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FR-H01: My rescue assistance profile: Tell responders what support you may need; review emergency sharing.</a:t>
            </a:r>
          </a:p>
          <a:p>
            <a:r>
              <a:t>Workflows: WF-26</a:t>
            </a:r>
          </a:p>
          <a:p>
            <a:r>
              <a:t>Screens: H01</a:t>
            </a:r>
          </a:p>
          <a:p/>
          <a:p>
            <a:r>
              <a:t>FR-H02: Health &amp; assistance sharing: Share only what the response team needs; save sharing preferences.</a:t>
            </a:r>
          </a:p>
          <a:p>
            <a:r>
              <a:t>Workflows: WF-26</a:t>
            </a:r>
          </a:p>
          <a:p>
            <a:r>
              <a:t>Screens: H02</a:t>
            </a:r>
          </a:p>
          <a:p/>
          <a:p>
            <a:r>
              <a:t>FR-H03: Caregiver relationships: Review who can help manage your profile; review caregiver authority.</a:t>
            </a:r>
          </a:p>
          <a:p>
            <a:r>
              <a:t>Workflows: WF-26</a:t>
            </a:r>
          </a:p>
          <a:p>
            <a:r>
              <a:t>Screens: H03</a:t>
            </a:r>
          </a:p>
          <a:p/>
          <a:p>
            <a:r>
              <a:t>FR-H04: Caregiver authorization: Verify authority before granting access; approve scoped relationship.</a:t>
            </a:r>
          </a:p>
          <a:p>
            <a:r>
              <a:t>Workflows: WF-26</a:t>
            </a:r>
          </a:p>
          <a:p>
            <a:r>
              <a:t>Screens: H04</a:t>
            </a:r>
          </a:p>
          <a:p/>
          <a:p>
            <a:r>
              <a:t>FR-H05: Dependent person profile: Review the assistance plan with the person; request profile update.</a:t>
            </a:r>
          </a:p>
          <a:p>
            <a:r>
              <a:t>Workflows: WF-26</a:t>
            </a:r>
          </a:p>
          <a:p>
            <a:r>
              <a:t>Screens: H05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FR-H06: Profile update &amp; review: Keep assistance information current; submit profile update.</a:t>
            </a:r>
          </a:p>
          <a:p>
            <a:r>
              <a:t>Workflows: WF-26</a:t>
            </a:r>
          </a:p>
          <a:p>
            <a:r>
              <a:t>Screens: H06</a:t>
            </a:r>
          </a:p>
          <a:p/>
          <a:p>
            <a:r>
              <a:t>FR-H07: People &amp; assistance registry: Find people who may need proactive help; open assistance case.</a:t>
            </a:r>
          </a:p>
          <a:p>
            <a:r>
              <a:t>Workflows: WF-26</a:t>
            </a:r>
          </a:p>
          <a:p>
            <a:r>
              <a:t>Screens: H07</a:t>
            </a:r>
          </a:p>
          <a:p/>
          <a:p>
            <a:r>
              <a:t>FR-H08: Proactive rescue queue: No SOS does not mean no need for help; review priority reasons.</a:t>
            </a:r>
          </a:p>
          <a:p>
            <a:r>
              <a:t>Workflows: WF-27</a:t>
            </a:r>
          </a:p>
          <a:p>
            <a:r>
              <a:t>Screens: H08</a:t>
            </a:r>
          </a:p>
          <a:p/>
          <a:p>
            <a:r>
              <a:t>FR-H09: Priority evidence &amp; decision: Review why assistance was recommended; assign proactive assistance.</a:t>
            </a:r>
          </a:p>
          <a:p>
            <a:r>
              <a:t>Workflows: WF-27</a:t>
            </a:r>
          </a:p>
          <a:p>
            <a:r>
              <a:t>Screens: H09</a:t>
            </a:r>
          </a:p>
          <a:p/>
          <a:p>
            <a:r>
              <a:t>FR-H10: Presence &amp; accountability: Distinguish presence from registration; open proactive queue.</a:t>
            </a:r>
          </a:p>
          <a:p>
            <a:r>
              <a:t>Workflows: WF-23</a:t>
            </a:r>
          </a:p>
          <a:p>
            <a:r>
              <a:t>Screens: H10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FR-H11: Restricted medical record: Emergency medical subset · audited access; return to assistance.</a:t>
            </a:r>
          </a:p>
          <a:p>
            <a:r>
              <a:t>Workflows: WF-19</a:t>
            </a:r>
          </a:p>
          <a:p>
            <a:r>
              <a:t>Screens: H11</a:t>
            </a:r>
          </a:p>
          <a:p/>
          <a:p>
            <a:r>
              <a:t>FR-H12: Welfare check outcome: Record contact even without an SOS; save welfare observation.</a:t>
            </a:r>
          </a:p>
          <a:p>
            <a:r>
              <a:t>Workflows: WF-27</a:t>
            </a:r>
          </a:p>
          <a:p>
            <a:r>
              <a:t>Screens: H12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FR-Q01: Positioning source health: Know where location can be trusted; inspect location quality.</a:t>
            </a:r>
          </a:p>
          <a:p>
            <a:r>
              <a:t>Workflows: WF-23</a:t>
            </a:r>
          </a:p>
          <a:p>
            <a:r>
              <a:t>Screens: Q01</a:t>
            </a:r>
          </a:p>
          <a:p/>
          <a:p>
            <a:r>
              <a:t>FR-Q02: Position quality &amp; history: Alex · position is evidence, not certainty; open assistance context.</a:t>
            </a:r>
          </a:p>
          <a:p>
            <a:r>
              <a:t>Workflows: WF-23</a:t>
            </a:r>
          </a:p>
          <a:p>
            <a:r>
              <a:t>Screens: Q02</a:t>
            </a:r>
          </a:p>
          <a:p/>
          <a:p>
            <a:r>
              <a:t>FR-Q03: Indoor calibration editor: Align anchors to a versioned floor plan; review route graph.</a:t>
            </a:r>
          </a:p>
          <a:p>
            <a:r>
              <a:t>Workflows: WF-23</a:t>
            </a:r>
          </a:p>
          <a:p>
            <a:r>
              <a:t>Screens: Q03</a:t>
            </a:r>
          </a:p>
          <a:p/>
          <a:p>
            <a:r>
              <a:t>FR-Q04: Evacuation optimization: Compare feasible evacuation strategies; review route comparison.</a:t>
            </a:r>
          </a:p>
          <a:p>
            <a:r>
              <a:t>Workflows: WF-24</a:t>
            </a:r>
          </a:p>
          <a:p>
            <a:r>
              <a:t>Screens: Q04</a:t>
            </a:r>
          </a:p>
          <a:p/>
          <a:p>
            <a:r>
              <a:t>FR-Q05: Route comparison &amp; decision: Understand the trade-offs before publishing; publish guidance version.</a:t>
            </a:r>
          </a:p>
          <a:p>
            <a:r>
              <a:t>Workflows: WF-24</a:t>
            </a:r>
          </a:p>
          <a:p>
            <a:r>
              <a:t>Screens: Q05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FR-Q06: AI incident copilot: A grounded summary with visible uncertainty; review AI recommendation.</a:t>
            </a:r>
          </a:p>
          <a:p>
            <a:r>
              <a:t>Workflows: WF-25</a:t>
            </a:r>
          </a:p>
          <a:p>
            <a:r>
              <a:t>Screens: Q06</a:t>
            </a:r>
          </a:p>
          <a:p/>
          <a:p>
            <a:r>
              <a:t>FR-Q07: AI evidence &amp; approval: Approve an action, not a fluent paragraph; review route decision.</a:t>
            </a:r>
          </a:p>
          <a:p>
            <a:r>
              <a:t>Workflows: WF-25</a:t>
            </a:r>
          </a:p>
          <a:p>
            <a:r>
              <a:t>Screens: Q07</a:t>
            </a:r>
          </a:p>
          <a:p/>
          <a:p>
            <a:r>
              <a:t>FR-Q08: AI policies &amp; model evaluation: Keep model behavior measurable; open model governance.</a:t>
            </a:r>
          </a:p>
          <a:p>
            <a:r>
              <a:t>Workflows: WF-25</a:t>
            </a:r>
          </a:p>
          <a:p>
            <a:r>
              <a:t>Screens: Q08</a:t>
            </a:r>
          </a:p>
          <a:p/>
          <a:p>
            <a:r>
              <a:t>FR-Q09: AI deployment governance: Publish a reviewed model and prompt version; save deployment draft.</a:t>
            </a:r>
          </a:p>
          <a:p>
            <a:r>
              <a:t>Workflows: WF-25</a:t>
            </a:r>
          </a:p>
          <a:p>
            <a:r>
              <a:t>Screens: Q09</a:t>
            </a:r>
          </a:p>
          <a:p/>
          <a:p>
            <a:r>
              <a:t>FR-Q10: Simulation &amp; crowd scenarios: Test strategy without asserting real-world certainty; review route validation.</a:t>
            </a:r>
          </a:p>
          <a:p>
            <a:r>
              <a:t>Workflows: WF-24</a:t>
            </a:r>
          </a:p>
          <a:p>
            <a:r>
              <a:t>Screens: Q10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FR-F01: Physical systems overview: Never aggregate stale or impaired systems into a green all-clear; each zone retains its controller and observation time</a:t>
            </a:r>
          </a:p>
          <a:p>
            <a:r>
              <a:t>Workflows: WF-29</a:t>
            </a:r>
          </a:p>
          <a:p>
            <a:r>
              <a:t>Screens: F01</a:t>
            </a:r>
          </a:p>
          <a:p/>
          <a:p>
            <a:r>
              <a:t>FR-F02: Controller inventory: Inventory discovery grants no write rights; bind exact model, firmware, site and interface evidence before enrollment</a:t>
            </a:r>
          </a:p>
          <a:p>
            <a:r>
              <a:t>Workflows: WF-28</a:t>
            </a:r>
          </a:p>
          <a:p>
            <a:r>
              <a:t>Screens: F02</a:t>
            </a:r>
          </a:p>
          <a:p/>
          <a:p>
            <a:r>
              <a:t>FR-F03: Controller capability detail: Unknown or undocumented capability is read-only; certification and API compatibility are separate evidence</a:t>
            </a:r>
          </a:p>
          <a:p>
            <a:r>
              <a:t>Workflows: WF-28</a:t>
            </a:r>
          </a:p>
          <a:p>
            <a:r>
              <a:t>Screens: F03</a:t>
            </a:r>
          </a:p>
          <a:p/>
          <a:p>
            <a:r>
              <a:t>FR-F04: Signal point mapping: Verify point polarity and meaning against wiring and witnessed tests; a valve contact is not proof of water flow</a:t>
            </a:r>
          </a:p>
          <a:p>
            <a:r>
              <a:t>Workflows: WF-28</a:t>
            </a:r>
          </a:p>
          <a:p>
            <a:r>
              <a:t>Screens: F04</a:t>
            </a:r>
          </a:p>
          <a:p/>
          <a:p>
            <a:r>
              <a:t>FR-F05: Physical zone mapping: Reject ambiguous floor or cross-tenant zone mappings; require signed plan revision and site walkdown</a:t>
            </a:r>
          </a:p>
          <a:p>
            <a:r>
              <a:t>Workflows: WF-28</a:t>
            </a:r>
          </a:p>
          <a:p>
            <a:r>
              <a:t>Screens: F05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FR-F06: Cause-and-effect matrix: Only the locally approved cause-and-effect matrix governs physical effects; cloud edits cannot silently rewrite controller logic</a:t>
            </a:r>
          </a:p>
          <a:p>
            <a:r>
              <a:t>Workflows: WF-28</a:t>
            </a:r>
          </a:p>
          <a:p>
            <a:r>
              <a:t>Screens: F06</a:t>
            </a:r>
          </a:p>
          <a:p/>
          <a:p>
            <a:r>
              <a:t>FR-F07: Physical event detail: Deduplicate source sequence; retain raw evidence and distinguish alarm, supervisory, trouble, test and inferred incident</a:t>
            </a:r>
          </a:p>
          <a:p>
            <a:r>
              <a:t>Workflows: WF-29</a:t>
            </a:r>
          </a:p>
          <a:p>
            <a:r>
              <a:t>Screens: F07</a:t>
            </a:r>
          </a:p>
          <a:p/>
          <a:p>
            <a:r>
              <a:t>FR-F08: Fire-water status: Pump-running, pressure, valve position and flow are independent signals; unknown water availability blocks readiness claims</a:t>
            </a:r>
          </a:p>
          <a:p>
            <a:r>
              <a:t>Workflows: WF-29</a:t>
            </a:r>
          </a:p>
          <a:p>
            <a:r>
              <a:t>Screens: F08</a:t>
            </a:r>
          </a:p>
          <a:p/>
          <a:p>
            <a:r>
              <a:t>FR-F09: Controlled release review: Release is blocked without documented allowed operation, installed certification, fresh prerequisites, local permit and controller interlocks</a:t>
            </a:r>
          </a:p>
          <a:p>
            <a:r>
              <a:t>Workflows: WF-30</a:t>
            </a:r>
          </a:p>
          <a:p>
            <a:r>
              <a:t>Screens: F09</a:t>
            </a:r>
          </a:p>
          <a:p/>
          <a:p>
            <a:r>
              <a:t>FR-F10: Command authorization: Bind distinct requester/approver to exact equipment, operation, parameters, zone, version and expiry; any change invalidates approval</a:t>
            </a:r>
          </a:p>
          <a:p>
            <a:r>
              <a:t>Workflows: WF-30</a:t>
            </a:r>
          </a:p>
          <a:p>
            <a:r>
              <a:t>Screens: F10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FR-F11: Execution feedback: Controller acceptance is not physical completion; missing independent feedback becomes unknown with no blind retry</a:t>
            </a:r>
          </a:p>
          <a:p>
            <a:r>
              <a:t>Workflows: WF-30</a:t>
            </a:r>
          </a:p>
          <a:p>
            <a:r>
              <a:t>Screens: F11</a:t>
            </a:r>
          </a:p>
          <a:p/>
          <a:p>
            <a:r>
              <a:t>FR-F12: Unknown-result reconciliation: Reconcile through supported readback and qualified observation; never resend a non-idempotent release to discover the outcome</a:t>
            </a:r>
          </a:p>
          <a:p>
            <a:r>
              <a:t>Workflows: WF-30</a:t>
            </a:r>
          </a:p>
          <a:p>
            <a:r>
              <a:t>Screens: F12</a:t>
            </a:r>
          </a:p>
          <a:p/>
          <a:p>
            <a:r>
              <a:t>FR-F13: Local override &amp; handover: Local override revokes remote authority; reconnection cannot replay commands or restore a revoked lease</a:t>
            </a:r>
          </a:p>
          <a:p>
            <a:r>
              <a:t>Workflows: WF-30</a:t>
            </a:r>
          </a:p>
          <a:p>
            <a:r>
              <a:t>Screens: F13</a:t>
            </a:r>
          </a:p>
          <a:p/>
          <a:p>
            <a:r>
              <a:t>FR-F14: Impairment &amp; test mode: Test mode requires bounded isolation and compensating measures; permit expiry escalates but does not assert restoration</a:t>
            </a:r>
          </a:p>
          <a:p>
            <a:r>
              <a:t>Workflows: WF-31</a:t>
            </a:r>
          </a:p>
          <a:p>
            <a:r>
              <a:t>Screens: F14</a:t>
            </a:r>
          </a:p>
          <a:p/>
          <a:p>
            <a:r>
              <a:t>FR-F15: Commissioning plan: Freeze BOM, firmware, mappings and matrix; physical tests require site permit, witnesses, isolation and local abort</a:t>
            </a:r>
          </a:p>
          <a:p>
            <a:r>
              <a:t>Workflows: WF-32</a:t>
            </a:r>
          </a:p>
          <a:p>
            <a:r>
              <a:t>Screens: F15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FR-F16: Test-run evidence: Expected results cannot populate observed results; failed or unexecuted tests block release and preserve attachments</a:t>
            </a:r>
          </a:p>
          <a:p>
            <a:r>
              <a:t>Workflows: WF-32</a:t>
            </a:r>
          </a:p>
          <a:p>
            <a:r>
              <a:t>Screens: F16</a:t>
            </a:r>
          </a:p>
          <a:p/>
          <a:p>
            <a:r>
              <a:t>FR-F17: Compatibility &amp; certificate dossier: A product certificate does not certify the installation or cloud adapter; exact scope, revisions and acceptance evidence must match</a:t>
            </a:r>
          </a:p>
          <a:p>
            <a:r>
              <a:t>Workflows: WF-32</a:t>
            </a:r>
          </a:p>
          <a:p>
            <a:r>
              <a:t>Screens: F17</a:t>
            </a:r>
          </a:p>
          <a:p/>
          <a:p>
            <a:r>
              <a:t>FR-F18: Maintenance &amp; restoration: Only witnessed restoration and site approval clear impairment; time elapsed or technician closure alone cannot restore availability</a:t>
            </a:r>
          </a:p>
          <a:p>
            <a:r>
              <a:t>Workflows: WF-31</a:t>
            </a:r>
          </a:p>
          <a:p>
            <a:r>
              <a:t>Screens: F18</a:t>
            </a:r>
          </a:p>
          <a:p/>
          <a:p>
            <a:r>
              <a:t>FR-F19: Rescue equipment mission: Colossus control API is unverified: dispatch to trained vendor-console operator; no cloud movement, nozzle or casualty actuation</a:t>
            </a:r>
          </a:p>
          <a:p>
            <a:r>
              <a:t>Workflows: WF-33</a:t>
            </a:r>
          </a:p>
          <a:p>
            <a:r>
              <a:t>Screens: F19</a:t>
            </a:r>
          </a:p>
          <a:p/>
          <a:p>
            <a:r>
              <a:t>FR-F20: Physical connector onboarding: Connector activation starts read-only; credentials stay in vault and only signed capability policy can enable an approved write operation</a:t>
            </a:r>
          </a:p>
          <a:p>
            <a:r>
              <a:t>Workflows: WF-28</a:t>
            </a:r>
          </a:p>
          <a:p>
            <a:r>
              <a:t>Screens: F20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APP-SYS-001: Signal/Event: an immutable observation from a source, with observed_at and received_at.</a:t>
            </a:r>
          </a:p>
          <a:p>
            <a:r>
              <a:t>Workflows: ALL</a:t>
            </a:r>
          </a:p>
          <a:p>
            <a:r>
              <a:t>Screens: </a:t>
            </a:r>
          </a:p>
          <a:p/>
          <a:p>
            <a:r>
              <a:t>APP-SYS-002: Incident: an operational record collecting evidence, with severity and an owner.</a:t>
            </a:r>
          </a:p>
          <a:p>
            <a:r>
              <a:t>Workflows: ALL</a:t>
            </a:r>
          </a:p>
          <a:p>
            <a:r>
              <a:t>Screens: </a:t>
            </a:r>
          </a:p>
          <a:p/>
          <a:p>
            <a:r>
              <a:t>APP-SYS-003: SOS: a request for assistance for a person/group, with its own state and an optional incident link.</a:t>
            </a:r>
          </a:p>
          <a:p>
            <a:r>
              <a:t>Workflows: ALL</a:t>
            </a:r>
          </a:p>
          <a:p>
            <a:r>
              <a:t>Screens: </a:t>
            </a:r>
          </a:p>
          <a:p/>
          <a:p>
            <a:r>
              <a:t>APP-SYS-004: Warning: a message issued by version and audience.</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APP-SYS-005: Delivery: one sending attempt through one channel.</a:t>
            </a:r>
          </a:p>
          <a:p>
            <a:r>
              <a:t>Workflows: ALL</a:t>
            </a:r>
          </a:p>
          <a:p>
            <a:r>
              <a:t>Screens: </a:t>
            </a:r>
          </a:p>
          <a:p/>
          <a:p>
            <a:r>
              <a:t>APP-SYS-006: Task: an assignment for a unit.</a:t>
            </a:r>
          </a:p>
          <a:p>
            <a:r>
              <a:t>Workflows: ALL</a:t>
            </a:r>
          </a:p>
          <a:p>
            <a:r>
              <a:t>Screens: </a:t>
            </a:r>
          </a:p>
          <a:p/>
          <a:p>
            <a:r>
              <a:t>APP-SYS-007: Personal status: a sourced statement/status, not an inference of absolute safety.</a:t>
            </a:r>
          </a:p>
          <a:p>
            <a:r>
              <a:t>Workflows: ALL</a:t>
            </a:r>
          </a:p>
          <a:p>
            <a:r>
              <a:t>Screens: </a:t>
            </a:r>
          </a:p>
          <a:p/>
          <a:p>
            <a:r>
              <a:t>APP-SYS-008: Command: an instruction to a device, separate from an event.</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APP-SYS-009: Signal — received → validated → correlated / quarantined / rejected — Gateway validates schema/source/tenant; invalid signals do not enter live workflows</a:t>
            </a:r>
          </a:p>
          <a:p>
            <a:r>
              <a:t>Workflows: ALL</a:t>
            </a:r>
          </a:p>
          <a:p>
            <a:r>
              <a:t>Screens: </a:t>
            </a:r>
          </a:p>
          <a:p/>
          <a:p>
            <a:r>
              <a:t>APP-SYS-010: Incident — new → triaging → active → contained → resolved → closed — Operator triage; supervisor closes after checklist completion; reopening requires a reason</a:t>
            </a:r>
          </a:p>
          <a:p>
            <a:r>
              <a:t>Workflows: ALL</a:t>
            </a:r>
          </a:p>
          <a:p>
            <a:r>
              <a:t>Screens: </a:t>
            </a:r>
          </a:p>
          <a:p/>
          <a:p>
            <a:r>
              <a:t>APP-SYS-011: Incident exception — new/triaging → dismissed; any incident not yet closed → linked — Dismissal requires a reason; linking does not delete IDs or evidence</a:t>
            </a:r>
          </a:p>
          <a:p>
            <a:r>
              <a:t>Workflows: ALL</a:t>
            </a:r>
          </a:p>
          <a:p>
            <a:r>
              <a:t>Screens: </a:t>
            </a:r>
          </a:p>
          <a:p/>
          <a:p>
            <a:r>
              <a:t>APP-SYS-012: SOS — submitted → acknowledged → assigned → assisting → resolved — Server receipt differs from operator ACK; responders update only assigned tasks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APP-SYS-013: SOS cancel — submitted/acknowledged/assigned → cancellation_requested → canceled or continued processing — After dispatch, an operator decision is required; citizens cannot delete the record</a:t>
            </a:r>
          </a:p>
          <a:p>
            <a:r>
              <a:t>Workflows: ALL</a:t>
            </a:r>
          </a:p>
          <a:p>
            <a:r>
              <a:t>Screens: </a:t>
            </a:r>
          </a:p>
          <a:p/>
          <a:p>
            <a:r>
              <a:t>APP-SYS-014: Person status — unknown, in_danger, help_requested, self_reported_safe, responder_confirmed_assisted — Append observations with timestamp/source; may return to danger; safe does not close the incident</a:t>
            </a:r>
          </a:p>
          <a:p>
            <a:r>
              <a:t>Workflows: ALL</a:t>
            </a:r>
          </a:p>
          <a:p>
            <a:r>
              <a:t>Screens: </a:t>
            </a:r>
          </a:p>
          <a:p/>
          <a:p>
            <a:r>
              <a:t>APP-SYS-015: Warning — draft → review → approved → sending → active → expired / canceled — New versions require reapproval; authors cannot approve their own work when policy requires separation</a:t>
            </a:r>
          </a:p>
          <a:p>
            <a:r>
              <a:t>Workflows: ALL</a:t>
            </a:r>
          </a:p>
          <a:p>
            <a:r>
              <a:t>Screens: </a:t>
            </a:r>
          </a:p>
          <a:p/>
          <a:p>
            <a:r>
              <a:t>APP-SYS-016: Task — offered → accepted → en_route → on_scene → completed — Offer deadline → expired → reassign; decline requires a reason; a task has one current owner</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APP-SYS-017: Command — requested → approved → dispatched → accepted → executing → succeeded / failed / unknown / expired — Device acceptance does not prove success; a timeout does not automatically mean physical failure</a:t>
            </a:r>
          </a:p>
          <a:p>
            <a:r>
              <a:t>Workflows: ALL</a:t>
            </a:r>
          </a:p>
          <a:p>
            <a:r>
              <a:t>Screens: </a:t>
            </a:r>
          </a:p>
          <a:p/>
          <a:p>
            <a:r>
              <a:t>APP-SYS-018: Physical asset: an installed, configuration-bound controller, pump, valve, releasing system, or rescue device.</a:t>
            </a:r>
          </a:p>
          <a:p>
            <a:r>
              <a:t>Workflows: ALL</a:t>
            </a:r>
          </a:p>
          <a:p>
            <a:r>
              <a:t>Screens: </a:t>
            </a:r>
          </a:p>
          <a:p/>
          <a:p>
            <a:r>
              <a:t>APP-SYS-019: Capability: independently approved observe/control permission for an exact operation.</a:t>
            </a:r>
          </a:p>
          <a:p>
            <a:r>
              <a:t>Workflows: ALL</a:t>
            </a:r>
          </a:p>
          <a:p>
            <a:r>
              <a:t>Screens: </a:t>
            </a:r>
          </a:p>
          <a:p/>
          <a:p>
            <a:r>
              <a:t>APP-SYS-020: Physical feedback: observed evidence distinct from transport/device acknowledgment.</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APP-SYS-021: Impairment: an authorized reduction in protection requiring compensating measures and verified restoration.</a:t>
            </a:r>
          </a:p>
          <a:p>
            <a:r>
              <a:t>Workflows: ALL</a:t>
            </a:r>
          </a:p>
          <a:p>
            <a:r>
              <a:t>Screens: </a:t>
            </a:r>
          </a:p>
          <a:p/>
          <a:p>
            <a:r>
              <a:t>APP-SYS-022: Mission: a supervised equipment operation with local authority and handover.</a:t>
            </a:r>
          </a:p>
          <a:p>
            <a:r>
              <a:t>Workflows: ALL</a:t>
            </a:r>
          </a:p>
          <a:p>
            <a:r>
              <a:t>Screens: </a:t>
            </a:r>
          </a:p>
          <a:p/>
          <a:p>
            <a:r>
              <a:t>APP-SYS-023: UI label UNKNOWN maps to the existing machine state unknown; it is not a new terminal success/failure state.</a:t>
            </a:r>
          </a:p>
          <a:p>
            <a:r>
              <a:t>Workflows: ALL</a:t>
            </a:r>
          </a:p>
          <a:p>
            <a:r>
              <a:t>Screens: </a:t>
            </a:r>
          </a:p>
          <a:p/>
          <a:p>
            <a:r>
              <a:t>APP-SYS-024: Impairment lifecycle: requested → approved → active → restoration_pending → verified_closed; expiry without restoration stays restoration_pending and escalates.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APP-SYS-025: Mission lifecycle: draft → review → approved → locally_accepted → executing → completed / aborted / unknown; completion requires outcome evidence.</a:t>
            </a:r>
          </a:p>
          <a:p>
            <a:r>
              <a:t>Workflows: ALL</a:t>
            </a:r>
          </a:p>
          <a:p>
            <a:r>
              <a:t>Screens: </a:t>
            </a:r>
          </a:p>
          <a:p/>
          <a:p>
            <a:r>
              <a:t>APP-SYS-026: Every endpoint checks the principal, tenant membership, region, site scope, object ownership, and action permission on the server.</a:t>
            </a:r>
          </a:p>
          <a:p>
            <a:r>
              <a:t>Workflows: ALL</a:t>
            </a:r>
          </a:p>
          <a:p>
            <a:r>
              <a:t>Screens: </a:t>
            </a:r>
          </a:p>
          <a:p/>
          <a:p>
            <a:r>
              <a:t>APP-SYS-027: Hiding frontend buttons is not a security control.</a:t>
            </a:r>
          </a:p>
          <a:p>
            <a:r>
              <a:t>Workflows: ALL</a:t>
            </a:r>
          </a:p>
          <a:p>
            <a:r>
              <a:t>Screens: </a:t>
            </a:r>
          </a:p>
          <a:p/>
          <a:p>
            <a:r>
              <a:t>APP-SYS-028: Family members see only shared fields; operators see information needed for the incident; platform admins have no automatic data access.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APP-SYS-029: Warning approvers and command approvers have separate permissions.</a:t>
            </a:r>
          </a:p>
          <a:p>
            <a:r>
              <a:t>Workflows: ALL</a:t>
            </a:r>
          </a:p>
          <a:p>
            <a:r>
              <a:t>Screens: </a:t>
            </a:r>
          </a:p>
          <a:p/>
          <a:p>
            <a:r>
              <a:t>APP-SYS-030: Break-glass access requires a reason, expiry, audit, and supervisor notification; it does not bypass tenant boundaries.</a:t>
            </a:r>
          </a:p>
          <a:p>
            <a:r>
              <a:t>Workflows: ALL</a:t>
            </a:r>
          </a:p>
          <a:p>
            <a:r>
              <a:t>Screens: </a:t>
            </a:r>
          </a:p>
          <a:p/>
          <a:p>
            <a:r>
              <a:t>APP-SYS-031: Access to out-of-scope objects returns 404 or an error that does not disclose their existence.</a:t>
            </a:r>
          </a:p>
          <a:p>
            <a:r>
              <a:t>Workflows: ALL</a:t>
            </a:r>
          </a:p>
          <a:p>
            <a:r>
              <a:t>Screens: </a:t>
            </a:r>
          </a:p>
          <a:p/>
          <a:p>
            <a:r>
              <a:t>APP-SYS-032: Lists use cursor pagination, stable sorting (created_at,id), and a maximum of 100 records/page.</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APP-SYS-033: All mutations require validation, idempotency when creating effects, and optimistic concurrency on updates.</a:t>
            </a:r>
          </a:p>
          <a:p>
            <a:r>
              <a:t>Workflows: ALL</a:t>
            </a:r>
          </a:p>
          <a:p>
            <a:r>
              <a:t>Screens: </a:t>
            </a:r>
          </a:p>
          <a:p/>
          <a:p>
            <a:r>
              <a:t>APP-SYS-034: List screens provide search/filter for appropriate fields and loading/empty/error/denied states; forms provide required/invalid/conflict/unsaved states; details provide stale/not-found states.</a:t>
            </a:r>
          </a:p>
          <a:p>
            <a:r>
              <a:t>Workflows: ALL</a:t>
            </a:r>
          </a:p>
          <a:p>
            <a:r>
              <a:t>Screens: </a:t>
            </a:r>
          </a:p>
          <a:p/>
          <a:p>
            <a:r>
              <a:t>APP-SYS-035: Prototype data is not real telemetry.</a:t>
            </a:r>
          </a:p>
          <a:p>
            <a:r>
              <a:t>Workflows: ALL</a:t>
            </a:r>
          </a:p>
          <a:p>
            <a:r>
              <a:t>Screens: </a:t>
            </a:r>
          </a:p>
          <a:p/>
          <a:p>
            <a:r>
              <a:t>APP-SYS-036: Physical control additionally checks the site/controller capability, vendor permission, OT access policy, current impairment/lockout, local authority, and operation-specific approval.</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APP-SYS-037: The UI must show monitor-only, control eligible, inhibited, stale, and UNKNOWN distinctly.</a:t>
            </a:r>
          </a:p>
          <a:p>
            <a:r>
              <a:t>Workflows: ALL</a:t>
            </a:r>
          </a:p>
          <a:p>
            <a:r>
              <a:t>Screens: </a:t>
            </a:r>
          </a:p>
          <a:p/>
          <a:p>
            <a:r>
              <a:t>APP-SYS-038: Engineering access does not imply incident command authority.</a:t>
            </a:r>
          </a:p>
          <a:p>
            <a:r>
              <a:t>Workflows: ALL</a:t>
            </a:r>
          </a:p>
          <a:p>
            <a:r>
              <a:t>Screens: </a:t>
            </a:r>
          </a:p>
          <a:p/>
          <a:p>
            <a:r>
              <a:t>APP-SYS-039: Segment OT from public networks; allowlist supported endpoints and operations, use controlled maintenance access, and retain credential/change audit.</a:t>
            </a:r>
          </a:p>
          <a:p>
            <a:r>
              <a:t>Workflows: ALL</a:t>
            </a:r>
          </a:p>
          <a:p>
            <a:r>
              <a:t>Screens: </a:t>
            </a:r>
          </a:p>
          <a:p/>
          <a:p>
            <a:r>
              <a:t>APP-SYS-040: Local automatic detection, pump starting, and releasing protection must not depend on cloud approval or connectivity.</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APP-SYS-041: An admin creates a tenant with an immutable home_region; selects locale/timezone, configures SSO/MFA, and invites memberships by site.</a:t>
            </a:r>
          </a:p>
          <a:p>
            <a:r>
              <a:t>Workflows: WF-01</a:t>
            </a:r>
          </a:p>
          <a:p>
            <a:r>
              <a:t>Screens: A01, A02, A03, A04, A05, A06, A07, A08, A09, A10, T03, T04, X04, X08</a:t>
            </a:r>
          </a:p>
          <a:p/>
          <a:p>
            <a:r>
              <a:t>APP-SYS-042: Users select a workspace before entering the console.</a:t>
            </a:r>
          </a:p>
          <a:p>
            <a:r>
              <a:t>Workflows: WF-01</a:t>
            </a:r>
          </a:p>
          <a:p>
            <a:r>
              <a:t>Screens: A01, A02, A03, A04, A05, A06, A07, A08, A09, A10, T03, T04, X04, X08</a:t>
            </a:r>
          </a:p>
          <a:p/>
          <a:p>
            <a:r>
              <a:t>APP-SYS-043: Recovery returns the same message for existing and nonexistent emails to reduce enumeration.</a:t>
            </a:r>
          </a:p>
          <a:p>
            <a:r>
              <a:t>Workflows: WF-01</a:t>
            </a:r>
          </a:p>
          <a:p>
            <a:r>
              <a:t>Screens: A01, A02, A03, A04, A05, A06, A07, A08, A09, A10, T03, T04, X04, X08</a:t>
            </a:r>
          </a:p>
          <a:p/>
          <a:p>
            <a:r>
              <a:t>APP-SYS-044: Invitations are single-use, have a TTL, and enforce email/domain policy.</a:t>
            </a:r>
          </a:p>
          <a:p>
            <a:r>
              <a:t>Workflows: WF-01</a:t>
            </a:r>
          </a:p>
          <a:p>
            <a:r>
              <a:t>Screens: A01, A02, A03, A04, A05, A06, A07, A08, A09, A10, T03, T04, X04, X08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APP-SYS-045: When SSO is unavailable, a controlled break-glass account is available within the appropriate tenant; MFA is not automatically bypassed.</a:t>
            </a:r>
          </a:p>
          <a:p>
            <a:r>
              <a:t>Workflows: WF-01</a:t>
            </a:r>
          </a:p>
          <a:p>
            <a:r>
              <a:t>Screens: A01, A02, A03, A04, A05, A06, A07, A08, A09, A10, T03, T04, X04, X08</a:t>
            </a:r>
          </a:p>
          <a:p/>
          <a:p>
            <a:r>
              <a:t>APP-SYS-046: AC: expired invitations are rejected; revoked roles cannot use old tokens after the proposed 60 s revocation propagation limit; switching workspaces does not display the previous tenant's cache.</a:t>
            </a:r>
          </a:p>
          <a:p>
            <a:r>
              <a:t>Workflows: WF-01</a:t>
            </a:r>
          </a:p>
          <a:p>
            <a:r>
              <a:t>Screens: A01, A02, A03, A04, A05, A06, A07, A08, A09, A10, T03, T04, X04, X08</a:t>
            </a:r>
          </a:p>
          <a:p/>
          <a:p>
            <a:r>
              <a:t>APP-SYS-047: Site admins create a country/region/site/building/floor/zone/road-segment/geofence graph.</a:t>
            </a:r>
          </a:p>
          <a:p>
            <a:r>
              <a:t>Workflows: WF-02</a:t>
            </a:r>
          </a:p>
          <a:p>
            <a:r>
              <a:t>Screens: S01, S02, S03, S04, S05, X06</a:t>
            </a:r>
          </a:p>
          <a:p/>
          <a:p>
            <a:r>
              <a:t>APP-SYS-048: Not every site must have floors.</a:t>
            </a:r>
          </a:p>
          <a:p>
            <a:r>
              <a:t>Workflows: WF-02</a:t>
            </a:r>
          </a:p>
          <a:p>
            <a:r>
              <a:t>Screens: S01, S02, S03, S04, S05, X06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APP-SYS-049: Device binding checks that the device belongs to the same tenant.</a:t>
            </a:r>
          </a:p>
          <a:p>
            <a:r>
              <a:t>Workflows: WF-02</a:t>
            </a:r>
          </a:p>
          <a:p>
            <a:r>
              <a:t>Screens: S01, S02, S03, S04, S05, X06</a:t>
            </a:r>
          </a:p>
          <a:p/>
          <a:p>
            <a:r>
              <a:t>APP-SYS-050: Floor plans have revisions, scale, exits, accessibility, and an approver.</a:t>
            </a:r>
          </a:p>
          <a:p>
            <a:r>
              <a:t>Workflows: WF-02</a:t>
            </a:r>
          </a:p>
          <a:p>
            <a:r>
              <a:t>Screens: S01, S02, S03, S04, S05, X06</a:t>
            </a:r>
          </a:p>
          <a:p/>
          <a:p>
            <a:r>
              <a:t>APP-SYS-051: Each incident stores the plan revision used.</a:t>
            </a:r>
          </a:p>
          <a:p>
            <a:r>
              <a:t>Workflows: WF-02</a:t>
            </a:r>
          </a:p>
          <a:p>
            <a:r>
              <a:t>Screens: S01, S02, S03, S04, S05, X06</a:t>
            </a:r>
          </a:p>
          <a:p/>
          <a:p>
            <a:r>
              <a:t>APP-SYS-052: Locations carry method, accuracy, and age; GPS does not automatically infer a floor.</a:t>
            </a:r>
          </a:p>
          <a:p>
            <a:r>
              <a:t>Workflows: WF-02</a:t>
            </a:r>
          </a:p>
          <a:p>
            <a:r>
              <a:t>Screens: S01, S02, S03, S04, S05, X06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APP-SYS-053: Without positioning, users can enter a location manually and send an SOS.</a:t>
            </a:r>
          </a:p>
          <a:p>
            <a:r>
              <a:t>Workflows: WF-02</a:t>
            </a:r>
          </a:p>
          <a:p>
            <a:r>
              <a:t>Screens: S01, S02, S03, S04, S05, X06</a:t>
            </a:r>
          </a:p>
          <a:p/>
          <a:p>
            <a:r>
              <a:t>APP-SYS-054: AC: plans without a reviewer cannot be published; zones with active incidents cannot be hard-deleted; routes without freshness information show “not verified” and are not presented as certainly safe.</a:t>
            </a:r>
          </a:p>
          <a:p>
            <a:r>
              <a:t>Workflows: WF-02</a:t>
            </a:r>
          </a:p>
          <a:p>
            <a:r>
              <a:t>Screens: S01, S02, S03, S04, S05, X06</a:t>
            </a:r>
          </a:p>
          <a:p/>
          <a:p>
            <a:r>
              <a:t>APP-SYS-055: Adapters check credentials, tenant binding, schema, clock skew, and payload limits, then durably store the event before issuing a receipt.</a:t>
            </a:r>
          </a:p>
          <a:p>
            <a:r>
              <a:t>Workflows: WF-03</a:t>
            </a:r>
          </a:p>
          <a:p>
            <a:r>
              <a:t>Screens: O03, I03, D02, D03, D04</a:t>
            </a:r>
          </a:p>
          <a:p/>
          <a:p>
            <a:r>
              <a:t>APP-SYS-056: A duplicate key (tenant,source,event_id) returns the previous receipt.</a:t>
            </a:r>
          </a:p>
          <a:p>
            <a:r>
              <a:t>Workflows: WF-03</a:t>
            </a:r>
          </a:p>
          <a:p>
            <a:r>
              <a:t>Screens: O03, I03, D02, D03, D04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APP-SYS-057: Late events are retained for audit, but live rules evaluate TTL by hazard.</a:t>
            </a:r>
          </a:p>
          <a:p>
            <a:r>
              <a:t>Workflows: WF-03</a:t>
            </a:r>
          </a:p>
          <a:p>
            <a:r>
              <a:t>Screens: O03, I03, D02, D03, D04</a:t>
            </a:r>
          </a:p>
          <a:p/>
          <a:p>
            <a:r>
              <a:t>APP-SYS-058: Unknown sources/permissions/units/locations are quarantined.</a:t>
            </a:r>
          </a:p>
          <a:p>
            <a:r>
              <a:t>Workflows: WF-03</a:t>
            </a:r>
          </a:p>
          <a:p>
            <a:r>
              <a:t>Screens: O03, I03, D02, D03, D04</a:t>
            </a:r>
          </a:p>
          <a:p/>
          <a:p>
            <a:r>
              <a:t>APP-SYS-059: Inputs support HTTPS/CloudEvents, MQTT adapters, CAP, camera metadata, wearables, telematics, and manual entry.</a:t>
            </a:r>
          </a:p>
          <a:p>
            <a:r>
              <a:t>Workflows: WF-03</a:t>
            </a:r>
          </a:p>
          <a:p>
            <a:r>
              <a:t>Screens: O03, I03, D02, D03, D04</a:t>
            </a:r>
          </a:p>
          <a:p/>
          <a:p>
            <a:r>
              <a:t>APP-SYS-060: AC: replaying the same ID 100 times creates one event; two tenants using the same event ID do not collide; sources spoofing a tenant are blocked; stale events do not initiate commands.</a:t>
            </a:r>
          </a:p>
          <a:p>
            <a:r>
              <a:t>Workflows: WF-03</a:t>
            </a:r>
          </a:p>
          <a:p>
            <a:r>
              <a:t>Screens: O03, I03, D02, D03, D04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APP-SYS-061: Versioned rules provide candidate incidents by time window, zone, hazard, and source.</a:t>
            </a:r>
          </a:p>
          <a:p>
            <a:r>
              <a:t>Workflows: WF-04</a:t>
            </a:r>
          </a:p>
          <a:p>
            <a:r>
              <a:t>Screens: O05, O06, O07, S11, S12, S13, S14</a:t>
            </a:r>
          </a:p>
          <a:p/>
          <a:p>
            <a:r>
              <a:t>APP-SYS-062: Operators review evidence and confidence, then create or link incidents; splitting preserves audit records and source links.</a:t>
            </a:r>
          </a:p>
          <a:p>
            <a:r>
              <a:t>Workflows: WF-04</a:t>
            </a:r>
          </a:p>
          <a:p>
            <a:r>
              <a:t>Screens: O05, O06, O07, S11, S12, S13, S14</a:t>
            </a:r>
          </a:p>
          <a:p/>
          <a:p>
            <a:r>
              <a:t>APP-SYS-063: Different hazards are not combined merely because they are nearby; cross-hazard relationships have a type (caused_by/nearby/possible_duplicate).</a:t>
            </a:r>
          </a:p>
          <a:p>
            <a:r>
              <a:t>Workflows: WF-04</a:t>
            </a:r>
          </a:p>
          <a:p>
            <a:r>
              <a:t>Screens: O05, O06, O07, S11, S12, S13, S14</a:t>
            </a:r>
          </a:p>
          <a:p/>
          <a:p>
            <a:r>
              <a:t>APP-SYS-064: Camera detection is labeled “possible fire”; fire panel policy may immediately initiate a response through a site-approved workflow without waiting for AI.</a:t>
            </a:r>
          </a:p>
          <a:p>
            <a:r>
              <a:t>Workflows: WF-04</a:t>
            </a:r>
          </a:p>
          <a:p>
            <a:r>
              <a:t>Screens: O05, O06, O07, S11, S12, S13, S14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APP-SYS-065: AC: merging does not lose SOS/tasks; splitting does not duplicate dispatch; rule changes do not rewrite history; dismissal requires a reason.</a:t>
            </a:r>
          </a:p>
          <a:p>
            <a:r>
              <a:t>Workflows: WF-04</a:t>
            </a:r>
          </a:p>
          <a:p>
            <a:r>
              <a:t>Screens: O05, O06, O07, S11, S12, S13, S14</a:t>
            </a:r>
          </a:p>
          <a:p/>
          <a:p>
            <a:r>
              <a:t>APP-SYS-066: Users select a category or Other/Unknown; enter/update location, notes, and the number of people.</a:t>
            </a:r>
          </a:p>
          <a:p>
            <a:r>
              <a:t>Workflows: WF-05</a:t>
            </a:r>
          </a:p>
          <a:p>
            <a:r>
              <a:t>Screens: C05, C06, C07, C08, C09, C10, C27, C28, X01, X02</a:t>
            </a:r>
          </a:p>
          <a:p/>
          <a:p>
            <a:r>
              <a:t>APP-SYS-067: The emergency flow does not require a complete profile.</a:t>
            </a:r>
          </a:p>
          <a:p>
            <a:r>
              <a:t>Workflows: WF-05</a:t>
            </a:r>
          </a:p>
          <a:p>
            <a:r>
              <a:t>Screens: C05, C06, C07, C08, C09, C10, C27, C28, X01, X02</a:t>
            </a:r>
          </a:p>
          <a:p/>
          <a:p>
            <a:r>
              <a:t>APP-SYS-068: The server returns an SOS ID and received_at after commit.</a:t>
            </a:r>
          </a:p>
          <a:p>
            <a:r>
              <a:t>Workflows: WF-05</a:t>
            </a:r>
          </a:p>
          <a:p>
            <a:r>
              <a:t>Screens: C05, C06, C07, C08, C09, C10, C27, C28, X01, X02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APP-SYS-069: The client displays pending when the request is only stored locally.</a:t>
            </a:r>
          </a:p>
          <a:p>
            <a:r>
              <a:t>Workflows: WF-05</a:t>
            </a:r>
          </a:p>
          <a:p>
            <a:r>
              <a:t>Screens: C05, C06, C07, C08, C09, C10, C27, C28, X01, X02</a:t>
            </a:r>
          </a:p>
          <a:p/>
          <a:p>
            <a:r>
              <a:t>APP-SYS-070: Resending uses client_request_id, TTL, and reconciled state.</a:t>
            </a:r>
          </a:p>
          <a:p>
            <a:r>
              <a:t>Workflows: WF-05</a:t>
            </a:r>
          </a:p>
          <a:p>
            <a:r>
              <a:t>Screens: C05, C06, C07, C08, C09, C10, C27, C28, X01, X02</a:t>
            </a:r>
          </a:p>
          <a:p/>
          <a:p>
            <a:r>
              <a:t>APP-SYS-071: Threat/discreet requests default to no sound and no group fan-out; ordinary assistance uses rule-based severity rather than treating every SOS as P1.</a:t>
            </a:r>
          </a:p>
          <a:p>
            <a:r>
              <a:t>Workflows: WF-05</a:t>
            </a:r>
          </a:p>
          <a:p>
            <a:r>
              <a:t>Screens: C05, C06, C07, C08, C09, C10, C27, C28, X01, X02</a:t>
            </a:r>
          </a:p>
          <a:p/>
          <a:p>
            <a:r>
              <a:t>APP-SYS-072: AC: network loss does not show “received”; resending does not create a second SOS; users who deny GPS can still enter location manually; changing category does not lose the ID.</a:t>
            </a:r>
          </a:p>
          <a:p>
            <a:r>
              <a:t>Workflows: WF-05</a:t>
            </a:r>
          </a:p>
          <a:p>
            <a:r>
              <a:t>Screens: C05, C06, C07, C08, C09, C10, C27, C28, X01, X02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APP-SYS-073: An approved detector emits possible_fall; the app displays a proposed 30 s check-in with “I'm OK” and “Get help now”.</a:t>
            </a:r>
          </a:p>
          <a:p>
            <a:r>
              <a:t>Workflows: WF-06</a:t>
            </a:r>
          </a:p>
          <a:p>
            <a:r>
              <a:t>Screens: C24, C25</a:t>
            </a:r>
          </a:p>
          <a:p/>
          <a:p>
            <a:r>
              <a:t>APP-SYS-074: Without a response, the server timer continues even if the app closes, creating an operator/caregiver request according to consent.</a:t>
            </a:r>
          </a:p>
          <a:p>
            <a:r>
              <a:t>Workflows: WF-06</a:t>
            </a:r>
          </a:p>
          <a:p>
            <a:r>
              <a:t>Screens: C24, C25</a:t>
            </a:r>
          </a:p>
          <a:p/>
          <a:p>
            <a:r>
              <a:t>APP-SYS-075: An offline device produces unknown status, not a conclusion that the person fell.</a:t>
            </a:r>
          </a:p>
          <a:p>
            <a:r>
              <a:t>Workflows: WF-06</a:t>
            </a:r>
          </a:p>
          <a:p>
            <a:r>
              <a:t>Screens: C24, C25</a:t>
            </a:r>
          </a:p>
          <a:p/>
          <a:p>
            <a:r>
              <a:t>APP-SYS-076: Check-in duration is configurable by service/group, with an accessible alternative; it is not automatically used as a diagnosis.</a:t>
            </a:r>
          </a:p>
          <a:p>
            <a:r>
              <a:t>Workflows: WF-06</a:t>
            </a:r>
          </a:p>
          <a:p>
            <a:r>
              <a:t>Screens: C24, C25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APP-SYS-077: AC: escalation continues after the app is killed; a late “I'm OK” updates the record without silently withdrawing an ongoing task; false positives retain a review reason.</a:t>
            </a:r>
          </a:p>
          <a:p>
            <a:r>
              <a:t>Workflows: WF-06</a:t>
            </a:r>
          </a:p>
          <a:p>
            <a:r>
              <a:t>Screens: C24, C25</a:t>
            </a:r>
          </a:p>
          <a:p/>
          <a:p>
            <a:r>
              <a:t>APP-SYS-078: Reports/telematics provide position, heading if available, road segment, vehicle count, and injuries=unknown.</a:t>
            </a:r>
          </a:p>
          <a:p>
            <a:r>
              <a:t>Workflows: WF-07</a:t>
            </a:r>
          </a:p>
          <a:p>
            <a:r>
              <a:t>Screens: C26</a:t>
            </a:r>
          </a:p>
          <a:p/>
          <a:p>
            <a:r>
              <a:t>APP-SYS-079: Correlation distinguishes opposite traffic directions and bridge levels.</a:t>
            </a:r>
          </a:p>
          <a:p>
            <a:r>
              <a:t>Workflows: WF-07</a:t>
            </a:r>
          </a:p>
          <a:p>
            <a:r>
              <a:t>Screens: C26</a:t>
            </a:r>
          </a:p>
          <a:p/>
          <a:p>
            <a:r>
              <a:t>APP-SYS-080: Users can submit a minimal quick report and add details later.</a:t>
            </a:r>
          </a:p>
          <a:p>
            <a:r>
              <a:t>Workflows: WF-07</a:t>
            </a:r>
          </a:p>
          <a:p>
            <a:r>
              <a:t>Screens: C26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APP-SYS-081: Dispatch targets configured units; without an agreement, the system does not automatically call a public emergency endpoint.</a:t>
            </a:r>
          </a:p>
          <a:p>
            <a:r>
              <a:t>Workflows: WF-07</a:t>
            </a:r>
          </a:p>
          <a:p>
            <a:r>
              <a:t>Screens: C26</a:t>
            </a:r>
          </a:p>
          <a:p/>
          <a:p>
            <a:r>
              <a:t>APP-SYS-082: AC: missing injury data is accepted as unknown; one acceleration sample does not auto-confirm a collision; sensitive data goes only to the assigned team.</a:t>
            </a:r>
          </a:p>
          <a:p>
            <a:r>
              <a:t>Workflows: WF-07</a:t>
            </a:r>
          </a:p>
          <a:p>
            <a:r>
              <a:t>Screens: C26</a:t>
            </a:r>
          </a:p>
          <a:p/>
          <a:p>
            <a:r>
              <a:t>APP-SYS-083: Connectors allowlist issuers and validate XML/schema, identifiers, sent, status, scope, info/area, and expiry.</a:t>
            </a:r>
          </a:p>
          <a:p>
            <a:r>
              <a:t>Workflows: WF-08</a:t>
            </a:r>
          </a:p>
          <a:p>
            <a:r>
              <a:t>Screens: C14, C15, O28, O29</a:t>
            </a:r>
          </a:p>
          <a:p/>
          <a:p>
            <a:r>
              <a:t>APP-SYS-084: Deduplicate sender+identifier; Update/Cancel references the previous version and must preserve lineage.</a:t>
            </a:r>
          </a:p>
          <a:p>
            <a:r>
              <a:t>Workflows: WF-08</a:t>
            </a:r>
          </a:p>
          <a:p>
            <a:r>
              <a:t>Screens: C14, C15, O28, O29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APP-SYS-085: Official warnings and local responses are separate objects.</a:t>
            </a:r>
          </a:p>
          <a:p>
            <a:r>
              <a:t>Workflows: WF-08</a:t>
            </a:r>
          </a:p>
          <a:p>
            <a:r>
              <a:t>Screens: C14, C15, O28, O29</a:t>
            </a:r>
          </a:p>
          <a:p/>
          <a:p>
            <a:r>
              <a:t>APP-SYS-086: Expired warnings do not continue live broadcast; cancellation does not delete previously sent versions.</a:t>
            </a:r>
          </a:p>
          <a:p>
            <a:r>
              <a:t>Workflows: WF-08</a:t>
            </a:r>
          </a:p>
          <a:p>
            <a:r>
              <a:t>Screens: C14, C15, O28, O29</a:t>
            </a:r>
          </a:p>
          <a:p/>
          <a:p>
            <a:r>
              <a:t>APP-SYS-087: Polygons use CAP's coordinate order and are explicitly converted to GeoJSON; lat/lon must not be implicitly swapped.</a:t>
            </a:r>
          </a:p>
          <a:p>
            <a:r>
              <a:t>Workflows: WF-08</a:t>
            </a:r>
          </a:p>
          <a:p>
            <a:r>
              <a:t>Screens: C14, C15, O28, O29</a:t>
            </a:r>
          </a:p>
          <a:p/>
          <a:p>
            <a:r>
              <a:t>APP-SYS-088: AC: Test/Exercise does not enter the Actual flow; unauthorized issuers are quarantined; Update replaces the active version while retaining the previous one; users outside the polygon are not selected because of coordinate errors.</a:t>
            </a:r>
          </a:p>
          <a:p>
            <a:r>
              <a:t>Workflows: WF-08</a:t>
            </a:r>
          </a:p>
          <a:p>
            <a:r>
              <a:t>Screens: C14, C15, O28, O29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APP-SYS-089: Authors select the incident, area/site/group, severity, languages, content, and expiry.</a:t>
            </a:r>
          </a:p>
          <a:p>
            <a:r>
              <a:t>Workflows: WF-09</a:t>
            </a:r>
          </a:p>
          <a:p>
            <a:r>
              <a:t>Screens: O13, O14, O15, T06</a:t>
            </a:r>
          </a:p>
          <a:p/>
          <a:p>
            <a:r>
              <a:t>APP-SYS-090: Audience preview is a snapshot of eligible recipients and exclusion reasons; an independent approver signs the version.</a:t>
            </a:r>
          </a:p>
          <a:p>
            <a:r>
              <a:t>Workflows: WF-09</a:t>
            </a:r>
          </a:p>
          <a:p>
            <a:r>
              <a:t>Screens: O13, O14, O15, T06</a:t>
            </a:r>
          </a:p>
          <a:p/>
          <a:p>
            <a:r>
              <a:t>APP-SYS-091: Changing content/audience after approval requires reapproval.</a:t>
            </a:r>
          </a:p>
          <a:p>
            <a:r>
              <a:t>Workflows: WF-09</a:t>
            </a:r>
          </a:p>
          <a:p>
            <a:r>
              <a:t>Screens: O13, O14, O15, T06</a:t>
            </a:r>
          </a:p>
          <a:p/>
          <a:p>
            <a:r>
              <a:t>APP-SYS-092: Rapid break-glass issuance requires special permission and audit; not every P1 must wait for approval if the site playbook permits preapproved templates.</a:t>
            </a:r>
          </a:p>
          <a:p>
            <a:r>
              <a:t>Workflows: WF-09</a:t>
            </a:r>
          </a:p>
          <a:p>
            <a:r>
              <a:t>Screens: O13, O14, O15, T06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APP-SYS-093: Machine translation is draft-only; safety content must be reviewed.</a:t>
            </a:r>
          </a:p>
          <a:p>
            <a:r>
              <a:t>Workflows: WF-09</a:t>
            </a:r>
          </a:p>
          <a:p>
            <a:r>
              <a:t>Screens: O13, O14, O15, T06</a:t>
            </a:r>
          </a:p>
          <a:p/>
          <a:p>
            <a:r>
              <a:t>APP-SYS-094: AC: approval of v3 does not permit sending v4; an audience ID targeting the wrong tenant is blocked; scheduled warnings recheck expiry and permissions at issuance.</a:t>
            </a:r>
          </a:p>
          <a:p>
            <a:r>
              <a:t>Workflows: WF-09</a:t>
            </a:r>
          </a:p>
          <a:p>
            <a:r>
              <a:t>Screens: O13, O14, O15, T06</a:t>
            </a:r>
          </a:p>
          <a:p/>
          <a:p>
            <a:r>
              <a:t>APP-SYS-095: Notifications create individual delivery attempts by recipient/channel/version; queued/submitted/provider_accepted/delivered/read/human_ack/failed/unknown remain distinct states.</a:t>
            </a:r>
          </a:p>
          <a:p>
            <a:r>
              <a:t>Workflows: WF-10</a:t>
            </a:r>
          </a:p>
          <a:p>
            <a:r>
              <a:t>Screens: C13, O16, O17, T05, D07, C34</a:t>
            </a:r>
          </a:p>
          <a:p/>
          <a:p>
            <a:r>
              <a:t>APP-SYS-096: Provider callbacks are authenticated and replay-protected.</a:t>
            </a:r>
          </a:p>
          <a:p>
            <a:r>
              <a:t>Workflows: WF-10</a:t>
            </a:r>
          </a:p>
          <a:p>
            <a:r>
              <a:t>Screens: C13, O16, O17, T05, D07, C34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APP-SYS-097: An ACK deadline triggers durable escalation with an owner and maximum steps.</a:t>
            </a:r>
          </a:p>
          <a:p>
            <a:r>
              <a:t>Workflows: WF-10</a:t>
            </a:r>
          </a:p>
          <a:p>
            <a:r>
              <a:t>Screens: C13, O16, O17, T05, D07, C34</a:t>
            </a:r>
          </a:p>
          <a:p/>
          <a:p>
            <a:r>
              <a:t>APP-SYS-098: Channel fallback does not automatically send private content by SMS; SMS templates are minimal and use authenticated links when needed.</a:t>
            </a:r>
          </a:p>
          <a:p>
            <a:r>
              <a:t>Workflows: WF-10</a:t>
            </a:r>
          </a:p>
          <a:p>
            <a:r>
              <a:t>Screens: C13, O16, O17, T05, D07, C34</a:t>
            </a:r>
          </a:p>
          <a:p/>
          <a:p>
            <a:r>
              <a:t>APP-SYS-099: Push notifications cannot guarantee bypassing the operating system's silent mode.</a:t>
            </a:r>
          </a:p>
          <a:p>
            <a:r>
              <a:t>Workflows: WF-10</a:t>
            </a:r>
          </a:p>
          <a:p>
            <a:r>
              <a:t>Screens: C13, O16, O17, T05, D07, C34</a:t>
            </a:r>
          </a:p>
          <a:p/>
          <a:p>
            <a:r>
              <a:t>APP-SYS-100: AC: provider acceptance does not increase the human ACK count; duplicate callbacks do not duplicate escalation; provider failures use bounded retries and alternate providers, and 429 respects retry_after.</a:t>
            </a:r>
          </a:p>
          <a:p>
            <a:r>
              <a:t>Workflows: WF-10</a:t>
            </a:r>
          </a:p>
          <a:p>
            <a:r>
              <a:t>Screens: C13, O16, O17, T05, D07, C34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APP-SYS-101: Dispatchers filter units by capability, availability, site authorization, and latest location.</a:t>
            </a:r>
          </a:p>
          <a:p>
            <a:r>
              <a:t>Workflows: WF-11</a:t>
            </a:r>
          </a:p>
          <a:p>
            <a:r>
              <a:t>Screens: R01, R02, R03, R04, R05, R06, R07, R08, R09, R10, R11, R12, O08, O09, O10, X10, O34</a:t>
            </a:r>
          </a:p>
          <a:p/>
          <a:p>
            <a:r>
              <a:t>APP-SYS-102: ETA is only a timestamped estimate.</a:t>
            </a:r>
          </a:p>
          <a:p>
            <a:r>
              <a:t>Workflows: WF-11</a:t>
            </a:r>
          </a:p>
          <a:p>
            <a:r>
              <a:t>Screens: R01, R02, R03, R04, R05, R06, R07, R08, R09, R10, R11, R12, O08, O09, O10, X10, O34</a:t>
            </a:r>
          </a:p>
          <a:p/>
          <a:p>
            <a:r>
              <a:t>APP-SYS-103: Offers have a deadline; units accept atomically using a version.</a:t>
            </a:r>
          </a:p>
          <a:p>
            <a:r>
              <a:t>Workflows: WF-11</a:t>
            </a:r>
          </a:p>
          <a:p>
            <a:r>
              <a:t>Screens: R01, R02, R03, R04, R05, R06, R07, R08, R09, R10, R11, R12, O08, O09, O10, X10, O34</a:t>
            </a:r>
          </a:p>
          <a:p/>
          <a:p>
            <a:r>
              <a:t>APP-SYS-104: If nobody accepts, escalate; do not automatically mark dispatch as completed.</a:t>
            </a:r>
          </a:p>
          <a:p>
            <a:r>
              <a:t>Workflows: WF-11</a:t>
            </a:r>
          </a:p>
          <a:p>
            <a:r>
              <a:t>Screens: R01, R02, R03, R04, R05, R06, R07, R08, R09, R10, R11, R12, O08, O09, O10, X10, O34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APP-SYS-105: Responders transition through en_route/on_scene, record observations and handover, and complete tasks; task completion does not close the incident.</a:t>
            </a:r>
          </a:p>
          <a:p>
            <a:r>
              <a:t>Workflows: WF-11</a:t>
            </a:r>
          </a:p>
          <a:p>
            <a:r>
              <a:t>Screens: R01, R02, R03, R04, R05, R06, R07, R08, R09, R10, R11, R12, O08, O09, O10, X10, O34</a:t>
            </a:r>
          </a:p>
          <a:p/>
          <a:p>
            <a:r>
              <a:t>APP-SYS-106: AC: two dispatchers cannot assign two owners to one task; offline acceptance must remain pending until server confirmation; reassignment retains the previous responder's notes as observations.</a:t>
            </a:r>
          </a:p>
          <a:p>
            <a:r>
              <a:t>Workflows: WF-11</a:t>
            </a:r>
          </a:p>
          <a:p>
            <a:r>
              <a:t>Screens: R01, R02, R03, R04, R05, R06, R07, R08, R09, R10, R11, R12, O08, O09, O10, X10, O34</a:t>
            </a:r>
          </a:p>
          <a:p/>
          <a:p>
            <a:r>
              <a:t>APP-SYS-107: Safety reports store status, person, incident scope, observed_at, reporter, and location precision.</a:t>
            </a:r>
          </a:p>
          <a:p>
            <a:r>
              <a:t>Workflows: WF-12</a:t>
            </a:r>
          </a:p>
          <a:p>
            <a:r>
              <a:t>Screens: C11, C12, C19, C20, C21, C22, C23, O11, O12, C31, C32, C33</a:t>
            </a:r>
          </a:p>
          <a:p/>
          <a:p>
            <a:r>
              <a:t>APP-SYS-108: Fan-out reaches all eligible subscribed groups at report time, plus verified contacts; recipients are deduplicated.</a:t>
            </a:r>
          </a:p>
          <a:p>
            <a:r>
              <a:t>Workflows: WF-12</a:t>
            </a:r>
          </a:p>
          <a:p>
            <a:r>
              <a:t>Screens: C11, C12, C19, C20, C21, C22, C23, O11, O12, C31, C32, C33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APP-SYS-109: Each group receives status; detailed location requires specific consent.</a:t>
            </a:r>
          </a:p>
          <a:p>
            <a:r>
              <a:t>Workflows: WF-12</a:t>
            </a:r>
          </a:p>
          <a:p>
            <a:r>
              <a:t>Screens: C11, C12, C19, C20, C21, C22, C23, O11, O12, C31, C32, C33</a:t>
            </a:r>
          </a:p>
          <a:p/>
          <a:p>
            <a:r>
              <a:t>APP-SYS-110: Revoked memberships/consent are rechecked before delivery.</a:t>
            </a:r>
          </a:p>
          <a:p>
            <a:r>
              <a:t>Workflows: WF-12</a:t>
            </a:r>
          </a:p>
          <a:p>
            <a:r>
              <a:t>Screens: C11, C12, C19, C20, C21, C22, C23, O11, O12, C31, C32, C33</a:t>
            </a:r>
          </a:p>
          <a:p/>
          <a:p>
            <a:r>
              <a:t>APP-SYS-111: Group chat includes membership, abuse reporting, and individual blocking for social interaction; blocking cannot disable mandatory site warnings under the published policy.</a:t>
            </a:r>
          </a:p>
          <a:p>
            <a:r>
              <a:t>Workflows: WF-12</a:t>
            </a:r>
          </a:p>
          <a:p>
            <a:r>
              <a:t>Screens: C11, C12, C19, C20, C21, C22, C23, O11, O12, C31, C32, C33</a:t>
            </a:r>
          </a:p>
          <a:p/>
          <a:p>
            <a:r>
              <a:t>APP-SYS-112: AC: one contact in 3 groups does not receive 3 identical SMS messages; location consent off does not leak coordinates; a safe report does not close a building incident; unknown is not counted as safe.</a:t>
            </a:r>
          </a:p>
          <a:p>
            <a:r>
              <a:t>Workflows: WF-12</a:t>
            </a:r>
          </a:p>
          <a:p>
            <a:r>
              <a:t>Screens: C11, C12, C19, C20, C21, C22, C23, O11, O12, C31, C32, C33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APP-SYS-113: Operators maintain shelter status, estimated capacity, timestamp, accessibility, and valid_until.</a:t>
            </a:r>
          </a:p>
          <a:p>
            <a:r>
              <a:t>Workflows: WF-13</a:t>
            </a:r>
          </a:p>
          <a:p>
            <a:r>
              <a:t>Screens: C01, C02, C03, C04, C16, C17, C18, O26, O27</a:t>
            </a:r>
          </a:p>
          <a:p/>
          <a:p>
            <a:r>
              <a:t>APP-SYS-114: Offline packs store versioned, expiring plans/guidance/contacts and do not guarantee live routes.</a:t>
            </a:r>
          </a:p>
          <a:p>
            <a:r>
              <a:t>Workflows: WF-13</a:t>
            </a:r>
          </a:p>
          <a:p>
            <a:r>
              <a:t>Screens: C01, C02, C03, C04, C16, C17, C18, O26, O27</a:t>
            </a:r>
          </a:p>
          <a:p/>
          <a:p>
            <a:r>
              <a:t>APP-SYS-115: Voice uses the same approved text with a transcript and pause/replay; autoplay must not expose discreet mode.</a:t>
            </a:r>
          </a:p>
          <a:p>
            <a:r>
              <a:t>Workflows: WF-13</a:t>
            </a:r>
          </a:p>
          <a:p>
            <a:r>
              <a:t>Screens: C01, C02, C03, C04, C16, C17, C18, O26, O27</a:t>
            </a:r>
          </a:p>
          <a:p/>
          <a:p>
            <a:r>
              <a:t>APP-SYS-116: Without a verified route, display only the plan and approved guidance rather than automatically drawing an optimized fire-avoidance route.</a:t>
            </a:r>
          </a:p>
          <a:p>
            <a:r>
              <a:t>Workflows: WF-13</a:t>
            </a:r>
          </a:p>
          <a:p>
            <a:r>
              <a:t>Screens: C01, C02, C03, C04, C16, C17, C18, O26, O27</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APP-SYS-117: AC: a shelter past valid_until becomes unknown; missing capacity data is not shown as 0; offline plans display their age.</a:t>
            </a:r>
          </a:p>
          <a:p>
            <a:r>
              <a:t>Workflows: WF-13</a:t>
            </a:r>
          </a:p>
          <a:p>
            <a:r>
              <a:t>Screens: C01, C02, C03, C04, C16, C17, C18, O26, O27</a:t>
            </a:r>
          </a:p>
          <a:p/>
          <a:p>
            <a:r>
              <a:t>APP-SYS-118: Enrollment tokens are single-use; device certificates support rotation/revocation.</a:t>
            </a:r>
          </a:p>
          <a:p>
            <a:r>
              <a:t>Workflows: WF-14</a:t>
            </a:r>
          </a:p>
          <a:p>
            <a:r>
              <a:t>Screens: S06, S07, S08, S09, S10</a:t>
            </a:r>
          </a:p>
          <a:p/>
          <a:p>
            <a:r>
              <a:t>APP-SYS-119: Heartbeat thresholds depend on device class; stale/disconnected is distinct from the area's safety status.</a:t>
            </a:r>
          </a:p>
          <a:p>
            <a:r>
              <a:t>Workflows: WF-14</a:t>
            </a:r>
          </a:p>
          <a:p>
            <a:r>
              <a:t>Screens: S06, S07, S08, S09, S10</a:t>
            </a:r>
          </a:p>
          <a:p/>
          <a:p>
            <a:r>
              <a:t>APP-SYS-120: Maintenance suppression has a start/end, reason, approver, and replacement coverage; blind spots are always visible.</a:t>
            </a:r>
          </a:p>
          <a:p>
            <a:r>
              <a:t>Workflows: WF-14</a:t>
            </a:r>
          </a:p>
          <a:p>
            <a:r>
              <a:t>Screens: S06, S07, S08, S09, S10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APP-SYS-121: When maintenance ends, monitoring automatically resumes and is logged.</a:t>
            </a:r>
          </a:p>
          <a:p>
            <a:r>
              <a:t>Workflows: WF-14</a:t>
            </a:r>
          </a:p>
          <a:p>
            <a:r>
              <a:t>Screens: S06, S07, S08, S09, S10</a:t>
            </a:r>
          </a:p>
          <a:p/>
          <a:p>
            <a:r>
              <a:t>APP-SYS-122: AC: revoked certificates cannot ingest; suppression does not continue after maintenance ends; firmware upgrades do not automatically run fleet-wide during an active incident.</a:t>
            </a:r>
          </a:p>
          <a:p>
            <a:r>
              <a:t>Workflows: WF-14</a:t>
            </a:r>
          </a:p>
          <a:p>
            <a:r>
              <a:t>Screens: S06, S07, S08, S09, S10</a:t>
            </a:r>
          </a:p>
          <a:p/>
          <a:p>
            <a:r>
              <a:t>APP-SYS-123: Physical maintenance additionally follows WF-31: ending a software suppression window does not prove that physical protection has been restored; required local checks and acknowledgment remain mandatory.</a:t>
            </a:r>
          </a:p>
          <a:p>
            <a:r>
              <a:t>Workflows: WF-14</a:t>
            </a:r>
          </a:p>
          <a:p>
            <a:r>
              <a:t>Screens: S06, S07, S08, S09, S10</a:t>
            </a:r>
          </a:p>
          <a:p/>
          <a:p>
            <a:r>
              <a:t>APP-SYS-124: Commands are limited to declared capabilities; parameter schema, zone, expiry, interlock, authorized approver, and local controller policy are all mandatory.</a:t>
            </a:r>
          </a:p>
          <a:p>
            <a:r>
              <a:t>Workflows: WF-15</a:t>
            </a:r>
          </a:p>
          <a:p>
            <a:r>
              <a:t>Screens: O18, O19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APP-SYS-125: The web interface cannot send arbitrary raw commands.</a:t>
            </a:r>
          </a:p>
          <a:p>
            <a:r>
              <a:t>Workflows: WF-15</a:t>
            </a:r>
          </a:p>
          <a:p>
            <a:r>
              <a:t>Screens: O18, O19</a:t>
            </a:r>
          </a:p>
          <a:p/>
          <a:p>
            <a:r>
              <a:t>APP-SYS-126: Gateway receipt, device accepted, executing, and verified result are separate.</a:t>
            </a:r>
          </a:p>
          <a:p>
            <a:r>
              <a:t>Workflows: WF-15</a:t>
            </a:r>
          </a:p>
          <a:p>
            <a:r>
              <a:t>Screens: O18, O19</a:t>
            </a:r>
          </a:p>
          <a:p/>
          <a:p>
            <a:r>
              <a:t>APP-SYS-127: An unknown timeout does not blindly retry a non-idempotent command.</a:t>
            </a:r>
          </a:p>
          <a:p>
            <a:r>
              <a:t>Workflows: WF-15</a:t>
            </a:r>
          </a:p>
          <a:p>
            <a:r>
              <a:t>Screens: O18, O19</a:t>
            </a:r>
          </a:p>
          <a:p/>
          <a:p>
            <a:r>
              <a:t>APP-SYS-128: Cloud actuation does not replace certified local protection loops.</a:t>
            </a:r>
          </a:p>
          <a:p>
            <a:r>
              <a:t>Workflows: WF-15</a:t>
            </a:r>
          </a:p>
          <a:p>
            <a:r>
              <a:t>Screens: O18, O19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APP-SYS-129: Closed-head sprinklers typically activate thermally; the prototype does not assume software can open individual sprinkler heads.</a:t>
            </a:r>
          </a:p>
          <a:p>
            <a:r>
              <a:t>Workflows: WF-15</a:t>
            </a:r>
          </a:p>
          <a:p>
            <a:r>
              <a:t>Screens: O18, O19</a:t>
            </a:r>
          </a:p>
          <a:p/>
          <a:p>
            <a:r>
              <a:t>APP-SYS-130: AC: commands past TTL do not execute after reconnect; zone mismatches are rejected; acceptance without feedback remains unknown/awaiting confirmation; simulators have no live credentials.</a:t>
            </a:r>
          </a:p>
          <a:p>
            <a:r>
              <a:t>Workflows: WF-15</a:t>
            </a:r>
          </a:p>
          <a:p>
            <a:r>
              <a:t>Screens: O18, O19</a:t>
            </a:r>
          </a:p>
          <a:p/>
          <a:p>
            <a:r>
              <a:t>APP-SYS-131: WF-30 refines this command workflow for installed suppression and rescue equipment.</a:t>
            </a:r>
          </a:p>
          <a:p>
            <a:r>
              <a:t>Workflows: WF-15</a:t>
            </a:r>
          </a:p>
          <a:p>
            <a:r>
              <a:t>Screens: O18, O19</a:t>
            </a:r>
          </a:p>
          <a:p/>
          <a:p>
            <a:r>
              <a:t>APP-SYS-132: Wet-pipe monitoring, releasing-controller requests, pump requests, and mobile equipment actions remain separate capabilities; use WF-28 binding and WF-32 acceptance before enabling any control.</a:t>
            </a:r>
          </a:p>
          <a:p>
            <a:r>
              <a:t>Workflows: WF-15</a:t>
            </a:r>
          </a:p>
          <a:p>
            <a:r>
              <a:t>Screens: O18, O19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APP-SYS-133: Fleet adapters primarily provide telemetry/media and health.</a:t>
            </a:r>
          </a:p>
          <a:p>
            <a:r>
              <a:t>Workflows: WF-16</a:t>
            </a:r>
          </a:p>
          <a:p>
            <a:r>
              <a:t>Screens: I11, I12, I13, I14, I15</a:t>
            </a:r>
          </a:p>
          <a:p/>
          <a:p>
            <a:r>
              <a:t>APP-SYS-134: A mission draft includes purpose, incident, route/geofence, altitude reference, pilot, clearance, weather check, and lost-link policy.</a:t>
            </a:r>
          </a:p>
          <a:p>
            <a:r>
              <a:t>Workflows: WF-16</a:t>
            </a:r>
          </a:p>
          <a:p>
            <a:r>
              <a:t>Screens: I11, I12, I13, I14, I15</a:t>
            </a:r>
          </a:p>
          <a:p/>
          <a:p>
            <a:r>
              <a:t>APP-SYS-135: The local pilot decides deployment according to the integrated system's capabilities.</a:t>
            </a:r>
          </a:p>
          <a:p>
            <a:r>
              <a:t>Workflows: WF-16</a:t>
            </a:r>
          </a:p>
          <a:p>
            <a:r>
              <a:t>Screens: I11, I12, I13, I14, I15</a:t>
            </a:r>
          </a:p>
          <a:p/>
          <a:p>
            <a:r>
              <a:t>APP-SYS-136: Approval does not mean takeoff has occurred.</a:t>
            </a:r>
          </a:p>
          <a:p>
            <a:r>
              <a:t>Workflows: WF-16</a:t>
            </a:r>
          </a:p>
          <a:p>
            <a:r>
              <a:t>Screens: I11, I12, I13, I14, I15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APP-SYS-137: AI detectors do not automatically issue TAKEOFF.</a:t>
            </a:r>
          </a:p>
          <a:p>
            <a:r>
              <a:t>Workflows: WF-16</a:t>
            </a:r>
          </a:p>
          <a:p>
            <a:r>
              <a:t>Screens: I11, I12, I13, I14, I15</a:t>
            </a:r>
          </a:p>
          <a:p/>
          <a:p>
            <a:r>
              <a:t>APP-SYS-138: Abort/return commands require capability support and flight-stack confirmation; the UI does not promise universal cancellation.</a:t>
            </a:r>
          </a:p>
          <a:p>
            <a:r>
              <a:t>Workflows: WF-16</a:t>
            </a:r>
          </a:p>
          <a:p>
            <a:r>
              <a:t>Screens: I11, I12, I13, I14, I15</a:t>
            </a:r>
          </a:p>
          <a:p/>
          <a:p>
            <a:r>
              <a:t>APP-SYS-139: AC: no approval without pilot/clearance; stale telemetry disables position-dependent commands; link loss shows unknown while local policy continues; mission evidence has hash/provenance.</a:t>
            </a:r>
          </a:p>
          <a:p>
            <a:r>
              <a:t>Workflows: WF-16</a:t>
            </a:r>
          </a:p>
          <a:p>
            <a:r>
              <a:t>Screens: I11, I12, I13, I14, I15</a:t>
            </a:r>
          </a:p>
          <a:p/>
          <a:p>
            <a:r>
              <a:t>APP-SYS-140: Install manifest → configure secret reference → map → sandbox test → approve → activate → monitor → rotate/deprecate.</a:t>
            </a:r>
          </a:p>
          <a:p>
            <a:r>
              <a:t>Workflows: WF-17</a:t>
            </a:r>
          </a:p>
          <a:p>
            <a:r>
              <a:t>Screens: I01, I02, I04, I05, I06, I07, I08, I09, I10, D01, D05, D06, D08, O33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APP-SYS-141: Connectors run with least privilege, outbound allowlists, quota/backpressure, and a kill switch.</a:t>
            </a:r>
          </a:p>
          <a:p>
            <a:r>
              <a:t>Workflows: WF-17</a:t>
            </a:r>
          </a:p>
          <a:p>
            <a:r>
              <a:t>Screens: I01, I02, I04, I05, I06, I07, I08, I09, I10, D01, D05, D06, D08, O33</a:t>
            </a:r>
          </a:p>
          <a:p/>
          <a:p>
            <a:r>
              <a:t>APP-SYS-142: DLQ replay requires a reason, a valid schema, and retention of the original ID; command replay is blocked by default.</a:t>
            </a:r>
          </a:p>
          <a:p>
            <a:r>
              <a:t>Workflows: WF-17</a:t>
            </a:r>
          </a:p>
          <a:p>
            <a:r>
              <a:t>Screens: I01, I02, I04, I05, I06, I07, I08, I09, I10, D01, D05, D06, D08, O33</a:t>
            </a:r>
          </a:p>
          <a:p/>
          <a:p>
            <a:r>
              <a:t>APP-SYS-143: Cross-tenant exchange requires an agreement and payload allowlist.</a:t>
            </a:r>
          </a:p>
          <a:p>
            <a:r>
              <a:t>Workflows: WF-17</a:t>
            </a:r>
          </a:p>
          <a:p>
            <a:r>
              <a:t>Screens: I01, I02, I04, I05, I06, I07, I08, I09, I10, D01, D05, D06, D08, O33</a:t>
            </a:r>
          </a:p>
          <a:p/>
          <a:p>
            <a:r>
              <a:t>APP-SYS-144: AC: adapter failures do not block direct SOS; oversized payloads return 413; incompatible major schemas are quarantined; secrets do not appear in logs/exports.</a:t>
            </a:r>
          </a:p>
          <a:p>
            <a:r>
              <a:t>Workflows: WF-17</a:t>
            </a:r>
          </a:p>
          <a:p>
            <a:r>
              <a:t>Screens: I01, I02, I04, I05, I06, I07, I08, I09, I10, D01, D05, D06, D08, O33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APP-SYS-145: Use UTC for storage, IANA timezones for display/schedules, BCP47 locales, Unicode, and E.164 phone numbers according to country.</a:t>
            </a:r>
          </a:p>
          <a:p>
            <a:r>
              <a:t>Workflows: WF-18</a:t>
            </a:r>
          </a:p>
          <a:p>
            <a:r>
              <a:t>Screens: T02, G05, G06, L01, L02, L03, L04, L05, L06</a:t>
            </a:r>
          </a:p>
          <a:p/>
          <a:p>
            <a:r>
              <a:t>APP-SYS-146: The UI includes RTL layout tests, pluralization, and pseudo-localization.</a:t>
            </a:r>
          </a:p>
          <a:p>
            <a:r>
              <a:t>Workflows: WF-18</a:t>
            </a:r>
          </a:p>
          <a:p>
            <a:r>
              <a:t>Screens: T02, G05, G06, L01, L02, L03, L04, L05, L06</a:t>
            </a:r>
          </a:p>
          <a:p/>
          <a:p>
            <a:r>
              <a:t>APP-SYS-147: Do not hardcode one worldwide emergency number; the emergency contact registry is verified by country/site.</a:t>
            </a:r>
          </a:p>
          <a:p>
            <a:r>
              <a:t>Workflows: WF-18</a:t>
            </a:r>
          </a:p>
          <a:p>
            <a:r>
              <a:t>Screens: T02, G05, G06, L01, L02, L03, L04, L05, L06</a:t>
            </a:r>
          </a:p>
          <a:p/>
          <a:p>
            <a:r>
              <a:t>APP-SYS-148: Residency covers databases, object storage, backups, logs, support, and exports; global routing does not carry raw SOS data.</a:t>
            </a:r>
          </a:p>
          <a:p>
            <a:r>
              <a:t>Workflows: WF-18</a:t>
            </a:r>
          </a:p>
          <a:p>
            <a:r>
              <a:t>Screens: T02, G05, G06, L01, L02, L03, L04, L05, L06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APP-SYS-149: AC: schedules crossing DST do not send twice, using a schedule occurrence ID; long locales do not obscure CTAs; changing region is a reviewed migration, not merely editing a dropdown.</a:t>
            </a:r>
          </a:p>
          <a:p>
            <a:r>
              <a:t>Workflows: WF-18</a:t>
            </a:r>
          </a:p>
          <a:p>
            <a:r>
              <a:t>Screens: T02, G05, G06, L01, L02, L03, L04, L05, L06</a:t>
            </a:r>
          </a:p>
          <a:p/>
          <a:p>
            <a:r>
              <a:t>APP-SYS-150: Data classes have retention policies, legal holds, and deletion jobs with reports.</a:t>
            </a:r>
          </a:p>
          <a:p>
            <a:r>
              <a:t>Workflows: WF-19</a:t>
            </a:r>
          </a:p>
          <a:p>
            <a:r>
              <a:t>Screens: C29, C30, O30, T09, T10, T11, G07, G08, G11, G12, H11</a:t>
            </a:r>
          </a:p>
          <a:p/>
          <a:p>
            <a:r>
              <a:t>APP-SYS-151: Export/deletion verifies the requester, scope, and exceptions; held evidence is not deleted.</a:t>
            </a:r>
          </a:p>
          <a:p>
            <a:r>
              <a:t>Workflows: WF-19</a:t>
            </a:r>
          </a:p>
          <a:p>
            <a:r>
              <a:t>Screens: C29, C30, O30, T09, T10, T11, G07, G08, G11, G12, H11</a:t>
            </a:r>
          </a:p>
          <a:p/>
          <a:p>
            <a:r>
              <a:t>APP-SYS-152: Audit is append-only with actor, action, object/version, reason, time, correlation, and before/after digests.</a:t>
            </a:r>
          </a:p>
          <a:p>
            <a:r>
              <a:t>Workflows: WF-19</a:t>
            </a:r>
          </a:p>
          <a:p>
            <a:r>
              <a:t>Screens: C29, C30, O30, T09, T10, T11, G07, G08, G11, G12, H11</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APP-SYS-153: Do not embed tokens, raw secrets, or complete medical notes in audit records.</a:t>
            </a:r>
          </a:p>
          <a:p>
            <a:r>
              <a:t>Workflows: WF-19</a:t>
            </a:r>
          </a:p>
          <a:p>
            <a:r>
              <a:t>Screens: C29, C30, O30, T09, T10, T11, G07, G08, G11, G12, H11</a:t>
            </a:r>
          </a:p>
          <a:p/>
          <a:p>
            <a:r>
              <a:t>APP-SYS-154: AC: precise-location access is logged; deletion does not remove held records; exports exclude other tenants; break-glass access automatically revokes at TTL expiry.</a:t>
            </a:r>
          </a:p>
          <a:p>
            <a:r>
              <a:t>Workflows: WF-19</a:t>
            </a:r>
          </a:p>
          <a:p>
            <a:r>
              <a:t>Screens: C29, C30, O30, T09, T10, T11, G07, G08, G11, G12, H11</a:t>
            </a:r>
          </a:p>
          <a:p/>
          <a:p>
            <a:r>
              <a:t>APP-SYS-155: Closure requires an open SOS/task check, disposition of people with unknown status, partner handover, a reason, and a supervisor.</a:t>
            </a:r>
          </a:p>
          <a:p>
            <a:r>
              <a:t>Workflows: WF-20</a:t>
            </a:r>
          </a:p>
          <a:p>
            <a:r>
              <a:t>Screens: O01, O02, O04, O20, O21, O22, O23, O24, O25, T01, T07, T08, T12, T13, T14, T15, T16, T17, X03, X05, X07, X09, G01, G02, G03, G04, G09, G10, O31, O32</a:t>
            </a:r>
          </a:p>
          <a:p/>
          <a:p>
            <a:r>
              <a:t>APP-SYS-156: An “All clear” warning is a separate action.</a:t>
            </a:r>
          </a:p>
          <a:p>
            <a:r>
              <a:t>Workflows: WF-20</a:t>
            </a:r>
          </a:p>
          <a:p>
            <a:r>
              <a:t>Screens: O01, O02, O04, O20, O21, O22, O23, O24, O25, T01, T07, T08, T12, T13, T14, T15, T16, T17, X03, X05, X07, X09, G01, G02, G03, G04, G09, G10, O31, O32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APP-SYS-157: Drills require environment+mode isolation in the broker, credentials, and recipient directory; a banner alone is insufficient.</a:t>
            </a:r>
          </a:p>
          <a:p>
            <a:r>
              <a:t>Workflows: WF-20</a:t>
            </a:r>
          </a:p>
          <a:p>
            <a:r>
              <a:t>Screens: O01, O02, O04, O20, O21, O22, O23, O24, O25, T01, T07, T08, T12, T13, T14, T15, T16, T17, X03, X05, X07, X09, G01, G02, G03, G04, G09, G10, O31, O32</a:t>
            </a:r>
          </a:p>
          <a:p/>
          <a:p>
            <a:r>
              <a:t>APP-SYS-158: Reports separate transport latency, operator latency, and response latency; samples with missing data explicitly state their denominator.</a:t>
            </a:r>
          </a:p>
          <a:p>
            <a:r>
              <a:t>Workflows: WF-20</a:t>
            </a:r>
          </a:p>
          <a:p>
            <a:r>
              <a:t>Screens: O01, O02, O04, O20, O21, O22, O23, O24, O25, T01, T07, T08, T12, T13, T14, T15, T16, T17, X03, X05, X07, X09, G01, G02, G03, G04, G09, G10, O31, O32</a:t>
            </a:r>
          </a:p>
          <a:p/>
          <a:p>
            <a:r>
              <a:t>APP-SYS-159: AC: safety check-ins do not close incidents; drills do not call live webhooks/actuators; shift handovers have incoming acknowledgment; reports are deidentified when the user lacks PII permission.</a:t>
            </a:r>
          </a:p>
          <a:p>
            <a:r>
              <a:t>Workflows: WF-20</a:t>
            </a:r>
          </a:p>
          <a:p>
            <a:r>
              <a:t>Screens: O01, O02, O04, O20, O21, O22, O23, O24, O25, T01, T07, T08, T12, T13, T14, T15, T16, T17, X03, X05, X07, X09, G01, G02, G03, G04, G09, G10, O31, O32</a:t>
            </a:r>
          </a:p>
          <a:p/>
          <a:p>
            <a:r>
              <a:t>APP-SYS-160: Bind the installed regional model, serial number, firmware, gateway, license, vendor permission, and compatibility dossier before activating an adapter.</a:t>
            </a:r>
          </a:p>
          <a:p>
            <a:r>
              <a:t>Workflows: WF-28</a:t>
            </a:r>
          </a:p>
          <a:p>
            <a:r>
              <a:t>Screens: F02, F03, F04, F05, F06, F20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APP-SYS-161: Import and independently review point addresses, semantic states, units/scaling, site/zone associations, and cause-and-effect revisions.</a:t>
            </a:r>
          </a:p>
          <a:p>
            <a:r>
              <a:t>Workflows: WF-28</a:t>
            </a:r>
          </a:p>
          <a:p>
            <a:r>
              <a:t>Screens: F02, F03, F04, F05, F06, F20</a:t>
            </a:r>
          </a:p>
          <a:p/>
          <a:p>
            <a:r>
              <a:t>APP-SYS-162: Distinguish wet-pipe, pre-action/deluge, pump, and mobile rescue assets.</a:t>
            </a:r>
          </a:p>
          <a:p>
            <a:r>
              <a:t>Workflows: WF-28</a:t>
            </a:r>
          </a:p>
          <a:p>
            <a:r>
              <a:t>Screens: F02, F03, F04, F05, F06, F20</a:t>
            </a:r>
          </a:p>
          <a:p/>
          <a:p>
            <a:r>
              <a:t>APP-SYS-163: Unknown capability defaults to monitor-only; onboarding cannot create control authority.</a:t>
            </a:r>
          </a:p>
          <a:p>
            <a:r>
              <a:t>Workflows: WF-28</a:t>
            </a:r>
          </a:p>
          <a:p>
            <a:r>
              <a:t>Screens: F02, F03, F04, F05, F06, F20</a:t>
            </a:r>
          </a:p>
          <a:p/>
          <a:p>
            <a:r>
              <a:t>FR-PHY-01: FR-PHY-01: retain the exact equipment/interface identity and approved evidence revision.</a:t>
            </a:r>
          </a:p>
          <a:p>
            <a:r>
              <a:t>Workflows: WF-28</a:t>
            </a:r>
          </a:p>
          <a:p>
            <a:r>
              <a:t>Screens: F02, F03, F04, F05, F06, F20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FR-PHY-02: FR-PHY-02: validate point and zone mapping against physical labels and reject cross-tenant, duplicate, or unresolved mappings.</a:t>
            </a:r>
          </a:p>
          <a:p>
            <a:r>
              <a:t>Workflows: WF-28</a:t>
            </a:r>
          </a:p>
          <a:p>
            <a:r>
              <a:t>Screens: F02, F03, F04, F05, F06, F20</a:t>
            </a:r>
          </a:p>
          <a:p/>
          <a:p>
            <a:r>
              <a:t>FR-PHY-03: FR-PHY-03: version the cause-and-effect and read/control capability contracts; changes require impact review and reacceptance where affected.</a:t>
            </a:r>
          </a:p>
          <a:p>
            <a:r>
              <a:t>Workflows: WF-28</a:t>
            </a:r>
          </a:p>
          <a:p>
            <a:r>
              <a:t>Screens: F02, F03, F04, F05, F06, F20</a:t>
            </a:r>
          </a:p>
          <a:p/>
          <a:p>
            <a:r>
              <a:t>APP-SYS-167: AC: an unbound firmware or license change suspends dependent control; a wrong-zone mapping cannot be activated; wet-pipe heads are not offered as individually controllable outputs.</a:t>
            </a:r>
          </a:p>
          <a:p>
            <a:r>
              <a:t>Workflows: WF-28</a:t>
            </a:r>
          </a:p>
          <a:p>
            <a:r>
              <a:t>Screens: F02, F03, F04, F05, F06, F20</a:t>
            </a:r>
          </a:p>
          <a:p/>
          <a:p>
            <a:r>
              <a:t>APP-SYS-168: Ingest manufacturer-supported panel, pump, valve, release, waterflow, power, and link states with provenance and quality.</a:t>
            </a:r>
          </a:p>
          <a:p>
            <a:r>
              <a:t>Workflows: WF-29</a:t>
            </a:r>
          </a:p>
          <a:p>
            <a:r>
              <a:t>Screens: F01, F07, F08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APP-SYS-169: Preserve controller alarm priority and local protection when cloud/edge is unavailable.</a:t>
            </a:r>
          </a:p>
          <a:p>
            <a:r>
              <a:t>Workflows: WF-29</a:t>
            </a:r>
          </a:p>
          <a:p>
            <a:r>
              <a:t>Screens: F01, F07, F08</a:t>
            </a:r>
          </a:p>
          <a:p/>
          <a:p>
            <a:r>
              <a:t>APP-SYS-170: Separate demand, motor running, release output, valve position, waterflow, and confirmed field observations.</a:t>
            </a:r>
          </a:p>
          <a:p>
            <a:r>
              <a:t>Workflows: WF-29</a:t>
            </a:r>
          </a:p>
          <a:p>
            <a:r>
              <a:t>Screens: F01, F07, F08</a:t>
            </a:r>
          </a:p>
          <a:p/>
          <a:p>
            <a:r>
              <a:t>APP-SYS-171: Missing or stale values remain unknown; do not turn a link fault into a safe indication.</a:t>
            </a:r>
          </a:p>
          <a:p>
            <a:r>
              <a:t>Workflows: WF-29</a:t>
            </a:r>
          </a:p>
          <a:p>
            <a:r>
              <a:t>Screens: F01, F07, F08</a:t>
            </a:r>
          </a:p>
          <a:p/>
          <a:p>
            <a:r>
              <a:t>FR-PHY-04: FR-PHY-04: store source/receive time, source address, unit, quality, mapping revision, and raw evidence reference for each observation.</a:t>
            </a:r>
          </a:p>
          <a:p>
            <a:r>
              <a:t>Workflows: WF-29</a:t>
            </a:r>
          </a:p>
          <a:p>
            <a:r>
              <a:t>Screens: F01, F07, F08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FR-PHY-05: FR-PHY-05: supervise freshness/link health using approved device/site thresholds and expose coverage gaps and compensating measures.</a:t>
            </a:r>
          </a:p>
          <a:p>
            <a:r>
              <a:t>Workflows: WF-29</a:t>
            </a:r>
          </a:p>
          <a:p>
            <a:r>
              <a:t>Screens: F01, F07, F08</a:t>
            </a:r>
          </a:p>
          <a:p/>
          <a:p>
            <a:r>
              <a:t>FR-PHY-06: FR-PHY-06: correlate without suppressing local protective actions; deduplicate transport replay while retaining state transitions and restoration evidence.</a:t>
            </a:r>
          </a:p>
          <a:p>
            <a:r>
              <a:t>Workflows: WF-29</a:t>
            </a:r>
          </a:p>
          <a:p>
            <a:r>
              <a:t>Screens: F01, F07, F08</a:t>
            </a:r>
          </a:p>
          <a:p/>
          <a:p>
            <a:r>
              <a:t>APP-SYS-175: AC: stale pump-running data is visibly uncertain; pressure alone does not confirm discharge; loss of cloud leaves local automatic protection available; duplicate telemetry does not create duplicate incidents.</a:t>
            </a:r>
          </a:p>
          <a:p>
            <a:r>
              <a:t>Workflows: WF-29</a:t>
            </a:r>
          </a:p>
          <a:p>
            <a:r>
              <a:t>Screens: F01, F07, F08</a:t>
            </a:r>
          </a:p>
          <a:p/>
          <a:p>
            <a:r>
              <a:t>APP-SYS-176: Only a site-accepted, explicitly control-capable operation may create a physical request.</a:t>
            </a:r>
          </a:p>
          <a:p>
            <a:r>
              <a:t>Workflows: WF-30</a:t>
            </a:r>
          </a:p>
          <a:p>
            <a:r>
              <a:t>Screens: F09, F10, F11, F12, F13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APP-SYS-177: Validate actor authority, incident/site/zone, approved parameter envelope, current physical readiness, local interlocks, command expiry, and the policy's independent approval requirements.</a:t>
            </a:r>
          </a:p>
          <a:p>
            <a:r>
              <a:t>Workflows: WF-30</a:t>
            </a:r>
          </a:p>
          <a:p>
            <a:r>
              <a:t>Screens: F09, F10, F11, F12, F13</a:t>
            </a:r>
          </a:p>
          <a:p/>
          <a:p>
            <a:r>
              <a:t>APP-SYS-178: Site/controller authority prevails.</a:t>
            </a:r>
          </a:p>
          <a:p>
            <a:r>
              <a:t>Workflows: WF-30</a:t>
            </a:r>
          </a:p>
          <a:p>
            <a:r>
              <a:t>Screens: F09, F10, F11, F12, F13</a:t>
            </a:r>
          </a:p>
          <a:p/>
          <a:p>
            <a:r>
              <a:t>APP-SYS-179: The system never assumes that BACnet/Modbus writes, a relay, or a network ACK authorizes or proves suppression.</a:t>
            </a:r>
          </a:p>
          <a:p>
            <a:r>
              <a:t>Workflows: WF-30</a:t>
            </a:r>
          </a:p>
          <a:p>
            <a:r>
              <a:t>Screens: F09, F10, F11, F12, F13</a:t>
            </a:r>
          </a:p>
          <a:p/>
          <a:p>
            <a:r>
              <a:t>APP-SYS-180: AI cannot originate autonomous release/start/motion actions.</a:t>
            </a:r>
          </a:p>
          <a:p>
            <a:r>
              <a:t>Workflows: WF-30</a:t>
            </a:r>
          </a:p>
          <a:p>
            <a:r>
              <a:t>Screens: F09, F10, F11, F12, F13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FR-PHY-07: FR-PHY-07: reject monitor-only or undocumented operations server-side and at the edge; preserve the approved request and command-policy version.</a:t>
            </a:r>
          </a:p>
          <a:p>
            <a:r>
              <a:t>Workflows: WF-30</a:t>
            </a:r>
          </a:p>
          <a:p>
            <a:r>
              <a:t>Screens: F09, F10, F11, F12, F13</a:t>
            </a:r>
          </a:p>
          <a:p/>
          <a:p>
            <a:r>
              <a:t>FR-PHY-08: FR-PHY-08: enforce TTL, unique request ID, duplicate-effect prevention, and bounded delivery; do not replay expired requests after reconnect or blindly retry non-idempotent actions.</a:t>
            </a:r>
          </a:p>
          <a:p>
            <a:r>
              <a:t>Workflows: WF-30</a:t>
            </a:r>
          </a:p>
          <a:p>
            <a:r>
              <a:t>Screens: F09, F10, F11, F12, F13</a:t>
            </a:r>
          </a:p>
          <a:p/>
          <a:p>
            <a:r>
              <a:t>FR-PHY-09: FR-PHY-09: distinguish transport receipt, device acceptance, execution, and physical feedback; evaluate success only against operation-specific approved evidence.</a:t>
            </a:r>
          </a:p>
          <a:p>
            <a:r>
              <a:t>Workflows: WF-30</a:t>
            </a:r>
          </a:p>
          <a:p>
            <a:r>
              <a:t>Screens: F09, F10, F11, F12, F13</a:t>
            </a:r>
          </a:p>
          <a:p/>
          <a:p>
            <a:r>
              <a:t>FR-PHY-10: FR-PHY-10: display UNKNOWN for missing/conflicting outcomes; assign reconciliation to a named operator and support local override and acknowledged manual handover without erasing history.</a:t>
            </a:r>
          </a:p>
          <a:p>
            <a:r>
              <a:t>Workflows: WF-30</a:t>
            </a:r>
          </a:p>
          <a:p>
            <a:r>
              <a:t>Screens: F09, F10, F11, F12, F13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APP-SYS-185: AC: ACK without required feedback cannot become succeeded; duplicate/expired requests produce no new effect; loss of feedback opens reconciliation; local override blocks conflicting remote control.</a:t>
            </a:r>
          </a:p>
          <a:p>
            <a:r>
              <a:t>Workflows: WF-30</a:t>
            </a:r>
          </a:p>
          <a:p>
            <a:r>
              <a:t>Screens: F09, F10, F11, F12, F13</a:t>
            </a:r>
          </a:p>
          <a:p/>
          <a:p>
            <a:r>
              <a:t>APP-SYS-186: An authorized impairment identifies equipment, affected zones, time window, reason, owner, compensating protection, and the local test/lockout arrangement.</a:t>
            </a:r>
          </a:p>
          <a:p>
            <a:r>
              <a:t>Workflows: WF-31</a:t>
            </a:r>
          </a:p>
          <a:p>
            <a:r>
              <a:t>Screens: F14, F18</a:t>
            </a:r>
          </a:p>
          <a:p/>
          <a:p>
            <a:r>
              <a:t>APP-SYS-187: Keep test and production credentials, routes, and outputs distinct; a UI banner is insufficient.</a:t>
            </a:r>
          </a:p>
          <a:p>
            <a:r>
              <a:t>Workflows: WF-31</a:t>
            </a:r>
          </a:p>
          <a:p>
            <a:r>
              <a:t>Screens: F14, F18</a:t>
            </a:r>
          </a:p>
          <a:p/>
          <a:p>
            <a:r>
              <a:t>APP-SYS-188: Expiry prompts restoration verification and escalation rather than claiming protection has returned.</a:t>
            </a:r>
          </a:p>
          <a:p>
            <a:r>
              <a:t>Workflows: WF-31</a:t>
            </a:r>
          </a:p>
          <a:p>
            <a:r>
              <a:t>Screens: F14, F18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APP-SYS-189: Local safety ownership remains explicit during shift handover.</a:t>
            </a:r>
          </a:p>
          <a:p>
            <a:r>
              <a:t>Workflows: WF-31</a:t>
            </a:r>
          </a:p>
          <a:p>
            <a:r>
              <a:t>Screens: F14, F18</a:t>
            </a:r>
          </a:p>
          <a:p/>
          <a:p>
            <a:r>
              <a:t>FR-PHY-11: FR-PHY-11: require approved impairment and physical isolation/lockout evidence before relevant tests; block unauthorized production commands while preserving agreed local protection arrangements.</a:t>
            </a:r>
          </a:p>
          <a:p>
            <a:r>
              <a:t>Workflows: WF-31</a:t>
            </a:r>
          </a:p>
          <a:p>
            <a:r>
              <a:t>Screens: F14, F18</a:t>
            </a:r>
          </a:p>
          <a:p/>
          <a:p>
            <a:r>
              <a:t>FR-PHY-12: FR-PHY-12: close an impairment only after required physical state checks, restoration evidence, and responsible-person acknowledgment; track overdue restoration and residual gaps.</a:t>
            </a:r>
          </a:p>
          <a:p>
            <a:r>
              <a:t>Workflows: WF-31</a:t>
            </a:r>
          </a:p>
          <a:p>
            <a:r>
              <a:t>Screens: F14, F18</a:t>
            </a:r>
          </a:p>
          <a:p/>
          <a:p>
            <a:r>
              <a:t>APP-SYS-192: AC: a simulated test cannot reach a live output; expiration without verification remains impaired/awaiting restoration; maintenance handover has an incoming owner.</a:t>
            </a:r>
          </a:p>
          <a:p>
            <a:r>
              <a:t>Workflows: WF-31</a:t>
            </a:r>
          </a:p>
          <a:p>
            <a:r>
              <a:t>Screens: F14, F18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APP-SYS-193: Maintain a configuration-specific dossier of manufacturer documents, interface permissions, regional listings/limitations, point maps, electrical/hydraulic dependencies, approved cause-and-effect, FAT, SAT, commissioning, calibration, and operator training.</a:t>
            </a:r>
          </a:p>
          <a:p>
            <a:r>
              <a:t>Workflows: WF-32</a:t>
            </a:r>
          </a:p>
          <a:p>
            <a:r>
              <a:t>Screens: F15, F16, F17</a:t>
            </a:r>
          </a:p>
          <a:p/>
          <a:p>
            <a:r>
              <a:t>APP-SYS-194: Manufacturer research and simulator results are not field acceptance.</a:t>
            </a:r>
          </a:p>
          <a:p>
            <a:r>
              <a:t>Workflows: WF-32</a:t>
            </a:r>
          </a:p>
          <a:p>
            <a:r>
              <a:t>Screens: F15, F16, F17</a:t>
            </a:r>
          </a:p>
          <a:p/>
          <a:p>
            <a:r>
              <a:t>APP-SYS-195: No whole-system certification is inferred from a component listing.</a:t>
            </a:r>
          </a:p>
          <a:p>
            <a:r>
              <a:t>Workflows: WF-32</a:t>
            </a:r>
          </a:p>
          <a:p>
            <a:r>
              <a:t>Screens: F15, F16, F17</a:t>
            </a:r>
          </a:p>
          <a:p/>
          <a:p>
            <a:r>
              <a:t>FR-PHY-13: FR-PHY-13: track document revision, provenance, reviewer, expiry where applicable, and acceptance scope per model/firmware/site/capability.</a:t>
            </a:r>
          </a:p>
          <a:p>
            <a:r>
              <a:t>Workflows: WF-32</a:t>
            </a:r>
          </a:p>
          <a:p>
            <a:r>
              <a:t>Screens: F15, F16, F17</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FR-PHY-14: FR-PHY-14: gate production capability activation on signed required tests and approvals; equipment, firmware, mapping, or policy changes trigger impact assessment and invalidate affected acceptance until revalidated.</a:t>
            </a:r>
          </a:p>
          <a:p>
            <a:r>
              <a:t>Workflows: WF-32</a:t>
            </a:r>
          </a:p>
          <a:p>
            <a:r>
              <a:t>Screens: F15, F16, F17</a:t>
            </a:r>
          </a:p>
          <a:p/>
          <a:p>
            <a:r>
              <a:t>APP-SYS-198: AC: missing SAT blocks production control even after simulator PASS; an unrelated site's certificate cannot satisfy the gate; changed firmware leaves unaffected read capabilities available only if their contract remains valid.</a:t>
            </a:r>
          </a:p>
          <a:p>
            <a:r>
              <a:t>Workflows: WF-32</a:t>
            </a:r>
          </a:p>
          <a:p>
            <a:r>
              <a:t>Screens: F15, F16, F17</a:t>
            </a:r>
          </a:p>
          <a:p/>
          <a:p>
            <a:r>
              <a:t>APP-SYS-199: A mission binds the actual supported robot or water-monitor interface, purpose, incident, qualified operator, operating area, route/no-go zones, water/energy supply, telemetry freshness, and lost-link/local-emergency policy.</a:t>
            </a:r>
          </a:p>
          <a:p>
            <a:r>
              <a:t>Workflows: WF-33</a:t>
            </a:r>
          </a:p>
          <a:p>
            <a:r>
              <a:t>Screens: F19</a:t>
            </a:r>
          </a:p>
          <a:p/>
          <a:p>
            <a:r>
              <a:t>APP-SYS-200: Observe-only equipment remains observe-only.</a:t>
            </a:r>
          </a:p>
          <a:p>
            <a:r>
              <a:t>Workflows: WF-33</a:t>
            </a:r>
          </a:p>
          <a:p>
            <a:r>
              <a:t>Screens: F19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APP-SYS-201: Approval is not movement or discharge.</a:t>
            </a:r>
          </a:p>
          <a:p>
            <a:r>
              <a:t>Workflows: WF-33</a:t>
            </a:r>
          </a:p>
          <a:p>
            <a:r>
              <a:t>Screens: F19</a:t>
            </a:r>
          </a:p>
          <a:p/>
          <a:p>
            <a:r>
              <a:t>APP-SYS-202: The local operator determines deployment and remains able to take over according to the vendor-supported design; no universal stop/return function is promised.</a:t>
            </a:r>
          </a:p>
          <a:p>
            <a:r>
              <a:t>Workflows: WF-33</a:t>
            </a:r>
          </a:p>
          <a:p>
            <a:r>
              <a:t>Screens: F19</a:t>
            </a:r>
          </a:p>
          <a:p/>
          <a:p>
            <a:r>
              <a:t>FR-PHY-15: FR-PHY-15: require mission-specific authority, capability evidence, operating envelope, and readiness checks; separate movement, aiming, and water discharge permissions.</a:t>
            </a:r>
          </a:p>
          <a:p>
            <a:r>
              <a:t>Workflows: WF-33</a:t>
            </a:r>
          </a:p>
          <a:p>
            <a:r>
              <a:t>Screens: F19</a:t>
            </a:r>
          </a:p>
          <a:p/>
          <a:p>
            <a:r>
              <a:t>FR-PHY-16: FR-PHY-16: record telemetry and action feedback, enforce approved lost-link behavior locally, and provide acknowledged manual handover and outcome evidence; never infer rescue completion from command acceptance.</a:t>
            </a:r>
          </a:p>
          <a:p>
            <a:r>
              <a:t>Workflows: WF-33</a:t>
            </a:r>
          </a:p>
          <a:p>
            <a:r>
              <a:t>Screens: F19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APP-SYS-205: AC: missing vendor-supported control or operator blocks dispatch of physical actions; stale position blocks dependent aiming/motion; link loss shows UNKNOWN and the approved local policy; a handover retains responsibility and evidence.</a:t>
            </a:r>
          </a:p>
          <a:p>
            <a:r>
              <a:t>Workflows: WF-33</a:t>
            </a:r>
          </a:p>
          <a:p>
            <a:r>
              <a:t>Screens: F19</a:t>
            </a:r>
          </a:p>
          <a:p/>
          <a:p>
            <a:r>
              <a:t>NFR-01: NFR-01 — Production regional core 99.95% monthly — Synthetic + server metrics; include dependency failures affecting users</a:t>
            </a:r>
          </a:p>
          <a:p>
            <a:r>
              <a:t>Workflows: ALL</a:t>
            </a:r>
          </a:p>
          <a:p>
            <a:r>
              <a:t>Screens: </a:t>
            </a:r>
          </a:p>
          <a:p/>
          <a:p>
            <a:r>
              <a:t>NFR-02: NFR-02 — Ingest p95 ≤ 2 s; fan-out enqueue p95 ≤ 5 s — Load of 100 event/s steady, 1,000 event/s for 60 s; 10,000 recipients/incident; metadata payload ≤ 64 KB</a:t>
            </a:r>
          </a:p>
          <a:p>
            <a:r>
              <a:t>Workflows: ALL</a:t>
            </a:r>
          </a:p>
          <a:p>
            <a:r>
              <a:t>Screens: </a:t>
            </a:r>
          </a:p>
          <a:p/>
          <a:p>
            <a:r>
              <a:t>NFR-03: NFR-03 — Priority fairness — P1 reserved queues; tenant noisy-neighbor test; bulk telemetry must not block SOS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NFR-04: NFR-04 — Multi-AZ target RPO 0 for committed records, RTO ≤ 15 minutes — Kill primary, verify durable commit and failover; commit only after testing</a:t>
            </a:r>
          </a:p>
          <a:p>
            <a:r>
              <a:t>Workflows: ALL</a:t>
            </a:r>
          </a:p>
          <a:p>
            <a:r>
              <a:t>Screens: </a:t>
            </a:r>
          </a:p>
          <a:p/>
          <a:p>
            <a:r>
              <a:t>NFR-05: NFR-05 — Regional disaster RPO ≤ 5 minutes, RTO ≤ 60 minutes — Restore/cold-region drill within residency policy; immutable backup restore</a:t>
            </a:r>
          </a:p>
          <a:p>
            <a:r>
              <a:t>Workflows: ALL</a:t>
            </a:r>
          </a:p>
          <a:p>
            <a:r>
              <a:t>Screens: </a:t>
            </a:r>
          </a:p>
          <a:p/>
          <a:p>
            <a:r>
              <a:t>NFR-06: NFR-06 — WCAG 2.2 AA target — Keyboard, screen reader, zoom, contrast, and error announcements; no certification claim yet</a:t>
            </a:r>
          </a:p>
          <a:p>
            <a:r>
              <a:t>Workflows: ALL</a:t>
            </a:r>
          </a:p>
          <a:p>
            <a:r>
              <a:t>Screens: </a:t>
            </a:r>
          </a:p>
          <a:p/>
          <a:p>
            <a:r>
              <a:t>NFR-07: NFR-07 — Web interactive p95 ≤ 3 s on the reference network — 4G simulation, representative low-end device; map loads separate from core content</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NFR-08: NFR-08 — Offline durable outbox and stale visibility — Airplane mode, app kill, reconnect, clock skew, and reassignment conflict</a:t>
            </a:r>
          </a:p>
          <a:p>
            <a:r>
              <a:t>Workflows: ALL</a:t>
            </a:r>
          </a:p>
          <a:p>
            <a:r>
              <a:t>Screens: </a:t>
            </a:r>
          </a:p>
          <a:p/>
          <a:p>
            <a:r>
              <a:t>NFR-09: NFR-09 — Security isolation — Tenant/object permission tests, upload validation, credential revocation, audit coverage</a:t>
            </a:r>
          </a:p>
          <a:p>
            <a:r>
              <a:t>Workflows: ALL</a:t>
            </a:r>
          </a:p>
          <a:p>
            <a:r>
              <a:t>Screens: </a:t>
            </a:r>
          </a:p>
          <a:p/>
          <a:p>
            <a:r>
              <a:t>NFR-10: NFR-10 — Backward compatibility — API/event contract tests; additive minor changes; parallel major versions with sunset</a:t>
            </a:r>
          </a:p>
          <a:p>
            <a:r>
              <a:t>Workflows: ALL</a:t>
            </a:r>
          </a:p>
          <a:p>
            <a:r>
              <a:t>Screens: </a:t>
            </a:r>
          </a:p>
          <a:p/>
          <a:p>
            <a:r>
              <a:t>APP-SYS-216: Reference loads are engineering targets, not measured benchmarks.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APP-SYS-217: Media uploads use object storage separately from the critical event pipeline.</a:t>
            </a:r>
          </a:p>
          <a:p>
            <a:r>
              <a:t>Workflows: ALL</a:t>
            </a:r>
          </a:p>
          <a:p>
            <a:r>
              <a:t>Screens: </a:t>
            </a:r>
          </a:p>
          <a:p/>
          <a:p>
            <a:r>
              <a:t>APP-SYS-218: NFRs apply to the product to be built; the static prototype does not demonstrate that these requirements are met.</a:t>
            </a:r>
          </a:p>
          <a:p>
            <a:r>
              <a:t>Workflows: ALL</a:t>
            </a:r>
          </a:p>
          <a:p>
            <a:r>
              <a:t>Screens: </a:t>
            </a:r>
          </a:p>
          <a:p/>
          <a:p>
            <a:r>
              <a:t>NFR-11: NFR-11 — Local automatic protection independent of cloud/edge availability — Witness cloud/link/adapter failure without inhibiting the approved local protection sequence</a:t>
            </a:r>
          </a:p>
          <a:p>
            <a:r>
              <a:t>Workflows: ALL</a:t>
            </a:r>
          </a:p>
          <a:p>
            <a:r>
              <a:t>Screens: </a:t>
            </a:r>
          </a:p>
          <a:p/>
          <a:p>
            <a:r>
              <a:t>NFR-12: NFR-12 — Configuration-specific telemetry/feedback timing and quality — Signed freshness, delivery, and feedback deadlines per device/site; measure separately; UNKNOWN on deadline violation</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NFR-13: NFR-13 — OT and command isolation — Prove monitor-only enforcement, denied writes, least privilege, maintenance access control, and no test-to-live path</a:t>
            </a:r>
          </a:p>
          <a:p>
            <a:r>
              <a:t>Workflows: ALL</a:t>
            </a:r>
          </a:p>
          <a:p>
            <a:r>
              <a:t>Screens: </a:t>
            </a:r>
          </a:p>
          <a:p/>
          <a:p>
            <a:r>
              <a:t>NFR-14: NFR-14 — Configuration-specific physical assurance — Complete provenance and signed required FAT/SAT; changes invalidate affected capability acceptance</a:t>
            </a:r>
          </a:p>
          <a:p>
            <a:r>
              <a:t>Workflows: ALL</a:t>
            </a:r>
          </a:p>
          <a:p>
            <a:r>
              <a:t>Screens: </a:t>
            </a:r>
          </a:p>
          <a:p/>
          <a:p>
            <a:r>
              <a:t>APP-SYS-223: These physical NFRs do not substitute software latency targets for physical response or hydraulic performance.</a:t>
            </a:r>
          </a:p>
          <a:p>
            <a:r>
              <a:t>Workflows: ALL</a:t>
            </a:r>
          </a:p>
          <a:p>
            <a:r>
              <a:t>Screens: </a:t>
            </a:r>
          </a:p>
          <a:p/>
          <a:p>
            <a:r>
              <a:t>APP-SYS-224: Device/site timing and pass criteria must be approved before tests, and results must identify firmware, hardware, and operating conditions.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APP-SYS-225: Run complete Fire, Disaster, Fall, Road, discreet SOS, and generic assistance flows; test duplicates, late data, out-of-order data, expiry, network partitions, unauthorized tenants, quota saturation, provider failures, and restore.</a:t>
            </a:r>
          </a:p>
          <a:p>
            <a:r>
              <a:t>Workflows: ALL</a:t>
            </a:r>
          </a:p>
          <a:p>
            <a:r>
              <a:t>Screens: </a:t>
            </a:r>
          </a:p>
          <a:p/>
          <a:p>
            <a:r>
              <a:t>APP-SYS-226: For physical/drone integrations, simulator PASS does not replace on-site acceptance.</a:t>
            </a:r>
          </a:p>
          <a:p>
            <a:r>
              <a:t>Workflows: ALL</a:t>
            </a:r>
          </a:p>
          <a:p>
            <a:r>
              <a:t>Screens: </a:t>
            </a:r>
          </a:p>
          <a:p/>
          <a:p>
            <a:r>
              <a:t>APP-SYS-227: The detailed matrix is in Acceptance-Matrix.csv.</a:t>
            </a:r>
          </a:p>
          <a:p>
            <a:r>
              <a:t>Workflows: ALL</a:t>
            </a:r>
          </a:p>
          <a:p>
            <a:r>
              <a:t>Screens: </a:t>
            </a:r>
          </a:p>
          <a:p/>
          <a:p>
            <a:r>
              <a:t>APP-SYS-228: Screen-level acceptance is in Screen-Specifications.md and linked to each mockup ID.</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APP-SYS-229: The physical gate additionally executes PHY-01–PHY-16 and AC-F01–AC-F20, checks every FR-PHY-01–FR-PHY-16 requirement, and requires the approved physical test arrangement and authorized site team.</a:t>
            </a:r>
          </a:p>
          <a:p>
            <a:r>
              <a:t>Workflows: ALL</a:t>
            </a:r>
          </a:p>
          <a:p>
            <a:r>
              <a:t>Screens: </a:t>
            </a:r>
          </a:p>
          <a:p/>
          <a:p>
            <a:r>
              <a:t>APP-SYS-230: Acceptance-Matrix.csv contains 65 cross-system and 233 screen cases (298 total).</a:t>
            </a:r>
          </a:p>
          <a:p>
            <a:r>
              <a:t>Workflows: ALL</a:t>
            </a:r>
          </a:p>
          <a:p>
            <a:r>
              <a:t>Screens: </a:t>
            </a:r>
          </a:p>
          <a:p/>
          <a:p>
            <a:r>
              <a:t>APP-SYS-231: Designed cases are not execution evidence.</a:t>
            </a:r>
          </a:p>
          <a:p>
            <a:r>
              <a:t>Workflows: ALL</a:t>
            </a:r>
          </a:p>
          <a:p>
            <a:r>
              <a:t>Screens: </a:t>
            </a:r>
          </a:p>
          <a:p/>
          <a:p>
            <a:r>
              <a:t>APP-SYS-232: Supplier support, physical permits, local operator readiness, and signed FAT/SAT are dependencies for enabling production control; missing evidence leaves the relevant capability unavailable or monitor-only.</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APP-SUP-01: Orchestrate PA using exact message/zone digest, priority, repeat and expiry; arbitrate competing zone leases.</a:t>
            </a:r>
          </a:p>
          <a:p>
            <a:r>
              <a:t>Workflows: WF-21</a:t>
            </a:r>
          </a:p>
          <a:p>
            <a:r>
              <a:t>Screens: P01, P02, P03, P04, P05, P06, P07, P08, P09</a:t>
            </a:r>
          </a:p>
          <a:p/>
          <a:p>
            <a:r>
              <a:t>APP-SUP-02: Separate controller ACK, buffering/playing/completed and acoustic evidence; faults create coverage gaps/fallback.</a:t>
            </a:r>
          </a:p>
          <a:p>
            <a:r>
              <a:t>Workflows: WF-21</a:t>
            </a:r>
          </a:p>
          <a:p>
            <a:r>
              <a:t>Screens: P01, P02, P03, P04, P05, P06, P07, P08, P09</a:t>
            </a:r>
          </a:p>
          <a:p/>
          <a:p>
            <a:r>
              <a:t>APP-SUP-03: Live mic needs explicit action, approved zones, short-lived tokens, indicators, heartbeat and timeout stop.</a:t>
            </a:r>
          </a:p>
          <a:p>
            <a:r>
              <a:t>Workflows: WF-21</a:t>
            </a:r>
          </a:p>
          <a:p>
            <a:r>
              <a:t>Screens: P01, P02, P03, P04, P05, P06, P07, P08, P09</a:t>
            </a:r>
          </a:p>
          <a:p/>
          <a:p>
            <a:r>
              <a:t>APP-SUP-04: Media gateway bridges WebRTC to supported vendor protocols; isolate OT and cache checksummed/versioned audio.</a:t>
            </a:r>
          </a:p>
          <a:p>
            <a:r>
              <a:t>Workflows: WF-21</a:t>
            </a:r>
          </a:p>
          <a:p>
            <a:r>
              <a:t>Screens: P01, P02, P03, P04, P05, P06, P07, P08, P09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APP-SUP-05: Preserve local fire priority; scope stop to one broadcast; never replay expired messages after reconnect.</a:t>
            </a:r>
          </a:p>
          <a:p>
            <a:r>
              <a:t>Workflows: WF-21</a:t>
            </a:r>
          </a:p>
          <a:p>
            <a:r>
              <a:t>Screens: P01, P02, P03, P04, P05, P06, P07, P08, P09</a:t>
            </a:r>
          </a:p>
          <a:p/>
          <a:p>
            <a:r>
              <a:t>APP-SUP-06: Validate floor/heading quality; uncertain position uses landmarks/SOS, never invented left/right guidance.</a:t>
            </a:r>
          </a:p>
          <a:p>
            <a:r>
              <a:t>Workflows: WF-22</a:t>
            </a:r>
          </a:p>
          <a:p>
            <a:r>
              <a:t>Screens: C35, C36, C37, C38, C39, C40, S15, S16, O35, O36</a:t>
            </a:r>
          </a:p>
          <a:p/>
          <a:p>
            <a:r>
              <a:t>APP-SUP-07: Exclude forbidden/blocked/unknown-critical edges and expired destinations; accessibility is a hard constraint.</a:t>
            </a:r>
          </a:p>
          <a:p>
            <a:r>
              <a:t>Workflows: WF-22</a:t>
            </a:r>
          </a:p>
          <a:p>
            <a:r>
              <a:t>Screens: C35, C36, C37, C38, C39, C40, S15, S16, O35, O36</a:t>
            </a:r>
          </a:p>
          <a:p/>
          <a:p>
            <a:r>
              <a:t>APP-SUP-08: Dijkstra/A* selects feasible routes only; penalties never bypass exclusions; no path means assistance/refuge.</a:t>
            </a:r>
          </a:p>
          <a:p>
            <a:r>
              <a:t>Workflows: WF-22</a:t>
            </a:r>
          </a:p>
          <a:p>
            <a:r>
              <a:t>Screens: C35, C36, C37, C38, C39, C40, S15, S16, O35, O36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APP-SUP-09: Withdraw hazard-cut routes immediately; replan with hysteresis, cancel old TTS; stale cache uses approved procedures.</a:t>
            </a:r>
          </a:p>
          <a:p>
            <a:r>
              <a:t>Workflows: WF-22</a:t>
            </a:r>
          </a:p>
          <a:p>
            <a:r>
              <a:t>Screens: C35, C36, C37, C38, C39, C40, S15, S16, O35, O36</a:t>
            </a:r>
          </a:p>
          <a:p/>
          <a:p>
            <a:r>
              <a:t>APP-SUP-10: Align vi/en/ja text/voice, lexicon, pronunciation, transcript and visual/haptic alternatives.</a:t>
            </a:r>
          </a:p>
          <a:p>
            <a:r>
              <a:t>Workflows: WF-22</a:t>
            </a:r>
          </a:p>
          <a:p>
            <a:r>
              <a:t>Screens: C35, C36, C37, C38, C39, C40, S15, S16, O35, O36</a:t>
            </a:r>
          </a:p>
          <a:p/>
          <a:p>
            <a:r>
              <a:t>APP-SUP-11: Route API returns LOCATION_UNCERTAIN/NO_VERIFIED_ROUTE when unverified; arrival never automatically marks safe.</a:t>
            </a:r>
          </a:p>
          <a:p>
            <a:r>
              <a:t>Workflows: WF-22</a:t>
            </a:r>
          </a:p>
          <a:p>
            <a:r>
              <a:t>Screens: C35, C36, C37, C38, C39, C40, S15, S16, O35, O36</a:t>
            </a:r>
          </a:p>
          <a:p/>
          <a:p>
            <a:r>
              <a:t>APP-SUP-12: Ingest GNSS/QR/NFC/BLE/UWB/Wi-Fi/manual by capability/permission, calibration and coordinate frame.</a:t>
            </a:r>
          </a:p>
          <a:p>
            <a:r>
              <a:t>Workflows: WF-23</a:t>
            </a:r>
          </a:p>
          <a:p>
            <a:r>
              <a:t>Screens: H10, Q01, Q02, Q03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APP-SUP-13: Fuse floor hypotheses/outliers/motion/quality; never average floors or discard provenance on correction.</a:t>
            </a:r>
          </a:p>
          <a:p>
            <a:r>
              <a:t>Workflows: WF-23</a:t>
            </a:r>
          </a:p>
          <a:p>
            <a:r>
              <a:t>Screens: H10, Q01, Q02, Q03</a:t>
            </a:r>
          </a:p>
          <a:p/>
          <a:p>
            <a:r>
              <a:t>APP-SUP-14: Separate registered/expected/observed/last-seen/absent/unknown presence; beacon loss never means absent/safe.</a:t>
            </a:r>
          </a:p>
          <a:p>
            <a:r>
              <a:t>Workflows: WF-23</a:t>
            </a:r>
          </a:p>
          <a:p>
            <a:r>
              <a:t>Screens: H10, Q01, Q02, Q03</a:t>
            </a:r>
          </a:p>
          <a:p/>
          <a:p>
            <a:r>
              <a:t>APP-SUP-15: Produce one primary and up to two alternatives with reasons/assumptions/validity; diversify bottlenecks where feasible.</a:t>
            </a:r>
          </a:p>
          <a:p>
            <a:r>
              <a:t>Workflows: WF-24</a:t>
            </a:r>
          </a:p>
          <a:p>
            <a:r>
              <a:t>Screens: Q04, Q05, Q10</a:t>
            </a:r>
          </a:p>
          <a:p/>
          <a:p>
            <a:r>
              <a:t>APP-SUP-16: Balance cohorts/capacity using uncertain occupancy/throughput; regional strategy changes need operator approval.</a:t>
            </a:r>
          </a:p>
          <a:p>
            <a:r>
              <a:t>Workflows: WF-24</a:t>
            </a:r>
          </a:p>
          <a:p>
            <a:r>
              <a:t>Screens: Q04, Q05, Q10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APP-SUP-17: Keep simulations separate from observed hazards; show assumptions and ETA intervals/confidence, not false precision.</a:t>
            </a:r>
          </a:p>
          <a:p>
            <a:r>
              <a:t>Workflows: WF-24</a:t>
            </a:r>
          </a:p>
          <a:p>
            <a:r>
              <a:t>Screens: Q04, Q05, Q10</a:t>
            </a:r>
          </a:p>
          <a:p/>
          <a:p>
            <a:r>
              <a:t>APP-SUP-18: AI retrieves approved SOPs and returns structured evidence/cutoff/uncertainty; unsupported claims cannot instruct.</a:t>
            </a:r>
          </a:p>
          <a:p>
            <a:r>
              <a:t>Workflows: WF-25</a:t>
            </a:r>
          </a:p>
          <a:p>
            <a:r>
              <a:t>Screens: Q06, Q07, Q08, Q09</a:t>
            </a:r>
          </a:p>
          <a:p/>
          <a:p>
            <a:r>
              <a:t>APP-SUP-19: AI only compares planner routes read-only; no graph edits, warning approval, commands, diagnosis or incident closure.</a:t>
            </a:r>
          </a:p>
          <a:p>
            <a:r>
              <a:t>Workflows: WF-25</a:t>
            </a:r>
          </a:p>
          <a:p>
            <a:r>
              <a:t>Screens: Q06, Q07, Q08, Q09</a:t>
            </a:r>
          </a:p>
          <a:p/>
          <a:p>
            <a:r>
              <a:t>APP-SUP-20: Policy proxy blocks injection/excess scope; regional models use minimal health data and redacted logs, no chain-of-thought.</a:t>
            </a:r>
          </a:p>
          <a:p>
            <a:r>
              <a:t>Workflows: WF-25</a:t>
            </a:r>
          </a:p>
          <a:p>
            <a:r>
              <a:t>Screens: Q06, Q07, Q08, Q09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APP-SUP-21: Evaluate grounding/injection/leakage/unsafe action/locale/abstention before promotion; review feedback before training.</a:t>
            </a:r>
          </a:p>
          <a:p>
            <a:r>
              <a:t>Workflows: WF-25</a:t>
            </a:r>
          </a:p>
          <a:p>
            <a:r>
              <a:t>Screens: Q06, Q07, Q08, Q09</a:t>
            </a:r>
          </a:p>
          <a:p/>
          <a:p>
            <a:r>
              <a:t>APP-SUP-22: AI timeouts cannot block alarms/SOS/dispatch; streaming text cannot reach PA before validation/approval.</a:t>
            </a:r>
          </a:p>
          <a:p>
            <a:r>
              <a:t>Workflows: WF-25</a:t>
            </a:r>
          </a:p>
          <a:p>
            <a:r>
              <a:t>Screens: Q06, Q07, Q08, Q09</a:t>
            </a:r>
          </a:p>
          <a:p/>
          <a:p>
            <a:r>
              <a:t>APP-SUP-23: Separate identity from functional-needs profiles; preserve source/review/consent; self-report is not medically verified.</a:t>
            </a:r>
          </a:p>
          <a:p>
            <a:r>
              <a:t>Workflows: WF-26</a:t>
            </a:r>
          </a:p>
          <a:p>
            <a:r>
              <a:t>Screens: H01, H02, H03, H04, H05, H06, H07</a:t>
            </a:r>
          </a:p>
          <a:p/>
          <a:p>
            <a:r>
              <a:t>APP-SUP-24: Verify guardians/caregivers with revocable field scopes; dispatchers/responders receive only necessary emergency subsets.</a:t>
            </a:r>
          </a:p>
          <a:p>
            <a:r>
              <a:t>Workflows: WF-26</a:t>
            </a:r>
          </a:p>
          <a:p>
            <a:r>
              <a:t>Screens: H01, H02, H03, H04, H05, H06, H07</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APP-SUP-25: Audit health access and scoped/time-bound/reasoned break-glass; social circles cannot see medical notes/impairments.</a:t>
            </a:r>
          </a:p>
          <a:p>
            <a:r>
              <a:t>Workflows: WF-26</a:t>
            </a:r>
          </a:p>
          <a:p>
            <a:r>
              <a:t>Screens: H01, H02, H03, H04, H05, H06, H07</a:t>
            </a:r>
          </a:p>
          <a:p/>
          <a:p>
            <a:r>
              <a:t>APP-SUP-26: Build candidates from presence/impact/needs/no confirmation; uncertain presence triggers welfare checks, not asserted location.</a:t>
            </a:r>
          </a:p>
          <a:p>
            <a:r>
              <a:t>Workflows: WF-27</a:t>
            </a:r>
          </a:p>
          <a:p>
            <a:r>
              <a:t>Screens: H08, H09, H12</a:t>
            </a:r>
          </a:p>
          <a:p/>
          <a:p>
            <a:r>
              <a:t>APP-SUP-27: Explain priority by exposure/ability/isolation/route/contact/confidence; exclude wealth/nationality and age alone.</a:t>
            </a:r>
          </a:p>
          <a:p>
            <a:r>
              <a:t>Workflows: WF-27</a:t>
            </a:r>
          </a:p>
          <a:p>
            <a:r>
              <a:t>Screens: H08, H09, H12</a:t>
            </a:r>
          </a:p>
          <a:p/>
          <a:p>
            <a:r>
              <a:t>APP-SUP-28: Deduplicate ProactiveCase by incident/person/policyVersion; later SOS links the case without duplicate dispatch.</a:t>
            </a:r>
          </a:p>
          <a:p>
            <a:r>
              <a:t>Workflows: WF-27</a:t>
            </a:r>
          </a:p>
          <a:p>
            <a:r>
              <a:t>Screens: H08, H09, H12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APP-SUP-29: Escalate non-response without confirming injury; location corrections retain evidence/audit and trigger reevaluation.</a:t>
            </a:r>
          </a:p>
          <a:p>
            <a:r>
              <a:t>Workflows: WF-27</a:t>
            </a:r>
          </a:p>
          <a:p>
            <a:r>
              <a:t>Screens: H08, H09, H12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85a721aac25a44f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c271899a428a437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285788f6b0047a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fae273f4ef484b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9826b72ce84eb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0c7888896d30476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E05494-1C0B-476D-9E3A-C3352CD790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A7E160-5EC8-4A05-B860-8E6C9199A4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3F7C9D-B7D1-4108-9FD2-6817F0FF67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DF6B34-0702-4BAF-B49D-B42AFD9C5A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7CE441-806E-418A-809E-A89D53590FA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55B152-EB53-4FB5-95C8-0ED10D64A6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805476-7B79-46E8-9339-166DE364E7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79FB314-BB54-4612-9F56-05032A016A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517D8C-21CB-4DC2-A6E9-2CC67D249D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027827-7056-4CD3-AF94-41F4E782E3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dae3e2a42124529" Type="http://schemas.openxmlformats.org/officeDocument/2006/relationships/slideLayout" Target="../slideLayouts/slideLayout5.xml"/><Relationship Id="R7b263ebd331f43ff" Type="http://schemas.openxmlformats.org/officeDocument/2006/relationships/theme" Target="theme/theme2.xml"/><Relationship Id="Rae14115e4f754ed2" Type="http://schemas.openxmlformats.org/officeDocument/2006/relationships/slideLayout" Target="../slideLayouts/slideLayout3.xml"/><Relationship Id="Rbbd3e123316c4d48" Type="http://schemas.openxmlformats.org/officeDocument/2006/relationships/slideLayout" Target="../slideLayouts/slideLayout1.xml"/><Relationship Id="Rbe2e0ec8d53b43b1" Type="http://schemas.openxmlformats.org/officeDocument/2006/relationships/slideLayout" Target="../slideLayouts/slideLayout2.xml"/><Relationship Id="Rc4fb2a4a87d24be2" Type="http://schemas.openxmlformats.org/officeDocument/2006/relationships/slideLayout" Target="../slideLayouts/slideLayout6.xml"/><Relationship Id="Rcf97c354fa0a49fd" Type="http://schemas.openxmlformats.org/officeDocument/2006/relationships/slideLayout" Target="../slideLayouts/slideLayout4.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d3e123316c4d48"/>
    <p:sldLayoutId xmlns:r="http://schemas.openxmlformats.org/officeDocument/2006/relationships" id="2147483650" r:id="Rbe2e0ec8d53b43b1"/>
    <p:sldLayoutId xmlns:r="http://schemas.openxmlformats.org/officeDocument/2006/relationships" id="2147483651" r:id="Rae14115e4f754ed2"/>
    <p:sldLayoutId xmlns:r="http://schemas.openxmlformats.org/officeDocument/2006/relationships" id="2147483652" r:id="Rcf97c354fa0a49fd"/>
    <p:sldLayoutId xmlns:r="http://schemas.openxmlformats.org/officeDocument/2006/relationships" id="2147483653" r:id="R1dae3e2a42124529"/>
    <p:sldLayoutId xmlns:r="http://schemas.openxmlformats.org/officeDocument/2006/relationships" id="2147483654" r:id="Rc4fb2a4a87d24b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28dcda62e524534" Type="http://schemas.openxmlformats.org/officeDocument/2006/relationships/image" Target="../media/image.png"/><Relationship Id="R3ff440cf32e94963" Type="http://schemas.openxmlformats.org/officeDocument/2006/relationships/image" Target="../media/image2.png"/><Relationship Id="R419ca447eefe4f0f" Type="http://schemas.openxmlformats.org/officeDocument/2006/relationships/notesSlide" Target="../notesSlides/notesSlide1.xml"/><Relationship Id="R7f04fcd57962492f"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12cc7492e99c44a2" Type="http://schemas.openxmlformats.org/officeDocument/2006/relationships/image" Target="../media/image.jpeg"/><Relationship Id="R12d0158fc3744958" Type="http://schemas.openxmlformats.org/officeDocument/2006/relationships/notesSlide" Target="../notesSlides/notesSlide2.xml"/><Relationship Id="R633c9e01eb7c4c95" Type="http://schemas.openxmlformats.org/officeDocument/2006/relationships/slideLayout" Target="../slideLayouts/slideLayout6.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5eb0cc5cdf6f4b67" Type="http://schemas.openxmlformats.org/officeDocument/2006/relationships/slideLayout" Target="../slideLayouts/slideLayout6.xml"/><Relationship Id="Rc3be148348a74d96"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445f903e1c4c4086" Type="http://schemas.openxmlformats.org/officeDocument/2006/relationships/notesSlide" Target="../notesSlides/notesSlide4.xml"/><Relationship Id="Raee0ed41ba504d88"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070c280c0d2244f4" Type="http://schemas.openxmlformats.org/officeDocument/2006/relationships/slideLayout" Target="../slideLayouts/slideLayout6.xml"/><Relationship Id="Rfde1e3982a8a49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5c5b2923becb4ac6" Type="http://schemas.openxmlformats.org/officeDocument/2006/relationships/notesSlide" Target="../notesSlides/notesSlide6.xml"/><Relationship Id="Ra27cb7c1a7b2441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78472cff334649e6" Type="http://schemas.openxmlformats.org/officeDocument/2006/relationships/notesSlide" Target="../notesSlides/notesSlide7.xml"/><Relationship Id="R79b834daf5d64bec" Type="http://schemas.openxmlformats.org/officeDocument/2006/relationships/image" Target="../media/image3.png"/><Relationship Id="Rab04f389d282411c"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2dfa57a2fe7f4a7b" Type="http://schemas.openxmlformats.org/officeDocument/2006/relationships/image" Target="../media/image2.jpeg"/><Relationship Id="R761a5d31a2fe457b" Type="http://schemas.openxmlformats.org/officeDocument/2006/relationships/image" Target="../media/image3.jpeg"/><Relationship Id="R82b519563a8f48c3" Type="http://schemas.openxmlformats.org/officeDocument/2006/relationships/slideLayout" Target="../slideLayouts/slideLayout6.xml"/><Relationship Id="Rcc0de3a62e634461" Type="http://schemas.openxmlformats.org/officeDocument/2006/relationships/image" Target="../media/image4.png"/><Relationship Id="Ref01b3f6317149a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33e606c54084592" Type="http://schemas.openxmlformats.org/officeDocument/2006/relationships/slideLayout" Target="../slideLayouts/slideLayout6.xml"/><Relationship Id="R64bdf12d27334d77"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c0d925719445491a" Type="http://schemas.openxmlformats.org/officeDocument/2006/relationships/notesSlide" Target="../notesSlides/notesSlide10.xml"/><Relationship Id="Rd40595e976a2470e"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4b8623e49c6f4f51" Type="http://schemas.openxmlformats.org/officeDocument/2006/relationships/slideLayout" Target="../slideLayouts/slideLayout6.xml"/><Relationship Id="Rb7232516b1f2438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c1788da3b18340d3" Type="http://schemas.openxmlformats.org/officeDocument/2006/relationships/slideLayout" Target="../slideLayouts/slideLayout6.xml"/><Relationship Id="Rfc60ab6e3e8f4e7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6d6e2680bffe4f71" Type="http://schemas.openxmlformats.org/officeDocument/2006/relationships/image" Target="../media/image5.png"/><Relationship Id="Rbe8dea8cfa204117" Type="http://schemas.openxmlformats.org/officeDocument/2006/relationships/slideLayout" Target="../slideLayouts/slideLayout6.xml"/><Relationship Id="Re3d105cf1ee045a6" Type="http://schemas.openxmlformats.org/officeDocument/2006/relationships/image" Target="../media/image6.png"/><Relationship Id="Rebe0be28887e4816" Type="http://schemas.openxmlformats.org/officeDocument/2006/relationships/notesSlide" Target="../notesSlides/notesSlide13.xml"/><Relationship Id="Rfafdc05e718f4cde" Type="http://schemas.openxmlformats.org/officeDocument/2006/relationships/image" Target="../media/image7.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14.xml.rels><?xml version='1.0' encoding='UTF-8' standalone='yes'?>
<Relationships xmlns="http://schemas.openxmlformats.org/package/2006/relationships"><Relationship Id="Ra1f407333f5b4574" Type="http://schemas.openxmlformats.org/officeDocument/2006/relationships/slideLayout" Target="../slideLayouts/slideLayout6.xml"/><Relationship Id="Rd2f3a5557cb54613"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b4ddd0cc0a744a2b" Type="http://schemas.openxmlformats.org/officeDocument/2006/relationships/slideLayout" Target="../slideLayouts/slideLayout6.xml"/><Relationship Id="Rcfc1a5a6e251469d"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6ca01b197af14b59" Type="http://schemas.openxmlformats.org/officeDocument/2006/relationships/notesSlide" Target="../notesSlides/notesSlide16.xml"/><Relationship Id="R80826d20afcd4d19"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18401940f2bf4579" Type="http://schemas.openxmlformats.org/officeDocument/2006/relationships/notesSlide" Target="../notesSlides/notesSlide17.xml"/><Relationship Id="R5e0c28fe369a4c2a"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87ba16905b004111" Type="http://schemas.openxmlformats.org/officeDocument/2006/relationships/slideLayout" Target="../slideLayouts/slideLayout6.xml"/><Relationship Id="Rb2f6c897a1b24de9"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6af68d55a53d4230" Type="http://schemas.openxmlformats.org/officeDocument/2006/relationships/notesSlide" Target="../notesSlides/notesSlide19.xml"/><Relationship Id="Rb421ba781fc948de" Type="http://schemas.openxmlformats.org/officeDocument/2006/relationships/slideLayout" Target="../slideLayouts/slideLayout6.xml"/><Relationship Id="rId3" Type="http://schemas.openxmlformats.org/officeDocument/2006/relationships/image" Target="../media/image21.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680fd610f37f4adf" Type="http://schemas.openxmlformats.org/officeDocument/2006/relationships/notesSlide" Target="../notesSlides/notesSlide20.xml"/><Relationship Id="R9bad13d44a734c42" Type="http://schemas.openxmlformats.org/officeDocument/2006/relationships/slideLayout" Target="../slideLayouts/slideLayout6.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f7f1a3dba5474f0b" Type="http://schemas.openxmlformats.org/officeDocument/2006/relationships/notesSlide" Target="../notesSlides/notesSlide21.xml"/><Relationship Id="Rf8ed0b1ef1634a4a"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0fd3378deaa44c6f" Type="http://schemas.openxmlformats.org/officeDocument/2006/relationships/slideLayout" Target="../slideLayouts/slideLayout6.xml"/><Relationship Id="Rdc16601e6a9f4f1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b90055118a25446a" Type="http://schemas.openxmlformats.org/officeDocument/2006/relationships/notesSlide" Target="../notesSlides/notesSlide23.xml"/><Relationship Id="Rf75c854a6149447e"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b272956fdb2a4e67" Type="http://schemas.openxmlformats.org/officeDocument/2006/relationships/slideLayout" Target="../slideLayouts/slideLayout6.xml"/><Relationship Id="Rd8e00ead954c4aba"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9acde39312f8459e" Type="http://schemas.openxmlformats.org/officeDocument/2006/relationships/slideLayout" Target="../slideLayouts/slideLayout6.xml"/><Relationship Id="Ra460b937bf2048b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2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2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3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32.xml.rels><?xml version='1.0' encoding='UTF-8' standalone='yes'?>
<Relationships xmlns="http://schemas.openxmlformats.org/package/2006/relationships"><Relationship Id="R5ac500607e8942ff" Type="http://schemas.openxmlformats.org/officeDocument/2006/relationships/notesSlide" Target="../notesSlides/notesSlide26.xml"/><Relationship Id="R71f1bc80736b488e"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9a9c12842adb4284" Type="http://schemas.openxmlformats.org/officeDocument/2006/relationships/slideLayout" Target="../slideLayouts/slideLayout6.xml"/><Relationship Id="Rc0781783346f4821"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63e7a8d8346f4bba" Type="http://schemas.openxmlformats.org/officeDocument/2006/relationships/slideLayout" Target="../slideLayouts/slideLayout6.xml"/><Relationship Id="Rbdbc010fee574f4c"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24.png"/></Relationships>
</file>

<file path=ppt/slides/_rels/slide35.xml.rels><?xml version='1.0' encoding='UTF-8' standalone='yes'?>
<Relationships xmlns="http://schemas.openxmlformats.org/package/2006/relationships"><Relationship Id="R0f94573359ef4ad6" Type="http://schemas.openxmlformats.org/officeDocument/2006/relationships/slideLayout" Target="../slideLayouts/slideLayout6.xml"/><Relationship Id="R61929512985649d0"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36.xml.rels><?xml version='1.0' encoding='UTF-8' standalone='yes'?>
<Relationships xmlns="http://schemas.openxmlformats.org/package/2006/relationships"><Relationship Id="Rbedbda0911824037" Type="http://schemas.openxmlformats.org/officeDocument/2006/relationships/notesSlide" Target="../notesSlides/notesSlide30.xml"/><Relationship Id="Rd9ea0b00dfa548e0"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b033fa4c72bb4b91" Type="http://schemas.openxmlformats.org/officeDocument/2006/relationships/slideLayout" Target="../slideLayouts/slideLayout6.xml"/><Relationship Id="Rb6139769461248ea" Type="http://schemas.openxmlformats.org/officeDocument/2006/relationships/notesSlide" Target="../notesSlides/notesSlide31.xml"/><Relationship Id="Re6d437d3b88f45d9" Type="http://schemas.openxmlformats.org/officeDocument/2006/relationships/image" Target="../media/image4.jpeg"/></Relationships>
</file>

<file path=ppt/slides/_rels/slide38.xml.rels><?xml version='1.0' encoding='UTF-8' standalone='yes'?>
<Relationships xmlns="http://schemas.openxmlformats.org/package/2006/relationships"><Relationship Id="R1f86563787ad44d5" Type="http://schemas.openxmlformats.org/officeDocument/2006/relationships/image" Target="../media/image8.png"/><Relationship Id="Ra312e035ac844190" Type="http://schemas.openxmlformats.org/officeDocument/2006/relationships/slideLayout" Target="../slideLayouts/slideLayout6.xml"/><Relationship Id="Re8d76540114a4cd4"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d1eb4e1575fd4622" Type="http://schemas.openxmlformats.org/officeDocument/2006/relationships/notesSlide" Target="../notesSlides/notesSlide33.xml"/><Relationship Id="Rdb37e0bdfaca409b" Type="http://schemas.openxmlformats.org/officeDocument/2006/relationships/slideLayout" Target="../slideLayouts/slideLayout6.xml"/><Relationship Id="rIdSource1" Type="http://schemas.openxmlformats.org/officeDocument/2006/relationships/hyperlink" Target="https://www.nfpa.org/news-blogs-and-articles/blogs/2021/06/22/the-basics-of-sprinkler-thermal-characteristics" TargetMode="External"/><Relationship Id="rIdSource2" Type="http://schemas.openxmlformats.org/officeDocument/2006/relationships/hyperlink" Target="https://hbtmkto.honeywell.com/rs/127-UCB-316/images/Connected%20Services%20Brochure.pdf" TargetMode="External"/><Relationship Id="rId5" Type="http://schemas.openxmlformats.org/officeDocument/2006/relationships/image" Target="../media/image3.png"/></Relationships>
</file>

<file path=ppt/slides/_rels/slide40.xml.rels><?xml version='1.0' encoding='UTF-8' standalone='yes'?>
<Relationships xmlns="http://schemas.openxmlformats.org/package/2006/relationships"><Relationship Id="R40c2b6c48d3a4af3" Type="http://schemas.openxmlformats.org/officeDocument/2006/relationships/notesSlide" Target="../notesSlides/notesSlide34.xml"/><Relationship Id="R59dad77ac6934457" Type="http://schemas.openxmlformats.org/officeDocument/2006/relationships/image" Target="../media/image9.png"/><Relationship Id="Rcf03028583f74600" Type="http://schemas.openxmlformats.org/officeDocument/2006/relationships/slideLayout" Target="../slideLayouts/slideLayout6.xml"/><Relationship Id="rId4" Type="http://schemas.openxmlformats.org/officeDocument/2006/relationships/image" Target="../media/image.png"/></Relationships>
</file>

<file path=ppt/slides/_rels/slide4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6.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70F6BD0-11EA-4C12-A2E9-17CA1179199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B14A621-9954-4293-95A7-D2A8222B704E}"/>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BD85357-6978-47CB-B2D3-BD4C9586EFCB}"/>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SOLUTION PROPOSAL</a:t>
            </a:r>
          </a:p>
        </p:txBody>
      </p:sp>
      <p:sp>
        <p:nvSpPr>
          <p:cNvPr id="4" name="">
            <a:extLst xmlns:a="http://schemas.openxmlformats.org/drawingml/2006/main">
              <a:ext uri="{FF2B5EF4-FFF2-40B4-BE49-F238E27FC236}">
                <a16:creationId xmlns:a16="http://schemas.microsoft.com/office/drawing/2014/main" id="{416EFEF2-C670-4C43-9A01-974A541AA15E}"/>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A2D13E5F-E70A-4494-A07A-FA3DE70FFAE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CC75192C-107E-48DF-97C5-5E8437AA1C3C}"/>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25E1D78F-E6CF-4030-8BF2-EA7E8E223D5B}"/>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8" name="">
            <a:extLst xmlns:a="http://schemas.openxmlformats.org/drawingml/2006/main">
              <a:ext uri="{FF2B5EF4-FFF2-40B4-BE49-F238E27FC236}">
                <a16:creationId xmlns:a16="http://schemas.microsoft.com/office/drawing/2014/main" id="{D3994FAD-589F-4BE4-9B66-BD3A8A2EFA8D}"/>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a:t>
            </a:r>
          </a:p>
        </p:txBody>
      </p:sp>
      <p:pic>
        <p:nvPicPr>
          <p:cNvPr id="9" name="">
            <a:extLst xmlns:a="http://schemas.openxmlformats.org/drawingml/2006/main">
              <a:ext uri="{FF2B5EF4-FFF2-40B4-BE49-F238E27FC236}">
                <a16:creationId xmlns:a16="http://schemas.microsoft.com/office/drawing/2014/main" id="{D8BA6FD2-E90E-4AA3-8D73-EBA51D1DA61C}"/>
              </a:ext>
            </a:extLst>
          </p:cNvPr>
          <p:cNvPicPr>
            <a:picLocks xmlns:a="http://schemas.openxmlformats.org/drawingml/2006/main" noChangeAspect="1"/>
          </p:cNvPicPr>
          <p:nvPr/>
        </p:nvPicPr>
        <p:blipFill>
          <a:blip xmlns:r="http://schemas.openxmlformats.org/officeDocument/2006/relationships" xmlns:a="http://schemas.openxmlformats.org/drawingml/2006/main" r:embed="R028dcda62e524534"/>
          <a:stretch xmlns:a="http://schemas.openxmlformats.org/drawingml/2006/main"/>
        </p:blipFill>
        <p:spPr>
          <a:xfrm xmlns:a="http://schemas.openxmlformats.org/drawingml/2006/main">
            <a:off x="616489" y="685800"/>
            <a:ext cx="2148396" cy="914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36A2859-FFA0-4306-811C-0866BCD973B5}"/>
              </a:ext>
            </a:extLst>
          </p:cNvPr>
          <p:cNvSpPr>
            <a:spLocks xmlns:a="http://schemas.openxmlformats.org/drawingml/2006/main" noGrp="1"/>
          </p:cNvSpPr>
          <p:nvPr/>
        </p:nvSpPr>
        <p:spPr>
          <a:xfrm xmlns:a="http://schemas.openxmlformats.org/drawingml/2006/main">
            <a:off x="600075" y="2019300"/>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8102E"/>
                </a:solidFill>
                <a:latin typeface="Arial"/>
                <a:ea typeface="Arial"/>
                <a:cs typeface="Arial"/>
              </a:defRPr>
            </a:def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CONNECTED SAFETY &amp; RESCUE PLATFORM</a:t>
            </a:r>
          </a:p>
        </p:txBody>
      </p:sp>
      <p:sp>
        <p:nvSpPr>
          <p:cNvPr id="11" name="">
            <a:extLst xmlns:a="http://schemas.openxmlformats.org/drawingml/2006/main">
              <a:ext uri="{FF2B5EF4-FFF2-40B4-BE49-F238E27FC236}">
                <a16:creationId xmlns:a16="http://schemas.microsoft.com/office/drawing/2014/main" id="{21FB27C0-EBA5-478F-9629-964E19DAD45B}"/>
              </a:ext>
            </a:extLst>
          </p:cNvPr>
          <p:cNvSpPr>
            <a:spLocks xmlns:a="http://schemas.openxmlformats.org/drawingml/2006/main" noGrp="1"/>
          </p:cNvSpPr>
          <p:nvPr/>
        </p:nvSpPr>
        <p:spPr>
          <a:xfrm xmlns:a="http://schemas.openxmlformats.org/drawingml/2006/main">
            <a:off x="571500" y="251460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75" b="1">
                <a:solidFill>
                  <a:srgbClr val="C8102E"/>
                </a:solidFill>
                <a:latin typeface="Arial"/>
                <a:ea typeface="Arial"/>
                <a:cs typeface="Arial"/>
              </a:defRPr>
            </a:defPPr>
          </a:lstStyle>
          <a:p xmlns:a="http://schemas.openxmlformats.org/drawingml/2006/main">
            <a:pPr>
              <a:defRPr sz="5175" b="1">
                <a:solidFill>
                  <a:srgbClr val="C8102E"/>
                </a:solidFill>
                <a:latin typeface="Arial"/>
                <a:ea typeface="Arial"/>
                <a:cs typeface="Arial"/>
              </a:defRPr>
            </a:pPr>
            <a:r>
              <a:rPr sz="5175" b="1">
                <a:solidFill>
                  <a:srgbClr val="C8102E"/>
                </a:solidFill>
                <a:latin typeface="Arial"/>
                <a:ea typeface="Arial"/>
                <a:cs typeface="Arial"/>
              </a:rPr>
              <a:t>SmartAlarm</a:t>
            </a:r>
          </a:p>
        </p:txBody>
      </p:sp>
      <p:sp>
        <p:nvSpPr>
          <p:cNvPr id="12" name="">
            <a:extLst xmlns:a="http://schemas.openxmlformats.org/drawingml/2006/main">
              <a:ext uri="{FF2B5EF4-FFF2-40B4-BE49-F238E27FC236}">
                <a16:creationId xmlns:a16="http://schemas.microsoft.com/office/drawing/2014/main" id="{852E1304-8BD6-4A93-A3DB-4CC6012401F2}"/>
              </a:ext>
            </a:extLst>
          </p:cNvPr>
          <p:cNvSpPr>
            <a:spLocks xmlns:a="http://schemas.openxmlformats.org/drawingml/2006/main" noGrp="1"/>
          </p:cNvSpPr>
          <p:nvPr/>
        </p:nvSpPr>
        <p:spPr>
          <a:xfrm xmlns:a="http://schemas.openxmlformats.org/drawingml/2006/main">
            <a:off x="590550" y="3533775"/>
            <a:ext cx="6648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lang="en-US">
                <a:solidFill>
                  <a:srgbClr val="262626"/>
                </a:solidFill>
                <a:latin typeface="Arial"/>
                <a:ea typeface="Arial"/>
                <a:cs typeface="Arial"/>
              </a:defRPr>
            </a:defPPr>
          </a:lstStyle>
          <a:p xmlns:a="http://schemas.openxmlformats.org/drawingml/2006/main">
            <a:pPr>
              <a:defRPr sz="3225" b="1" lang="en-US">
                <a:solidFill>
                  <a:srgbClr val="262626"/>
                </a:solidFill>
                <a:latin typeface="Arial"/>
                <a:ea typeface="Arial"/>
                <a:cs typeface="Arial"/>
              </a:defRPr>
            </a:pPr>
            <a:r>
              <a:rPr sz="3225" b="1" lang="en-US">
                <a:solidFill>
                  <a:srgbClr val="262626"/>
                </a:solidFill>
                <a:latin typeface="Arial"/>
                <a:ea typeface="Arial"/>
                <a:cs typeface="Arial"/>
              </a:rPr>
              <a:t>From alerts to</a:t>
            </a:r>
          </a:p>
          <a:p xmlns:a="http://schemas.openxmlformats.org/drawingml/2006/main">
            <a:pPr>
              <a:defRPr sz="3225" b="1" lang="en-US">
                <a:solidFill>
                  <a:srgbClr val="262626"/>
                </a:solidFill>
                <a:latin typeface="Arial"/>
                <a:ea typeface="Arial"/>
                <a:cs typeface="Arial"/>
              </a:defRPr>
            </a:pPr>
            <a:r>
              <a:rPr sz="3225" b="1" lang="en-US">
                <a:solidFill>
                  <a:srgbClr val="262626"/>
                </a:solidFill>
                <a:latin typeface="Arial"/>
                <a:ea typeface="Arial"/>
                <a:cs typeface="Arial"/>
              </a:rPr>
              <a:t>rescue action</a:t>
            </a:r>
          </a:p>
        </p:txBody>
      </p:sp>
      <p:sp>
        <p:nvSpPr>
          <p:cNvPr id="13" name="">
            <a:extLst xmlns:a="http://schemas.openxmlformats.org/drawingml/2006/main">
              <a:ext uri="{FF2B5EF4-FFF2-40B4-BE49-F238E27FC236}">
                <a16:creationId xmlns:a16="http://schemas.microsoft.com/office/drawing/2014/main" id="{FB974C2A-521E-437D-8285-A325EB0AF37B}"/>
              </a:ext>
            </a:extLst>
          </p:cNvPr>
          <p:cNvSpPr>
            <a:spLocks xmlns:a="http://schemas.openxmlformats.org/drawingml/2006/main" noGrp="1"/>
          </p:cNvSpPr>
          <p:nvPr/>
        </p:nvSpPr>
        <p:spPr>
          <a:xfrm xmlns:a="http://schemas.openxmlformats.org/drawingml/2006/main">
            <a:off x="609600" y="5048250"/>
            <a:ext cx="657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lang="en-US">
                <a:solidFill>
                  <a:srgbClr val="4D4D4D"/>
                </a:solidFill>
                <a:latin typeface="Arial"/>
                <a:ea typeface="Arial"/>
                <a:cs typeface="Arial"/>
              </a:defRPr>
            </a:defPPr>
          </a:lstStyle>
          <a:p xmlns:a="http://schemas.openxmlformats.org/drawingml/2006/main">
            <a:pPr>
              <a:defRPr sz="1725" b="0" lang="en-US">
                <a:solidFill>
                  <a:srgbClr val="4D4D4D"/>
                </a:solidFill>
                <a:latin typeface="Arial"/>
                <a:ea typeface="Arial"/>
                <a:cs typeface="Arial"/>
              </a:defRPr>
            </a:pPr>
            <a:r>
              <a:rPr sz="1725" b="0" lang="en-US">
                <a:solidFill>
                  <a:srgbClr val="4D4D4D"/>
                </a:solidFill>
                <a:latin typeface="Arial"/>
                <a:ea typeface="Arial"/>
                <a:cs typeface="Arial"/>
              </a:rPr>
              <a:t>One platform connecting people, equipment</a:t>
            </a:r>
          </a:p>
          <a:p xmlns:a="http://schemas.openxmlformats.org/drawingml/2006/main">
            <a:pPr>
              <a:defRPr sz="1725" b="0" lang="en-US">
                <a:solidFill>
                  <a:srgbClr val="4D4D4D"/>
                </a:solidFill>
                <a:latin typeface="Arial"/>
                <a:ea typeface="Arial"/>
                <a:cs typeface="Arial"/>
              </a:defRPr>
            </a:pPr>
            <a:r>
              <a:rPr sz="1725" b="0" lang="en-US">
                <a:solidFill>
                  <a:srgbClr val="4D4D4D"/>
                </a:solidFill>
                <a:latin typeface="Arial"/>
                <a:ea typeface="Arial"/>
                <a:cs typeface="Arial"/>
              </a:rPr>
              <a:t>and responders — across industries and regions.</a:t>
            </a:r>
          </a:p>
        </p:txBody>
      </p:sp>
      <p:pic>
        <p:nvPicPr>
          <p:cNvPr id="14" name="">
            <a:extLst xmlns:a="http://schemas.openxmlformats.org/drawingml/2006/main">
              <a:ext uri="{FF2B5EF4-FFF2-40B4-BE49-F238E27FC236}">
                <a16:creationId xmlns:a16="http://schemas.microsoft.com/office/drawing/2014/main" id="{D8443E58-BD5C-4F39-8562-28DAD855AA4C}"/>
              </a:ext>
            </a:extLst>
          </p:cNvPr>
          <p:cNvPicPr>
            <a:picLocks xmlns:a="http://schemas.openxmlformats.org/drawingml/2006/main" noChangeAspect="1"/>
          </p:cNvPicPr>
          <p:nvPr/>
        </p:nvPicPr>
        <p:blipFill>
          <a:blip xmlns:r="http://schemas.openxmlformats.org/officeDocument/2006/relationships" xmlns:a="http://schemas.openxmlformats.org/drawingml/2006/main" r:embed="R3ff440cf32e94963"/>
          <a:srcRect xmlns:a="http://schemas.openxmlformats.org/drawingml/2006/main" l="27255" t="0" r="27255" b="0"/>
          <a:stretch xmlns:a="http://schemas.openxmlformats.org/drawingml/2006/main">
            <a:fillRect l="0" t="0" r="0" b="0"/>
          </a:stretch>
        </p:blipFill>
        <p:spPr>
          <a:xfrm xmlns:a="http://schemas.openxmlformats.org/drawingml/2006/main">
            <a:off x="7524750" y="981075"/>
            <a:ext cx="4095750" cy="50673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FB594C1-98B3-4FC1-B330-5EE27E36071B}"/>
              </a:ext>
            </a:extLst>
          </p:cNvPr>
          <p:cNvSpPr>
            <a:spLocks xmlns:a="http://schemas.openxmlformats.org/drawingml/2006/main" noGrp="1"/>
          </p:cNvSpPr>
          <p:nvPr/>
        </p:nvSpPr>
        <p:spPr>
          <a:xfrm xmlns:a="http://schemas.openxmlformats.org/drawingml/2006/main">
            <a:off x="7524750" y="5638800"/>
            <a:ext cx="4095750" cy="409575"/>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A1C5414C-3057-48A7-A696-0E74244F6C10}"/>
              </a:ext>
            </a:extLst>
          </p:cNvPr>
          <p:cNvSpPr>
            <a:spLocks xmlns:a="http://schemas.openxmlformats.org/drawingml/2006/main" noGrp="1"/>
          </p:cNvSpPr>
          <p:nvPr/>
        </p:nvSpPr>
        <p:spPr>
          <a:xfrm xmlns:a="http://schemas.openxmlformats.org/drawingml/2006/main">
            <a:off x="7753350" y="5753100"/>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lang="en-US">
                <a:solidFill>
                  <a:srgbClr val="FFFFFF"/>
                </a:solidFill>
                <a:latin typeface="Arial"/>
                <a:ea typeface="Arial"/>
                <a:cs typeface="Arial"/>
              </a:defRPr>
            </a:defPPr>
          </a:lstStyle>
          <a:p xmlns:a="http://schemas.openxmlformats.org/drawingml/2006/main">
            <a:pPr>
              <a:defRPr sz="1350" b="1" lang="en-US">
                <a:solidFill>
                  <a:srgbClr val="FFFFFF"/>
                </a:solidFill>
                <a:latin typeface="Arial"/>
                <a:ea typeface="Arial"/>
                <a:cs typeface="Arial"/>
              </a:defRPr>
            </a:pPr>
            <a:r>
              <a:rPr sz="1350" b="1" lang="en-US">
                <a:solidFill>
                  <a:srgbClr val="FFFFFF"/>
                </a:solidFill>
                <a:latin typeface="Arial"/>
                <a:ea typeface="Arial"/>
                <a:cs typeface="Arial"/>
              </a:rPr>
              <a:t>BEFORE  •  DURING  •  AFTER</a:t>
            </a:r>
          </a:p>
        </p:txBody>
      </p:sp>
    </p:spTree>
    <p:extLst>
      <p:ext uri="{BB962C8B-B14F-4D97-AF65-F5344CB8AC3E}">
        <p14:creationId xmlns:p14="http://schemas.microsoft.com/office/powerpoint/2010/main" val="10220661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SOLUTION VISION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See the threat. See who needs help.</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An alert creates value when it leads to the right action, for the right person, in the right place.</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a:t>
            </a:r>
          </a:p>
        </p:txBody>
      </p:sp>
      <p:pic xmlns:a="http://schemas.openxmlformats.org/drawingml/2006/main" xmlns:r="http://schemas.openxmlformats.org/officeDocument/2006/relationships">
        <p:nvPicPr>
          <p:cNvPr id="35" name="Picture 34" descr="overview.png"/>
          <p:cNvPicPr>
            <a:picLocks noChangeAspect="1"/>
          </p:cNvPicPr>
          <p:nvPr/>
        </p:nvPicPr>
        <p:blipFill>
          <a:blip r:embed="rId4"/>
          <a:stretch>
            <a:fillRect/>
          </a:stretch>
        </p:blipFill>
        <p:spPr>
          <a:xfrm>
            <a:off x="566928" y="2399854"/>
            <a:ext cx="4892040" cy="2753235"/>
          </a:xfrm>
          <a:prstGeom prst="rect">
            <a:avLst/>
          </a:prstGeom>
        </p:spPr>
      </p:pic>
      <p:sp xmlns:a="http://schemas.openxmlformats.org/drawingml/2006/main">
        <p:nvSpPr>
          <p:cNvPr id="36" name="Rectangle 35"/>
          <p:cNvSpPr/>
          <p:nvPr/>
        </p:nvSpPr>
        <p:spPr>
          <a:xfrm>
            <a:off x="5705856" y="2011680"/>
            <a:ext cx="5907024" cy="78638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5843016" y="2130552"/>
            <a:ext cx="2067458" cy="66751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People at risk</a:t>
            </a:r>
          </a:p>
        </p:txBody>
      </p:sp>
      <p:sp xmlns:a="http://schemas.openxmlformats.org/drawingml/2006/main">
        <p:nvSpPr>
          <p:cNvPr id="38" name="TextBox 37"/>
          <p:cNvSpPr txBox="1"/>
          <p:nvPr/>
        </p:nvSpPr>
        <p:spPr>
          <a:xfrm>
            <a:off x="7950525" y="2121408"/>
            <a:ext cx="3485144" cy="69494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Where should I go? Who can help?</a:t>
            </a:r>
          </a:p>
        </p:txBody>
      </p:sp>
      <p:sp xmlns:a="http://schemas.openxmlformats.org/drawingml/2006/main">
        <p:nvSpPr>
          <p:cNvPr id="39" name="Rectangle 38"/>
          <p:cNvSpPr/>
          <p:nvPr/>
        </p:nvSpPr>
        <p:spPr>
          <a:xfrm>
            <a:off x="5705856" y="2880360"/>
            <a:ext cx="5907024"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5843016" y="2999232"/>
            <a:ext cx="2067458" cy="66751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Control center</a:t>
            </a:r>
          </a:p>
        </p:txBody>
      </p:sp>
      <p:sp xmlns:a="http://schemas.openxmlformats.org/drawingml/2006/main">
        <p:nvSpPr>
          <p:cNvPr id="41" name="TextBox 40"/>
          <p:cNvSpPr txBox="1"/>
          <p:nvPr/>
        </p:nvSpPr>
        <p:spPr>
          <a:xfrm>
            <a:off x="7950525" y="2990088"/>
            <a:ext cx="3485144" cy="69494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What is happening? Who is not yet safe?</a:t>
            </a:r>
          </a:p>
        </p:txBody>
      </p:sp>
      <p:sp xmlns:a="http://schemas.openxmlformats.org/drawingml/2006/main">
        <p:nvSpPr>
          <p:cNvPr id="42" name="Rectangle 41"/>
          <p:cNvSpPr/>
          <p:nvPr/>
        </p:nvSpPr>
        <p:spPr>
          <a:xfrm>
            <a:off x="5705856" y="3749039"/>
            <a:ext cx="5907024" cy="78638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5843016" y="3867911"/>
            <a:ext cx="2067458" cy="66751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Rescue teams</a:t>
            </a:r>
          </a:p>
        </p:txBody>
      </p:sp>
      <p:sp xmlns:a="http://schemas.openxmlformats.org/drawingml/2006/main">
        <p:nvSpPr>
          <p:cNvPr id="44" name="TextBox 43"/>
          <p:cNvSpPr txBox="1"/>
          <p:nvPr/>
        </p:nvSpPr>
        <p:spPr>
          <a:xfrm>
            <a:off x="7950525" y="3858768"/>
            <a:ext cx="3485144" cy="69494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Where should we go? What skills are needed?</a:t>
            </a:r>
          </a:p>
        </p:txBody>
      </p:sp>
      <p:sp xmlns:a="http://schemas.openxmlformats.org/drawingml/2006/main">
        <p:nvSpPr>
          <p:cNvPr id="45" name="Rectangle 44"/>
          <p:cNvSpPr/>
          <p:nvPr/>
        </p:nvSpPr>
        <p:spPr>
          <a:xfrm>
            <a:off x="5705856" y="4617720"/>
            <a:ext cx="5907024"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5843016" y="4736592"/>
            <a:ext cx="2067458" cy="66751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Family &amp; caregivers</a:t>
            </a:r>
          </a:p>
        </p:txBody>
      </p:sp>
      <p:sp xmlns:a="http://schemas.openxmlformats.org/drawingml/2006/main">
        <p:nvSpPr>
          <p:cNvPr id="47" name="TextBox 46"/>
          <p:cNvSpPr txBox="1"/>
          <p:nvPr/>
        </p:nvSpPr>
        <p:spPr>
          <a:xfrm>
            <a:off x="7950525" y="4727448"/>
            <a:ext cx="3485144" cy="69494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Has someone reached my loved one?</a:t>
            </a:r>
          </a:p>
        </p:txBody>
      </p:sp>
      <p:sp xmlns:a="http://schemas.openxmlformats.org/drawingml/2006/main">
        <p:nvSpPr>
          <p:cNvPr id="48" name="TextBox 47"/>
          <p:cNvSpPr txBox="1"/>
          <p:nvPr/>
        </p:nvSpPr>
        <p:spPr>
          <a:xfrm>
            <a:off x="731520" y="5687568"/>
            <a:ext cx="10789920" cy="320040"/>
          </a:xfrm>
          <a:prstGeom prst="rect">
            <a:avLst/>
          </a:prstGeom>
          <a:noFill/>
        </p:spPr>
        <p:txBody>
          <a:bodyPr wrap="square" lIns="0" rIns="0" tIns="0" bIns="0">
            <a:spAutoFit/>
          </a:bodyPr>
          <a:lstStyle/>
          <a:p>
            <a:pPr>
              <a:spcBef>
                <a:spcPts val="0"/>
              </a:spcBef>
              <a:spcAft>
                <a:spcPts val="500"/>
              </a:spcAft>
              <a:defRPr sz="2200" b="1" lang="en-US">
                <a:solidFill>
                  <a:srgbClr val="C8102E"/>
                </a:solidFill>
                <a:latin typeface="Arial"/>
              </a:defRPr>
            </a:pPr>
            <a:r>
              <a:t>No SOS ≠ No need for rescue</a:t>
            </a:r>
          </a:p>
        </p:txBody>
      </p:sp>
    </p:spTree>
    <p:extLst>
      <p:ext uri="{BB962C8B-B14F-4D97-AF65-F5344CB8AC3E}">
        <p14:creationId xmlns:p14="http://schemas.microsoft.com/office/powerpoint/2010/main" val="18513043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overview.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THE COMPLETE SOLUTION • Detect → Understand → Guide → Reach → Rescue → Coordinate → Confirm</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3</a:t>
            </a:r>
          </a:p>
        </p:txBody>
      </p:sp>
    </p:spTree>
    <p:extLst>
      <p:ext uri="{BB962C8B-B14F-4D97-AF65-F5344CB8AC3E}">
        <p14:creationId xmlns:p14="http://schemas.microsoft.com/office/powerpoint/2010/main" val="16482517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VALUE FLOW</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One coordinated response, seven checkpoints.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Each step answers a question so information stays connected across systems.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4</a:t>
            </a:r>
          </a:p>
        </p:txBody>
      </p:sp>
      <p:sp xmlns:a="http://schemas.openxmlformats.org/drawingml/2006/main">
        <p:nvSpPr>
          <p:cNvPr id="35" name="Rounded Rectangle 34"/>
          <p:cNvSpPr/>
          <p:nvPr/>
        </p:nvSpPr>
        <p:spPr>
          <a:xfrm>
            <a:off x="621792" y="1947672"/>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40664" y="2029967"/>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1</a:t>
            </a:r>
          </a:p>
        </p:txBody>
      </p:sp>
      <p:sp xmlns:a="http://schemas.openxmlformats.org/drawingml/2006/main">
        <p:nvSpPr>
          <p:cNvPr id="37" name="TextBox 36"/>
          <p:cNvSpPr txBox="1"/>
          <p:nvPr/>
        </p:nvSpPr>
        <p:spPr>
          <a:xfrm>
            <a:off x="1197864" y="2002536"/>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DETECT</a:t>
            </a:r>
          </a:p>
        </p:txBody>
      </p:sp>
      <p:sp xmlns:a="http://schemas.openxmlformats.org/drawingml/2006/main">
        <p:nvSpPr>
          <p:cNvPr id="38" name="TextBox 37"/>
          <p:cNvSpPr txBox="1"/>
          <p:nvPr/>
        </p:nvSpPr>
        <p:spPr>
          <a:xfrm>
            <a:off x="3657600" y="1984248"/>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What signal was received?</a:t>
            </a:r>
          </a:p>
        </p:txBody>
      </p:sp>
      <p:sp xmlns:a="http://schemas.openxmlformats.org/drawingml/2006/main">
        <p:nvSpPr>
          <p:cNvPr id="39" name="TextBox 38"/>
          <p:cNvSpPr txBox="1"/>
          <p:nvPr/>
        </p:nvSpPr>
        <p:spPr>
          <a:xfrm>
            <a:off x="6903720" y="1993391"/>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Camera • IoT • wearable • SOS</a:t>
            </a:r>
          </a:p>
        </p:txBody>
      </p:sp>
      <p:sp xmlns:a="http://schemas.openxmlformats.org/drawingml/2006/main">
        <p:nvSpPr>
          <p:cNvPr id="40" name="Rounded Rectangle 39"/>
          <p:cNvSpPr/>
          <p:nvPr/>
        </p:nvSpPr>
        <p:spPr>
          <a:xfrm>
            <a:off x="621792" y="2514600"/>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740664" y="2596896"/>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2</a:t>
            </a:r>
          </a:p>
        </p:txBody>
      </p:sp>
      <p:sp xmlns:a="http://schemas.openxmlformats.org/drawingml/2006/main">
        <p:nvSpPr>
          <p:cNvPr id="42" name="TextBox 41"/>
          <p:cNvSpPr txBox="1"/>
          <p:nvPr/>
        </p:nvSpPr>
        <p:spPr>
          <a:xfrm>
            <a:off x="1197864" y="2569464"/>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UNDERSTAND</a:t>
            </a:r>
          </a:p>
        </p:txBody>
      </p:sp>
      <p:sp xmlns:a="http://schemas.openxmlformats.org/drawingml/2006/main">
        <p:nvSpPr>
          <p:cNvPr id="43" name="TextBox 42"/>
          <p:cNvSpPr txBox="1"/>
          <p:nvPr/>
        </p:nvSpPr>
        <p:spPr>
          <a:xfrm>
            <a:off x="3657600" y="2551176"/>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Who? Where? How severe?</a:t>
            </a:r>
          </a:p>
        </p:txBody>
      </p:sp>
      <p:sp xmlns:a="http://schemas.openxmlformats.org/drawingml/2006/main">
        <p:nvSpPr>
          <p:cNvPr id="44" name="TextBox 43"/>
          <p:cNvSpPr txBox="1"/>
          <p:nvPr/>
        </p:nvSpPr>
        <p:spPr>
          <a:xfrm>
            <a:off x="6903720" y="2560320"/>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Evidence • location • time</a:t>
            </a:r>
          </a:p>
        </p:txBody>
      </p:sp>
      <p:sp xmlns:a="http://schemas.openxmlformats.org/drawingml/2006/main">
        <p:nvSpPr>
          <p:cNvPr id="45" name="Rounded Rectangle 44"/>
          <p:cNvSpPr/>
          <p:nvPr/>
        </p:nvSpPr>
        <p:spPr>
          <a:xfrm>
            <a:off x="621792" y="3081528"/>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740664" y="3163824"/>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3</a:t>
            </a:r>
          </a:p>
        </p:txBody>
      </p:sp>
      <p:sp xmlns:a="http://schemas.openxmlformats.org/drawingml/2006/main">
        <p:nvSpPr>
          <p:cNvPr id="47" name="TextBox 46"/>
          <p:cNvSpPr txBox="1"/>
          <p:nvPr/>
        </p:nvSpPr>
        <p:spPr>
          <a:xfrm>
            <a:off x="1197864" y="3136392"/>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GUIDE</a:t>
            </a:r>
          </a:p>
        </p:txBody>
      </p:sp>
      <p:sp xmlns:a="http://schemas.openxmlformats.org/drawingml/2006/main">
        <p:nvSpPr>
          <p:cNvPr id="48" name="TextBox 47"/>
          <p:cNvSpPr txBox="1"/>
          <p:nvPr/>
        </p:nvSpPr>
        <p:spPr>
          <a:xfrm>
            <a:off x="3657600" y="3118104"/>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Where to go? What to do?</a:t>
            </a:r>
          </a:p>
        </p:txBody>
      </p:sp>
      <p:sp xmlns:a="http://schemas.openxmlformats.org/drawingml/2006/main">
        <p:nvSpPr>
          <p:cNvPr id="49" name="TextBox 48"/>
          <p:cNvSpPr txBox="1"/>
          <p:nvPr/>
        </p:nvSpPr>
        <p:spPr>
          <a:xfrm>
            <a:off x="6903720" y="3127248"/>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Maps • voice • accessible options</a:t>
            </a:r>
          </a:p>
        </p:txBody>
      </p:sp>
      <p:sp xmlns:a="http://schemas.openxmlformats.org/drawingml/2006/main">
        <p:nvSpPr>
          <p:cNvPr id="50" name="Rounded Rectangle 49"/>
          <p:cNvSpPr/>
          <p:nvPr/>
        </p:nvSpPr>
        <p:spPr>
          <a:xfrm>
            <a:off x="621792" y="3648456"/>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740664" y="3730752"/>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4</a:t>
            </a:r>
          </a:p>
        </p:txBody>
      </p:sp>
      <p:sp xmlns:a="http://schemas.openxmlformats.org/drawingml/2006/main">
        <p:nvSpPr>
          <p:cNvPr id="52" name="TextBox 51"/>
          <p:cNvSpPr txBox="1"/>
          <p:nvPr/>
        </p:nvSpPr>
        <p:spPr>
          <a:xfrm>
            <a:off x="1197864" y="3703320"/>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REACH</a:t>
            </a:r>
          </a:p>
        </p:txBody>
      </p:sp>
      <p:sp xmlns:a="http://schemas.openxmlformats.org/drawingml/2006/main">
        <p:nvSpPr>
          <p:cNvPr id="53" name="TextBox 52"/>
          <p:cNvSpPr txBox="1"/>
          <p:nvPr/>
        </p:nvSpPr>
        <p:spPr>
          <a:xfrm>
            <a:off x="3657600" y="3685031"/>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Who remains unreached?</a:t>
            </a:r>
          </a:p>
        </p:txBody>
      </p:sp>
      <p:sp xmlns:a="http://schemas.openxmlformats.org/drawingml/2006/main">
        <p:nvSpPr>
          <p:cNvPr id="54" name="TextBox 53"/>
          <p:cNvSpPr txBox="1"/>
          <p:nvPr/>
        </p:nvSpPr>
        <p:spPr>
          <a:xfrm>
            <a:off x="6903720" y="3694176"/>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App • PA • SMS • vehicles</a:t>
            </a:r>
          </a:p>
        </p:txBody>
      </p:sp>
      <p:sp xmlns:a="http://schemas.openxmlformats.org/drawingml/2006/main">
        <p:nvSpPr>
          <p:cNvPr id="55" name="Rounded Rectangle 54"/>
          <p:cNvSpPr/>
          <p:nvPr/>
        </p:nvSpPr>
        <p:spPr>
          <a:xfrm>
            <a:off x="621792" y="4215383"/>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740664" y="4297679"/>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5</a:t>
            </a:r>
          </a:p>
        </p:txBody>
      </p:sp>
      <p:sp xmlns:a="http://schemas.openxmlformats.org/drawingml/2006/main">
        <p:nvSpPr>
          <p:cNvPr id="57" name="TextBox 56"/>
          <p:cNvSpPr txBox="1"/>
          <p:nvPr/>
        </p:nvSpPr>
        <p:spPr>
          <a:xfrm>
            <a:off x="1197864" y="4270247"/>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PROACTIVE RESCUE</a:t>
            </a:r>
          </a:p>
        </p:txBody>
      </p:sp>
      <p:sp xmlns:a="http://schemas.openxmlformats.org/drawingml/2006/main">
        <p:nvSpPr>
          <p:cNvPr id="58" name="TextBox 57"/>
          <p:cNvSpPr txBox="1"/>
          <p:nvPr/>
        </p:nvSpPr>
        <p:spPr>
          <a:xfrm>
            <a:off x="3657600" y="4251959"/>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Who needs help?</a:t>
            </a:r>
          </a:p>
        </p:txBody>
      </p:sp>
      <p:sp xmlns:a="http://schemas.openxmlformats.org/drawingml/2006/main">
        <p:nvSpPr>
          <p:cNvPr id="59" name="TextBox 58"/>
          <p:cNvSpPr txBox="1"/>
          <p:nvPr/>
        </p:nvSpPr>
        <p:spPr>
          <a:xfrm>
            <a:off x="6903720" y="4261103"/>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Presence • assistance needs</a:t>
            </a:r>
          </a:p>
        </p:txBody>
      </p:sp>
      <p:sp xmlns:a="http://schemas.openxmlformats.org/drawingml/2006/main">
        <p:nvSpPr>
          <p:cNvPr id="60" name="Rounded Rectangle 59"/>
          <p:cNvSpPr/>
          <p:nvPr/>
        </p:nvSpPr>
        <p:spPr>
          <a:xfrm>
            <a:off x="621792" y="4782312"/>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TextBox 60"/>
          <p:cNvSpPr txBox="1"/>
          <p:nvPr/>
        </p:nvSpPr>
        <p:spPr>
          <a:xfrm>
            <a:off x="740664" y="4864608"/>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6</a:t>
            </a:r>
          </a:p>
        </p:txBody>
      </p:sp>
      <p:sp xmlns:a="http://schemas.openxmlformats.org/drawingml/2006/main">
        <p:nvSpPr>
          <p:cNvPr id="62" name="TextBox 61"/>
          <p:cNvSpPr txBox="1"/>
          <p:nvPr/>
        </p:nvSpPr>
        <p:spPr>
          <a:xfrm>
            <a:off x="1197864" y="4837176"/>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COORDINATE</a:t>
            </a:r>
          </a:p>
        </p:txBody>
      </p:sp>
      <p:sp xmlns:a="http://schemas.openxmlformats.org/drawingml/2006/main">
        <p:nvSpPr>
          <p:cNvPr id="63" name="TextBox 62"/>
          <p:cNvSpPr txBox="1"/>
          <p:nvPr/>
        </p:nvSpPr>
        <p:spPr>
          <a:xfrm>
            <a:off x="3657600" y="4818888"/>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Who is responsible?</a:t>
            </a:r>
          </a:p>
        </p:txBody>
      </p:sp>
      <p:sp xmlns:a="http://schemas.openxmlformats.org/drawingml/2006/main">
        <p:nvSpPr>
          <p:cNvPr id="64" name="TextBox 63"/>
          <p:cNvSpPr txBox="1"/>
          <p:nvPr/>
        </p:nvSpPr>
        <p:spPr>
          <a:xfrm>
            <a:off x="6903720" y="4828032"/>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Assign • accept • hand over</a:t>
            </a:r>
          </a:p>
        </p:txBody>
      </p:sp>
      <p:sp xmlns:a="http://schemas.openxmlformats.org/drawingml/2006/main">
        <p:nvSpPr>
          <p:cNvPr id="65" name="Rounded Rectangle 64"/>
          <p:cNvSpPr/>
          <p:nvPr/>
        </p:nvSpPr>
        <p:spPr>
          <a:xfrm>
            <a:off x="621792" y="5349240"/>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6" name="TextBox 65"/>
          <p:cNvSpPr txBox="1"/>
          <p:nvPr/>
        </p:nvSpPr>
        <p:spPr>
          <a:xfrm>
            <a:off x="740664" y="5431536"/>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7</a:t>
            </a:r>
          </a:p>
        </p:txBody>
      </p:sp>
      <p:sp xmlns:a="http://schemas.openxmlformats.org/drawingml/2006/main">
        <p:nvSpPr>
          <p:cNvPr id="67" name="TextBox 66"/>
          <p:cNvSpPr txBox="1"/>
          <p:nvPr/>
        </p:nvSpPr>
        <p:spPr>
          <a:xfrm>
            <a:off x="1197864" y="5404103"/>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CONFIRM</a:t>
            </a:r>
          </a:p>
        </p:txBody>
      </p:sp>
      <p:sp xmlns:a="http://schemas.openxmlformats.org/drawingml/2006/main">
        <p:nvSpPr>
          <p:cNvPr id="68" name="TextBox 67"/>
          <p:cNvSpPr txBox="1"/>
          <p:nvPr/>
        </p:nvSpPr>
        <p:spPr>
          <a:xfrm>
            <a:off x="3657600" y="5385816"/>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Who is actually safe?</a:t>
            </a:r>
          </a:p>
        </p:txBody>
      </p:sp>
      <p:sp xmlns:a="http://schemas.openxmlformats.org/drawingml/2006/main">
        <p:nvSpPr>
          <p:cNvPr id="69" name="TextBox 68"/>
          <p:cNvSpPr txBox="1"/>
          <p:nvPr/>
        </p:nvSpPr>
        <p:spPr>
          <a:xfrm>
            <a:off x="6903720" y="5394959"/>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Self-report • team verification • family</a:t>
            </a:r>
          </a:p>
        </p:txBody>
      </p:sp>
    </p:spTree>
    <p:extLst>
      <p:ext uri="{BB962C8B-B14F-4D97-AF65-F5344CB8AC3E}">
        <p14:creationId xmlns:p14="http://schemas.microsoft.com/office/powerpoint/2010/main" val="11493907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INTERNATIONAL • MULTI-INDUSTRY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One safety core. Many operating environments.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Organizations and sites share the platform; each industry has its own data, workflows and integrations.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5</a:t>
            </a:r>
          </a:p>
        </p:txBody>
      </p:sp>
      <p:sp xmlns:a="http://schemas.openxmlformats.org/drawingml/2006/main">
        <p:nvSpPr>
          <p:cNvPr id="35" name="Rectangle 34"/>
          <p:cNvSpPr/>
          <p:nvPr/>
        </p:nvSpPr>
        <p:spPr>
          <a:xfrm>
            <a:off x="6126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680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01</a:t>
            </a:r>
          </a:p>
        </p:txBody>
      </p:sp>
      <p:sp xmlns:a="http://schemas.openxmlformats.org/drawingml/2006/main">
        <p:nvSpPr>
          <p:cNvPr id="37" name="TextBox 36"/>
          <p:cNvSpPr txBox="1"/>
          <p:nvPr/>
        </p:nvSpPr>
        <p:spPr>
          <a:xfrm>
            <a:off x="1417320" y="2157984"/>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Buildings &amp; campuses</a:t>
            </a:r>
          </a:p>
        </p:txBody>
      </p:sp>
      <p:sp xmlns:a="http://schemas.openxmlformats.org/drawingml/2006/main">
        <p:nvSpPr>
          <p:cNvPr id="38" name="TextBox 37"/>
          <p:cNvSpPr txBox="1"/>
          <p:nvPr/>
        </p:nvSpPr>
        <p:spPr>
          <a:xfrm>
            <a:off x="777240" y="2907792"/>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Fire, evacuation and people accountability.</a:t>
            </a:r>
          </a:p>
        </p:txBody>
      </p:sp>
      <p:sp xmlns:a="http://schemas.openxmlformats.org/drawingml/2006/main">
        <p:nvSpPr>
          <p:cNvPr id="39" name="Rectangle 38"/>
          <p:cNvSpPr/>
          <p:nvPr/>
        </p:nvSpPr>
        <p:spPr>
          <a:xfrm>
            <a:off x="44988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6542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02</a:t>
            </a:r>
          </a:p>
        </p:txBody>
      </p:sp>
      <p:sp xmlns:a="http://schemas.openxmlformats.org/drawingml/2006/main">
        <p:nvSpPr>
          <p:cNvPr id="41" name="TextBox 40"/>
          <p:cNvSpPr txBox="1"/>
          <p:nvPr/>
        </p:nvSpPr>
        <p:spPr>
          <a:xfrm>
            <a:off x="5303520" y="2157984"/>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Industry &amp; logistics</a:t>
            </a:r>
          </a:p>
        </p:txBody>
      </p:sp>
      <p:sp xmlns:a="http://schemas.openxmlformats.org/drawingml/2006/main">
        <p:nvSpPr>
          <p:cNvPr id="42" name="TextBox 41"/>
          <p:cNvSpPr txBox="1"/>
          <p:nvPr/>
        </p:nvSpPr>
        <p:spPr>
          <a:xfrm>
            <a:off x="4663440" y="2907792"/>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Hazardous areas and lone workers.</a:t>
            </a:r>
          </a:p>
        </p:txBody>
      </p:sp>
      <p:sp xmlns:a="http://schemas.openxmlformats.org/drawingml/2006/main">
        <p:nvSpPr>
          <p:cNvPr id="43" name="Rectangle 42"/>
          <p:cNvSpPr/>
          <p:nvPr/>
        </p:nvSpPr>
        <p:spPr>
          <a:xfrm>
            <a:off x="83850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5404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03</a:t>
            </a:r>
          </a:p>
        </p:txBody>
      </p:sp>
      <p:sp xmlns:a="http://schemas.openxmlformats.org/drawingml/2006/main">
        <p:nvSpPr>
          <p:cNvPr id="45" name="TextBox 44"/>
          <p:cNvSpPr txBox="1"/>
          <p:nvPr/>
        </p:nvSpPr>
        <p:spPr>
          <a:xfrm>
            <a:off x="9189720" y="2157984"/>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Care &amp; communities</a:t>
            </a:r>
          </a:p>
        </p:txBody>
      </p:sp>
      <p:sp xmlns:a="http://schemas.openxmlformats.org/drawingml/2006/main">
        <p:nvSpPr>
          <p:cNvPr id="46" name="TextBox 45"/>
          <p:cNvSpPr txBox="1"/>
          <p:nvPr/>
        </p:nvSpPr>
        <p:spPr>
          <a:xfrm>
            <a:off x="8549640" y="2907792"/>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Falls, assistance needs and caregivers.</a:t>
            </a:r>
          </a:p>
        </p:txBody>
      </p:sp>
      <p:sp xmlns:a="http://schemas.openxmlformats.org/drawingml/2006/main">
        <p:nvSpPr>
          <p:cNvPr id="47" name="Rectangle 46"/>
          <p:cNvSpPr/>
          <p:nvPr/>
        </p:nvSpPr>
        <p:spPr>
          <a:xfrm>
            <a:off x="6126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680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04</a:t>
            </a:r>
          </a:p>
        </p:txBody>
      </p:sp>
      <p:sp xmlns:a="http://schemas.openxmlformats.org/drawingml/2006/main">
        <p:nvSpPr>
          <p:cNvPr id="49" name="TextBox 48"/>
          <p:cNvSpPr txBox="1"/>
          <p:nvPr/>
        </p:nvSpPr>
        <p:spPr>
          <a:xfrm>
            <a:off x="1417320" y="4023360"/>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Transport &amp; fleets</a:t>
            </a:r>
          </a:p>
        </p:txBody>
      </p:sp>
      <p:sp xmlns:a="http://schemas.openxmlformats.org/drawingml/2006/main">
        <p:nvSpPr>
          <p:cNvPr id="50" name="TextBox 49"/>
          <p:cNvSpPr txBox="1"/>
          <p:nvPr/>
        </p:nvSpPr>
        <p:spPr>
          <a:xfrm>
            <a:off x="777240" y="4773168"/>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Collisions, road location and coordination.</a:t>
            </a:r>
          </a:p>
        </p:txBody>
      </p:sp>
      <p:sp xmlns:a="http://schemas.openxmlformats.org/drawingml/2006/main">
        <p:nvSpPr>
          <p:cNvPr id="51" name="Rectangle 50"/>
          <p:cNvSpPr/>
          <p:nvPr/>
        </p:nvSpPr>
        <p:spPr>
          <a:xfrm>
            <a:off x="44988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6542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05</a:t>
            </a:r>
          </a:p>
        </p:txBody>
      </p:sp>
      <p:sp xmlns:a="http://schemas.openxmlformats.org/drawingml/2006/main">
        <p:nvSpPr>
          <p:cNvPr id="53" name="TextBox 52"/>
          <p:cNvSpPr txBox="1"/>
          <p:nvPr/>
        </p:nvSpPr>
        <p:spPr>
          <a:xfrm>
            <a:off x="5303520" y="4023360"/>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Schools &amp; events</a:t>
            </a:r>
          </a:p>
        </p:txBody>
      </p:sp>
      <p:sp xmlns:a="http://schemas.openxmlformats.org/drawingml/2006/main">
        <p:nvSpPr>
          <p:cNvPr id="54" name="TextBox 53"/>
          <p:cNvSpPr txBox="1"/>
          <p:nvPr/>
        </p:nvSpPr>
        <p:spPr>
          <a:xfrm>
            <a:off x="4663440" y="4773168"/>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Groups, assembly and guardians.</a:t>
            </a:r>
          </a:p>
        </p:txBody>
      </p:sp>
      <p:sp xmlns:a="http://schemas.openxmlformats.org/drawingml/2006/main">
        <p:nvSpPr>
          <p:cNvPr id="55" name="Rectangle 54"/>
          <p:cNvSpPr/>
          <p:nvPr/>
        </p:nvSpPr>
        <p:spPr>
          <a:xfrm>
            <a:off x="83850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85404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06</a:t>
            </a:r>
          </a:p>
        </p:txBody>
      </p:sp>
      <p:sp xmlns:a="http://schemas.openxmlformats.org/drawingml/2006/main">
        <p:nvSpPr>
          <p:cNvPr id="57" name="TextBox 56"/>
          <p:cNvSpPr txBox="1"/>
          <p:nvPr/>
        </p:nvSpPr>
        <p:spPr>
          <a:xfrm>
            <a:off x="9189720" y="4023360"/>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Cities &amp; disasters</a:t>
            </a:r>
          </a:p>
        </p:txBody>
      </p:sp>
      <p:sp xmlns:a="http://schemas.openxmlformats.org/drawingml/2006/main">
        <p:nvSpPr>
          <p:cNvPr id="58" name="TextBox 57"/>
          <p:cNvSpPr txBox="1"/>
          <p:nvPr/>
        </p:nvSpPr>
        <p:spPr>
          <a:xfrm>
            <a:off x="8549640" y="4773168"/>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Affected areas, shelters and multiple agencies.</a:t>
            </a:r>
          </a:p>
        </p:txBody>
      </p:sp>
    </p:spTree>
    <p:extLst>
      <p:ext uri="{BB962C8B-B14F-4D97-AF65-F5344CB8AC3E}">
        <p14:creationId xmlns:p14="http://schemas.microsoft.com/office/powerpoint/2010/main" val="16991653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OPERATING MODEL</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Prepare before. Coordinate during. Confirm after.</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A continuous lifecycle, from site surveys to exercises and improvement.</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6</a:t>
            </a:r>
          </a:p>
        </p:txBody>
      </p:sp>
      <p:sp xmlns:a="http://schemas.openxmlformats.org/drawingml/2006/main">
        <p:nvSpPr>
          <p:cNvPr id="35" name="Rectangle 34"/>
          <p:cNvSpPr/>
          <p:nvPr/>
        </p:nvSpPr>
        <p:spPr>
          <a:xfrm>
            <a:off x="621792" y="2148840"/>
            <a:ext cx="3523488"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13232" y="2240280"/>
            <a:ext cx="3340608"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01  BEFORE</a:t>
            </a:r>
          </a:p>
        </p:txBody>
      </p:sp>
      <p:sp xmlns:a="http://schemas.openxmlformats.org/drawingml/2006/main">
        <p:nvSpPr>
          <p:cNvPr id="37" name="TextBox 36"/>
          <p:cNvSpPr txBox="1"/>
          <p:nvPr/>
        </p:nvSpPr>
        <p:spPr>
          <a:xfrm>
            <a:off x="658368" y="2788920"/>
            <a:ext cx="3450336"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Maps &amp; equipment</a:t>
            </a:r>
          </a:p>
          <a:p>
            <a:pPr>
              <a:spcBef>
                <a:spcPts val="0"/>
              </a:spcBef>
              <a:spcAft>
                <a:spcPts val="500"/>
              </a:spcAft>
              <a:defRPr sz="1600" b="0" lang="en-US">
                <a:solidFill>
                  <a:srgbClr val="20252B"/>
                </a:solidFill>
                <a:latin typeface="Arial"/>
              </a:defRPr>
            </a:pPr>
            <a:r>
              <a:t>Care profiles</a:t>
            </a:r>
          </a:p>
          <a:p>
            <a:pPr>
              <a:spcBef>
                <a:spcPts val="0"/>
              </a:spcBef>
              <a:spcAft>
                <a:spcPts val="500"/>
              </a:spcAft>
              <a:defRPr sz="1600" b="0" lang="en-US">
                <a:solidFill>
                  <a:srgbClr val="20252B"/>
                </a:solidFill>
                <a:latin typeface="Arial"/>
              </a:defRPr>
            </a:pPr>
            <a:r>
              <a:t>Duty teams &amp; exercises</a:t>
            </a:r>
          </a:p>
        </p:txBody>
      </p:sp>
      <p:sp xmlns:a="http://schemas.openxmlformats.org/drawingml/2006/main">
        <p:nvSpPr>
          <p:cNvPr id="38" name="Chevron 37"/>
          <p:cNvSpPr/>
          <p:nvPr/>
        </p:nvSpPr>
        <p:spPr>
          <a:xfrm>
            <a:off x="4168140"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4346448" y="2148840"/>
            <a:ext cx="3523488"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437887" y="2240280"/>
            <a:ext cx="3340608"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02  DURING</a:t>
            </a:r>
          </a:p>
        </p:txBody>
      </p:sp>
      <p:sp xmlns:a="http://schemas.openxmlformats.org/drawingml/2006/main">
        <p:nvSpPr>
          <p:cNvPr id="41" name="TextBox 40"/>
          <p:cNvSpPr txBox="1"/>
          <p:nvPr/>
        </p:nvSpPr>
        <p:spPr>
          <a:xfrm>
            <a:off x="4383024" y="2788920"/>
            <a:ext cx="3450336"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Verify &amp; alert</a:t>
            </a:r>
          </a:p>
          <a:p>
            <a:pPr>
              <a:spcBef>
                <a:spcPts val="0"/>
              </a:spcBef>
              <a:spcAft>
                <a:spcPts val="500"/>
              </a:spcAft>
              <a:defRPr sz="1600" b="0" lang="en-US">
                <a:solidFill>
                  <a:srgbClr val="20252B"/>
                </a:solidFill>
                <a:latin typeface="Arial"/>
              </a:defRPr>
            </a:pPr>
            <a:r>
              <a:t>Guide &amp; rescue</a:t>
            </a:r>
          </a:p>
          <a:p>
            <a:pPr>
              <a:spcBef>
                <a:spcPts val="0"/>
              </a:spcBef>
              <a:spcAft>
                <a:spcPts val="500"/>
              </a:spcAft>
              <a:defRPr sz="1600" b="0" lang="en-US">
                <a:solidFill>
                  <a:srgbClr val="20252B"/>
                </a:solidFill>
                <a:latin typeface="Arial"/>
              </a:defRPr>
            </a:pPr>
            <a:r>
              <a:t>Track every task</a:t>
            </a:r>
          </a:p>
        </p:txBody>
      </p:sp>
      <p:sp xmlns:a="http://schemas.openxmlformats.org/drawingml/2006/main">
        <p:nvSpPr>
          <p:cNvPr id="42" name="Chevron 41"/>
          <p:cNvSpPr/>
          <p:nvPr/>
        </p:nvSpPr>
        <p:spPr>
          <a:xfrm>
            <a:off x="7892795"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8071104" y="2148840"/>
            <a:ext cx="3523488"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162543" y="2240280"/>
            <a:ext cx="3340608"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03  AFTER</a:t>
            </a:r>
          </a:p>
        </p:txBody>
      </p:sp>
      <p:sp xmlns:a="http://schemas.openxmlformats.org/drawingml/2006/main">
        <p:nvSpPr>
          <p:cNvPr id="45" name="TextBox 44"/>
          <p:cNvSpPr txBox="1"/>
          <p:nvPr/>
        </p:nvSpPr>
        <p:spPr>
          <a:xfrm>
            <a:off x="8107679" y="2788920"/>
            <a:ext cx="3450336"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Confirm each person</a:t>
            </a:r>
          </a:p>
          <a:p>
            <a:pPr>
              <a:spcBef>
                <a:spcPts val="0"/>
              </a:spcBef>
              <a:spcAft>
                <a:spcPts val="500"/>
              </a:spcAft>
              <a:defRPr sz="1600" b="0" lang="en-US">
                <a:solidFill>
                  <a:srgbClr val="20252B"/>
                </a:solidFill>
                <a:latin typeface="Arial"/>
              </a:defRPr>
            </a:pPr>
            <a:r>
              <a:t>Hand over &amp; close</a:t>
            </a:r>
          </a:p>
          <a:p>
            <a:pPr>
              <a:spcBef>
                <a:spcPts val="0"/>
              </a:spcBef>
              <a:spcAft>
                <a:spcPts val="500"/>
              </a:spcAft>
              <a:defRPr sz="1600" b="0" lang="en-US">
                <a:solidFill>
                  <a:srgbClr val="20252B"/>
                </a:solidFill>
                <a:latin typeface="Arial"/>
              </a:defRPr>
            </a:pPr>
            <a:r>
              <a:t>Learn from the response</a:t>
            </a:r>
          </a:p>
        </p:txBody>
      </p:sp>
      <p:sp xmlns:a="http://schemas.openxmlformats.org/drawingml/2006/main">
        <p:nvSpPr>
          <p:cNvPr id="46" name="Rectangle 45"/>
          <p:cNvSpPr/>
          <p:nvPr/>
        </p:nvSpPr>
        <p:spPr>
          <a:xfrm>
            <a:off x="621792" y="4892040"/>
            <a:ext cx="10972800" cy="7498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68680" y="5102352"/>
            <a:ext cx="10515600" cy="320040"/>
          </a:xfrm>
          <a:prstGeom prst="rect">
            <a:avLst/>
          </a:prstGeom>
          <a:noFill/>
        </p:spPr>
        <p:txBody>
          <a:bodyPr wrap="square" lIns="0" rIns="0" tIns="0" bIns="0">
            <a:spAutoFit/>
          </a:bodyPr>
          <a:lstStyle/>
          <a:p>
            <a:pPr>
              <a:spcBef>
                <a:spcPts val="0"/>
              </a:spcBef>
              <a:spcAft>
                <a:spcPts val="500"/>
              </a:spcAft>
              <a:defRPr sz="1900" b="1" lang="en-US">
                <a:solidFill>
                  <a:srgbClr val="FFFFFF"/>
                </a:solidFill>
                <a:latin typeface="Arial"/>
              </a:defRPr>
            </a:pPr>
            <a:r>
              <a:t>Every status has an accountable owner, a timestamp and a source of confirmation.</a:t>
            </a:r>
          </a:p>
        </p:txBody>
      </p:sp>
    </p:spTree>
    <p:extLst>
      <p:ext uri="{BB962C8B-B14F-4D97-AF65-F5344CB8AC3E}">
        <p14:creationId xmlns:p14="http://schemas.microsoft.com/office/powerpoint/2010/main" val="3578671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evacuation.png"/>
          <p:cNvPicPr>
            <a:picLocks noChangeAspect="1"/>
          </p:cNvPicPr>
          <p:nvPr/>
        </p:nvPicPr>
        <p:blipFill>
          <a:blip r:embed="rId4"/>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FIRE SCENARIO • Avoid hazardous areas • Step-by-step voice • Assistance for people who cannot self-evacuate</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7</a:t>
            </a:r>
          </a:p>
        </p:txBody>
      </p:sp>
      <p:sp xmlns:a="http://schemas.openxmlformats.org/drawingml/2006/main">
        <p:nvSpPr>
          <p:cNvPr id="6" name="TextBox 5"/>
          <p:cNvSpPr txBox="1"/>
          <p:nvPr/>
        </p:nvSpPr>
        <p:spPr>
          <a:xfrm>
            <a:off x="274320" y="210312"/>
            <a:ext cx="11521440" cy="457200"/>
          </a:xfrm>
          <a:prstGeom prst="rect">
            <a:avLst/>
          </a:prstGeom>
          <a:noFill/>
        </p:spPr>
        <p:txBody>
          <a:bodyPr wrap="square" lIns="0" rIns="0" tIns="0" bIns="0">
            <a:spAutoFit/>
          </a:bodyPr>
          <a:lstStyle/>
          <a:p>
            <a:pPr>
              <a:spcBef>
                <a:spcPts val="0"/>
              </a:spcBef>
              <a:spcAft>
                <a:spcPts val="500"/>
              </a:spcAft>
              <a:defRPr sz="2900" b="1" lang="en-US">
                <a:solidFill>
                  <a:srgbClr val="FFFFFF"/>
                </a:solidFill>
                <a:latin typeface="Arial"/>
              </a:defRPr>
            </a:pPr>
            <a:r>
              <a:t>GUIDED EVACUATION</a:t>
            </a:r>
          </a:p>
        </p:txBody>
      </p:sp>
    </p:spTree>
    <p:extLst>
      <p:ext uri="{BB962C8B-B14F-4D97-AF65-F5344CB8AC3E}">
        <p14:creationId xmlns:p14="http://schemas.microsoft.com/office/powerpoint/2010/main" val="18938488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SCENARIO 01 • ACTION BY ACTION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A fire on floor 5: from signal to personal contact.</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Illustrative sequence — every action is linked to the same incident.</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8</a:t>
            </a:r>
          </a:p>
        </p:txBody>
      </p:sp>
      <p:sp xmlns:a="http://schemas.openxmlformats.org/drawingml/2006/main">
        <p:nvSpPr>
          <p:cNvPr id="35" name="Rectangle 34"/>
          <p:cNvSpPr/>
          <p:nvPr/>
        </p:nvSpPr>
        <p:spPr>
          <a:xfrm>
            <a:off x="640080" y="2011680"/>
            <a:ext cx="5760720" cy="3456432"/>
          </a:xfrm>
          <a:prstGeom prst="rect">
            <a:avLst/>
          </a:prstGeom>
          <a:solidFill>
            <a:srgbClr val="EDF3F5"/>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713231"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713231"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2153412"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2153412"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3593591"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593591"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5033772"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033772"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40664" y="3532510"/>
            <a:ext cx="5559552" cy="414771"/>
          </a:xfrm>
          <a:prstGeom prst="rect">
            <a:avLst/>
          </a:prstGeom>
          <a:solidFill>
            <a:srgbClr val="E0E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4903012" y="2103120"/>
            <a:ext cx="1324965" cy="1175186"/>
          </a:xfrm>
          <a:prstGeom prst="rect">
            <a:avLst/>
          </a:prstGeom>
          <a:solidFill>
            <a:srgbClr val="FDEBED"/>
          </a:solidFill>
          <a:ln w="889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46" name="Connector 45"/>
          <p:cNvCxnSpPr/>
          <p:nvPr/>
        </p:nvCxnSpPr>
        <p:spPr>
          <a:xfrm flipH="1">
            <a:off x="1331366" y="3739896"/>
            <a:ext cx="2592324"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331366" y="3739896"/>
            <a:ext cx="0" cy="1209751"/>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Chevron 47"/>
          <p:cNvSpPr/>
          <p:nvPr/>
        </p:nvSpPr>
        <p:spPr>
          <a:xfrm rot="10800000">
            <a:off x="2541117" y="3680459"/>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Chevron 48"/>
          <p:cNvSpPr/>
          <p:nvPr/>
        </p:nvSpPr>
        <p:spPr>
          <a:xfrm rot="5400000">
            <a:off x="1271930" y="4362053"/>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Oval 49"/>
          <p:cNvSpPr/>
          <p:nvPr/>
        </p:nvSpPr>
        <p:spPr>
          <a:xfrm>
            <a:off x="3808476" y="3601638"/>
            <a:ext cx="118872" cy="118872"/>
          </a:xfrm>
          <a:prstGeom prst="ellipse">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Oval 50"/>
          <p:cNvSpPr/>
          <p:nvPr/>
        </p:nvSpPr>
        <p:spPr>
          <a:xfrm>
            <a:off x="1158544" y="4776825"/>
            <a:ext cx="201168" cy="201168"/>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960620" y="2194560"/>
            <a:ext cx="1209751" cy="347472"/>
          </a:xfrm>
          <a:prstGeom prst="rect">
            <a:avLst/>
          </a:prstGeom>
          <a:noFill/>
        </p:spPr>
        <p:txBody>
          <a:bodyPr wrap="square" lIns="0" rIns="0" tIns="0" bIns="0">
            <a:spAutoFit/>
          </a:bodyPr>
          <a:lstStyle/>
          <a:p>
            <a:pPr>
              <a:spcBef>
                <a:spcPts val="0"/>
              </a:spcBef>
              <a:spcAft>
                <a:spcPts val="500"/>
              </a:spcAft>
              <a:defRPr sz="1000" b="1" lang="en-US">
                <a:solidFill>
                  <a:srgbClr val="C8102E"/>
                </a:solidFill>
                <a:latin typeface="Arial"/>
              </a:defRPr>
            </a:pPr>
            <a:r>
              <a:t>HAZARD AREA</a:t>
            </a:r>
          </a:p>
        </p:txBody>
      </p:sp>
      <p:sp xmlns:a="http://schemas.openxmlformats.org/drawingml/2006/main">
        <p:nvSpPr>
          <p:cNvPr id="53" name="TextBox 52"/>
          <p:cNvSpPr txBox="1"/>
          <p:nvPr/>
        </p:nvSpPr>
        <p:spPr>
          <a:xfrm>
            <a:off x="3808476" y="3947281"/>
            <a:ext cx="502920" cy="182880"/>
          </a:xfrm>
          <a:prstGeom prst="rect">
            <a:avLst/>
          </a:prstGeom>
          <a:noFill/>
        </p:spPr>
        <p:txBody>
          <a:bodyPr wrap="square" lIns="0" rIns="0" tIns="0" bIns="0">
            <a:spAutoFit/>
          </a:bodyPr>
          <a:lstStyle/>
          <a:p>
            <a:pPr>
              <a:spcBef>
                <a:spcPts val="0"/>
              </a:spcBef>
              <a:spcAft>
                <a:spcPts val="500"/>
              </a:spcAft>
              <a:defRPr sz="1000" b="1" lang="en-US">
                <a:solidFill>
                  <a:srgbClr val="06283F"/>
                </a:solidFill>
                <a:latin typeface="Arial"/>
              </a:defRPr>
            </a:pPr>
            <a:r>
              <a:t>YOU</a:t>
            </a:r>
          </a:p>
        </p:txBody>
      </p:sp>
      <p:sp xmlns:a="http://schemas.openxmlformats.org/drawingml/2006/main">
        <p:nvSpPr>
          <p:cNvPr id="54" name="TextBox 53"/>
          <p:cNvSpPr txBox="1"/>
          <p:nvPr/>
        </p:nvSpPr>
        <p:spPr>
          <a:xfrm>
            <a:off x="713231" y="4534875"/>
            <a:ext cx="1152144" cy="219456"/>
          </a:xfrm>
          <a:prstGeom prst="rect">
            <a:avLst/>
          </a:prstGeom>
          <a:noFill/>
        </p:spPr>
        <p:txBody>
          <a:bodyPr wrap="square" lIns="0" rIns="0" tIns="0" bIns="0">
            <a:spAutoFit/>
          </a:bodyPr>
          <a:lstStyle/>
          <a:p>
            <a:pPr>
              <a:spcBef>
                <a:spcPts val="0"/>
              </a:spcBef>
              <a:spcAft>
                <a:spcPts val="500"/>
              </a:spcAft>
              <a:defRPr sz="1000" b="1" lang="en-US">
                <a:solidFill>
                  <a:srgbClr val="147D62"/>
                </a:solidFill>
                <a:latin typeface="Arial"/>
              </a:defRPr>
            </a:pPr>
            <a:r>
              <a:t>EXIT A</a:t>
            </a:r>
          </a:p>
        </p:txBody>
      </p:sp>
      <p:sp xmlns:a="http://schemas.openxmlformats.org/drawingml/2006/main">
        <p:nvSpPr>
          <p:cNvPr id="55" name="TextBox 54"/>
          <p:cNvSpPr txBox="1"/>
          <p:nvPr/>
        </p:nvSpPr>
        <p:spPr>
          <a:xfrm>
            <a:off x="2368296" y="4500311"/>
            <a:ext cx="1209751" cy="365760"/>
          </a:xfrm>
          <a:prstGeom prst="rect">
            <a:avLst/>
          </a:prstGeom>
          <a:noFill/>
        </p:spPr>
        <p:txBody>
          <a:bodyPr wrap="square" lIns="0" rIns="0" tIns="0" bIns="0">
            <a:spAutoFit/>
          </a:bodyPr>
          <a:lstStyle/>
          <a:p>
            <a:pPr>
              <a:spcBef>
                <a:spcPts val="0"/>
              </a:spcBef>
              <a:spcAft>
                <a:spcPts val="500"/>
              </a:spcAft>
              <a:defRPr sz="900" b="1" lang="en-US">
                <a:solidFill>
                  <a:srgbClr val="A56A00"/>
                </a:solidFill>
                <a:latin typeface="Arial"/>
              </a:defRPr>
            </a:pPr>
            <a:r>
              <a:t>ASSISTANCE POINT</a:t>
            </a:r>
          </a:p>
        </p:txBody>
      </p:sp>
      <p:sp xmlns:a="http://schemas.openxmlformats.org/drawingml/2006/main">
        <p:nvSpPr>
          <p:cNvPr id="56" name="TextBox 55"/>
          <p:cNvSpPr txBox="1"/>
          <p:nvPr/>
        </p:nvSpPr>
        <p:spPr>
          <a:xfrm>
            <a:off x="6766560" y="2048256"/>
            <a:ext cx="4572000" cy="274320"/>
          </a:xfrm>
          <a:prstGeom prst="rect">
            <a:avLst/>
          </a:prstGeom>
          <a:noFill/>
        </p:spPr>
        <p:txBody>
          <a:bodyPr wrap="square" lIns="0" rIns="0" tIns="0" bIns="0">
            <a:spAutoFit/>
          </a:bodyPr>
          <a:lstStyle/>
          <a:p>
            <a:pPr>
              <a:spcBef>
                <a:spcPts val="0"/>
              </a:spcBef>
              <a:spcAft>
                <a:spcPts val="500"/>
              </a:spcAft>
              <a:defRPr sz="1400" b="1" lang="en-US">
                <a:solidFill>
                  <a:srgbClr val="C8102E"/>
                </a:solidFill>
                <a:latin typeface="Arial"/>
              </a:defRPr>
            </a:pPr>
            <a:r>
              <a:t>01 / VERIFY</a:t>
            </a:r>
          </a:p>
        </p:txBody>
      </p:sp>
      <p:sp xmlns:a="http://schemas.openxmlformats.org/drawingml/2006/main">
        <p:nvSpPr>
          <p:cNvPr id="57" name="TextBox 56"/>
          <p:cNvSpPr txBox="1"/>
          <p:nvPr/>
        </p:nvSpPr>
        <p:spPr>
          <a:xfrm>
            <a:off x="6766560" y="2414016"/>
            <a:ext cx="4572000" cy="539496"/>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Cameras and sensors mapped to floor and zone.</a:t>
            </a:r>
          </a:p>
        </p:txBody>
      </p:sp>
      <p:sp xmlns:a="http://schemas.openxmlformats.org/drawingml/2006/main">
        <p:nvSpPr>
          <p:cNvPr id="58" name="TextBox 57"/>
          <p:cNvSpPr txBox="1"/>
          <p:nvPr/>
        </p:nvSpPr>
        <p:spPr>
          <a:xfrm>
            <a:off x="6766560" y="2980944"/>
            <a:ext cx="4572000" cy="274320"/>
          </a:xfrm>
          <a:prstGeom prst="rect">
            <a:avLst/>
          </a:prstGeom>
          <a:noFill/>
        </p:spPr>
        <p:txBody>
          <a:bodyPr wrap="square" lIns="0" rIns="0" tIns="0" bIns="0">
            <a:spAutoFit/>
          </a:bodyPr>
          <a:lstStyle/>
          <a:p>
            <a:pPr>
              <a:spcBef>
                <a:spcPts val="0"/>
              </a:spcBef>
              <a:spcAft>
                <a:spcPts val="500"/>
              </a:spcAft>
              <a:defRPr sz="1400" b="1" lang="en-US">
                <a:solidFill>
                  <a:srgbClr val="C8102E"/>
                </a:solidFill>
                <a:latin typeface="Arial"/>
              </a:defRPr>
            </a:pPr>
            <a:r>
              <a:t>02 / GUIDE</a:t>
            </a:r>
          </a:p>
        </p:txBody>
      </p:sp>
      <p:sp xmlns:a="http://schemas.openxmlformats.org/drawingml/2006/main">
        <p:nvSpPr>
          <p:cNvPr id="59" name="TextBox 58"/>
          <p:cNvSpPr txBox="1"/>
          <p:nvPr/>
        </p:nvSpPr>
        <p:spPr>
          <a:xfrm>
            <a:off x="6766560" y="3346704"/>
            <a:ext cx="4572000" cy="539496"/>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Exclude hazardous routes; issue app and PA guidance.</a:t>
            </a:r>
          </a:p>
        </p:txBody>
      </p:sp>
      <p:sp xmlns:a="http://schemas.openxmlformats.org/drawingml/2006/main">
        <p:nvSpPr>
          <p:cNvPr id="60" name="TextBox 59"/>
          <p:cNvSpPr txBox="1"/>
          <p:nvPr/>
        </p:nvSpPr>
        <p:spPr>
          <a:xfrm>
            <a:off x="6766560" y="3913632"/>
            <a:ext cx="4572000" cy="274320"/>
          </a:xfrm>
          <a:prstGeom prst="rect">
            <a:avLst/>
          </a:prstGeom>
          <a:noFill/>
        </p:spPr>
        <p:txBody>
          <a:bodyPr wrap="square" lIns="0" rIns="0" tIns="0" bIns="0">
            <a:spAutoFit/>
          </a:bodyPr>
          <a:lstStyle/>
          <a:p>
            <a:pPr>
              <a:spcBef>
                <a:spcPts val="0"/>
              </a:spcBef>
              <a:spcAft>
                <a:spcPts val="500"/>
              </a:spcAft>
              <a:defRPr sz="1400" b="1" lang="en-US">
                <a:solidFill>
                  <a:srgbClr val="C8102E"/>
                </a:solidFill>
                <a:latin typeface="Arial"/>
              </a:defRPr>
            </a:pPr>
            <a:r>
              <a:t>03 / FIND PEOPLE</a:t>
            </a:r>
          </a:p>
        </p:txBody>
      </p:sp>
      <p:sp xmlns:a="http://schemas.openxmlformats.org/drawingml/2006/main">
        <p:nvSpPr>
          <p:cNvPr id="61" name="TextBox 60"/>
          <p:cNvSpPr txBox="1"/>
          <p:nvPr/>
        </p:nvSpPr>
        <p:spPr>
          <a:xfrm>
            <a:off x="6766560" y="4279392"/>
            <a:ext cx="4572000" cy="484632"/>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SOS requests plus proactive welfare checks.</a:t>
            </a:r>
          </a:p>
        </p:txBody>
      </p:sp>
      <p:sp xmlns:a="http://schemas.openxmlformats.org/drawingml/2006/main">
        <p:nvSpPr>
          <p:cNvPr id="62" name="TextBox 61"/>
          <p:cNvSpPr txBox="1"/>
          <p:nvPr/>
        </p:nvSpPr>
        <p:spPr>
          <a:xfrm>
            <a:off x="6766560" y="4846320"/>
            <a:ext cx="4572000" cy="274320"/>
          </a:xfrm>
          <a:prstGeom prst="rect">
            <a:avLst/>
          </a:prstGeom>
          <a:noFill/>
        </p:spPr>
        <p:txBody>
          <a:bodyPr wrap="square" lIns="0" rIns="0" tIns="0" bIns="0">
            <a:spAutoFit/>
          </a:bodyPr>
          <a:lstStyle/>
          <a:p>
            <a:pPr>
              <a:spcBef>
                <a:spcPts val="0"/>
              </a:spcBef>
              <a:spcAft>
                <a:spcPts val="500"/>
              </a:spcAft>
              <a:defRPr sz="1400" b="1" lang="en-US">
                <a:solidFill>
                  <a:srgbClr val="C8102E"/>
                </a:solidFill>
                <a:latin typeface="Arial"/>
              </a:defRPr>
            </a:pPr>
            <a:r>
              <a:t>04 / RESCUE</a:t>
            </a:r>
          </a:p>
        </p:txBody>
      </p:sp>
      <p:sp xmlns:a="http://schemas.openxmlformats.org/drawingml/2006/main">
        <p:nvSpPr>
          <p:cNvPr id="63" name="TextBox 62"/>
          <p:cNvSpPr txBox="1"/>
          <p:nvPr/>
        </p:nvSpPr>
        <p:spPr>
          <a:xfrm>
            <a:off x="6766560" y="5212080"/>
            <a:ext cx="4572000" cy="539496"/>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Teams accept tasks, update status and hand over.</a:t>
            </a:r>
          </a:p>
        </p:txBody>
      </p:sp>
      <p:sp xmlns:a="http://schemas.openxmlformats.org/drawingml/2006/main">
        <p:nvSpPr>
          <p:cNvPr id="64" name="TextBox 63"/>
          <p:cNvSpPr txBox="1"/>
          <p:nvPr/>
        </p:nvSpPr>
        <p:spPr>
          <a:xfrm>
            <a:off x="685800" y="5650992"/>
            <a:ext cx="10789920" cy="228600"/>
          </a:xfrm>
          <a:prstGeom prst="rect">
            <a:avLst/>
          </a:prstGeom>
          <a:noFill/>
        </p:spPr>
        <p:txBody>
          <a:bodyPr wrap="square" lIns="0" rIns="0" tIns="0" bIns="0">
            <a:spAutoFit/>
          </a:bodyPr>
          <a:lstStyle/>
          <a:p>
            <a:pPr>
              <a:spcBef>
                <a:spcPts val="0"/>
              </a:spcBef>
              <a:spcAft>
                <a:spcPts val="500"/>
              </a:spcAft>
              <a:defRPr sz="1100" b="0" lang="en-US">
                <a:solidFill>
                  <a:srgbClr val="52616B"/>
                </a:solidFill>
                <a:latin typeface="Arial"/>
              </a:defRPr>
            </a:pPr>
            <a:r>
              <a:t>Conceptual diagram • not a site-approved evacuation plan</a:t>
            </a:r>
          </a:p>
        </p:txBody>
      </p:sp>
    </p:spTree>
    <p:extLst>
      <p:ext uri="{BB962C8B-B14F-4D97-AF65-F5344CB8AC3E}">
        <p14:creationId xmlns:p14="http://schemas.microsoft.com/office/powerpoint/2010/main" val="9642216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proactive.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PROACTIVE RESCUE • Assistance needs + Exposure + Presence + Operator assessment</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9</a:t>
            </a:r>
          </a:p>
        </p:txBody>
      </p:sp>
    </p:spTree>
    <p:extLst>
      <p:ext uri="{BB962C8B-B14F-4D97-AF65-F5344CB8AC3E}">
        <p14:creationId xmlns:p14="http://schemas.microsoft.com/office/powerpoint/2010/main" val="19424892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PEOPLE PROFILES • PRIORITY ASSISTANCE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Understand assistance needs, beyond a person's name.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Profiles retain their source and sharing permissions and are used for the intended rescue purpose.</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10</a:t>
            </a:r>
          </a:p>
        </p:txBody>
      </p:sp>
      <p:sp xmlns:a="http://schemas.openxmlformats.org/drawingml/2006/main">
        <p:nvSpPr>
          <p:cNvPr id="35" name="Rounded Rectangle 34"/>
          <p:cNvSpPr/>
          <p:nvPr/>
        </p:nvSpPr>
        <p:spPr>
          <a:xfrm>
            <a:off x="640080" y="1993392"/>
            <a:ext cx="3794760" cy="363016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68680" y="2240280"/>
            <a:ext cx="3291840" cy="320040"/>
          </a:xfrm>
          <a:prstGeom prst="rect">
            <a:avLst/>
          </a:prstGeom>
          <a:noFill/>
        </p:spPr>
        <p:txBody>
          <a:bodyPr wrap="square" lIns="0" rIns="0" tIns="0" bIns="0">
            <a:spAutoFit/>
          </a:bodyPr>
          <a:lstStyle/>
          <a:p>
            <a:pPr>
              <a:spcBef>
                <a:spcPts val="0"/>
              </a:spcBef>
              <a:spcAft>
                <a:spcPts val="500"/>
              </a:spcAft>
              <a:defRPr sz="1600" b="1" lang="en-US">
                <a:solidFill>
                  <a:srgbClr val="05CDE0"/>
                </a:solidFill>
                <a:latin typeface="Arial"/>
              </a:defRPr>
            </a:pPr>
            <a:r>
              <a:t>CARE PROFILE</a:t>
            </a:r>
          </a:p>
        </p:txBody>
      </p:sp>
      <p:sp xmlns:a="http://schemas.openxmlformats.org/drawingml/2006/main">
        <p:nvSpPr>
          <p:cNvPr id="37" name="TextBox 36"/>
          <p:cNvSpPr txBox="1"/>
          <p:nvPr/>
        </p:nvSpPr>
        <p:spPr>
          <a:xfrm>
            <a:off x="868680" y="2788920"/>
            <a:ext cx="3291840" cy="457200"/>
          </a:xfrm>
          <a:prstGeom prst="rect">
            <a:avLst/>
          </a:prstGeom>
          <a:noFill/>
        </p:spPr>
        <p:txBody>
          <a:bodyPr wrap="square" lIns="0" rIns="0" tIns="0" bIns="0">
            <a:spAutoFit/>
          </a:bodyPr>
          <a:lstStyle/>
          <a:p>
            <a:pPr>
              <a:spcBef>
                <a:spcPts val="0"/>
              </a:spcBef>
              <a:spcAft>
                <a:spcPts val="500"/>
              </a:spcAft>
              <a:defRPr sz="2700" b="1">
                <a:solidFill>
                  <a:srgbClr val="FFFFFF"/>
                </a:solidFill>
                <a:latin typeface="Arial"/>
              </a:defRPr>
            </a:pPr>
            <a:r>
              <a:t>Minh Anh</a:t>
            </a:r>
          </a:p>
        </p:txBody>
      </p:sp>
      <p:sp xmlns:a="http://schemas.openxmlformats.org/drawingml/2006/main">
        <p:nvSpPr>
          <p:cNvPr id="38" name="TextBox 37"/>
          <p:cNvSpPr txBox="1"/>
          <p:nvPr/>
        </p:nvSpPr>
        <p:spPr>
          <a:xfrm>
            <a:off x="868680" y="3520440"/>
            <a:ext cx="3246120" cy="1737360"/>
          </a:xfrm>
          <a:prstGeom prst="rect">
            <a:avLst/>
          </a:prstGeom>
          <a:noFill/>
        </p:spPr>
        <p:txBody>
          <a:bodyPr wrap="square" lIns="0" rIns="0" tIns="0" bIns="0">
            <a:spAutoFit/>
          </a:bodyPr>
          <a:lstStyle/>
          <a:p>
            <a:pPr>
              <a:spcBef>
                <a:spcPts val="0"/>
              </a:spcBef>
              <a:spcAft>
                <a:spcPts val="500"/>
              </a:spcAft>
              <a:defRPr sz="1600" b="0" lang="en-US">
                <a:solidFill>
                  <a:srgbClr val="FFFFFF"/>
                </a:solidFill>
                <a:latin typeface="Arial"/>
              </a:defRPr>
            </a:pPr>
            <a:r>
              <a:t>Mobility assistance required</a:t>
            </a:r>
          </a:p>
          <a:p>
            <a:pPr>
              <a:spcBef>
                <a:spcPts val="0"/>
              </a:spcBef>
              <a:spcAft>
                <a:spcPts val="500"/>
              </a:spcAft>
              <a:defRPr sz="1600" b="0" lang="en-US">
                <a:solidFill>
                  <a:srgbClr val="FFFFFF"/>
                </a:solidFill>
                <a:latin typeface="Arial"/>
              </a:defRPr>
            </a:pPr>
            <a:r>
              <a:t>Audio guidance preferred</a:t>
            </a:r>
          </a:p>
          <a:p>
            <a:pPr>
              <a:spcBef>
                <a:spcPts val="0"/>
              </a:spcBef>
              <a:spcAft>
                <a:spcPts val="500"/>
              </a:spcAft>
              <a:defRPr sz="1600" b="0" lang="en-US">
                <a:solidFill>
                  <a:srgbClr val="FFFFFF"/>
                </a:solidFill>
                <a:latin typeface="Arial"/>
              </a:defRPr>
            </a:pPr>
            <a:r>
              <a:t>Emergency contact: verified</a:t>
            </a:r>
          </a:p>
          <a:p>
            <a:pPr>
              <a:spcBef>
                <a:spcPts val="0"/>
              </a:spcBef>
              <a:spcAft>
                <a:spcPts val="500"/>
              </a:spcAft>
              <a:defRPr sz="1600" b="0" lang="en-US">
                <a:solidFill>
                  <a:srgbClr val="FFFFFF"/>
                </a:solidFill>
                <a:latin typeface="Arial"/>
              </a:defRPr>
            </a:pPr>
            <a:r>
              <a:t>Last known location: floor 5</a:t>
            </a:r>
          </a:p>
          <a:p>
            <a:pPr>
              <a:spcBef>
                <a:spcPts val="0"/>
              </a:spcBef>
              <a:spcAft>
                <a:spcPts val="500"/>
              </a:spcAft>
              <a:defRPr sz="1600" b="0" lang="en-US">
                <a:solidFill>
                  <a:srgbClr val="FFFFFF"/>
                </a:solidFill>
                <a:latin typeface="Arial"/>
              </a:defRPr>
            </a:pPr>
            <a:r>
              <a:t>Data freshness: check required</a:t>
            </a:r>
          </a:p>
        </p:txBody>
      </p:sp>
      <p:sp xmlns:a="http://schemas.openxmlformats.org/drawingml/2006/main">
        <p:nvSpPr>
          <p:cNvPr id="39" name="Rectangle 38"/>
          <p:cNvSpPr/>
          <p:nvPr/>
        </p:nvSpPr>
        <p:spPr>
          <a:xfrm>
            <a:off x="4709160" y="2011680"/>
            <a:ext cx="6858000" cy="81381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846320" y="2130552"/>
            <a:ext cx="2400300" cy="69494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Purposeful data</a:t>
            </a:r>
          </a:p>
        </p:txBody>
      </p:sp>
      <p:sp xmlns:a="http://schemas.openxmlformats.org/drawingml/2006/main">
        <p:nvSpPr>
          <p:cNvPr id="41" name="TextBox 40"/>
          <p:cNvSpPr txBox="1"/>
          <p:nvPr/>
        </p:nvSpPr>
        <p:spPr>
          <a:xfrm>
            <a:off x="7315200" y="2121408"/>
            <a:ext cx="4046220" cy="72237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Age, mobility, hearing/vision and rescue-relevant conditions.</a:t>
            </a:r>
          </a:p>
        </p:txBody>
      </p:sp>
      <p:sp xmlns:a="http://schemas.openxmlformats.org/drawingml/2006/main">
        <p:nvSpPr>
          <p:cNvPr id="42" name="Rectangle 41"/>
          <p:cNvSpPr/>
          <p:nvPr/>
        </p:nvSpPr>
        <p:spPr>
          <a:xfrm>
            <a:off x="4709160" y="2907792"/>
            <a:ext cx="6858000" cy="8138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4846320" y="3026664"/>
            <a:ext cx="2400300" cy="69494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Reasoned priority</a:t>
            </a:r>
          </a:p>
        </p:txBody>
      </p:sp>
      <p:sp xmlns:a="http://schemas.openxmlformats.org/drawingml/2006/main">
        <p:nvSpPr>
          <p:cNvPr id="44" name="TextBox 43"/>
          <p:cNvSpPr txBox="1"/>
          <p:nvPr/>
        </p:nvSpPr>
        <p:spPr>
          <a:xfrm>
            <a:off x="7315200" y="3017520"/>
            <a:ext cx="4046220" cy="72237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Exposure + presence + ability to self-evacuate + condition.</a:t>
            </a:r>
          </a:p>
        </p:txBody>
      </p:sp>
      <p:sp xmlns:a="http://schemas.openxmlformats.org/drawingml/2006/main">
        <p:nvSpPr>
          <p:cNvPr id="45" name="Rectangle 44"/>
          <p:cNvSpPr/>
          <p:nvPr/>
        </p:nvSpPr>
        <p:spPr>
          <a:xfrm>
            <a:off x="4709160" y="3803904"/>
            <a:ext cx="6858000" cy="81381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4846320" y="3922776"/>
            <a:ext cx="2400300" cy="69494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Act without a tap</a:t>
            </a:r>
          </a:p>
        </p:txBody>
      </p:sp>
      <p:sp xmlns:a="http://schemas.openxmlformats.org/drawingml/2006/main">
        <p:nvSpPr>
          <p:cNvPr id="47" name="TextBox 46"/>
          <p:cNvSpPr txBox="1"/>
          <p:nvPr/>
        </p:nvSpPr>
        <p:spPr>
          <a:xfrm>
            <a:off x="7315200" y="3913632"/>
            <a:ext cx="4046220" cy="72237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Call to check, involve a caregiver or dispatch a team.</a:t>
            </a:r>
          </a:p>
        </p:txBody>
      </p:sp>
      <p:sp xmlns:a="http://schemas.openxmlformats.org/drawingml/2006/main">
        <p:nvSpPr>
          <p:cNvPr id="48" name="Rectangle 47"/>
          <p:cNvSpPr/>
          <p:nvPr/>
        </p:nvSpPr>
        <p:spPr>
          <a:xfrm>
            <a:off x="4709160" y="4700016"/>
            <a:ext cx="6858000" cy="8138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4846320" y="4818888"/>
            <a:ext cx="2400300" cy="69494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Limited disclosure</a:t>
            </a:r>
          </a:p>
        </p:txBody>
      </p:sp>
      <p:sp xmlns:a="http://schemas.openxmlformats.org/drawingml/2006/main">
        <p:nvSpPr>
          <p:cNvPr id="50" name="TextBox 49"/>
          <p:cNvSpPr txBox="1"/>
          <p:nvPr/>
        </p:nvSpPr>
        <p:spPr>
          <a:xfrm>
            <a:off x="7315200" y="4809744"/>
            <a:ext cx="4046220" cy="72237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Teams receive necessary details; family access follows permissions.</a:t>
            </a:r>
          </a:p>
        </p:txBody>
      </p:sp>
    </p:spTree>
    <p:extLst>
      <p:ext uri="{BB962C8B-B14F-4D97-AF65-F5344CB8AC3E}">
        <p14:creationId xmlns:p14="http://schemas.microsoft.com/office/powerpoint/2010/main" val="8701350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MULTI-SOURCE POSITIONING</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Reliable location is a foundation for rescue.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Match technology to the environment; always show time, floor and confidence.</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11</a:t>
            </a:r>
          </a:p>
        </p:txBody>
      </p:sp>
      <p:sp xmlns:a="http://schemas.openxmlformats.org/drawingml/2006/main">
        <p:nvSpPr>
          <p:cNvPr id="35" name="Rounded Rectangle 34"/>
          <p:cNvSpPr/>
          <p:nvPr/>
        </p:nvSpPr>
        <p:spPr>
          <a:xfrm>
            <a:off x="640080" y="2057400"/>
            <a:ext cx="3291840"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057400"/>
            <a:ext cx="50292" cy="256032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212848"/>
            <a:ext cx="2962656" cy="484632"/>
          </a:xfrm>
          <a:prstGeom prst="rect">
            <a:avLst/>
          </a:prstGeom>
          <a:noFill/>
        </p:spPr>
        <p:txBody>
          <a:bodyPr wrap="square" lIns="0" rIns="0" tIns="0" bIns="0">
            <a:spAutoFit/>
          </a:bodyPr>
          <a:lstStyle/>
          <a:p>
            <a:pPr>
              <a:spcBef>
                <a:spcPts val="0"/>
              </a:spcBef>
              <a:spcAft>
                <a:spcPts val="500"/>
              </a:spcAft>
              <a:defRPr sz="1800" b="1" lang="en-US">
                <a:solidFill>
                  <a:srgbClr val="06283F"/>
                </a:solidFill>
                <a:latin typeface="Arial"/>
              </a:defRPr>
            </a:pPr>
            <a:r>
              <a:t>OUTDOORS</a:t>
            </a:r>
          </a:p>
        </p:txBody>
      </p:sp>
      <p:sp xmlns:a="http://schemas.openxmlformats.org/drawingml/2006/main">
        <p:nvSpPr>
          <p:cNvPr id="38" name="TextBox 37"/>
          <p:cNvSpPr txBox="1"/>
          <p:nvPr/>
        </p:nvSpPr>
        <p:spPr>
          <a:xfrm>
            <a:off x="804671" y="2852928"/>
            <a:ext cx="2962656" cy="1664207"/>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GNSS / device location</a:t>
            </a:r>
          </a:p>
          <a:p>
            <a:pPr>
              <a:spcBef>
                <a:spcPts val="0"/>
              </a:spcBef>
              <a:spcAft>
                <a:spcPts val="500"/>
              </a:spcAft>
              <a:defRPr sz="1600" b="0" lang="en-US">
                <a:solidFill>
                  <a:srgbClr val="20252B"/>
                </a:solidFill>
                <a:latin typeface="Arial"/>
              </a:defRPr>
            </a:pPr>
            <a:r>
              <a:t>Address, road and direction</a:t>
            </a:r>
          </a:p>
          <a:p>
            <a:pPr>
              <a:spcBef>
                <a:spcPts val="0"/>
              </a:spcBef>
              <a:spcAft>
                <a:spcPts val="500"/>
              </a:spcAft>
              <a:defRPr sz="1600" b="0" lang="en-US">
                <a:solidFill>
                  <a:srgbClr val="20252B"/>
                </a:solidFill>
                <a:latin typeface="Arial"/>
              </a:defRPr>
            </a:pPr>
            <a:r>
              <a:t>Hazard areas and assembly points</a:t>
            </a:r>
          </a:p>
        </p:txBody>
      </p:sp>
      <p:sp xmlns:a="http://schemas.openxmlformats.org/drawingml/2006/main">
        <p:nvSpPr>
          <p:cNvPr id="39" name="Rounded Rectangle 38"/>
          <p:cNvSpPr/>
          <p:nvPr/>
        </p:nvSpPr>
        <p:spPr>
          <a:xfrm>
            <a:off x="4187952" y="2057400"/>
            <a:ext cx="3291840"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187952" y="2057400"/>
            <a:ext cx="50292" cy="256032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352544" y="2212848"/>
            <a:ext cx="2962656" cy="484632"/>
          </a:xfrm>
          <a:prstGeom prst="rect">
            <a:avLst/>
          </a:prstGeom>
          <a:noFill/>
        </p:spPr>
        <p:txBody>
          <a:bodyPr wrap="square" lIns="0" rIns="0" tIns="0" bIns="0">
            <a:spAutoFit/>
          </a:bodyPr>
          <a:lstStyle/>
          <a:p>
            <a:pPr>
              <a:spcBef>
                <a:spcPts val="0"/>
              </a:spcBef>
              <a:spcAft>
                <a:spcPts val="500"/>
              </a:spcAft>
              <a:defRPr sz="1800" b="1" lang="en-US">
                <a:solidFill>
                  <a:srgbClr val="06283F"/>
                </a:solidFill>
                <a:latin typeface="Arial"/>
              </a:defRPr>
            </a:pPr>
            <a:r>
              <a:t>INDOORS</a:t>
            </a:r>
          </a:p>
        </p:txBody>
      </p:sp>
      <p:sp xmlns:a="http://schemas.openxmlformats.org/drawingml/2006/main">
        <p:nvSpPr>
          <p:cNvPr id="42" name="TextBox 41"/>
          <p:cNvSpPr txBox="1"/>
          <p:nvPr/>
        </p:nvSpPr>
        <p:spPr>
          <a:xfrm>
            <a:off x="4352544" y="2852928"/>
            <a:ext cx="2962656" cy="1664207"/>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QR / BLE / UWB / Wi-Fi</a:t>
            </a:r>
          </a:p>
          <a:p>
            <a:pPr>
              <a:spcBef>
                <a:spcPts val="0"/>
              </a:spcBef>
              <a:spcAft>
                <a:spcPts val="500"/>
              </a:spcAft>
              <a:defRPr sz="1600" b="0" lang="en-US">
                <a:solidFill>
                  <a:srgbClr val="20252B"/>
                </a:solidFill>
                <a:latin typeface="Arial"/>
              </a:defRPr>
            </a:pPr>
            <a:r>
              <a:t>Building → floor → zone</a:t>
            </a:r>
          </a:p>
          <a:p>
            <a:pPr>
              <a:spcBef>
                <a:spcPts val="0"/>
              </a:spcBef>
              <a:spcAft>
                <a:spcPts val="500"/>
              </a:spcAft>
              <a:defRPr sz="1600" b="0" lang="en-US">
                <a:solidFill>
                  <a:srgbClr val="20252B"/>
                </a:solidFill>
                <a:latin typeface="Arial"/>
              </a:defRPr>
            </a:pPr>
            <a:r>
              <a:t>On-site survey and calibration</a:t>
            </a:r>
          </a:p>
        </p:txBody>
      </p:sp>
      <p:sp xmlns:a="http://schemas.openxmlformats.org/drawingml/2006/main">
        <p:nvSpPr>
          <p:cNvPr id="43" name="Rounded Rectangle 42"/>
          <p:cNvSpPr/>
          <p:nvPr/>
        </p:nvSpPr>
        <p:spPr>
          <a:xfrm>
            <a:off x="7735824" y="2057400"/>
            <a:ext cx="3803904"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735824" y="2057400"/>
            <a:ext cx="50292" cy="2560320"/>
          </a:xfrm>
          <a:prstGeom prst="rect">
            <a:avLst/>
          </a:prstGeom>
          <a:solidFill>
            <a:srgbClr val="A5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00416" y="2212848"/>
            <a:ext cx="3474720" cy="484632"/>
          </a:xfrm>
          <a:prstGeom prst="rect">
            <a:avLst/>
          </a:prstGeom>
          <a:noFill/>
        </p:spPr>
        <p:txBody>
          <a:bodyPr wrap="square" lIns="0" rIns="0" tIns="0" bIns="0">
            <a:spAutoFit/>
          </a:bodyPr>
          <a:lstStyle/>
          <a:p>
            <a:pPr>
              <a:spcBef>
                <a:spcPts val="0"/>
              </a:spcBef>
              <a:spcAft>
                <a:spcPts val="500"/>
              </a:spcAft>
              <a:defRPr sz="1800" b="1" lang="en-US">
                <a:solidFill>
                  <a:srgbClr val="A56A00"/>
                </a:solidFill>
                <a:latin typeface="Arial"/>
              </a:defRPr>
            </a:pPr>
            <a:r>
              <a:t>WHEN UNCERTAIN</a:t>
            </a:r>
          </a:p>
        </p:txBody>
      </p:sp>
      <p:sp xmlns:a="http://schemas.openxmlformats.org/drawingml/2006/main">
        <p:nvSpPr>
          <p:cNvPr id="46" name="TextBox 45"/>
          <p:cNvSpPr txBox="1"/>
          <p:nvPr/>
        </p:nvSpPr>
        <p:spPr>
          <a:xfrm>
            <a:off x="7900416" y="2852928"/>
            <a:ext cx="3474720" cy="1664207"/>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Select a landmark</a:t>
            </a:r>
          </a:p>
          <a:p>
            <a:pPr>
              <a:spcBef>
                <a:spcPts val="0"/>
              </a:spcBef>
              <a:spcAft>
                <a:spcPts val="500"/>
              </a:spcAft>
              <a:defRPr sz="1600" b="0" lang="en-US">
                <a:solidFill>
                  <a:srgbClr val="20252B"/>
                </a:solidFill>
                <a:latin typeface="Arial"/>
              </a:defRPr>
            </a:pPr>
            <a:r>
              <a:t>Confirm floor / location manually</a:t>
            </a:r>
          </a:p>
          <a:p>
            <a:pPr>
              <a:spcBef>
                <a:spcPts val="0"/>
              </a:spcBef>
              <a:spcAft>
                <a:spcPts val="500"/>
              </a:spcAft>
              <a:defRPr sz="1600" b="0" lang="en-US">
                <a:solidFill>
                  <a:srgbClr val="20252B"/>
                </a:solidFill>
                <a:latin typeface="Arial"/>
              </a:defRPr>
            </a:pPr>
            <a:r>
              <a:t>Assign a verification task</a:t>
            </a:r>
          </a:p>
        </p:txBody>
      </p:sp>
      <p:cxnSp xmlns:a="http://schemas.openxmlformats.org/drawingml/2006/main">
        <p:nvCxnSpPr>
          <p:cNvPr id="47" name="Connector 46"/>
          <p:cNvCxnSpPr/>
          <p:nvPr/>
        </p:nvCxnSpPr>
        <p:spPr>
          <a:xfrm>
            <a:off x="2286000" y="4754880"/>
            <a:ext cx="7315200" cy="0"/>
          </a:xfrm>
          <a:prstGeom prst="line">
            <a:avLst/>
          </a:prstGeom>
          <a:ln w="381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Rounded Rectangle 47"/>
          <p:cNvSpPr/>
          <p:nvPr/>
        </p:nvSpPr>
        <p:spPr>
          <a:xfrm>
            <a:off x="2926080" y="5074920"/>
            <a:ext cx="6309360" cy="676656"/>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3182112" y="5257800"/>
            <a:ext cx="5852160" cy="365760"/>
          </a:xfrm>
          <a:prstGeom prst="rect">
            <a:avLst/>
          </a:prstGeom>
          <a:noFill/>
        </p:spPr>
        <p:txBody>
          <a:bodyPr wrap="square" lIns="0" rIns="0" tIns="0" bIns="0">
            <a:spAutoFit/>
          </a:bodyPr>
          <a:lstStyle/>
          <a:p>
            <a:pPr>
              <a:spcBef>
                <a:spcPts val="0"/>
              </a:spcBef>
              <a:spcAft>
                <a:spcPts val="500"/>
              </a:spcAft>
              <a:defRPr sz="2000" b="1" lang="en-US">
                <a:solidFill>
                  <a:srgbClr val="FFFFFF"/>
                </a:solidFill>
                <a:latin typeface="Arial"/>
              </a:defRPr>
            </a:pPr>
            <a:r>
              <a:t>LOCATION + SOURCE + ERROR + FRESHNESS</a:t>
            </a:r>
          </a:p>
        </p:txBody>
      </p:sp>
    </p:spTree>
    <p:extLst>
      <p:ext uri="{BB962C8B-B14F-4D97-AF65-F5344CB8AC3E}">
        <p14:creationId xmlns:p14="http://schemas.microsoft.com/office/powerpoint/2010/main" val="19734098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EVACUATION ROUTE OPTIMIZATION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The best route must be feasible and suitable.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Exclude hazards first, then optimize time, congestion and accessibility needs.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12</a:t>
            </a:r>
          </a:p>
        </p:txBody>
      </p:sp>
      <p:sp xmlns:a="http://schemas.openxmlformats.org/drawingml/2006/main">
        <p:nvSpPr>
          <p:cNvPr id="35" name="Rectangle 34"/>
          <p:cNvSpPr/>
          <p:nvPr/>
        </p:nvSpPr>
        <p:spPr>
          <a:xfrm>
            <a:off x="658368" y="2011680"/>
            <a:ext cx="6492240" cy="3520440"/>
          </a:xfrm>
          <a:prstGeom prst="rect">
            <a:avLst/>
          </a:prstGeom>
          <a:solidFill>
            <a:srgbClr val="EDF3F5"/>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73151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73151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235457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235457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397763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97763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560069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60069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58952" y="3560673"/>
            <a:ext cx="6291072" cy="422452"/>
          </a:xfrm>
          <a:prstGeom prst="rect">
            <a:avLst/>
          </a:prstGeom>
          <a:solidFill>
            <a:srgbClr val="E0E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5462625" y="2103120"/>
            <a:ext cx="1493215" cy="1196949"/>
          </a:xfrm>
          <a:prstGeom prst="rect">
            <a:avLst/>
          </a:prstGeom>
          <a:solidFill>
            <a:srgbClr val="FDEBED"/>
          </a:solidFill>
          <a:ln w="889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46" name="Connector 45"/>
          <p:cNvCxnSpPr/>
          <p:nvPr/>
        </p:nvCxnSpPr>
        <p:spPr>
          <a:xfrm flipH="1">
            <a:off x="1437436" y="3771900"/>
            <a:ext cx="2921508"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437436" y="3771900"/>
            <a:ext cx="0" cy="1232154"/>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Chevron 47"/>
          <p:cNvSpPr/>
          <p:nvPr/>
        </p:nvSpPr>
        <p:spPr>
          <a:xfrm rot="10800000">
            <a:off x="2800807" y="3712463"/>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Chevron 48"/>
          <p:cNvSpPr/>
          <p:nvPr/>
        </p:nvSpPr>
        <p:spPr>
          <a:xfrm rot="5400000">
            <a:off x="1378000" y="4405579"/>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Oval 49"/>
          <p:cNvSpPr/>
          <p:nvPr/>
        </p:nvSpPr>
        <p:spPr>
          <a:xfrm>
            <a:off x="4229100" y="3631082"/>
            <a:ext cx="118872" cy="118872"/>
          </a:xfrm>
          <a:prstGeom prst="ellipse">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Oval 50"/>
          <p:cNvSpPr/>
          <p:nvPr/>
        </p:nvSpPr>
        <p:spPr>
          <a:xfrm>
            <a:off x="1242669" y="4828032"/>
            <a:ext cx="201168" cy="201168"/>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5527547" y="2194560"/>
            <a:ext cx="1363370" cy="347472"/>
          </a:xfrm>
          <a:prstGeom prst="rect">
            <a:avLst/>
          </a:prstGeom>
          <a:noFill/>
        </p:spPr>
        <p:txBody>
          <a:bodyPr wrap="square" lIns="0" rIns="0" tIns="0" bIns="0">
            <a:spAutoFit/>
          </a:bodyPr>
          <a:lstStyle/>
          <a:p>
            <a:pPr>
              <a:spcBef>
                <a:spcPts val="0"/>
              </a:spcBef>
              <a:spcAft>
                <a:spcPts val="500"/>
              </a:spcAft>
              <a:defRPr sz="1000" b="1" lang="en-US">
                <a:solidFill>
                  <a:srgbClr val="C8102E"/>
                </a:solidFill>
                <a:latin typeface="Arial"/>
              </a:defRPr>
            </a:pPr>
            <a:r>
              <a:t>HAZARD AREA</a:t>
            </a:r>
          </a:p>
        </p:txBody>
      </p:sp>
      <p:sp xmlns:a="http://schemas.openxmlformats.org/drawingml/2006/main">
        <p:nvSpPr>
          <p:cNvPr id="53" name="TextBox 52"/>
          <p:cNvSpPr txBox="1"/>
          <p:nvPr/>
        </p:nvSpPr>
        <p:spPr>
          <a:xfrm>
            <a:off x="4229100" y="3983126"/>
            <a:ext cx="502920" cy="182880"/>
          </a:xfrm>
          <a:prstGeom prst="rect">
            <a:avLst/>
          </a:prstGeom>
          <a:noFill/>
        </p:spPr>
        <p:txBody>
          <a:bodyPr wrap="square" lIns="0" rIns="0" tIns="0" bIns="0">
            <a:spAutoFit/>
          </a:bodyPr>
          <a:lstStyle/>
          <a:p>
            <a:pPr>
              <a:spcBef>
                <a:spcPts val="0"/>
              </a:spcBef>
              <a:spcAft>
                <a:spcPts val="500"/>
              </a:spcAft>
              <a:defRPr sz="1000" b="1" lang="en-US">
                <a:solidFill>
                  <a:srgbClr val="06283F"/>
                </a:solidFill>
                <a:latin typeface="Arial"/>
              </a:defRPr>
            </a:pPr>
            <a:r>
              <a:t>YOU</a:t>
            </a:r>
          </a:p>
        </p:txBody>
      </p:sp>
      <p:sp xmlns:a="http://schemas.openxmlformats.org/drawingml/2006/main">
        <p:nvSpPr>
          <p:cNvPr id="54" name="TextBox 53"/>
          <p:cNvSpPr txBox="1"/>
          <p:nvPr/>
        </p:nvSpPr>
        <p:spPr>
          <a:xfrm>
            <a:off x="731519" y="4581601"/>
            <a:ext cx="1298448" cy="219456"/>
          </a:xfrm>
          <a:prstGeom prst="rect">
            <a:avLst/>
          </a:prstGeom>
          <a:noFill/>
        </p:spPr>
        <p:txBody>
          <a:bodyPr wrap="square" lIns="0" rIns="0" tIns="0" bIns="0">
            <a:spAutoFit/>
          </a:bodyPr>
          <a:lstStyle/>
          <a:p>
            <a:pPr>
              <a:spcBef>
                <a:spcPts val="0"/>
              </a:spcBef>
              <a:spcAft>
                <a:spcPts val="500"/>
              </a:spcAft>
              <a:defRPr sz="1000" b="1" lang="en-US">
                <a:solidFill>
                  <a:srgbClr val="147D62"/>
                </a:solidFill>
                <a:latin typeface="Arial"/>
              </a:defRPr>
            </a:pPr>
            <a:r>
              <a:t>EXIT A</a:t>
            </a:r>
          </a:p>
        </p:txBody>
      </p:sp>
      <p:sp xmlns:a="http://schemas.openxmlformats.org/drawingml/2006/main">
        <p:nvSpPr>
          <p:cNvPr id="55" name="TextBox 54"/>
          <p:cNvSpPr txBox="1"/>
          <p:nvPr/>
        </p:nvSpPr>
        <p:spPr>
          <a:xfrm>
            <a:off x="2606039" y="4546396"/>
            <a:ext cx="1363370" cy="365760"/>
          </a:xfrm>
          <a:prstGeom prst="rect">
            <a:avLst/>
          </a:prstGeom>
          <a:noFill/>
        </p:spPr>
        <p:txBody>
          <a:bodyPr wrap="square" lIns="0" rIns="0" tIns="0" bIns="0">
            <a:spAutoFit/>
          </a:bodyPr>
          <a:lstStyle/>
          <a:p>
            <a:pPr>
              <a:spcBef>
                <a:spcPts val="0"/>
              </a:spcBef>
              <a:spcAft>
                <a:spcPts val="500"/>
              </a:spcAft>
              <a:defRPr sz="900" b="1" lang="en-US">
                <a:solidFill>
                  <a:srgbClr val="A56A00"/>
                </a:solidFill>
                <a:latin typeface="Arial"/>
              </a:defRPr>
            </a:pPr>
            <a:r>
              <a:t>ASSISTANCE POINT</a:t>
            </a:r>
          </a:p>
        </p:txBody>
      </p:sp>
      <p:sp xmlns:a="http://schemas.openxmlformats.org/drawingml/2006/main">
        <p:nvSpPr>
          <p:cNvPr id="56" name="Rounded Rectangle 55"/>
          <p:cNvSpPr/>
          <p:nvPr/>
        </p:nvSpPr>
        <p:spPr>
          <a:xfrm>
            <a:off x="7498079" y="2057400"/>
            <a:ext cx="3749039"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7571231" y="2107692"/>
            <a:ext cx="3602735"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01  EXCLUDE UNSAFE ROUTES</a:t>
            </a:r>
          </a:p>
        </p:txBody>
      </p:sp>
      <p:sp xmlns:a="http://schemas.openxmlformats.org/drawingml/2006/main">
        <p:nvSpPr>
          <p:cNvPr id="58" name="TextBox 57"/>
          <p:cNvSpPr txBox="1"/>
          <p:nvPr/>
        </p:nvSpPr>
        <p:spPr>
          <a:xfrm>
            <a:off x="7498079" y="2542032"/>
            <a:ext cx="3794760" cy="685800"/>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Fire, smoke, locked doors, blocked paths and expired information.</a:t>
            </a:r>
          </a:p>
        </p:txBody>
      </p:sp>
      <p:sp xmlns:a="http://schemas.openxmlformats.org/drawingml/2006/main">
        <p:nvSpPr>
          <p:cNvPr id="59" name="Rounded Rectangle 58"/>
          <p:cNvSpPr/>
          <p:nvPr/>
        </p:nvSpPr>
        <p:spPr>
          <a:xfrm>
            <a:off x="7498079" y="3337560"/>
            <a:ext cx="3749039"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0" name="TextBox 59"/>
          <p:cNvSpPr txBox="1"/>
          <p:nvPr/>
        </p:nvSpPr>
        <p:spPr>
          <a:xfrm>
            <a:off x="7571231" y="3387852"/>
            <a:ext cx="3602735"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02  SELECT A SUITABLE ROUTE</a:t>
            </a:r>
          </a:p>
        </p:txBody>
      </p:sp>
      <p:sp xmlns:a="http://schemas.openxmlformats.org/drawingml/2006/main">
        <p:nvSpPr>
          <p:cNvPr id="61" name="TextBox 60"/>
          <p:cNvSpPr txBox="1"/>
          <p:nvPr/>
        </p:nvSpPr>
        <p:spPr>
          <a:xfrm>
            <a:off x="7498079" y="3813048"/>
            <a:ext cx="3794760" cy="731520"/>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Mobility, passage capacity, confidence and estimated travel time.</a:t>
            </a:r>
          </a:p>
        </p:txBody>
      </p:sp>
      <p:sp xmlns:a="http://schemas.openxmlformats.org/drawingml/2006/main">
        <p:nvSpPr>
          <p:cNvPr id="62" name="Rounded Rectangle 61"/>
          <p:cNvSpPr/>
          <p:nvPr/>
        </p:nvSpPr>
        <p:spPr>
          <a:xfrm>
            <a:off x="7498079" y="4645152"/>
            <a:ext cx="3749039" cy="292608"/>
          </a:xfrm>
          <a:prstGeom prst="roundRect">
            <a:avLst>
              <a:gd name="adj" fmla="val 6000"/>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3" name="TextBox 62"/>
          <p:cNvSpPr txBox="1"/>
          <p:nvPr/>
        </p:nvSpPr>
        <p:spPr>
          <a:xfrm>
            <a:off x="7571231" y="4695444"/>
            <a:ext cx="3602735"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03  UPDATE AS CONDITIONS CHANGE</a:t>
            </a:r>
          </a:p>
        </p:txBody>
      </p:sp>
      <p:sp xmlns:a="http://schemas.openxmlformats.org/drawingml/2006/main">
        <p:nvSpPr>
          <p:cNvPr id="64" name="TextBox 63"/>
          <p:cNvSpPr txBox="1"/>
          <p:nvPr/>
        </p:nvSpPr>
        <p:spPr>
          <a:xfrm>
            <a:off x="7498079" y="5102352"/>
            <a:ext cx="3794760" cy="74980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Withdraw the old route and voice; request assistance if no route remains.</a:t>
            </a:r>
          </a:p>
        </p:txBody>
      </p:sp>
    </p:spTree>
    <p:extLst>
      <p:ext uri="{BB962C8B-B14F-4D97-AF65-F5344CB8AC3E}">
        <p14:creationId xmlns:p14="http://schemas.microsoft.com/office/powerpoint/2010/main" val="16766060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SMARTPHONE • VOICE • ACCESSIBILITY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142B35"/>
                </a:solidFill>
                <a:latin typeface="Segoe UI"/>
                <a:ea typeface="Arial"/>
                <a:cs typeface="Arial"/>
              </a:defRPr>
            </a:pPr>
            <a:r>
              <a:t>See the next action. Hear it when needed.</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300" b="0" lang="en-US">
                <a:solidFill>
                  <a:srgbClr val="52666F"/>
                </a:solidFill>
                <a:latin typeface="Segoe UI"/>
                <a:ea typeface="Arial"/>
                <a:cs typeface="Arial"/>
              </a:defRPr>
            </a:pPr>
            <a:r>
              <a:t>Visual guidance • recognizable landmarks • assistance within reach</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13</a:t>
            </a:r>
          </a:p>
        </p:txBody>
      </p:sp>
      <p:pic xmlns:a="http://schemas.openxmlformats.org/drawingml/2006/main" xmlns:r="http://schemas.openxmlformats.org/officeDocument/2006/relationships">
        <p:nvPicPr>
          <p:cNvPr id="35" name="Picture 34" descr="C05-en.png"/>
          <p:cNvPicPr>
            <a:picLocks noChangeAspect="1"/>
          </p:cNvPicPr>
          <p:nvPr/>
        </p:nvPicPr>
        <p:blipFill>
          <a:blip r:embed="rId6"/>
          <a:stretch>
            <a:fillRect/>
          </a:stretch>
        </p:blipFill>
        <p:spPr>
          <a:xfrm>
            <a:off x="782743" y="1938528"/>
            <a:ext cx="1772073" cy="4160520"/>
          </a:xfrm>
          <a:prstGeom prst="rect">
            <a:avLst/>
          </a:prstGeom>
        </p:spPr>
      </p:pic>
      <p:pic xmlns:a="http://schemas.openxmlformats.org/drawingml/2006/main" xmlns:r="http://schemas.openxmlformats.org/officeDocument/2006/relationships">
        <p:nvPicPr>
          <p:cNvPr id="36" name="Picture 35" descr="C35-en.png"/>
          <p:cNvPicPr>
            <a:picLocks noChangeAspect="1"/>
          </p:cNvPicPr>
          <p:nvPr/>
        </p:nvPicPr>
        <p:blipFill>
          <a:blip r:embed="rId7"/>
          <a:stretch>
            <a:fillRect/>
          </a:stretch>
        </p:blipFill>
        <p:spPr>
          <a:xfrm>
            <a:off x="3343063" y="1938528"/>
            <a:ext cx="1772073" cy="4160520"/>
          </a:xfrm>
          <a:prstGeom prst="rect">
            <a:avLst/>
          </a:prstGeom>
        </p:spPr>
      </p:pic>
      <p:pic xmlns:a="http://schemas.openxmlformats.org/drawingml/2006/main" xmlns:r="http://schemas.openxmlformats.org/officeDocument/2006/relationships">
        <p:nvPicPr>
          <p:cNvPr id="37" name="Picture 36" descr="C38-en.png"/>
          <p:cNvPicPr>
            <a:picLocks noChangeAspect="1"/>
          </p:cNvPicPr>
          <p:nvPr/>
        </p:nvPicPr>
        <p:blipFill>
          <a:blip r:embed="rId8"/>
          <a:stretch>
            <a:fillRect/>
          </a:stretch>
        </p:blipFill>
        <p:spPr>
          <a:xfrm>
            <a:off x="5903383" y="1938528"/>
            <a:ext cx="1772073" cy="4160520"/>
          </a:xfrm>
          <a:prstGeom prst="rect">
            <a:avLst/>
          </a:prstGeom>
        </p:spPr>
      </p:pic>
      <p:sp xmlns:a="http://schemas.openxmlformats.org/drawingml/2006/main">
        <p:nvSpPr>
          <p:cNvPr id="38" name="TextBox 37"/>
          <p:cNvSpPr txBox="1"/>
          <p:nvPr/>
        </p:nvSpPr>
        <p:spPr>
          <a:xfrm>
            <a:off x="8229600" y="2148840"/>
            <a:ext cx="3383280" cy="3794760"/>
          </a:xfrm>
          <a:prstGeom prst="rect">
            <a:avLst/>
          </a:prstGeom>
          <a:noFill/>
        </p:spPr>
        <p:txBody>
          <a:bodyPr wrap="square" lIns="0" rIns="0" tIns="0" bIns="0">
            <a:spAutoFit/>
          </a:bodyPr>
          <a:lstStyle/>
          <a:p>
            <a:pPr>
              <a:defRPr sz="1700" b="0">
                <a:solidFill>
                  <a:srgbClr val="142B35"/>
                </a:solidFill>
                <a:latin typeface="Segoe UI"/>
              </a:defRPr>
            </a:pPr>
            <a:r>
              <a:t>SOS BY PICTURE</a:t>
            </a:r>
          </a:p>
          <a:p>
            <a:pPr>
              <a:defRPr sz="1700" b="0">
                <a:solidFill>
                  <a:srgbClr val="142B35"/>
                </a:solidFill>
                <a:latin typeface="Segoe UI"/>
              </a:defRPr>
            </a:pPr>
            <a:r>
              <a:t>Choose the situation without a long form.</a:t>
            </a:r>
          </a:p>
          <a:p>
            <a:pPr>
              <a:defRPr sz="1700" b="0">
                <a:solidFill>
                  <a:srgbClr val="142B35"/>
                </a:solidFill>
                <a:latin typeface="Segoe UI"/>
              </a:defRPr>
            </a:pPr>
          </a:p>
          <a:p>
            <a:pPr>
              <a:defRPr sz="1700" b="0">
                <a:solidFill>
                  <a:srgbClr val="142B35"/>
                </a:solidFill>
                <a:latin typeface="Segoe UI"/>
              </a:defRPr>
            </a:pPr>
            <a:r>
              <a:t>LANDMARK GUIDANCE</a:t>
            </a:r>
          </a:p>
          <a:p>
            <a:pPr>
              <a:defRPr sz="1700" b="0">
                <a:solidFill>
                  <a:srgbClr val="142B35"/>
                </a:solidFill>
                <a:latin typeface="Segoe UI"/>
              </a:defRPr>
            </a:pPr>
            <a:r>
              <a:t>Map and next action stay together.</a:t>
            </a:r>
          </a:p>
          <a:p>
            <a:pPr>
              <a:defRPr sz="1700" b="0">
                <a:solidFill>
                  <a:srgbClr val="142B35"/>
                </a:solidFill>
                <a:latin typeface="Segoe UI"/>
              </a:defRPr>
            </a:pPr>
          </a:p>
          <a:p>
            <a:pPr>
              <a:defRPr sz="1700" b="0">
                <a:solidFill>
                  <a:srgbClr val="142B35"/>
                </a:solidFill>
                <a:latin typeface="Segoe UI"/>
              </a:defRPr>
            </a:pPr>
            <a:r>
              <a:t>NO VERIFIED ROUTE</a:t>
            </a:r>
          </a:p>
          <a:p>
            <a:pPr>
              <a:defRPr sz="1700" b="0">
                <a:solidFill>
                  <a:srgbClr val="142B35"/>
                </a:solidFill>
                <a:latin typeface="Segoe UI"/>
              </a:defRPr>
            </a:pPr>
            <a:r>
              <a:t>Withdraw arrows; offer assistance.</a:t>
            </a:r>
          </a:p>
        </p:txBody>
      </p:sp>
    </p:spTree>
    <p:extLst>
      <p:ext uri="{BB962C8B-B14F-4D97-AF65-F5344CB8AC3E}">
        <p14:creationId xmlns:p14="http://schemas.microsoft.com/office/powerpoint/2010/main" val="8776435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voice.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RESCUE AUDIO • Building PA + Smartphone voice + Drone speaker + Vehicle PA — one approved message</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14</a:t>
            </a:r>
          </a:p>
        </p:txBody>
      </p:sp>
    </p:spTree>
    <p:extLst>
      <p:ext uri="{BB962C8B-B14F-4D97-AF65-F5344CB8AC3E}">
        <p14:creationId xmlns:p14="http://schemas.microsoft.com/office/powerpoint/2010/main" val="12158897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MULTICHANNEL ALERT ORCHESTRATION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One message. The right area. The right version.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Track each delivery channel and escalate when the primary channel fails.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15</a:t>
            </a:r>
          </a:p>
        </p:txBody>
      </p:sp>
      <p:sp xmlns:a="http://schemas.openxmlformats.org/drawingml/2006/main">
        <p:nvSpPr>
          <p:cNvPr id="35" name="Rounded Rectangle 34"/>
          <p:cNvSpPr/>
          <p:nvPr/>
        </p:nvSpPr>
        <p:spPr>
          <a:xfrm>
            <a:off x="64008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148840"/>
            <a:ext cx="50292" cy="26060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304288"/>
            <a:ext cx="3054096" cy="484632"/>
          </a:xfrm>
          <a:prstGeom prst="rect">
            <a:avLst/>
          </a:prstGeom>
          <a:noFill/>
        </p:spPr>
        <p:txBody>
          <a:bodyPr wrap="square" lIns="0" rIns="0" tIns="0" bIns="0">
            <a:spAutoFit/>
          </a:bodyPr>
          <a:lstStyle/>
          <a:p>
            <a:pPr>
              <a:spcBef>
                <a:spcPts val="0"/>
              </a:spcBef>
              <a:spcAft>
                <a:spcPts val="500"/>
              </a:spcAft>
              <a:defRPr sz="1800" b="1" lang="en-US">
                <a:solidFill>
                  <a:srgbClr val="C8102E"/>
                </a:solidFill>
                <a:latin typeface="Arial"/>
              </a:defRPr>
            </a:pPr>
            <a:r>
              <a:t>01 / DRAFT &amp; APPROVE</a:t>
            </a:r>
          </a:p>
        </p:txBody>
      </p:sp>
      <p:sp xmlns:a="http://schemas.openxmlformats.org/drawingml/2006/main">
        <p:nvSpPr>
          <p:cNvPr id="38" name="TextBox 37"/>
          <p:cNvSpPr txBox="1"/>
          <p:nvPr/>
        </p:nvSpPr>
        <p:spPr>
          <a:xfrm>
            <a:off x="804671" y="2944368"/>
            <a:ext cx="3054096" cy="170992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Area, severity and language</a:t>
            </a:r>
          </a:p>
          <a:p>
            <a:pPr>
              <a:spcBef>
                <a:spcPts val="0"/>
              </a:spcBef>
              <a:spcAft>
                <a:spcPts val="500"/>
              </a:spcAft>
              <a:defRPr sz="1600" b="0" lang="en-US">
                <a:solidFill>
                  <a:srgbClr val="20252B"/>
                </a:solidFill>
                <a:latin typeface="Arial"/>
              </a:defRPr>
            </a:pPr>
            <a:r>
              <a:t>Reviewed emergency templates</a:t>
            </a:r>
          </a:p>
          <a:p>
            <a:pPr>
              <a:spcBef>
                <a:spcPts val="0"/>
              </a:spcBef>
              <a:spcAft>
                <a:spcPts val="500"/>
              </a:spcAft>
              <a:defRPr sz="1600" b="0" lang="en-US">
                <a:solidFill>
                  <a:srgbClr val="20252B"/>
                </a:solidFill>
                <a:latin typeface="Arial"/>
              </a:defRPr>
            </a:pPr>
            <a:r>
              <a:t>Approval by action type</a:t>
            </a:r>
          </a:p>
        </p:txBody>
      </p:sp>
      <p:sp xmlns:a="http://schemas.openxmlformats.org/drawingml/2006/main">
        <p:nvSpPr>
          <p:cNvPr id="39" name="Rounded Rectangle 38"/>
          <p:cNvSpPr/>
          <p:nvPr/>
        </p:nvSpPr>
        <p:spPr>
          <a:xfrm>
            <a:off x="438912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89120" y="2148840"/>
            <a:ext cx="50292" cy="260604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53712" y="2304288"/>
            <a:ext cx="3054096" cy="484632"/>
          </a:xfrm>
          <a:prstGeom prst="rect">
            <a:avLst/>
          </a:prstGeom>
          <a:noFill/>
        </p:spPr>
        <p:txBody>
          <a:bodyPr wrap="square" lIns="0" rIns="0" tIns="0" bIns="0">
            <a:spAutoFit/>
          </a:bodyPr>
          <a:lstStyle/>
          <a:p>
            <a:pPr>
              <a:spcBef>
                <a:spcPts val="0"/>
              </a:spcBef>
              <a:spcAft>
                <a:spcPts val="500"/>
              </a:spcAft>
              <a:defRPr sz="1800" b="1" lang="en-US">
                <a:solidFill>
                  <a:srgbClr val="06283F"/>
                </a:solidFill>
                <a:latin typeface="Arial"/>
              </a:defRPr>
            </a:pPr>
            <a:r>
              <a:t>02 / DISTRIBUTE</a:t>
            </a:r>
          </a:p>
        </p:txBody>
      </p:sp>
      <p:sp xmlns:a="http://schemas.openxmlformats.org/drawingml/2006/main">
        <p:nvSpPr>
          <p:cNvPr id="42" name="TextBox 41"/>
          <p:cNvSpPr txBox="1"/>
          <p:nvPr/>
        </p:nvSpPr>
        <p:spPr>
          <a:xfrm>
            <a:off x="4553712" y="2944368"/>
            <a:ext cx="3054096" cy="170992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App / push / SMS / contact</a:t>
            </a:r>
          </a:p>
          <a:p>
            <a:pPr>
              <a:spcBef>
                <a:spcPts val="0"/>
              </a:spcBef>
              <a:spcAft>
                <a:spcPts val="500"/>
              </a:spcAft>
              <a:defRPr sz="1600" b="0" lang="en-US">
                <a:solidFill>
                  <a:srgbClr val="20252B"/>
                </a:solidFill>
                <a:latin typeface="Arial"/>
              </a:defRPr>
            </a:pPr>
            <a:r>
              <a:t>Building / vehicle PA</a:t>
            </a:r>
          </a:p>
          <a:p>
            <a:pPr>
              <a:spcBef>
                <a:spcPts val="0"/>
              </a:spcBef>
              <a:spcAft>
                <a:spcPts val="500"/>
              </a:spcAft>
              <a:defRPr sz="1600" b="0" lang="en-US">
                <a:solidFill>
                  <a:srgbClr val="20252B"/>
                </a:solidFill>
                <a:latin typeface="Arial"/>
              </a:defRPr>
            </a:pPr>
            <a:r>
              <a:t>Drone by supported capability</a:t>
            </a:r>
          </a:p>
        </p:txBody>
      </p:sp>
      <p:sp xmlns:a="http://schemas.openxmlformats.org/drawingml/2006/main">
        <p:nvSpPr>
          <p:cNvPr id="43" name="Rounded Rectangle 42"/>
          <p:cNvSpPr/>
          <p:nvPr/>
        </p:nvSpPr>
        <p:spPr>
          <a:xfrm>
            <a:off x="813816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138160" y="2148840"/>
            <a:ext cx="50292" cy="2606040"/>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302752" y="2304288"/>
            <a:ext cx="3054096" cy="484632"/>
          </a:xfrm>
          <a:prstGeom prst="rect">
            <a:avLst/>
          </a:prstGeom>
          <a:noFill/>
        </p:spPr>
        <p:txBody>
          <a:bodyPr wrap="square" lIns="0" rIns="0" tIns="0" bIns="0">
            <a:spAutoFit/>
          </a:bodyPr>
          <a:lstStyle/>
          <a:p>
            <a:pPr>
              <a:spcBef>
                <a:spcPts val="0"/>
              </a:spcBef>
              <a:spcAft>
                <a:spcPts val="500"/>
              </a:spcAft>
              <a:defRPr sz="1800" b="1" lang="en-US">
                <a:solidFill>
                  <a:srgbClr val="147D62"/>
                </a:solidFill>
                <a:latin typeface="Arial"/>
              </a:defRPr>
            </a:pPr>
            <a:r>
              <a:t>03 / TRACK</a:t>
            </a:r>
          </a:p>
        </p:txBody>
      </p:sp>
      <p:sp xmlns:a="http://schemas.openxmlformats.org/drawingml/2006/main">
        <p:nvSpPr>
          <p:cNvPr id="46" name="TextBox 45"/>
          <p:cNvSpPr txBox="1"/>
          <p:nvPr/>
        </p:nvSpPr>
        <p:spPr>
          <a:xfrm>
            <a:off x="8302752" y="2944368"/>
            <a:ext cx="3054096" cy="170992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Sent / failed / unknown</a:t>
            </a:r>
          </a:p>
          <a:p>
            <a:pPr>
              <a:spcBef>
                <a:spcPts val="0"/>
              </a:spcBef>
              <a:spcAft>
                <a:spcPts val="500"/>
              </a:spcAft>
              <a:defRPr sz="1600" b="0" lang="en-US">
                <a:solidFill>
                  <a:srgbClr val="20252B"/>
                </a:solidFill>
                <a:latin typeface="Arial"/>
              </a:defRPr>
            </a:pPr>
            <a:r>
              <a:t>Played / interrupted</a:t>
            </a:r>
          </a:p>
          <a:p>
            <a:pPr>
              <a:spcBef>
                <a:spcPts val="0"/>
              </a:spcBef>
              <a:spcAft>
                <a:spcPts val="500"/>
              </a:spcAft>
              <a:defRPr sz="1600" b="0" lang="en-US">
                <a:solidFill>
                  <a:srgbClr val="20252B"/>
                </a:solidFill>
                <a:latin typeface="Arial"/>
              </a:defRPr>
            </a:pPr>
            <a:r>
              <a:t>Human confirmation / escalation</a:t>
            </a:r>
          </a:p>
        </p:txBody>
      </p:sp>
      <p:sp xmlns:a="http://schemas.openxmlformats.org/drawingml/2006/main">
        <p:nvSpPr>
          <p:cNvPr id="47" name="Chevron 46"/>
          <p:cNvSpPr/>
          <p:nvPr/>
        </p:nvSpPr>
        <p:spPr>
          <a:xfrm>
            <a:off x="4096512" y="3291840"/>
            <a:ext cx="219456"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Chevron 47"/>
          <p:cNvSpPr/>
          <p:nvPr/>
        </p:nvSpPr>
        <p:spPr>
          <a:xfrm>
            <a:off x="7845552" y="3291840"/>
            <a:ext cx="219456"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694944" y="5294376"/>
            <a:ext cx="10881360" cy="530352"/>
          </a:xfrm>
          <a:prstGeom prst="rect">
            <a:avLst/>
          </a:prstGeom>
          <a:noFill/>
        </p:spPr>
        <p:txBody>
          <a:bodyPr wrap="square" lIns="0" rIns="0" tIns="0" bIns="0">
            <a:spAutoFit/>
          </a:bodyPr>
          <a:lstStyle/>
          <a:p>
            <a:pPr>
              <a:spcBef>
                <a:spcPts val="0"/>
              </a:spcBef>
              <a:spcAft>
                <a:spcPts val="500"/>
              </a:spcAft>
              <a:defRPr sz="2200" b="1" lang="en-US">
                <a:solidFill>
                  <a:srgbClr val="C8102E"/>
                </a:solidFill>
                <a:latin typeface="Arial"/>
              </a:defRPr>
            </a:pPr>
            <a:r>
              <a:t>Send updates and cancellations to apps and affected playback devices.</a:t>
            </a:r>
          </a:p>
        </p:txBody>
      </p:sp>
    </p:spTree>
    <p:extLst>
      <p:ext uri="{BB962C8B-B14F-4D97-AF65-F5344CB8AC3E}">
        <p14:creationId xmlns:p14="http://schemas.microsoft.com/office/powerpoint/2010/main" val="14723638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SCENARIO 02 • NATURAL DISASTERS</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Area-based warnings lead to local action.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Storms, floods and widespread hazards connect warning sources, shelters and responders.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16</a:t>
            </a:r>
          </a:p>
        </p:txBody>
      </p:sp>
      <p:sp xmlns:a="http://schemas.openxmlformats.org/drawingml/2006/main">
        <p:nvSpPr>
          <p:cNvPr id="35" name="Rounded Rectangle 34"/>
          <p:cNvSpPr/>
          <p:nvPr/>
        </p:nvSpPr>
        <p:spPr>
          <a:xfrm>
            <a:off x="640080" y="2011680"/>
            <a:ext cx="6537960" cy="361188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6" name="Connector 35"/>
          <p:cNvCxnSpPr/>
          <p:nvPr/>
        </p:nvCxnSpPr>
        <p:spPr>
          <a:xfrm>
            <a:off x="822960" y="2377440"/>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822960" y="2798064"/>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822960" y="3218688"/>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822960" y="3639312"/>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822960" y="4059936"/>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822960" y="4480560"/>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822960" y="4901184"/>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09728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874519"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265176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342900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420624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498348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576072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653796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1" name="Rounded Rectangle 50"/>
          <p:cNvSpPr/>
          <p:nvPr/>
        </p:nvSpPr>
        <p:spPr>
          <a:xfrm>
            <a:off x="4389120" y="2423160"/>
            <a:ext cx="2194560" cy="1828800"/>
          </a:xfrm>
          <a:prstGeom prst="roundRect">
            <a:avLst>
              <a:gd name="adj" fmla="val 6000"/>
            </a:avLst>
          </a:prstGeom>
          <a:solidFill>
            <a:srgbClr val="8A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572000" y="2880360"/>
            <a:ext cx="1828800" cy="1005840"/>
          </a:xfrm>
          <a:prstGeom prst="rect">
            <a:avLst/>
          </a:prstGeom>
          <a:noFill/>
        </p:spPr>
        <p:txBody>
          <a:bodyPr wrap="square" lIns="0" rIns="0" tIns="0" bIns="0">
            <a:spAutoFit/>
          </a:bodyPr>
          <a:lstStyle/>
          <a:p>
            <a:pPr>
              <a:spcBef>
                <a:spcPts val="0"/>
              </a:spcBef>
              <a:spcAft>
                <a:spcPts val="500"/>
              </a:spcAft>
              <a:defRPr sz="1600" b="1" lang="en-US">
                <a:solidFill>
                  <a:srgbClr val="FFFFFF"/>
                </a:solidFill>
                <a:latin typeface="Arial"/>
              </a:defRPr>
            </a:pPr>
            <a:r>
              <a:t>WARNING AREA</a:t>
            </a:r>
          </a:p>
          <a:p>
            <a:pPr>
              <a:spcBef>
                <a:spcPts val="0"/>
              </a:spcBef>
              <a:spcAft>
                <a:spcPts val="500"/>
              </a:spcAft>
              <a:defRPr sz="1600" b="1" lang="en-US">
                <a:solidFill>
                  <a:srgbClr val="FFFFFF"/>
                </a:solidFill>
                <a:latin typeface="Arial"/>
              </a:defRPr>
            </a:pPr>
            <a:r>
              <a:t>Source • validity</a:t>
            </a:r>
          </a:p>
        </p:txBody>
      </p:sp>
      <p:cxnSp xmlns:a="http://schemas.openxmlformats.org/drawingml/2006/main">
        <p:nvCxnSpPr>
          <p:cNvPr id="53" name="Connector 52"/>
          <p:cNvCxnSpPr/>
          <p:nvPr/>
        </p:nvCxnSpPr>
        <p:spPr>
          <a:xfrm flipH="1">
            <a:off x="1920240" y="4114800"/>
            <a:ext cx="2103120"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flipV="1">
            <a:off x="1920240" y="2971800"/>
            <a:ext cx="0" cy="114300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5" name="Oval 54"/>
          <p:cNvSpPr/>
          <p:nvPr/>
        </p:nvSpPr>
        <p:spPr>
          <a:xfrm>
            <a:off x="1691640" y="2743200"/>
            <a:ext cx="457200" cy="457200"/>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1051560" y="2359152"/>
            <a:ext cx="2103120" cy="246888"/>
          </a:xfrm>
          <a:prstGeom prst="rect">
            <a:avLst/>
          </a:prstGeom>
          <a:noFill/>
        </p:spPr>
        <p:txBody>
          <a:bodyPr wrap="square" lIns="0" rIns="0" tIns="0" bIns="0">
            <a:spAutoFit/>
          </a:bodyPr>
          <a:lstStyle/>
          <a:p>
            <a:pPr>
              <a:spcBef>
                <a:spcPts val="0"/>
              </a:spcBef>
              <a:spcAft>
                <a:spcPts val="500"/>
              </a:spcAft>
              <a:defRPr sz="1300" b="1" lang="en-US">
                <a:solidFill>
                  <a:srgbClr val="FFFFFF"/>
                </a:solidFill>
                <a:latin typeface="Arial"/>
              </a:defRPr>
            </a:pPr>
            <a:r>
              <a:t>SHELTER</a:t>
            </a:r>
          </a:p>
        </p:txBody>
      </p:sp>
      <p:sp xmlns:a="http://schemas.openxmlformats.org/drawingml/2006/main">
        <p:nvSpPr>
          <p:cNvPr id="57" name="TextBox 56"/>
          <p:cNvSpPr txBox="1"/>
          <p:nvPr/>
        </p:nvSpPr>
        <p:spPr>
          <a:xfrm>
            <a:off x="914400" y="5230368"/>
            <a:ext cx="5577840" cy="228600"/>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Illustrative area diagram</a:t>
            </a:r>
          </a:p>
        </p:txBody>
      </p:sp>
      <p:sp xmlns:a="http://schemas.openxmlformats.org/drawingml/2006/main">
        <p:nvSpPr>
          <p:cNvPr id="58" name="Rectangle 57"/>
          <p:cNvSpPr/>
          <p:nvPr/>
        </p:nvSpPr>
        <p:spPr>
          <a:xfrm>
            <a:off x="7424927" y="2048256"/>
            <a:ext cx="4114800" cy="80467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9" name="TextBox 58"/>
          <p:cNvSpPr txBox="1"/>
          <p:nvPr/>
        </p:nvSpPr>
        <p:spPr>
          <a:xfrm>
            <a:off x="7562088" y="2167128"/>
            <a:ext cx="1440180" cy="685800"/>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Receive</a:t>
            </a:r>
          </a:p>
        </p:txBody>
      </p:sp>
      <p:sp xmlns:a="http://schemas.openxmlformats.org/drawingml/2006/main">
        <p:nvSpPr>
          <p:cNvPr id="60" name="TextBox 59"/>
          <p:cNvSpPr txBox="1"/>
          <p:nvPr/>
        </p:nvSpPr>
        <p:spPr>
          <a:xfrm>
            <a:off x="8988551" y="2157984"/>
            <a:ext cx="2427732" cy="71323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Authorized issuer; original, update and cancellation.</a:t>
            </a:r>
          </a:p>
        </p:txBody>
      </p:sp>
      <p:sp xmlns:a="http://schemas.openxmlformats.org/drawingml/2006/main">
        <p:nvSpPr>
          <p:cNvPr id="61" name="Rectangle 60"/>
          <p:cNvSpPr/>
          <p:nvPr/>
        </p:nvSpPr>
        <p:spPr>
          <a:xfrm>
            <a:off x="7424927" y="2935224"/>
            <a:ext cx="41148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2" name="TextBox 61"/>
          <p:cNvSpPr txBox="1"/>
          <p:nvPr/>
        </p:nvSpPr>
        <p:spPr>
          <a:xfrm>
            <a:off x="7562088" y="3054096"/>
            <a:ext cx="1440180" cy="685800"/>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Assess</a:t>
            </a:r>
          </a:p>
        </p:txBody>
      </p:sp>
      <p:sp xmlns:a="http://schemas.openxmlformats.org/drawingml/2006/main">
        <p:nvSpPr>
          <p:cNvPr id="63" name="TextBox 62"/>
          <p:cNvSpPr txBox="1"/>
          <p:nvPr/>
        </p:nvSpPr>
        <p:spPr>
          <a:xfrm>
            <a:off x="8988551" y="3044952"/>
            <a:ext cx="2427732" cy="71323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Affected area, people present and assistance needs.</a:t>
            </a:r>
          </a:p>
        </p:txBody>
      </p:sp>
      <p:sp xmlns:a="http://schemas.openxmlformats.org/drawingml/2006/main">
        <p:nvSpPr>
          <p:cNvPr id="64" name="Rectangle 63"/>
          <p:cNvSpPr/>
          <p:nvPr/>
        </p:nvSpPr>
        <p:spPr>
          <a:xfrm>
            <a:off x="7424927" y="3822191"/>
            <a:ext cx="4114800" cy="80467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5" name="TextBox 64"/>
          <p:cNvSpPr txBox="1"/>
          <p:nvPr/>
        </p:nvSpPr>
        <p:spPr>
          <a:xfrm>
            <a:off x="7562088" y="3941063"/>
            <a:ext cx="1440180" cy="685800"/>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Act</a:t>
            </a:r>
          </a:p>
        </p:txBody>
      </p:sp>
      <p:sp xmlns:a="http://schemas.openxmlformats.org/drawingml/2006/main">
        <p:nvSpPr>
          <p:cNvPr id="66" name="TextBox 65"/>
          <p:cNvSpPr txBox="1"/>
          <p:nvPr/>
        </p:nvSpPr>
        <p:spPr>
          <a:xfrm>
            <a:off x="8988551" y="3931920"/>
            <a:ext cx="2427732" cy="71323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Guidance, shelters, PA and tasks.</a:t>
            </a:r>
          </a:p>
        </p:txBody>
      </p:sp>
      <p:sp xmlns:a="http://schemas.openxmlformats.org/drawingml/2006/main">
        <p:nvSpPr>
          <p:cNvPr id="67" name="Rectangle 66"/>
          <p:cNvSpPr/>
          <p:nvPr/>
        </p:nvSpPr>
        <p:spPr>
          <a:xfrm>
            <a:off x="7424927" y="4709160"/>
            <a:ext cx="41148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 name="TextBox 67"/>
          <p:cNvSpPr txBox="1"/>
          <p:nvPr/>
        </p:nvSpPr>
        <p:spPr>
          <a:xfrm>
            <a:off x="7562088" y="4828032"/>
            <a:ext cx="1440180" cy="685800"/>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Track</a:t>
            </a:r>
          </a:p>
        </p:txBody>
      </p:sp>
      <p:sp xmlns:a="http://schemas.openxmlformats.org/drawingml/2006/main">
        <p:nvSpPr>
          <p:cNvPr id="69" name="TextBox 68"/>
          <p:cNvSpPr txBox="1"/>
          <p:nvPr/>
        </p:nvSpPr>
        <p:spPr>
          <a:xfrm>
            <a:off x="8988551" y="4818888"/>
            <a:ext cx="2427732" cy="71323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Check-ins, contact and expiry updates.</a:t>
            </a:r>
          </a:p>
        </p:txBody>
      </p:sp>
    </p:spTree>
    <p:extLst>
      <p:ext uri="{BB962C8B-B14F-4D97-AF65-F5344CB8AC3E}">
        <p14:creationId xmlns:p14="http://schemas.microsoft.com/office/powerpoint/2010/main" val="6542110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SCENARIOS 03–05 • DIFFERENT SOS INTENTS</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Different situations require different responses.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SOS, automatic detection and assistance requests are routed using their context.</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17</a:t>
            </a:r>
          </a:p>
        </p:txBody>
      </p:sp>
      <p:sp xmlns:a="http://schemas.openxmlformats.org/drawingml/2006/main">
        <p:nvSpPr>
          <p:cNvPr id="35" name="Rounded Rectangle 34"/>
          <p:cNvSpPr/>
          <p:nvPr/>
        </p:nvSpPr>
        <p:spPr>
          <a:xfrm>
            <a:off x="640080"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04671"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77823" y="2263140"/>
            <a:ext cx="3136391"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FALLS</a:t>
            </a:r>
          </a:p>
        </p:txBody>
      </p:sp>
      <p:sp xmlns:a="http://schemas.openxmlformats.org/drawingml/2006/main">
        <p:nvSpPr>
          <p:cNvPr id="38" name="TextBox 37"/>
          <p:cNvSpPr txBox="1"/>
          <p:nvPr/>
        </p:nvSpPr>
        <p:spPr>
          <a:xfrm>
            <a:off x="804671" y="2788920"/>
            <a:ext cx="3246120" cy="5943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Wearable / sensor / self-report</a:t>
            </a:r>
          </a:p>
        </p:txBody>
      </p:sp>
      <p:sp xmlns:a="http://schemas.openxmlformats.org/drawingml/2006/main">
        <p:nvSpPr>
          <p:cNvPr id="39" name="Chevron 38"/>
          <p:cNvSpPr/>
          <p:nvPr/>
        </p:nvSpPr>
        <p:spPr>
          <a:xfrm>
            <a:off x="822959"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804671" y="4069080"/>
            <a:ext cx="3246120" cy="777240"/>
          </a:xfrm>
          <a:prstGeom prst="rect">
            <a:avLst/>
          </a:prstGeom>
          <a:noFill/>
        </p:spPr>
        <p:txBody>
          <a:bodyPr wrap="square" lIns="0" rIns="0" tIns="0" bIns="0">
            <a:spAutoFit/>
          </a:bodyPr>
          <a:lstStyle/>
          <a:p>
            <a:pPr>
              <a:spcBef>
                <a:spcPts val="0"/>
              </a:spcBef>
              <a:spcAft>
                <a:spcPts val="500"/>
              </a:spcAft>
              <a:defRPr sz="1900" b="1" lang="en-US">
                <a:solidFill>
                  <a:srgbClr val="06283F"/>
                </a:solidFill>
                <a:latin typeface="Arial"/>
              </a:defRPr>
            </a:pPr>
            <a:r>
              <a:t>Check in → caregiver
→ assistance if needed</a:t>
            </a:r>
          </a:p>
        </p:txBody>
      </p:sp>
      <p:sp xmlns:a="http://schemas.openxmlformats.org/drawingml/2006/main">
        <p:nvSpPr>
          <p:cNvPr id="41" name="TextBox 40"/>
          <p:cNvSpPr txBox="1"/>
          <p:nvPr/>
        </p:nvSpPr>
        <p:spPr>
          <a:xfrm>
            <a:off x="804671" y="5074920"/>
            <a:ext cx="3246120" cy="502920"/>
          </a:xfrm>
          <a:prstGeom prst="rect">
            <a:avLst/>
          </a:prstGeom>
          <a:noFill/>
        </p:spPr>
        <p:txBody>
          <a:bodyPr wrap="square" lIns="0" rIns="0" tIns="0" bIns="0">
            <a:spAutoFit/>
          </a:bodyPr>
          <a:lstStyle/>
          <a:p>
            <a:pPr>
              <a:spcBef>
                <a:spcPts val="0"/>
              </a:spcBef>
              <a:spcAft>
                <a:spcPts val="500"/>
              </a:spcAft>
              <a:defRPr sz="1200" b="0" lang="en-US">
                <a:solidFill>
                  <a:srgbClr val="52616B"/>
                </a:solidFill>
                <a:latin typeface="Arial"/>
              </a:defRPr>
            </a:pPr>
            <a:r>
              <a:t>No response prompts a check; it is not a diagnosis.</a:t>
            </a:r>
          </a:p>
        </p:txBody>
      </p:sp>
      <p:sp xmlns:a="http://schemas.openxmlformats.org/drawingml/2006/main">
        <p:nvSpPr>
          <p:cNvPr id="42" name="Rounded Rectangle 41"/>
          <p:cNvSpPr/>
          <p:nvPr/>
        </p:nvSpPr>
        <p:spPr>
          <a:xfrm>
            <a:off x="4507992"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4672584"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4745736" y="2263140"/>
            <a:ext cx="3136391"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ROAD ACCIDENTS</a:t>
            </a:r>
          </a:p>
        </p:txBody>
      </p:sp>
      <p:sp xmlns:a="http://schemas.openxmlformats.org/drawingml/2006/main">
        <p:nvSpPr>
          <p:cNvPr id="45" name="TextBox 44"/>
          <p:cNvSpPr txBox="1"/>
          <p:nvPr/>
        </p:nvSpPr>
        <p:spPr>
          <a:xfrm>
            <a:off x="4672584" y="2788920"/>
            <a:ext cx="3246120" cy="5943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App / telematics / external source</a:t>
            </a:r>
          </a:p>
        </p:txBody>
      </p:sp>
      <p:sp xmlns:a="http://schemas.openxmlformats.org/drawingml/2006/main">
        <p:nvSpPr>
          <p:cNvPr id="46" name="Chevron 45"/>
          <p:cNvSpPr/>
          <p:nvPr/>
        </p:nvSpPr>
        <p:spPr>
          <a:xfrm>
            <a:off x="4690872"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4672584" y="4069080"/>
            <a:ext cx="3246120" cy="777240"/>
          </a:xfrm>
          <a:prstGeom prst="rect">
            <a:avLst/>
          </a:prstGeom>
          <a:noFill/>
        </p:spPr>
        <p:txBody>
          <a:bodyPr wrap="square" lIns="0" rIns="0" tIns="0" bIns="0">
            <a:spAutoFit/>
          </a:bodyPr>
          <a:lstStyle/>
          <a:p>
            <a:pPr>
              <a:spcBef>
                <a:spcPts val="0"/>
              </a:spcBef>
              <a:spcAft>
                <a:spcPts val="500"/>
              </a:spcAft>
              <a:defRPr sz="1900" b="1" lang="en-US">
                <a:solidFill>
                  <a:srgbClr val="06283F"/>
                </a:solidFill>
                <a:latin typeface="Arial"/>
              </a:defRPr>
            </a:pPr>
            <a:r>
              <a:t>Location &amp; road direction</a:t>
            </a:r>
          </a:p>
          <a:p>
            <a:pPr>
              <a:spcBef>
                <a:spcPts val="0"/>
              </a:spcBef>
              <a:spcAft>
                <a:spcPts val="500"/>
              </a:spcAft>
              <a:defRPr sz="1900" b="1" lang="en-US">
                <a:solidFill>
                  <a:srgbClr val="06283F"/>
                </a:solidFill>
                <a:latin typeface="Arial"/>
              </a:defRPr>
            </a:pPr>
            <a:r>
              <a:t>→ appropriate responders</a:t>
            </a:r>
          </a:p>
        </p:txBody>
      </p:sp>
      <p:sp xmlns:a="http://schemas.openxmlformats.org/drawingml/2006/main">
        <p:nvSpPr>
          <p:cNvPr id="48" name="TextBox 47"/>
          <p:cNvSpPr txBox="1"/>
          <p:nvPr/>
        </p:nvSpPr>
        <p:spPr>
          <a:xfrm>
            <a:off x="4672584" y="5074920"/>
            <a:ext cx="3246120" cy="502920"/>
          </a:xfrm>
          <a:prstGeom prst="rect">
            <a:avLst/>
          </a:prstGeom>
          <a:noFill/>
        </p:spPr>
        <p:txBody>
          <a:bodyPr wrap="square" lIns="0" rIns="0" tIns="0" bIns="0">
            <a:spAutoFit/>
          </a:bodyPr>
          <a:lstStyle/>
          <a:p>
            <a:pPr>
              <a:spcBef>
                <a:spcPts val="0"/>
              </a:spcBef>
              <a:spcAft>
                <a:spcPts val="500"/>
              </a:spcAft>
              <a:defRPr sz="1200" b="0" lang="en-US">
                <a:solidFill>
                  <a:srgbClr val="52616B"/>
                </a:solidFill>
                <a:latin typeface="Arial"/>
              </a:defRPr>
            </a:pPr>
            <a:r>
              <a:t>The people involved and injuries may still be unknown.</a:t>
            </a:r>
          </a:p>
        </p:txBody>
      </p:sp>
      <p:sp xmlns:a="http://schemas.openxmlformats.org/drawingml/2006/main">
        <p:nvSpPr>
          <p:cNvPr id="49" name="Rounded Rectangle 48"/>
          <p:cNvSpPr/>
          <p:nvPr/>
        </p:nvSpPr>
        <p:spPr>
          <a:xfrm>
            <a:off x="8375904"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ounded Rectangle 49"/>
          <p:cNvSpPr/>
          <p:nvPr/>
        </p:nvSpPr>
        <p:spPr>
          <a:xfrm>
            <a:off x="8540496"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613648" y="2263140"/>
            <a:ext cx="3136391"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DISCREET SOS / ASSISTANCE</a:t>
            </a:r>
          </a:p>
        </p:txBody>
      </p:sp>
      <p:sp xmlns:a="http://schemas.openxmlformats.org/drawingml/2006/main">
        <p:nvSpPr>
          <p:cNvPr id="52" name="TextBox 51"/>
          <p:cNvSpPr txBox="1"/>
          <p:nvPr/>
        </p:nvSpPr>
        <p:spPr>
          <a:xfrm>
            <a:off x="8540496" y="2788920"/>
            <a:ext cx="3246120" cy="5943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SOS button / discreet action</a:t>
            </a:r>
          </a:p>
        </p:txBody>
      </p:sp>
      <p:sp xmlns:a="http://schemas.openxmlformats.org/drawingml/2006/main">
        <p:nvSpPr>
          <p:cNvPr id="53" name="Chevron 52"/>
          <p:cNvSpPr/>
          <p:nvPr/>
        </p:nvSpPr>
        <p:spPr>
          <a:xfrm>
            <a:off x="8558784"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540496" y="4069080"/>
            <a:ext cx="3246120" cy="777240"/>
          </a:xfrm>
          <a:prstGeom prst="rect">
            <a:avLst/>
          </a:prstGeom>
          <a:noFill/>
        </p:spPr>
        <p:txBody>
          <a:bodyPr wrap="square" lIns="0" rIns="0" tIns="0" bIns="0">
            <a:spAutoFit/>
          </a:bodyPr>
          <a:lstStyle/>
          <a:p>
            <a:pPr>
              <a:spcBef>
                <a:spcPts val="0"/>
              </a:spcBef>
              <a:spcAft>
                <a:spcPts val="500"/>
              </a:spcAft>
              <a:defRPr sz="1900" b="1" lang="en-US">
                <a:solidFill>
                  <a:srgbClr val="06283F"/>
                </a:solidFill>
                <a:latin typeface="Arial"/>
              </a:defRPr>
            </a:pPr>
            <a:r>
              <a:t>Classify the need</a:t>
            </a:r>
          </a:p>
          <a:p>
            <a:pPr>
              <a:spcBef>
                <a:spcPts val="0"/>
              </a:spcBef>
              <a:spcAft>
                <a:spcPts val="500"/>
              </a:spcAft>
              <a:defRPr sz="1900" b="1" lang="en-US">
                <a:solidFill>
                  <a:srgbClr val="06283F"/>
                </a:solidFill>
                <a:latin typeface="Arial"/>
              </a:defRPr>
            </a:pPr>
            <a:r>
              <a:t>→ appropriate workflow</a:t>
            </a:r>
          </a:p>
        </p:txBody>
      </p:sp>
      <p:sp xmlns:a="http://schemas.openxmlformats.org/drawingml/2006/main">
        <p:nvSpPr>
          <p:cNvPr id="55" name="TextBox 54"/>
          <p:cNvSpPr txBox="1"/>
          <p:nvPr/>
        </p:nvSpPr>
        <p:spPr>
          <a:xfrm>
            <a:off x="8540496" y="5074920"/>
            <a:ext cx="3246120" cy="502920"/>
          </a:xfrm>
          <a:prstGeom prst="rect">
            <a:avLst/>
          </a:prstGeom>
          <a:noFill/>
        </p:spPr>
        <p:txBody>
          <a:bodyPr wrap="square" lIns="0" rIns="0" tIns="0" bIns="0">
            <a:spAutoFit/>
          </a:bodyPr>
          <a:lstStyle/>
          <a:p>
            <a:pPr>
              <a:spcBef>
                <a:spcPts val="0"/>
              </a:spcBef>
              <a:spcAft>
                <a:spcPts val="500"/>
              </a:spcAft>
              <a:defRPr sz="1200" b="0" lang="en-US">
                <a:solidFill>
                  <a:srgbClr val="52616B"/>
                </a:solidFill>
                <a:latin typeface="Arial"/>
              </a:defRPr>
            </a:pPr>
            <a:r>
              <a:t>Message content and audio must match the sensitivity.</a:t>
            </a:r>
          </a:p>
        </p:txBody>
      </p:sp>
    </p:spTree>
    <p:extLst>
      <p:ext uri="{BB962C8B-B14F-4D97-AF65-F5344CB8AC3E}">
        <p14:creationId xmlns:p14="http://schemas.microsoft.com/office/powerpoint/2010/main" val="4825071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CONTROL CENTER</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142B35"/>
                </a:solidFill>
                <a:latin typeface="Segoe UI"/>
                <a:ea typeface="Arial"/>
                <a:cs typeface="Arial"/>
              </a:defRPr>
            </a:pPr>
            <a:r>
              <a:t>An operating picture with evidence and next actions.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300" b="0" lang="en-US">
                <a:solidFill>
                  <a:srgbClr val="52666F"/>
                </a:solidFill>
                <a:latin typeface="Segoe UI"/>
                <a:ea typeface="Arial"/>
                <a:cs typeface="Arial"/>
              </a:defRPr>
            </a:pPr>
            <a:r>
              <a:t>Hazard layers • people requiring assistance • dispatch • PA • unresolved information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18</a:t>
            </a:r>
          </a:p>
        </p:txBody>
      </p:sp>
      <p:pic xmlns:a="http://schemas.openxmlformats.org/drawingml/2006/main" xmlns:r="http://schemas.openxmlformats.org/officeDocument/2006/relationships">
        <p:nvPicPr>
          <p:cNvPr id="35" name="Picture 34" descr="O04-en.png"/>
          <p:cNvPicPr>
            <a:picLocks noChangeAspect="1"/>
          </p:cNvPicPr>
          <p:nvPr/>
        </p:nvPicPr>
        <p:blipFill>
          <a:blip r:embed="rId3"/>
          <a:stretch>
            <a:fillRect/>
          </a:stretch>
        </p:blipFill>
        <p:spPr>
          <a:xfrm>
            <a:off x="961841" y="1901952"/>
            <a:ext cx="7311757" cy="4315968"/>
          </a:xfrm>
          <a:prstGeom prst="rect">
            <a:avLst/>
          </a:prstGeom>
        </p:spPr>
      </p:pic>
      <p:sp xmlns:a="http://schemas.openxmlformats.org/drawingml/2006/main">
        <p:nvSpPr>
          <p:cNvPr id="36" name="TextBox 35"/>
          <p:cNvSpPr txBox="1"/>
          <p:nvPr/>
        </p:nvSpPr>
        <p:spPr>
          <a:xfrm>
            <a:off x="8961120" y="2057400"/>
            <a:ext cx="2697480" cy="4023360"/>
          </a:xfrm>
          <a:prstGeom prst="rect">
            <a:avLst/>
          </a:prstGeom>
          <a:noFill/>
        </p:spPr>
        <p:txBody>
          <a:bodyPr wrap="square" lIns="0" rIns="0" tIns="0" bIns="0">
            <a:spAutoFit/>
          </a:bodyPr>
          <a:lstStyle/>
          <a:p>
            <a:pPr>
              <a:defRPr sz="1700" b="0">
                <a:solidFill>
                  <a:srgbClr val="142B35"/>
                </a:solidFill>
                <a:latin typeface="Segoe UI"/>
              </a:defRPr>
            </a:pPr>
            <a:r>
              <a:t>01  LOCATE</a:t>
            </a:r>
          </a:p>
          <a:p>
            <a:pPr>
              <a:defRPr sz="1700" b="0">
                <a:solidFill>
                  <a:srgbClr val="142B35"/>
                </a:solidFill>
                <a:latin typeface="Segoe UI"/>
              </a:defRPr>
            </a:pPr>
            <a:r>
              <a:t>Hazard, person and refuge in one view.</a:t>
            </a:r>
          </a:p>
          <a:p>
            <a:pPr>
              <a:defRPr sz="1700" b="0">
                <a:solidFill>
                  <a:srgbClr val="142B35"/>
                </a:solidFill>
                <a:latin typeface="Segoe UI"/>
              </a:defRPr>
            </a:pPr>
          </a:p>
          <a:p>
            <a:pPr>
              <a:defRPr sz="1700" b="0">
                <a:solidFill>
                  <a:srgbClr val="142B35"/>
                </a:solidFill>
                <a:latin typeface="Segoe UI"/>
              </a:defRPr>
            </a:pPr>
            <a:r>
              <a:t>02  PRIORITIZE</a:t>
            </a:r>
          </a:p>
          <a:p>
            <a:pPr>
              <a:defRPr sz="1700" b="0">
                <a:solidFill>
                  <a:srgbClr val="142B35"/>
                </a:solidFill>
                <a:latin typeface="Segoe UI"/>
              </a:defRPr>
            </a:pPr>
            <a:r>
              <a:t>Unconfirmed people remain visible.</a:t>
            </a:r>
          </a:p>
          <a:p>
            <a:pPr>
              <a:defRPr sz="1700" b="0">
                <a:solidFill>
                  <a:srgbClr val="142B35"/>
                </a:solidFill>
                <a:latin typeface="Segoe UI"/>
              </a:defRPr>
            </a:pPr>
          </a:p>
          <a:p>
            <a:pPr>
              <a:defRPr sz="1700" b="0">
                <a:solidFill>
                  <a:srgbClr val="142B35"/>
                </a:solidFill>
                <a:latin typeface="Segoe UI"/>
              </a:defRPr>
            </a:pPr>
            <a:r>
              <a:t>03  COORDINATE</a:t>
            </a:r>
          </a:p>
          <a:p>
            <a:pPr>
              <a:defRPr sz="1700" b="0">
                <a:solidFill>
                  <a:srgbClr val="142B35"/>
                </a:solidFill>
                <a:latin typeface="Segoe UI"/>
              </a:defRPr>
            </a:pPr>
            <a:r>
              <a:t>Dispatch and speaker coverage link to evidence.</a:t>
            </a:r>
          </a:p>
        </p:txBody>
      </p:sp>
    </p:spTree>
    <p:extLst>
      <p:ext uri="{BB962C8B-B14F-4D97-AF65-F5344CB8AC3E}">
        <p14:creationId xmlns:p14="http://schemas.microsoft.com/office/powerpoint/2010/main" val="185946615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RESPONDERS • FROM ASSIGNMENT TO HANDOVER</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142B35"/>
                </a:solidFill>
                <a:latin typeface="Segoe UI"/>
                <a:ea typeface="Arial"/>
                <a:cs typeface="Arial"/>
              </a:defRPr>
            </a:pPr>
            <a:r>
              <a:t>A rescue task that can be understood at a glance.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300" b="0" lang="en-US">
                <a:solidFill>
                  <a:srgbClr val="52666F"/>
                </a:solidFill>
                <a:latin typeface="Segoe UI"/>
                <a:ea typeface="Arial"/>
                <a:cs typeface="Arial"/>
              </a:defRPr>
            </a:pPr>
            <a:r>
              <a:t>Location • access constraints • team acceptance • field confirmation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19</a:t>
            </a:r>
          </a:p>
        </p:txBody>
      </p:sp>
      <p:pic xmlns:a="http://schemas.openxmlformats.org/drawingml/2006/main" xmlns:r="http://schemas.openxmlformats.org/officeDocument/2006/relationships">
        <p:nvPicPr>
          <p:cNvPr id="35" name="Picture 34" descr="R03-en.png"/>
          <p:cNvPicPr>
            <a:picLocks noChangeAspect="1"/>
          </p:cNvPicPr>
          <p:nvPr/>
        </p:nvPicPr>
        <p:blipFill>
          <a:blip r:embed="rId3"/>
          <a:stretch>
            <a:fillRect/>
          </a:stretch>
        </p:blipFill>
        <p:spPr>
          <a:xfrm>
            <a:off x="887306" y="1920240"/>
            <a:ext cx="1791546" cy="4206240"/>
          </a:xfrm>
          <a:prstGeom prst="rect">
            <a:avLst/>
          </a:prstGeom>
        </p:spPr>
      </p:pic>
      <p:pic xmlns:a="http://schemas.openxmlformats.org/drawingml/2006/main" xmlns:r="http://schemas.openxmlformats.org/officeDocument/2006/relationships">
        <p:nvPicPr>
          <p:cNvPr id="36" name="Picture 35" descr="R04-en.png"/>
          <p:cNvPicPr>
            <a:picLocks noChangeAspect="1"/>
          </p:cNvPicPr>
          <p:nvPr/>
        </p:nvPicPr>
        <p:blipFill>
          <a:blip r:embed="rId4"/>
          <a:stretch>
            <a:fillRect/>
          </a:stretch>
        </p:blipFill>
        <p:spPr>
          <a:xfrm>
            <a:off x="3630506" y="1920240"/>
            <a:ext cx="1791546" cy="4206240"/>
          </a:xfrm>
          <a:prstGeom prst="rect">
            <a:avLst/>
          </a:prstGeom>
        </p:spPr>
      </p:pic>
      <p:sp xmlns:a="http://schemas.openxmlformats.org/drawingml/2006/main">
        <p:nvSpPr>
          <p:cNvPr id="37" name="TextBox 36"/>
          <p:cNvSpPr txBox="1"/>
          <p:nvPr/>
        </p:nvSpPr>
        <p:spPr>
          <a:xfrm>
            <a:off x="6400800" y="2148840"/>
            <a:ext cx="5120640" cy="3840480"/>
          </a:xfrm>
          <a:prstGeom prst="rect">
            <a:avLst/>
          </a:prstGeom>
          <a:noFill/>
        </p:spPr>
        <p:txBody>
          <a:bodyPr wrap="square" lIns="0" rIns="0" tIns="0" bIns="0">
            <a:spAutoFit/>
          </a:bodyPr>
          <a:lstStyle/>
          <a:p>
            <a:pPr>
              <a:defRPr sz="2000" b="0">
                <a:solidFill>
                  <a:srgbClr val="142B35"/>
                </a:solidFill>
                <a:latin typeface="Segoe UI"/>
              </a:defRPr>
            </a:pPr>
            <a:r>
              <a:t>ASSIGN → ACCEPT → APPROACH → HAND OVER</a:t>
            </a:r>
          </a:p>
          <a:p>
            <a:pPr>
              <a:defRPr sz="2000" b="0">
                <a:solidFill>
                  <a:srgbClr val="142B35"/>
                </a:solidFill>
                <a:latin typeface="Segoe UI"/>
              </a:defRPr>
            </a:pPr>
          </a:p>
          <a:p>
            <a:pPr>
              <a:defRPr sz="2000" b="0">
                <a:solidFill>
                  <a:srgbClr val="142B35"/>
                </a:solidFill>
                <a:latin typeface="Segoe UI"/>
              </a:defRPr>
            </a:pPr>
            <a:r>
              <a:t>A map and short task brief help the responder identify the target and access constraints.</a:t>
            </a:r>
          </a:p>
          <a:p>
            <a:pPr>
              <a:defRPr sz="2000" b="0">
                <a:solidFill>
                  <a:srgbClr val="142B35"/>
                </a:solidFill>
                <a:latin typeface="Segoe UI"/>
              </a:defRPr>
            </a:pPr>
          </a:p>
          <a:p>
            <a:pPr>
              <a:defRPr sz="2000" b="0">
                <a:solidFill>
                  <a:srgbClr val="142B35"/>
                </a:solidFill>
                <a:latin typeface="Segoe UI"/>
              </a:defRPr>
            </a:pPr>
            <a:r>
              <a:t>Acceptance is distinct from arrival. Offline updates remain queued until acknowledged.</a:t>
            </a:r>
          </a:p>
          <a:p>
            <a:pPr>
              <a:defRPr sz="2000" b="0">
                <a:solidFill>
                  <a:srgbClr val="142B35"/>
                </a:solidFill>
                <a:latin typeface="Segoe UI"/>
              </a:defRPr>
            </a:pPr>
          </a:p>
          <a:p>
            <a:pPr>
              <a:defRPr sz="2000" b="0">
                <a:solidFill>
                  <a:srgbClr val="142B35"/>
                </a:solidFill>
                <a:latin typeface="Segoe UI"/>
              </a:defRPr>
            </a:pPr>
            <a:r>
              <a:t>Functional needs inform assistance; no SOS does not establish safety.</a:t>
            </a:r>
          </a:p>
        </p:txBody>
      </p:sp>
    </p:spTree>
    <p:extLst>
      <p:ext uri="{BB962C8B-B14F-4D97-AF65-F5344CB8AC3E}">
        <p14:creationId xmlns:p14="http://schemas.microsoft.com/office/powerpoint/2010/main" val="1063454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FAMILY • GROUPS • SAFETY CONFIRMATION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A safety update reaches the right recipients.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Relatives can follow status while sensitive information remains protected.</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20</a:t>
            </a:r>
          </a:p>
        </p:txBody>
      </p:sp>
      <p:pic xmlns:a="http://schemas.openxmlformats.org/drawingml/2006/main" xmlns:r="http://schemas.openxmlformats.org/officeDocument/2006/relationships">
        <p:nvPicPr>
          <p:cNvPr id="35" name="Picture 34" descr="overview.png"/>
          <p:cNvPicPr>
            <a:picLocks noChangeAspect="1"/>
          </p:cNvPicPr>
          <p:nvPr/>
        </p:nvPicPr>
        <p:blipFill>
          <a:blip r:embed="rId3"/>
          <a:srcRect l="72700" r="500" t="53500" b="13000"/>
          <a:stretch>
            <a:fillRect/>
          </a:stretch>
        </p:blipFill>
        <p:spPr>
          <a:xfrm>
            <a:off x="667512" y="2212848"/>
            <a:ext cx="3931920" cy="2432304"/>
          </a:xfrm>
          <a:prstGeom prst="rect">
            <a:avLst/>
          </a:prstGeom>
        </p:spPr>
      </p:pic>
      <p:sp xmlns:a="http://schemas.openxmlformats.org/drawingml/2006/main">
        <p:nvSpPr>
          <p:cNvPr id="36" name="TextBox 35"/>
          <p:cNvSpPr txBox="1"/>
          <p:nvPr/>
        </p:nvSpPr>
        <p:spPr>
          <a:xfrm>
            <a:off x="749808" y="5084064"/>
            <a:ext cx="3749039" cy="658368"/>
          </a:xfrm>
          <a:prstGeom prst="rect">
            <a:avLst/>
          </a:prstGeom>
          <a:noFill/>
        </p:spPr>
        <p:txBody>
          <a:bodyPr wrap="square" lIns="0" rIns="0" tIns="0" bIns="0">
            <a:spAutoFit/>
          </a:bodyPr>
          <a:lstStyle/>
          <a:p>
            <a:pPr>
              <a:spcBef>
                <a:spcPts val="0"/>
              </a:spcBef>
              <a:spcAft>
                <a:spcPts val="500"/>
              </a:spcAft>
              <a:defRPr sz="2000" b="1" lang="en-US">
                <a:solidFill>
                  <a:srgbClr val="C8102E"/>
                </a:solidFill>
                <a:latin typeface="Arial"/>
              </a:defRPr>
            </a:pPr>
            <a:r>
              <a:t>Family receives status</a:t>
            </a:r>
          </a:p>
          <a:p>
            <a:pPr>
              <a:spcBef>
                <a:spcPts val="0"/>
              </a:spcBef>
              <a:spcAft>
                <a:spcPts val="500"/>
              </a:spcAft>
              <a:defRPr sz="2000" b="1" lang="en-US">
                <a:solidFill>
                  <a:srgbClr val="C8102E"/>
                </a:solidFill>
                <a:latin typeface="Arial"/>
              </a:defRPr>
            </a:pPr>
            <a:r>
              <a:t>authorized for sharing.</a:t>
            </a:r>
          </a:p>
        </p:txBody>
      </p:sp>
      <p:sp xmlns:a="http://schemas.openxmlformats.org/drawingml/2006/main">
        <p:nvSpPr>
          <p:cNvPr id="37" name="Rounded Rectangle 36"/>
          <p:cNvSpPr/>
          <p:nvPr/>
        </p:nvSpPr>
        <p:spPr>
          <a:xfrm>
            <a:off x="4956048" y="1901952"/>
            <a:ext cx="2560320" cy="4023360"/>
          </a:xfrm>
          <a:prstGeom prst="roundRect">
            <a:avLst>
              <a:gd name="adj" fmla="val 6000"/>
            </a:avLst>
          </a:prstGeom>
          <a:solidFill>
            <a:srgbClr val="20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5015484" y="1961388"/>
            <a:ext cx="2441448" cy="390448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5800953" y="1975104"/>
            <a:ext cx="870508" cy="91440"/>
          </a:xfrm>
          <a:prstGeom prst="roundRect">
            <a:avLst>
              <a:gd name="adj" fmla="val 6000"/>
            </a:avLst>
          </a:prstGeom>
          <a:solidFill>
            <a:srgbClr val="20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5111496" y="2103120"/>
            <a:ext cx="2249424" cy="182880"/>
          </a:xfrm>
          <a:prstGeom prst="rect">
            <a:avLst/>
          </a:prstGeom>
          <a:noFill/>
        </p:spPr>
        <p:txBody>
          <a:bodyPr wrap="square" lIns="0" rIns="0" tIns="0" bIns="0">
            <a:spAutoFit/>
          </a:bodyPr>
          <a:lstStyle/>
          <a:p>
            <a:pPr>
              <a:spcBef>
                <a:spcPts val="0"/>
              </a:spcBef>
              <a:spcAft>
                <a:spcPts val="500"/>
              </a:spcAft>
              <a:defRPr sz="900" b="0">
                <a:solidFill>
                  <a:srgbClr val="52616B"/>
                </a:solidFill>
                <a:latin typeface="Arial"/>
              </a:defRPr>
            </a:pPr>
            <a:r>
              <a:t>09:42     •••</a:t>
            </a:r>
          </a:p>
        </p:txBody>
      </p:sp>
      <p:sp xmlns:a="http://schemas.openxmlformats.org/drawingml/2006/main">
        <p:nvSpPr>
          <p:cNvPr id="41" name="TextBox 40"/>
          <p:cNvSpPr txBox="1"/>
          <p:nvPr/>
        </p:nvSpPr>
        <p:spPr>
          <a:xfrm>
            <a:off x="5111496" y="2423160"/>
            <a:ext cx="2249424" cy="256032"/>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SmartAlarm</a:t>
            </a:r>
          </a:p>
        </p:txBody>
      </p:sp>
      <p:sp xmlns:a="http://schemas.openxmlformats.org/drawingml/2006/main">
        <p:nvSpPr>
          <p:cNvPr id="42" name="TextBox 41"/>
          <p:cNvSpPr txBox="1"/>
          <p:nvPr/>
        </p:nvSpPr>
        <p:spPr>
          <a:xfrm>
            <a:off x="5111496" y="2816352"/>
            <a:ext cx="2249424" cy="50292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I am safe</a:t>
            </a:r>
          </a:p>
        </p:txBody>
      </p:sp>
      <p:sp xmlns:a="http://schemas.openxmlformats.org/drawingml/2006/main">
        <p:nvSpPr>
          <p:cNvPr id="43" name="TextBox 42"/>
          <p:cNvSpPr txBox="1"/>
          <p:nvPr/>
        </p:nvSpPr>
        <p:spPr>
          <a:xfrm>
            <a:off x="5111496" y="3392424"/>
            <a:ext cx="2249424" cy="502920"/>
          </a:xfrm>
          <a:prstGeom prst="rect">
            <a:avLst/>
          </a:prstGeom>
          <a:noFill/>
        </p:spPr>
        <p:txBody>
          <a:bodyPr wrap="square" lIns="0" rIns="0" tIns="0" bIns="0">
            <a:spAutoFit/>
          </a:bodyPr>
          <a:lstStyle/>
          <a:p>
            <a:pPr>
              <a:spcBef>
                <a:spcPts val="0"/>
              </a:spcBef>
              <a:spcAft>
                <a:spcPts val="500"/>
              </a:spcAft>
              <a:defRPr sz="1200" b="0" lang="en-US">
                <a:solidFill>
                  <a:srgbClr val="52616B"/>
                </a:solidFill>
                <a:latin typeface="Arial"/>
              </a:defRPr>
            </a:pPr>
            <a:r>
              <a:t>At assembly point A</a:t>
            </a:r>
          </a:p>
        </p:txBody>
      </p:sp>
      <p:sp xmlns:a="http://schemas.openxmlformats.org/drawingml/2006/main">
        <p:nvSpPr>
          <p:cNvPr id="44" name="Oval 43"/>
          <p:cNvSpPr/>
          <p:nvPr/>
        </p:nvSpPr>
        <p:spPr>
          <a:xfrm>
            <a:off x="5788152" y="3986784"/>
            <a:ext cx="822960" cy="822960"/>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5989320" y="4114800"/>
            <a:ext cx="457200" cy="457200"/>
          </a:xfrm>
          <a:prstGeom prst="rect">
            <a:avLst/>
          </a:prstGeom>
          <a:noFill/>
        </p:spPr>
        <p:txBody>
          <a:bodyPr wrap="square" lIns="0" rIns="0" tIns="0" bIns="0">
            <a:spAutoFit/>
          </a:bodyPr>
          <a:lstStyle/>
          <a:p>
            <a:pPr>
              <a:spcBef>
                <a:spcPts val="0"/>
              </a:spcBef>
              <a:spcAft>
                <a:spcPts val="500"/>
              </a:spcAft>
              <a:defRPr sz="2800" b="1">
                <a:solidFill>
                  <a:srgbClr val="FFFFFF"/>
                </a:solidFill>
                <a:latin typeface="Arial"/>
              </a:defRPr>
            </a:pPr>
            <a:r>
              <a:t>✓</a:t>
            </a:r>
          </a:p>
        </p:txBody>
      </p:sp>
      <p:sp xmlns:a="http://schemas.openxmlformats.org/drawingml/2006/main">
        <p:nvSpPr>
          <p:cNvPr id="46" name="TextBox 45"/>
          <p:cNvSpPr txBox="1"/>
          <p:nvPr/>
        </p:nvSpPr>
        <p:spPr>
          <a:xfrm>
            <a:off x="5166360" y="5239512"/>
            <a:ext cx="2103120" cy="274320"/>
          </a:xfrm>
          <a:prstGeom prst="rect">
            <a:avLst/>
          </a:prstGeom>
          <a:noFill/>
        </p:spPr>
        <p:txBody>
          <a:bodyPr wrap="square" lIns="0" rIns="0" tIns="0" bIns="0">
            <a:spAutoFit/>
          </a:bodyPr>
          <a:lstStyle/>
          <a:p>
            <a:pPr>
              <a:spcBef>
                <a:spcPts val="0"/>
              </a:spcBef>
              <a:spcAft>
                <a:spcPts val="500"/>
              </a:spcAft>
              <a:defRPr sz="1100" b="0" lang="en-US">
                <a:solidFill>
                  <a:srgbClr val="52616B"/>
                </a:solidFill>
                <a:latin typeface="Arial"/>
              </a:defRPr>
            </a:pPr>
            <a:r>
              <a:t>09:48 • Self-reported</a:t>
            </a:r>
          </a:p>
        </p:txBody>
      </p:sp>
      <p:sp xmlns:a="http://schemas.openxmlformats.org/drawingml/2006/main">
        <p:nvSpPr>
          <p:cNvPr id="47" name="Rectangle 46"/>
          <p:cNvSpPr/>
          <p:nvPr/>
        </p:nvSpPr>
        <p:spPr>
          <a:xfrm>
            <a:off x="7863840" y="2560320"/>
            <a:ext cx="3657600" cy="8686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01000" y="2679191"/>
            <a:ext cx="1280160" cy="7498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Contacts</a:t>
            </a:r>
          </a:p>
        </p:txBody>
      </p:sp>
      <p:sp xmlns:a="http://schemas.openxmlformats.org/drawingml/2006/main">
        <p:nvSpPr>
          <p:cNvPr id="49" name="TextBox 48"/>
          <p:cNvSpPr txBox="1"/>
          <p:nvPr/>
        </p:nvSpPr>
        <p:spPr>
          <a:xfrm>
            <a:off x="9253728" y="2670048"/>
            <a:ext cx="2157984" cy="777240"/>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Authorized to receive updates.</a:t>
            </a:r>
          </a:p>
        </p:txBody>
      </p:sp>
      <p:sp xmlns:a="http://schemas.openxmlformats.org/drawingml/2006/main">
        <p:nvSpPr>
          <p:cNvPr id="50" name="Rectangle 49"/>
          <p:cNvSpPr/>
          <p:nvPr/>
        </p:nvSpPr>
        <p:spPr>
          <a:xfrm>
            <a:off x="7863840" y="3511296"/>
            <a:ext cx="36576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001000" y="3630168"/>
            <a:ext cx="1280160" cy="7498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Groups</a:t>
            </a:r>
          </a:p>
        </p:txBody>
      </p:sp>
      <p:sp xmlns:a="http://schemas.openxmlformats.org/drawingml/2006/main">
        <p:nvSpPr>
          <p:cNvPr id="52" name="TextBox 51"/>
          <p:cNvSpPr txBox="1"/>
          <p:nvPr/>
        </p:nvSpPr>
        <p:spPr>
          <a:xfrm>
            <a:off x="9253728" y="3621024"/>
            <a:ext cx="2157984" cy="777240"/>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Family / residents / colleagues.</a:t>
            </a:r>
          </a:p>
        </p:txBody>
      </p:sp>
      <p:sp xmlns:a="http://schemas.openxmlformats.org/drawingml/2006/main">
        <p:nvSpPr>
          <p:cNvPr id="53" name="Rectangle 52"/>
          <p:cNvSpPr/>
          <p:nvPr/>
        </p:nvSpPr>
        <p:spPr>
          <a:xfrm>
            <a:off x="7863840" y="4462272"/>
            <a:ext cx="3657600" cy="8686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001000" y="4581144"/>
            <a:ext cx="1280160" cy="7498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Operations</a:t>
            </a:r>
          </a:p>
        </p:txBody>
      </p:sp>
      <p:sp xmlns:a="http://schemas.openxmlformats.org/drawingml/2006/main">
        <p:nvSpPr>
          <p:cNvPr id="55" name="TextBox 54"/>
          <p:cNvSpPr txBox="1"/>
          <p:nvPr/>
        </p:nvSpPr>
        <p:spPr>
          <a:xfrm>
            <a:off x="9253728" y="4572000"/>
            <a:ext cx="2157984" cy="777240"/>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Update the person; do not automatically close the incident.</a:t>
            </a:r>
          </a:p>
        </p:txBody>
      </p:sp>
    </p:spTree>
    <p:extLst>
      <p:ext uri="{BB962C8B-B14F-4D97-AF65-F5344CB8AC3E}">
        <p14:creationId xmlns:p14="http://schemas.microsoft.com/office/powerpoint/2010/main" val="161773211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AI / LLM • REALTIME COPILOT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AI accelerates understanding, grounded in evidence.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Summarize events, compare procedures and explain options to the responsible decision-maker.</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21</a:t>
            </a:r>
          </a:p>
        </p:txBody>
      </p:sp>
      <p:sp xmlns:a="http://schemas.openxmlformats.org/drawingml/2006/main">
        <p:nvSpPr>
          <p:cNvPr id="35" name="Rounded Rectangle 34"/>
          <p:cNvSpPr/>
          <p:nvPr/>
        </p:nvSpPr>
        <p:spPr>
          <a:xfrm>
            <a:off x="640080" y="2103120"/>
            <a:ext cx="3072384"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103120"/>
            <a:ext cx="50292" cy="24963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258568"/>
            <a:ext cx="2743200" cy="484632"/>
          </a:xfrm>
          <a:prstGeom prst="rect">
            <a:avLst/>
          </a:prstGeom>
          <a:noFill/>
        </p:spPr>
        <p:txBody>
          <a:bodyPr wrap="square" lIns="0" rIns="0" tIns="0" bIns="0">
            <a:spAutoFit/>
          </a:bodyPr>
          <a:lstStyle/>
          <a:p>
            <a:pPr>
              <a:spcBef>
                <a:spcPts val="0"/>
              </a:spcBef>
              <a:spcAft>
                <a:spcPts val="500"/>
              </a:spcAft>
              <a:defRPr sz="1800" b="1" lang="en-US">
                <a:solidFill>
                  <a:srgbClr val="06283F"/>
                </a:solidFill>
                <a:latin typeface="Arial"/>
              </a:defRPr>
            </a:pPr>
            <a:r>
              <a:t>EVIDENCE</a:t>
            </a:r>
          </a:p>
        </p:txBody>
      </p:sp>
      <p:sp xmlns:a="http://schemas.openxmlformats.org/drawingml/2006/main">
        <p:nvSpPr>
          <p:cNvPr id="38" name="TextBox 37"/>
          <p:cNvSpPr txBox="1"/>
          <p:nvPr/>
        </p:nvSpPr>
        <p:spPr>
          <a:xfrm>
            <a:off x="804671" y="2898648"/>
            <a:ext cx="2743200" cy="160020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Events &amp; timestamps</a:t>
            </a:r>
          </a:p>
          <a:p>
            <a:pPr>
              <a:spcBef>
                <a:spcPts val="0"/>
              </a:spcBef>
              <a:spcAft>
                <a:spcPts val="500"/>
              </a:spcAft>
              <a:defRPr sz="1600" b="0" lang="en-US">
                <a:solidFill>
                  <a:srgbClr val="20252B"/>
                </a:solidFill>
                <a:latin typeface="Arial"/>
              </a:defRPr>
            </a:pPr>
            <a:r>
              <a:t>Location &amp; confidence</a:t>
            </a:r>
          </a:p>
          <a:p>
            <a:pPr>
              <a:spcBef>
                <a:spcPts val="0"/>
              </a:spcBef>
              <a:spcAft>
                <a:spcPts val="500"/>
              </a:spcAft>
              <a:defRPr sz="1600" b="0" lang="en-US">
                <a:solidFill>
                  <a:srgbClr val="20252B"/>
                </a:solidFill>
                <a:latin typeface="Arial"/>
              </a:defRPr>
            </a:pPr>
            <a:r>
              <a:t>Versioned SOPs / maps</a:t>
            </a:r>
          </a:p>
        </p:txBody>
      </p:sp>
      <p:sp xmlns:a="http://schemas.openxmlformats.org/drawingml/2006/main">
        <p:nvSpPr>
          <p:cNvPr id="39" name="Rounded Rectangle 38"/>
          <p:cNvSpPr/>
          <p:nvPr/>
        </p:nvSpPr>
        <p:spPr>
          <a:xfrm>
            <a:off x="4142232" y="2103120"/>
            <a:ext cx="3639312"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142232" y="2103120"/>
            <a:ext cx="50292" cy="249631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306824" y="2258568"/>
            <a:ext cx="3310128" cy="484632"/>
          </a:xfrm>
          <a:prstGeom prst="rect">
            <a:avLst/>
          </a:prstGeom>
          <a:noFill/>
        </p:spPr>
        <p:txBody>
          <a:bodyPr wrap="square" lIns="0" rIns="0" tIns="0" bIns="0">
            <a:spAutoFit/>
          </a:bodyPr>
          <a:lstStyle/>
          <a:p>
            <a:pPr>
              <a:spcBef>
                <a:spcPts val="0"/>
              </a:spcBef>
              <a:spcAft>
                <a:spcPts val="500"/>
              </a:spcAft>
              <a:defRPr sz="1800" b="1" lang="en-US">
                <a:solidFill>
                  <a:srgbClr val="C8102E"/>
                </a:solidFill>
                <a:latin typeface="Arial"/>
              </a:defRPr>
            </a:pPr>
            <a:r>
              <a:t>ANALYSIS</a:t>
            </a:r>
          </a:p>
        </p:txBody>
      </p:sp>
      <p:sp xmlns:a="http://schemas.openxmlformats.org/drawingml/2006/main">
        <p:nvSpPr>
          <p:cNvPr id="42" name="TextBox 41"/>
          <p:cNvSpPr txBox="1"/>
          <p:nvPr/>
        </p:nvSpPr>
        <p:spPr>
          <a:xfrm>
            <a:off x="4306824" y="2898648"/>
            <a:ext cx="3310128" cy="160020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Summarize changes</a:t>
            </a:r>
          </a:p>
          <a:p>
            <a:pPr>
              <a:spcBef>
                <a:spcPts val="0"/>
              </a:spcBef>
              <a:spcAft>
                <a:spcPts val="500"/>
              </a:spcAft>
              <a:defRPr sz="1600" b="0" lang="en-US">
                <a:solidFill>
                  <a:srgbClr val="20252B"/>
                </a:solidFill>
                <a:latin typeface="Arial"/>
              </a:defRPr>
            </a:pPr>
            <a:r>
              <a:t>Identify missing information</a:t>
            </a:r>
          </a:p>
          <a:p>
            <a:pPr>
              <a:spcBef>
                <a:spcPts val="0"/>
              </a:spcBef>
              <a:spcAft>
                <a:spcPts val="500"/>
              </a:spcAft>
              <a:defRPr sz="1600" b="0" lang="en-US">
                <a:solidFill>
                  <a:srgbClr val="20252B"/>
                </a:solidFill>
                <a:latin typeface="Arial"/>
              </a:defRPr>
            </a:pPr>
            <a:r>
              <a:t>Recommend options &amp; rationale</a:t>
            </a:r>
          </a:p>
        </p:txBody>
      </p:sp>
      <p:sp xmlns:a="http://schemas.openxmlformats.org/drawingml/2006/main">
        <p:nvSpPr>
          <p:cNvPr id="43" name="Rounded Rectangle 42"/>
          <p:cNvSpPr/>
          <p:nvPr/>
        </p:nvSpPr>
        <p:spPr>
          <a:xfrm>
            <a:off x="8211312" y="2103120"/>
            <a:ext cx="3337560"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211312" y="2103120"/>
            <a:ext cx="50292" cy="2496312"/>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375904" y="2258568"/>
            <a:ext cx="3008376" cy="484632"/>
          </a:xfrm>
          <a:prstGeom prst="rect">
            <a:avLst/>
          </a:prstGeom>
          <a:noFill/>
        </p:spPr>
        <p:txBody>
          <a:bodyPr wrap="square" lIns="0" rIns="0" tIns="0" bIns="0">
            <a:spAutoFit/>
          </a:bodyPr>
          <a:lstStyle/>
          <a:p>
            <a:pPr>
              <a:spcBef>
                <a:spcPts val="0"/>
              </a:spcBef>
              <a:spcAft>
                <a:spcPts val="500"/>
              </a:spcAft>
              <a:defRPr sz="1800" b="1" lang="en-US">
                <a:solidFill>
                  <a:srgbClr val="147D62"/>
                </a:solidFill>
                <a:latin typeface="Arial"/>
              </a:defRPr>
            </a:pPr>
            <a:r>
              <a:t>DECISION</a:t>
            </a:r>
          </a:p>
        </p:txBody>
      </p:sp>
      <p:sp xmlns:a="http://schemas.openxmlformats.org/drawingml/2006/main">
        <p:nvSpPr>
          <p:cNvPr id="46" name="TextBox 45"/>
          <p:cNvSpPr txBox="1"/>
          <p:nvPr/>
        </p:nvSpPr>
        <p:spPr>
          <a:xfrm>
            <a:off x="8375904" y="2898648"/>
            <a:ext cx="3008376" cy="160020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Operator assessment</a:t>
            </a:r>
          </a:p>
          <a:p>
            <a:pPr>
              <a:spcBef>
                <a:spcPts val="0"/>
              </a:spcBef>
              <a:spcAft>
                <a:spcPts val="500"/>
              </a:spcAft>
              <a:defRPr sz="1600" b="0" lang="en-US">
                <a:solidFill>
                  <a:srgbClr val="20252B"/>
                </a:solidFill>
                <a:latin typeface="Arial"/>
              </a:defRPr>
            </a:pPr>
            <a:r>
              <a:t>Workflow authorization</a:t>
            </a:r>
          </a:p>
          <a:p>
            <a:pPr>
              <a:spcBef>
                <a:spcPts val="0"/>
              </a:spcBef>
              <a:spcAft>
                <a:spcPts val="500"/>
              </a:spcAft>
              <a:defRPr sz="1600" b="0" lang="en-US">
                <a:solidFill>
                  <a:srgbClr val="20252B"/>
                </a:solidFill>
                <a:latin typeface="Arial"/>
              </a:defRPr>
            </a:pPr>
            <a:r>
              <a:t>Engine / device execution</a:t>
            </a:r>
          </a:p>
        </p:txBody>
      </p:sp>
      <p:sp xmlns:a="http://schemas.openxmlformats.org/drawingml/2006/main">
        <p:nvSpPr>
          <p:cNvPr id="47" name="Chevron 46"/>
          <p:cNvSpPr/>
          <p:nvPr/>
        </p:nvSpPr>
        <p:spPr>
          <a:xfrm>
            <a:off x="3803904" y="3200400"/>
            <a:ext cx="22860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Chevron 47"/>
          <p:cNvSpPr/>
          <p:nvPr/>
        </p:nvSpPr>
        <p:spPr>
          <a:xfrm>
            <a:off x="7891272" y="3200400"/>
            <a:ext cx="22860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Rectangle 48"/>
          <p:cNvSpPr/>
          <p:nvPr/>
        </p:nvSpPr>
        <p:spPr>
          <a:xfrm>
            <a:off x="640080" y="4983480"/>
            <a:ext cx="10908792" cy="71323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TextBox 49"/>
          <p:cNvSpPr txBox="1"/>
          <p:nvPr/>
        </p:nvSpPr>
        <p:spPr>
          <a:xfrm>
            <a:off x="850392" y="5166360"/>
            <a:ext cx="10515600" cy="411480"/>
          </a:xfrm>
          <a:prstGeom prst="rect">
            <a:avLst/>
          </a:prstGeom>
          <a:noFill/>
        </p:spPr>
        <p:txBody>
          <a:bodyPr wrap="square" lIns="0" rIns="0" tIns="0" bIns="0">
            <a:spAutoFit/>
          </a:bodyPr>
          <a:lstStyle/>
          <a:p>
            <a:pPr>
              <a:spcBef>
                <a:spcPts val="0"/>
              </a:spcBef>
              <a:spcAft>
                <a:spcPts val="500"/>
              </a:spcAft>
              <a:defRPr sz="1800" b="1" lang="en-US">
                <a:solidFill>
                  <a:srgbClr val="FFFFFF"/>
                </a:solidFill>
                <a:latin typeface="Arial"/>
              </a:defRPr>
            </a:pPr>
            <a:r>
              <a:t>If AI is unavailable, alerts, SOS, tested routing and rescue workflows continue to operate.</a:t>
            </a:r>
          </a:p>
        </p:txBody>
      </p:sp>
    </p:spTree>
    <p:extLst>
      <p:ext uri="{BB962C8B-B14F-4D97-AF65-F5344CB8AC3E}">
        <p14:creationId xmlns:p14="http://schemas.microsoft.com/office/powerpoint/2010/main" val="7993097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FUNCTIONAL ARCHITECTURE • ALL IN ONE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Two hubs connect the capabilities of SmartAlarm.</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Build on FireEscape's Alarm Hub + Integration Hub model for a long-term platform.</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22</a:t>
            </a:r>
          </a:p>
        </p:txBody>
      </p:sp>
      <p:sp xmlns:a="http://schemas.openxmlformats.org/drawingml/2006/main">
        <p:nvSpPr>
          <p:cNvPr id="35" name="Rectangle 34"/>
          <p:cNvSpPr/>
          <p:nvPr/>
        </p:nvSpPr>
        <p:spPr>
          <a:xfrm>
            <a:off x="640080" y="1938528"/>
            <a:ext cx="10908792" cy="43891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048256"/>
            <a:ext cx="2103120" cy="219456"/>
          </a:xfrm>
          <a:prstGeom prst="rect">
            <a:avLst/>
          </a:prstGeom>
          <a:noFill/>
        </p:spPr>
        <p:txBody>
          <a:bodyPr wrap="square" lIns="0" rIns="0" tIns="0" bIns="0">
            <a:spAutoFit/>
          </a:bodyPr>
          <a:lstStyle/>
          <a:p>
            <a:pPr>
              <a:spcBef>
                <a:spcPts val="0"/>
              </a:spcBef>
              <a:spcAft>
                <a:spcPts val="500"/>
              </a:spcAft>
              <a:defRPr sz="1200" b="1" lang="en-US">
                <a:solidFill>
                  <a:srgbClr val="C8102E"/>
                </a:solidFill>
                <a:latin typeface="Arial"/>
              </a:defRPr>
            </a:pPr>
            <a:r>
              <a:t>PEOPLE</a:t>
            </a:r>
          </a:p>
        </p:txBody>
      </p:sp>
      <p:sp xmlns:a="http://schemas.openxmlformats.org/drawingml/2006/main">
        <p:nvSpPr>
          <p:cNvPr id="37" name="TextBox 36"/>
          <p:cNvSpPr txBox="1"/>
          <p:nvPr/>
        </p:nvSpPr>
        <p:spPr>
          <a:xfrm>
            <a:off x="2880360" y="2029968"/>
            <a:ext cx="8366760" cy="265176"/>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Individuals • family • responders • command • administrators • partners</a:t>
            </a:r>
          </a:p>
        </p:txBody>
      </p:sp>
      <p:sp xmlns:a="http://schemas.openxmlformats.org/drawingml/2006/main">
        <p:nvSpPr>
          <p:cNvPr id="38" name="Rectangle 37"/>
          <p:cNvSpPr/>
          <p:nvPr/>
        </p:nvSpPr>
        <p:spPr>
          <a:xfrm>
            <a:off x="640080" y="2496312"/>
            <a:ext cx="10908792" cy="43891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606040"/>
            <a:ext cx="2103120" cy="219456"/>
          </a:xfrm>
          <a:prstGeom prst="rect">
            <a:avLst/>
          </a:prstGeom>
          <a:noFill/>
        </p:spPr>
        <p:txBody>
          <a:bodyPr wrap="square" lIns="0" rIns="0" tIns="0" bIns="0">
            <a:spAutoFit/>
          </a:bodyPr>
          <a:lstStyle/>
          <a:p>
            <a:pPr>
              <a:spcBef>
                <a:spcPts val="0"/>
              </a:spcBef>
              <a:spcAft>
                <a:spcPts val="500"/>
              </a:spcAft>
              <a:defRPr sz="1200" b="1" lang="en-US">
                <a:solidFill>
                  <a:srgbClr val="C8102E"/>
                </a:solidFill>
                <a:latin typeface="Arial"/>
              </a:defRPr>
            </a:pPr>
            <a:r>
              <a:t>EXPERIENCES</a:t>
            </a:r>
          </a:p>
        </p:txBody>
      </p:sp>
      <p:sp xmlns:a="http://schemas.openxmlformats.org/drawingml/2006/main">
        <p:nvSpPr>
          <p:cNvPr id="40" name="TextBox 39"/>
          <p:cNvSpPr txBox="1"/>
          <p:nvPr/>
        </p:nvSpPr>
        <p:spPr>
          <a:xfrm>
            <a:off x="2880360" y="2587752"/>
            <a:ext cx="8366760" cy="265176"/>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Smartphone • web command • field app • portals • PA &amp; voice</a:t>
            </a:r>
          </a:p>
        </p:txBody>
      </p:sp>
      <p:sp xmlns:a="http://schemas.openxmlformats.org/drawingml/2006/main">
        <p:nvSpPr>
          <p:cNvPr id="41" name="Rounded Rectangle 40"/>
          <p:cNvSpPr/>
          <p:nvPr/>
        </p:nvSpPr>
        <p:spPr>
          <a:xfrm>
            <a:off x="640080" y="3246120"/>
            <a:ext cx="6830568" cy="169164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68680" y="3456432"/>
            <a:ext cx="6309360" cy="320040"/>
          </a:xfrm>
          <a:prstGeom prst="rect">
            <a:avLst/>
          </a:prstGeom>
          <a:noFill/>
        </p:spPr>
        <p:txBody>
          <a:bodyPr wrap="square" lIns="0" rIns="0" tIns="0" bIns="0">
            <a:spAutoFit/>
          </a:bodyPr>
          <a:lstStyle/>
          <a:p>
            <a:pPr>
              <a:spcBef>
                <a:spcPts val="0"/>
              </a:spcBef>
              <a:spcAft>
                <a:spcPts val="500"/>
              </a:spcAft>
              <a:defRPr sz="2100" b="1">
                <a:solidFill>
                  <a:srgbClr val="05CDE0"/>
                </a:solidFill>
                <a:latin typeface="Arial"/>
              </a:defRPr>
            </a:pPr>
            <a:r>
              <a:t>SMART ALARM HUB</a:t>
            </a:r>
          </a:p>
        </p:txBody>
      </p:sp>
      <p:sp xmlns:a="http://schemas.openxmlformats.org/drawingml/2006/main">
        <p:nvSpPr>
          <p:cNvPr id="43" name="TextBox 42"/>
          <p:cNvSpPr txBox="1"/>
          <p:nvPr/>
        </p:nvSpPr>
        <p:spPr>
          <a:xfrm>
            <a:off x="868680" y="4041648"/>
            <a:ext cx="6263640" cy="685800"/>
          </a:xfrm>
          <a:prstGeom prst="rect">
            <a:avLst/>
          </a:prstGeom>
          <a:noFill/>
        </p:spPr>
        <p:txBody>
          <a:bodyPr wrap="square" lIns="0" rIns="0" tIns="0" bIns="0">
            <a:spAutoFit/>
          </a:bodyPr>
          <a:lstStyle/>
          <a:p>
            <a:pPr>
              <a:spcBef>
                <a:spcPts val="0"/>
              </a:spcBef>
              <a:spcAft>
                <a:spcPts val="500"/>
              </a:spcAft>
              <a:defRPr sz="1700" b="0" lang="en-US">
                <a:solidFill>
                  <a:srgbClr val="FFFFFF"/>
                </a:solidFill>
                <a:latin typeface="Arial"/>
              </a:defRPr>
            </a:pPr>
            <a:r>
              <a:t>Event → Incident → Warning → Task → Confirmation</a:t>
            </a:r>
          </a:p>
          <a:p>
            <a:pPr>
              <a:spcBef>
                <a:spcPts val="0"/>
              </a:spcBef>
              <a:spcAft>
                <a:spcPts val="500"/>
              </a:spcAft>
              <a:defRPr sz="1700" b="0" lang="en-US">
                <a:solidFill>
                  <a:srgbClr val="FFFFFF"/>
                </a:solidFill>
                <a:latin typeface="Arial"/>
              </a:defRPr>
            </a:pPr>
            <a:r>
              <a:t>Positioning • Routing • Care • Proactive rescue • AI copilot</a:t>
            </a:r>
          </a:p>
        </p:txBody>
      </p:sp>
      <p:sp xmlns:a="http://schemas.openxmlformats.org/drawingml/2006/main">
        <p:nvSpPr>
          <p:cNvPr id="44" name="Rounded Rectangle 43"/>
          <p:cNvSpPr/>
          <p:nvPr/>
        </p:nvSpPr>
        <p:spPr>
          <a:xfrm>
            <a:off x="7708392" y="3246120"/>
            <a:ext cx="3840480" cy="169164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36992" y="3456432"/>
            <a:ext cx="3337560" cy="320040"/>
          </a:xfrm>
          <a:prstGeom prst="rect">
            <a:avLst/>
          </a:prstGeom>
          <a:noFill/>
        </p:spPr>
        <p:txBody>
          <a:bodyPr wrap="square" lIns="0" rIns="0" tIns="0" bIns="0">
            <a:spAutoFit/>
          </a:bodyPr>
          <a:lstStyle/>
          <a:p>
            <a:pPr>
              <a:spcBef>
                <a:spcPts val="0"/>
              </a:spcBef>
              <a:spcAft>
                <a:spcPts val="500"/>
              </a:spcAft>
              <a:defRPr sz="2100" b="1">
                <a:solidFill>
                  <a:srgbClr val="05CDE0"/>
                </a:solidFill>
                <a:latin typeface="Arial"/>
              </a:defRPr>
            </a:pPr>
            <a:r>
              <a:t>INTEGRATION HUB</a:t>
            </a:r>
          </a:p>
        </p:txBody>
      </p:sp>
      <p:sp xmlns:a="http://schemas.openxmlformats.org/drawingml/2006/main">
        <p:nvSpPr>
          <p:cNvPr id="46" name="TextBox 45"/>
          <p:cNvSpPr txBox="1"/>
          <p:nvPr/>
        </p:nvSpPr>
        <p:spPr>
          <a:xfrm>
            <a:off x="7936992" y="4041648"/>
            <a:ext cx="3291840" cy="822960"/>
          </a:xfrm>
          <a:prstGeom prst="rect">
            <a:avLst/>
          </a:prstGeom>
          <a:noFill/>
        </p:spPr>
        <p:txBody>
          <a:bodyPr wrap="square" lIns="0" rIns="0" tIns="0" bIns="0">
            <a:spAutoFit/>
          </a:bodyPr>
          <a:lstStyle/>
          <a:p>
            <a:pPr>
              <a:spcBef>
                <a:spcPts val="0"/>
              </a:spcBef>
              <a:spcAft>
                <a:spcPts val="500"/>
              </a:spcAft>
              <a:defRPr sz="1700" b="0" lang="en-US">
                <a:solidFill>
                  <a:srgbClr val="FFFFFF"/>
                </a:solidFill>
                <a:latin typeface="Arial"/>
              </a:defRPr>
            </a:pPr>
            <a:r>
              <a:rPr sz="1500"/>
              <a:t>IoT • PA • cameras • drones
Fire panels • pumps • valves
Rescue robots</a:t>
            </a:r>
          </a:p>
        </p:txBody>
      </p:sp>
      <p:cxnSp xmlns:a="http://schemas.openxmlformats.org/drawingml/2006/main">
        <p:nvCxnSpPr>
          <p:cNvPr id="47" name="Connector 46"/>
          <p:cNvCxnSpPr/>
          <p:nvPr/>
        </p:nvCxnSpPr>
        <p:spPr>
          <a:xfrm>
            <a:off x="7479792" y="4069080"/>
            <a:ext cx="219456" cy="0"/>
          </a:xfrm>
          <a:prstGeom prst="line">
            <a:avLst/>
          </a:prstGeom>
          <a:ln w="38100">
            <a:solidFill>
              <a:srgbClr val="C8102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Rectangle 47"/>
          <p:cNvSpPr/>
          <p:nvPr/>
        </p:nvSpPr>
        <p:spPr>
          <a:xfrm>
            <a:off x="640080" y="5148072"/>
            <a:ext cx="10908792" cy="612648"/>
          </a:xfrm>
          <a:prstGeom prst="rect">
            <a:avLst/>
          </a:prstGeom>
          <a:solidFill>
            <a:srgbClr val="FDEB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859536" y="5330952"/>
            <a:ext cx="10469880" cy="274320"/>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SHARED PLATFORM   Tenant • Access • Data • Event bus • Audit • Observability • Multi-region operations</a:t>
            </a:r>
          </a:p>
        </p:txBody>
      </p:sp>
    </p:spTree>
    <p:extLst>
      <p:ext uri="{BB962C8B-B14F-4D97-AF65-F5344CB8AC3E}">
        <p14:creationId xmlns:p14="http://schemas.microsoft.com/office/powerpoint/2010/main" val="2895395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SMART ALARM HUB • BUSINESS CORE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From a raw signal to a unified rescue case.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Extend capabilities through clear domains, data ownership and versioned contracts.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23</a:t>
            </a:r>
          </a:p>
        </p:txBody>
      </p:sp>
      <p:sp xmlns:a="http://schemas.openxmlformats.org/drawingml/2006/main">
        <p:nvSpPr>
          <p:cNvPr id="35" name="Rectangle 34"/>
          <p:cNvSpPr/>
          <p:nvPr/>
        </p:nvSpPr>
        <p:spPr>
          <a:xfrm>
            <a:off x="658368"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49808"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EVENT</a:t>
            </a:r>
          </a:p>
        </p:txBody>
      </p:sp>
      <p:sp xmlns:a="http://schemas.openxmlformats.org/drawingml/2006/main">
        <p:nvSpPr>
          <p:cNvPr id="37" name="TextBox 36"/>
          <p:cNvSpPr txBox="1"/>
          <p:nvPr/>
        </p:nvSpPr>
        <p:spPr>
          <a:xfrm>
            <a:off x="694944" y="2788920"/>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Normalize</a:t>
            </a:r>
          </a:p>
          <a:p>
            <a:pPr>
              <a:spcBef>
                <a:spcPts val="0"/>
              </a:spcBef>
              <a:spcAft>
                <a:spcPts val="500"/>
              </a:spcAft>
              <a:defRPr sz="1600" b="0" lang="en-US">
                <a:solidFill>
                  <a:srgbClr val="20252B"/>
                </a:solidFill>
                <a:latin typeface="Arial"/>
              </a:defRPr>
            </a:pPr>
            <a:r>
              <a:t>Deduplicate</a:t>
            </a:r>
          </a:p>
          <a:p>
            <a:pPr>
              <a:spcBef>
                <a:spcPts val="0"/>
              </a:spcBef>
              <a:spcAft>
                <a:spcPts val="500"/>
              </a:spcAft>
              <a:defRPr sz="1600" b="0" lang="en-US">
                <a:solidFill>
                  <a:srgbClr val="20252B"/>
                </a:solidFill>
                <a:latin typeface="Arial"/>
              </a:defRPr>
            </a:pPr>
            <a:r>
              <a:t>Preserve source</a:t>
            </a:r>
          </a:p>
        </p:txBody>
      </p:sp>
      <p:sp xmlns:a="http://schemas.openxmlformats.org/drawingml/2006/main">
        <p:nvSpPr>
          <p:cNvPr id="38" name="Chevron 37"/>
          <p:cNvSpPr/>
          <p:nvPr/>
        </p:nvSpPr>
        <p:spPr>
          <a:xfrm>
            <a:off x="3250692"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3429000"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3520440"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INCIDENT</a:t>
            </a:r>
          </a:p>
        </p:txBody>
      </p:sp>
      <p:sp xmlns:a="http://schemas.openxmlformats.org/drawingml/2006/main">
        <p:nvSpPr>
          <p:cNvPr id="41" name="TextBox 40"/>
          <p:cNvSpPr txBox="1"/>
          <p:nvPr/>
        </p:nvSpPr>
        <p:spPr>
          <a:xfrm>
            <a:off x="3465576" y="2788920"/>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Correlate</a:t>
            </a:r>
          </a:p>
          <a:p>
            <a:pPr>
              <a:spcBef>
                <a:spcPts val="0"/>
              </a:spcBef>
              <a:spcAft>
                <a:spcPts val="500"/>
              </a:spcAft>
              <a:defRPr sz="1600" b="0" lang="en-US">
                <a:solidFill>
                  <a:srgbClr val="20252B"/>
                </a:solidFill>
                <a:latin typeface="Arial"/>
              </a:defRPr>
            </a:pPr>
            <a:r>
              <a:t>Verify</a:t>
            </a:r>
          </a:p>
          <a:p>
            <a:pPr>
              <a:spcBef>
                <a:spcPts val="0"/>
              </a:spcBef>
              <a:spcAft>
                <a:spcPts val="500"/>
              </a:spcAft>
              <a:defRPr sz="1600" b="0" lang="en-US">
                <a:solidFill>
                  <a:srgbClr val="20252B"/>
                </a:solidFill>
                <a:latin typeface="Arial"/>
              </a:defRPr>
            </a:pPr>
            <a:r>
              <a:t>Affected area</a:t>
            </a:r>
          </a:p>
        </p:txBody>
      </p:sp>
      <p:sp xmlns:a="http://schemas.openxmlformats.org/drawingml/2006/main">
        <p:nvSpPr>
          <p:cNvPr id="42" name="Chevron 41"/>
          <p:cNvSpPr/>
          <p:nvPr/>
        </p:nvSpPr>
        <p:spPr>
          <a:xfrm>
            <a:off x="6021324"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6199632"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6291072"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RESPONSE</a:t>
            </a:r>
          </a:p>
        </p:txBody>
      </p:sp>
      <p:sp xmlns:a="http://schemas.openxmlformats.org/drawingml/2006/main">
        <p:nvSpPr>
          <p:cNvPr id="45" name="TextBox 44"/>
          <p:cNvSpPr txBox="1"/>
          <p:nvPr/>
        </p:nvSpPr>
        <p:spPr>
          <a:xfrm>
            <a:off x="6236208" y="2788920"/>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Warn</a:t>
            </a:r>
          </a:p>
          <a:p>
            <a:pPr>
              <a:spcBef>
                <a:spcPts val="0"/>
              </a:spcBef>
              <a:spcAft>
                <a:spcPts val="500"/>
              </a:spcAft>
              <a:defRPr sz="1600" b="0" lang="en-US">
                <a:solidFill>
                  <a:srgbClr val="20252B"/>
                </a:solidFill>
                <a:latin typeface="Arial"/>
              </a:defRPr>
            </a:pPr>
            <a:r>
              <a:t>Guide</a:t>
            </a:r>
          </a:p>
          <a:p>
            <a:pPr>
              <a:spcBef>
                <a:spcPts val="0"/>
              </a:spcBef>
              <a:spcAft>
                <a:spcPts val="500"/>
              </a:spcAft>
              <a:defRPr sz="1600" b="0" lang="en-US">
                <a:solidFill>
                  <a:srgbClr val="20252B"/>
                </a:solidFill>
                <a:latin typeface="Arial"/>
              </a:defRPr>
            </a:pPr>
            <a:r>
              <a:t>Assign</a:t>
            </a:r>
          </a:p>
        </p:txBody>
      </p:sp>
      <p:sp xmlns:a="http://schemas.openxmlformats.org/drawingml/2006/main">
        <p:nvSpPr>
          <p:cNvPr id="46" name="Chevron 45"/>
          <p:cNvSpPr/>
          <p:nvPr/>
        </p:nvSpPr>
        <p:spPr>
          <a:xfrm>
            <a:off x="8791956"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8970264" y="2148840"/>
            <a:ext cx="256946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9061704"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04  PERSON</a:t>
            </a:r>
          </a:p>
        </p:txBody>
      </p:sp>
      <p:sp xmlns:a="http://schemas.openxmlformats.org/drawingml/2006/main">
        <p:nvSpPr>
          <p:cNvPr id="49" name="TextBox 48"/>
          <p:cNvSpPr txBox="1"/>
          <p:nvPr/>
        </p:nvSpPr>
        <p:spPr>
          <a:xfrm>
            <a:off x="9006840" y="2788920"/>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SOS / assistance</a:t>
            </a:r>
          </a:p>
          <a:p>
            <a:pPr>
              <a:spcBef>
                <a:spcPts val="0"/>
              </a:spcBef>
              <a:spcAft>
                <a:spcPts val="500"/>
              </a:spcAft>
              <a:defRPr sz="1600" b="0" lang="en-US">
                <a:solidFill>
                  <a:srgbClr val="20252B"/>
                </a:solidFill>
                <a:latin typeface="Arial"/>
              </a:defRPr>
            </a:pPr>
            <a:r>
              <a:t>Make contact</a:t>
            </a:r>
          </a:p>
          <a:p>
            <a:pPr>
              <a:spcBef>
                <a:spcPts val="0"/>
              </a:spcBef>
              <a:spcAft>
                <a:spcPts val="500"/>
              </a:spcAft>
              <a:defRPr sz="1600" b="0" lang="en-US">
                <a:solidFill>
                  <a:srgbClr val="20252B"/>
                </a:solidFill>
                <a:latin typeface="Arial"/>
              </a:defRPr>
            </a:pPr>
            <a:r>
              <a:t>Confirm</a:t>
            </a:r>
          </a:p>
        </p:txBody>
      </p:sp>
      <p:sp xmlns:a="http://schemas.openxmlformats.org/drawingml/2006/main">
        <p:nvSpPr>
          <p:cNvPr id="50" name="Rectangle 49"/>
          <p:cNvSpPr/>
          <p:nvPr/>
        </p:nvSpPr>
        <p:spPr>
          <a:xfrm>
            <a:off x="667512" y="4361688"/>
            <a:ext cx="10881360" cy="39319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04672" y="4480559"/>
            <a:ext cx="3808476" cy="2926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Shared context</a:t>
            </a:r>
          </a:p>
        </p:txBody>
      </p:sp>
      <p:sp xmlns:a="http://schemas.openxmlformats.org/drawingml/2006/main">
        <p:nvSpPr>
          <p:cNvPr id="52" name="TextBox 51"/>
          <p:cNvSpPr txBox="1"/>
          <p:nvPr/>
        </p:nvSpPr>
        <p:spPr>
          <a:xfrm>
            <a:off x="4802428" y="4471416"/>
            <a:ext cx="6420002" cy="30175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Tenant • site • person • location • time • evidence</a:t>
            </a:r>
          </a:p>
        </p:txBody>
      </p:sp>
      <p:sp xmlns:a="http://schemas.openxmlformats.org/drawingml/2006/main">
        <p:nvSpPr>
          <p:cNvPr id="53" name="Rectangle 52"/>
          <p:cNvSpPr/>
          <p:nvPr/>
        </p:nvSpPr>
        <p:spPr>
          <a:xfrm>
            <a:off x="667512" y="4837175"/>
            <a:ext cx="1088136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04672" y="4956047"/>
            <a:ext cx="3808476" cy="2926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Supporting capabilities</a:t>
            </a:r>
          </a:p>
        </p:txBody>
      </p:sp>
      <p:sp xmlns:a="http://schemas.openxmlformats.org/drawingml/2006/main">
        <p:nvSpPr>
          <p:cNvPr id="55" name="TextBox 54"/>
          <p:cNvSpPr txBox="1"/>
          <p:nvPr/>
        </p:nvSpPr>
        <p:spPr>
          <a:xfrm>
            <a:off x="4802428" y="4946903"/>
            <a:ext cx="6420002" cy="30175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engine • care/presence • voice • collaboration • AI</a:t>
            </a:r>
          </a:p>
        </p:txBody>
      </p:sp>
      <p:sp xmlns:a="http://schemas.openxmlformats.org/drawingml/2006/main">
        <p:nvSpPr>
          <p:cNvPr id="56" name="Rectangle 55"/>
          <p:cNvSpPr/>
          <p:nvPr/>
        </p:nvSpPr>
        <p:spPr>
          <a:xfrm>
            <a:off x="667512" y="5312664"/>
            <a:ext cx="10881360" cy="39319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804672" y="5431536"/>
            <a:ext cx="3808476" cy="2926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Operational assurance</a:t>
            </a:r>
          </a:p>
        </p:txBody>
      </p:sp>
      <p:sp xmlns:a="http://schemas.openxmlformats.org/drawingml/2006/main">
        <p:nvSpPr>
          <p:cNvPr id="58" name="TextBox 57"/>
          <p:cNvSpPr txBox="1"/>
          <p:nvPr/>
        </p:nvSpPr>
        <p:spPr>
          <a:xfrm>
            <a:off x="4802428" y="5422392"/>
            <a:ext cx="6420002" cy="30175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Durable workflows • audit • idempotency • recovery</a:t>
            </a:r>
          </a:p>
        </p:txBody>
      </p:sp>
    </p:spTree>
    <p:extLst>
      <p:ext uri="{BB962C8B-B14F-4D97-AF65-F5344CB8AC3E}">
        <p14:creationId xmlns:p14="http://schemas.microsoft.com/office/powerpoint/2010/main" val="10650626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INTEGRATION HUB • RAPID CONNECTION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Add solutions through connectors, with a stable core.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Declare capabilities, adapt protocols and verify behavior before enabling operations.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24</a:t>
            </a:r>
          </a:p>
        </p:txBody>
      </p:sp>
      <p:sp xmlns:a="http://schemas.openxmlformats.org/drawingml/2006/main">
        <p:nvSpPr>
          <p:cNvPr id="35" name="Rectangle 34"/>
          <p:cNvSpPr/>
          <p:nvPr/>
        </p:nvSpPr>
        <p:spPr>
          <a:xfrm>
            <a:off x="658368" y="196596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084831"/>
            <a:ext cx="2592323" cy="53035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Declare</a:t>
            </a:r>
          </a:p>
        </p:txBody>
      </p:sp>
      <p:sp xmlns:a="http://schemas.openxmlformats.org/drawingml/2006/main">
        <p:nvSpPr>
          <p:cNvPr id="37" name="TextBox 36"/>
          <p:cNvSpPr txBox="1"/>
          <p:nvPr/>
        </p:nvSpPr>
        <p:spPr>
          <a:xfrm>
            <a:off x="3472891" y="2075688"/>
            <a:ext cx="4369917" cy="55778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Device / source • tenant/site • capability • schema version</a:t>
            </a:r>
          </a:p>
        </p:txBody>
      </p:sp>
      <p:sp xmlns:a="http://schemas.openxmlformats.org/drawingml/2006/main">
        <p:nvSpPr>
          <p:cNvPr id="38" name="Rectangle 37"/>
          <p:cNvSpPr/>
          <p:nvPr/>
        </p:nvSpPr>
        <p:spPr>
          <a:xfrm>
            <a:off x="658368" y="2697480"/>
            <a:ext cx="74066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16352"/>
            <a:ext cx="2592323" cy="53035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Connect</a:t>
            </a:r>
          </a:p>
        </p:txBody>
      </p:sp>
      <p:sp xmlns:a="http://schemas.openxmlformats.org/drawingml/2006/main">
        <p:nvSpPr>
          <p:cNvPr id="40" name="TextBox 39"/>
          <p:cNvSpPr txBox="1"/>
          <p:nvPr/>
        </p:nvSpPr>
        <p:spPr>
          <a:xfrm>
            <a:off x="3472891" y="2807208"/>
            <a:ext cx="4369917" cy="55778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MQTT / HTTP / webhook / gateway • SDK or adapter</a:t>
            </a:r>
          </a:p>
        </p:txBody>
      </p:sp>
      <p:sp xmlns:a="http://schemas.openxmlformats.org/drawingml/2006/main">
        <p:nvSpPr>
          <p:cNvPr id="41" name="Rectangle 40"/>
          <p:cNvSpPr/>
          <p:nvPr/>
        </p:nvSpPr>
        <p:spPr>
          <a:xfrm>
            <a:off x="658368" y="342900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47872"/>
            <a:ext cx="2592323" cy="53035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Normalize</a:t>
            </a:r>
          </a:p>
        </p:txBody>
      </p:sp>
      <p:sp xmlns:a="http://schemas.openxmlformats.org/drawingml/2006/main">
        <p:nvSpPr>
          <p:cNvPr id="43" name="TextBox 42"/>
          <p:cNvSpPr txBox="1"/>
          <p:nvPr/>
        </p:nvSpPr>
        <p:spPr>
          <a:xfrm>
            <a:off x="3472891" y="3538728"/>
            <a:ext cx="4369917" cy="55778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Identity • timestamp • quality • event and command envelopes</a:t>
            </a:r>
          </a:p>
        </p:txBody>
      </p:sp>
      <p:sp xmlns:a="http://schemas.openxmlformats.org/drawingml/2006/main">
        <p:nvSpPr>
          <p:cNvPr id="44" name="Rectangle 43"/>
          <p:cNvSpPr/>
          <p:nvPr/>
        </p:nvSpPr>
        <p:spPr>
          <a:xfrm>
            <a:off x="658368" y="4160520"/>
            <a:ext cx="74066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4279392"/>
            <a:ext cx="2592323" cy="53035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Verify</a:t>
            </a:r>
          </a:p>
        </p:txBody>
      </p:sp>
      <p:sp xmlns:a="http://schemas.openxmlformats.org/drawingml/2006/main">
        <p:nvSpPr>
          <p:cNvPr id="46" name="TextBox 45"/>
          <p:cNvSpPr txBox="1"/>
          <p:nvPr/>
        </p:nvSpPr>
        <p:spPr>
          <a:xfrm>
            <a:off x="3472891" y="4270248"/>
            <a:ext cx="4369917" cy="55778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Dedupe • disconnection • timeout • permissions • compatibility</a:t>
            </a:r>
          </a:p>
        </p:txBody>
      </p:sp>
      <p:sp xmlns:a="http://schemas.openxmlformats.org/drawingml/2006/main">
        <p:nvSpPr>
          <p:cNvPr id="47" name="Rectangle 46"/>
          <p:cNvSpPr/>
          <p:nvPr/>
        </p:nvSpPr>
        <p:spPr>
          <a:xfrm>
            <a:off x="658368" y="489204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5010912"/>
            <a:ext cx="2592323" cy="53035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Operate</a:t>
            </a:r>
          </a:p>
        </p:txBody>
      </p:sp>
      <p:sp xmlns:a="http://schemas.openxmlformats.org/drawingml/2006/main">
        <p:nvSpPr>
          <p:cNvPr id="49" name="TextBox 48"/>
          <p:cNvSpPr txBox="1"/>
          <p:nvPr/>
        </p:nvSpPr>
        <p:spPr>
          <a:xfrm>
            <a:off x="3472891" y="5001768"/>
            <a:ext cx="4369917" cy="55778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Health • credential rotation • replay • revoke • upgrades</a:t>
            </a:r>
          </a:p>
        </p:txBody>
      </p:sp>
      <p:sp xmlns:a="http://schemas.openxmlformats.org/drawingml/2006/main">
        <p:nvSpPr>
          <p:cNvPr id="50" name="Rounded Rectangle 49"/>
          <p:cNvSpPr/>
          <p:nvPr/>
        </p:nvSpPr>
        <p:spPr>
          <a:xfrm>
            <a:off x="8366760" y="1984248"/>
            <a:ext cx="3154680" cy="365760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595360" y="2258568"/>
            <a:ext cx="2697480" cy="365760"/>
          </a:xfrm>
          <a:prstGeom prst="rect">
            <a:avLst/>
          </a:prstGeom>
          <a:noFill/>
        </p:spPr>
        <p:txBody>
          <a:bodyPr wrap="square" lIns="0" rIns="0" tIns="0" bIns="0">
            <a:spAutoFit/>
          </a:bodyPr>
          <a:lstStyle/>
          <a:p>
            <a:pPr>
              <a:spcBef>
                <a:spcPts val="0"/>
              </a:spcBef>
              <a:spcAft>
                <a:spcPts val="500"/>
              </a:spcAft>
              <a:defRPr sz="2300" b="1">
                <a:solidFill>
                  <a:srgbClr val="05CDE0"/>
                </a:solidFill>
                <a:latin typeface="Arial"/>
              </a:defRPr>
            </a:pPr>
            <a:r>
              <a:t>PARTNER KIT</a:t>
            </a:r>
          </a:p>
        </p:txBody>
      </p:sp>
      <p:sp xmlns:a="http://schemas.openxmlformats.org/drawingml/2006/main">
        <p:nvSpPr>
          <p:cNvPr id="52" name="TextBox 51"/>
          <p:cNvSpPr txBox="1"/>
          <p:nvPr/>
        </p:nvSpPr>
        <p:spPr>
          <a:xfrm>
            <a:off x="8595360" y="2999232"/>
            <a:ext cx="2697480" cy="2011680"/>
          </a:xfrm>
          <a:prstGeom prst="rect">
            <a:avLst/>
          </a:prstGeom>
          <a:noFill/>
        </p:spPr>
        <p:txBody>
          <a:bodyPr wrap="square" lIns="0" rIns="0" tIns="0" bIns="0">
            <a:spAutoFit/>
          </a:bodyPr>
          <a:lstStyle/>
          <a:p>
            <a:pPr>
              <a:spcBef>
                <a:spcPts val="0"/>
              </a:spcBef>
              <a:spcAft>
                <a:spcPts val="500"/>
              </a:spcAft>
              <a:defRPr sz="1800" b="0" lang="en-US">
                <a:solidFill>
                  <a:srgbClr val="FFFFFF"/>
                </a:solidFill>
                <a:latin typeface="Arial"/>
              </a:defRPr>
            </a:pPr>
            <a:r>
              <a:t>API / SDK</a:t>
            </a:r>
          </a:p>
          <a:p>
            <a:pPr>
              <a:spcBef>
                <a:spcPts val="0"/>
              </a:spcBef>
              <a:spcAft>
                <a:spcPts val="500"/>
              </a:spcAft>
              <a:defRPr sz="1800" b="0" lang="en-US">
                <a:solidFill>
                  <a:srgbClr val="FFFFFF"/>
                </a:solidFill>
                <a:latin typeface="Arial"/>
              </a:defRPr>
            </a:pPr>
            <a:r>
              <a:t>Schema examples</a:t>
            </a:r>
          </a:p>
          <a:p>
            <a:pPr>
              <a:spcBef>
                <a:spcPts val="0"/>
              </a:spcBef>
              <a:spcAft>
                <a:spcPts val="500"/>
              </a:spcAft>
              <a:defRPr sz="1800" b="0" lang="en-US">
                <a:solidFill>
                  <a:srgbClr val="FFFFFF"/>
                </a:solidFill>
                <a:latin typeface="Arial"/>
              </a:defRPr>
            </a:pPr>
            <a:r>
              <a:t>Test environment</a:t>
            </a:r>
          </a:p>
          <a:p>
            <a:pPr>
              <a:spcBef>
                <a:spcPts val="0"/>
              </a:spcBef>
              <a:spcAft>
                <a:spcPts val="500"/>
              </a:spcAft>
              <a:defRPr sz="1800" b="0" lang="en-US">
                <a:solidFill>
                  <a:srgbClr val="FFFFFF"/>
                </a:solidFill>
                <a:latin typeface="Arial"/>
              </a:defRPr>
            </a:pPr>
            <a:r>
              <a:t>Conformance test suite</a:t>
            </a:r>
          </a:p>
          <a:p>
            <a:pPr>
              <a:spcBef>
                <a:spcPts val="0"/>
              </a:spcBef>
              <a:spcAft>
                <a:spcPts val="500"/>
              </a:spcAft>
              <a:defRPr sz="1800" b="0" lang="en-US">
                <a:solidFill>
                  <a:srgbClr val="FFFFFF"/>
                </a:solidFill>
                <a:latin typeface="Arial"/>
              </a:defRPr>
            </a:pPr>
            <a:r>
              <a:t>Version management</a:t>
            </a:r>
          </a:p>
        </p:txBody>
      </p:sp>
    </p:spTree>
    <p:extLst>
      <p:ext uri="{BB962C8B-B14F-4D97-AF65-F5344CB8AC3E}">
        <p14:creationId xmlns:p14="http://schemas.microsoft.com/office/powerpoint/2010/main" val="1971285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IOT • DRONES • EXISTING SYSTEMS</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Connect each device through its proven capabilities.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Reading data, issuing warnings and controlling equipment require distinct permissions.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25</a:t>
            </a:r>
          </a:p>
        </p:txBody>
      </p:sp>
      <p:sp xmlns:a="http://schemas.openxmlformats.org/drawingml/2006/main">
        <p:nvSpPr>
          <p:cNvPr id="35" name="Rectangle 34"/>
          <p:cNvSpPr/>
          <p:nvPr/>
        </p:nvSpPr>
        <p:spPr>
          <a:xfrm>
            <a:off x="658368" y="1993392"/>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112264"/>
            <a:ext cx="3808476" cy="493776"/>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Cameras / sensors</a:t>
            </a:r>
          </a:p>
        </p:txBody>
      </p:sp>
      <p:sp xmlns:a="http://schemas.openxmlformats.org/drawingml/2006/main">
        <p:nvSpPr>
          <p:cNvPr id="37" name="TextBox 36"/>
          <p:cNvSpPr txBox="1"/>
          <p:nvPr/>
        </p:nvSpPr>
        <p:spPr>
          <a:xfrm>
            <a:off x="4793284" y="2103120"/>
            <a:ext cx="6420002" cy="521208"/>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Events, images, connection health and zone.</a:t>
            </a:r>
          </a:p>
        </p:txBody>
      </p:sp>
      <p:sp xmlns:a="http://schemas.openxmlformats.org/drawingml/2006/main">
        <p:nvSpPr>
          <p:cNvPr id="38" name="Rectangle 37"/>
          <p:cNvSpPr/>
          <p:nvPr/>
        </p:nvSpPr>
        <p:spPr>
          <a:xfrm>
            <a:off x="658368" y="2688336"/>
            <a:ext cx="1088136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07208"/>
            <a:ext cx="3808476" cy="493776"/>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Wearables / personal devices</a:t>
            </a:r>
          </a:p>
        </p:txBody>
      </p:sp>
      <p:sp xmlns:a="http://schemas.openxmlformats.org/drawingml/2006/main">
        <p:nvSpPr>
          <p:cNvPr id="40" name="TextBox 39"/>
          <p:cNvSpPr txBox="1"/>
          <p:nvPr/>
        </p:nvSpPr>
        <p:spPr>
          <a:xfrm>
            <a:off x="4793284" y="2798064"/>
            <a:ext cx="6420002" cy="521208"/>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Possible falls, SOS and location, subject to sharing permissions.</a:t>
            </a:r>
          </a:p>
        </p:txBody>
      </p:sp>
      <p:sp xmlns:a="http://schemas.openxmlformats.org/drawingml/2006/main">
        <p:nvSpPr>
          <p:cNvPr id="41" name="Rectangle 40"/>
          <p:cNvSpPr/>
          <p:nvPr/>
        </p:nvSpPr>
        <p:spPr>
          <a:xfrm>
            <a:off x="658368" y="3383280"/>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02152"/>
            <a:ext cx="3808476" cy="493776"/>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PA / fire alarms</a:t>
            </a:r>
          </a:p>
        </p:txBody>
      </p:sp>
      <p:sp xmlns:a="http://schemas.openxmlformats.org/drawingml/2006/main">
        <p:nvSpPr>
          <p:cNvPr id="43" name="TextBox 42"/>
          <p:cNvSpPr txBox="1"/>
          <p:nvPr/>
        </p:nvSpPr>
        <p:spPr>
          <a:xfrm>
            <a:off x="4793284" y="3493008"/>
            <a:ext cx="6420002" cy="521208"/>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Status and content playback through the site controller.</a:t>
            </a:r>
          </a:p>
        </p:txBody>
      </p:sp>
      <p:sp xmlns:a="http://schemas.openxmlformats.org/drawingml/2006/main">
        <p:nvSpPr>
          <p:cNvPr id="44" name="Rectangle 43"/>
          <p:cNvSpPr/>
          <p:nvPr/>
        </p:nvSpPr>
        <p:spPr>
          <a:xfrm>
            <a:off x="658368" y="4078224"/>
            <a:ext cx="1088136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4197096"/>
            <a:ext cx="3808476" cy="493776"/>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Drones / vehicles</a:t>
            </a:r>
          </a:p>
        </p:txBody>
      </p:sp>
      <p:sp xmlns:a="http://schemas.openxmlformats.org/drawingml/2006/main">
        <p:nvSpPr>
          <p:cNvPr id="46" name="TextBox 45"/>
          <p:cNvSpPr txBox="1"/>
          <p:nvPr/>
        </p:nvSpPr>
        <p:spPr>
          <a:xfrm>
            <a:off x="4793284" y="4187952"/>
            <a:ext cx="6420002" cy="521208"/>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Video, telemetry and speakers; authorized pilot and mission.</a:t>
            </a:r>
          </a:p>
        </p:txBody>
      </p:sp>
      <p:sp xmlns:a="http://schemas.openxmlformats.org/drawingml/2006/main">
        <p:nvSpPr>
          <p:cNvPr id="47" name="Rectangle 46"/>
          <p:cNvSpPr/>
          <p:nvPr/>
        </p:nvSpPr>
        <p:spPr>
          <a:xfrm>
            <a:off x="658368" y="4773168"/>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4892040"/>
            <a:ext cx="3808476" cy="493776"/>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IOC / partners</a:t>
            </a:r>
          </a:p>
        </p:txBody>
      </p:sp>
      <p:sp xmlns:a="http://schemas.openxmlformats.org/drawingml/2006/main">
        <p:nvSpPr>
          <p:cNvPr id="49" name="TextBox 48"/>
          <p:cNvSpPr txBox="1"/>
          <p:nvPr/>
        </p:nvSpPr>
        <p:spPr>
          <a:xfrm>
            <a:off x="4793284" y="4882896"/>
            <a:ext cx="6420002" cy="521208"/>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Incident records, tasks, status and handover.</a:t>
            </a:r>
          </a:p>
        </p:txBody>
      </p:sp>
      <p:sp xmlns:a="http://schemas.openxmlformats.org/drawingml/2006/main">
        <p:nvSpPr>
          <p:cNvPr id="50" name="Rounded Rectangle 49"/>
          <p:cNvSpPr/>
          <p:nvPr/>
        </p:nvSpPr>
        <p:spPr>
          <a:xfrm>
            <a:off x="758952" y="5614416"/>
            <a:ext cx="1856231"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32103" y="5664707"/>
            <a:ext cx="1709928"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CAPABILITY</a:t>
            </a:r>
          </a:p>
        </p:txBody>
      </p:sp>
      <p:sp xmlns:a="http://schemas.openxmlformats.org/drawingml/2006/main">
        <p:nvSpPr>
          <p:cNvPr id="52" name="Rounded Rectangle 51"/>
          <p:cNvSpPr/>
          <p:nvPr/>
        </p:nvSpPr>
        <p:spPr>
          <a:xfrm>
            <a:off x="3136392" y="5614416"/>
            <a:ext cx="2194560"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TextBox 52"/>
          <p:cNvSpPr txBox="1"/>
          <p:nvPr/>
        </p:nvSpPr>
        <p:spPr>
          <a:xfrm>
            <a:off x="3209544" y="5664707"/>
            <a:ext cx="2048255"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AUTHORIZATION</a:t>
            </a:r>
          </a:p>
        </p:txBody>
      </p:sp>
      <p:sp xmlns:a="http://schemas.openxmlformats.org/drawingml/2006/main">
        <p:nvSpPr>
          <p:cNvPr id="54" name="Rounded Rectangle 53"/>
          <p:cNvSpPr/>
          <p:nvPr/>
        </p:nvSpPr>
        <p:spPr>
          <a:xfrm>
            <a:off x="5870448" y="5614416"/>
            <a:ext cx="2011680"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5943600" y="5664707"/>
            <a:ext cx="1865376"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EXECUTION</a:t>
            </a:r>
          </a:p>
        </p:txBody>
      </p:sp>
      <p:sp xmlns:a="http://schemas.openxmlformats.org/drawingml/2006/main">
        <p:nvSpPr>
          <p:cNvPr id="56" name="Rounded Rectangle 55"/>
          <p:cNvSpPr/>
          <p:nvPr/>
        </p:nvSpPr>
        <p:spPr>
          <a:xfrm>
            <a:off x="8412480" y="5614416"/>
            <a:ext cx="2487168" cy="292608"/>
          </a:xfrm>
          <a:prstGeom prst="roundRect">
            <a:avLst>
              <a:gd name="adj" fmla="val 6000"/>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8485632" y="5664707"/>
            <a:ext cx="2340864"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VERIFICATION</a:t>
            </a:r>
          </a:p>
        </p:txBody>
      </p:sp>
    </p:spTree>
    <p:extLst>
      <p:ext uri="{BB962C8B-B14F-4D97-AF65-F5344CB8AC3E}">
        <p14:creationId xmlns:p14="http://schemas.microsoft.com/office/powerpoint/2010/main" val="198995366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physical.png"/>
          <p:cNvPicPr>
            <a:picLocks noChangeAspect="1"/>
          </p:cNvPicPr>
          <p:nvPr/>
        </p:nvPicPr>
        <p:blipFill>
          <a:blip r:embed="rId2"/>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PHYSICAL FIRE PROTECTION &amp; RESCUE • Fire panels • Pumps, valves &amp; water discharge • Smoke control • Rescue equipment</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26</a:t>
            </a:r>
          </a:p>
        </p:txBody>
      </p:sp>
    </p:spTree>
    <p:extLst>
      <p:ext uri="{BB962C8B-B14F-4D97-AF65-F5344CB8AC3E}">
        <p14:creationId xmlns:p14="http://schemas.microsoft.com/office/powerpoint/2010/main" val="19899536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PHYSICAL EQUIPMENT • INTEGRATION SCOPE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Connect the water supply, protection systems and rescue response.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Each asset has an identity, a protected area, monitored signals and explicit control rights.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27</a:t>
            </a:r>
          </a:p>
        </p:txBody>
      </p:sp>
      <p:sp xmlns:a="http://schemas.openxmlformats.org/drawingml/2006/main">
        <p:nvSpPr>
          <p:cNvPr id="35" name="Rounded Rectangle 34"/>
          <p:cNvSpPr/>
          <p:nvPr/>
        </p:nvSpPr>
        <p:spPr>
          <a:xfrm>
            <a:off x="65836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WATER &amp; SUPPRESSION</a:t>
            </a:r>
          </a:p>
        </p:txBody>
      </p:sp>
      <p:sp xmlns:a="http://schemas.openxmlformats.org/drawingml/2006/main">
        <p:nvSpPr>
          <p:cNvPr id="38" name="TextBox 37"/>
          <p:cNvSpPr txBox="1"/>
          <p:nvPr/>
        </p:nvSpPr>
        <p:spPr>
          <a:xfrm>
            <a:off x="822959"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Tank • pump controller • pump</a:t>
            </a:r>
          </a:p>
          <a:p>
            <a:pPr>
              <a:spcBef>
                <a:spcPts val="0"/>
              </a:spcBef>
              <a:spcAft>
                <a:spcPts val="500"/>
              </a:spcAft>
              <a:defRPr sz="1600" b="0">
                <a:solidFill>
                  <a:srgbClr val="20252B"/>
                </a:solidFill>
                <a:latin typeface="Arial"/>
              </a:defRPr>
            </a:pPr>
            <a:r>
              <a:t>Valves / waterflow / pressure</a:t>
            </a:r>
          </a:p>
          <a:p>
            <a:pPr>
              <a:spcBef>
                <a:spcPts val="0"/>
              </a:spcBef>
              <a:spcAft>
                <a:spcPts val="500"/>
              </a:spcAft>
              <a:defRPr sz="1600" b="0">
                <a:solidFill>
                  <a:srgbClr val="20252B"/>
                </a:solidFill>
                <a:latin typeface="Arial"/>
              </a:defRPr>
            </a:pPr>
            <a:r>
              <a:t>Sprinklers • deluge / pre-action</a:t>
            </a:r>
          </a:p>
        </p:txBody>
      </p:sp>
      <p:sp xmlns:a="http://schemas.openxmlformats.org/drawingml/2006/main">
        <p:nvSpPr>
          <p:cNvPr id="39" name="Rounded Rectangle 38"/>
          <p:cNvSpPr/>
          <p:nvPr/>
        </p:nvSpPr>
        <p:spPr>
          <a:xfrm>
            <a:off x="436168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6168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2627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EVACUATION SUPPORT</a:t>
            </a:r>
          </a:p>
        </p:txBody>
      </p:sp>
      <p:sp xmlns:a="http://schemas.openxmlformats.org/drawingml/2006/main">
        <p:nvSpPr>
          <p:cNvPr id="42" name="TextBox 41"/>
          <p:cNvSpPr txBox="1"/>
          <p:nvPr/>
        </p:nvSpPr>
        <p:spPr>
          <a:xfrm>
            <a:off x="4526279"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Fire panel • emergency PA</a:t>
            </a:r>
          </a:p>
          <a:p>
            <a:pPr>
              <a:spcBef>
                <a:spcPts val="0"/>
              </a:spcBef>
              <a:spcAft>
                <a:spcPts val="500"/>
              </a:spcAft>
              <a:defRPr sz="1600" b="0">
                <a:solidFill>
                  <a:srgbClr val="20252B"/>
                </a:solidFill>
                <a:latin typeface="Arial"/>
              </a:defRPr>
            </a:pPr>
            <a:r>
              <a:t>Smoke control / dampers / doors</a:t>
            </a:r>
          </a:p>
          <a:p>
            <a:pPr>
              <a:spcBef>
                <a:spcPts val="0"/>
              </a:spcBef>
              <a:spcAft>
                <a:spcPts val="500"/>
              </a:spcAft>
              <a:defRPr sz="1600" b="0">
                <a:solidFill>
                  <a:srgbClr val="20252B"/>
                </a:solidFill>
                <a:latin typeface="Arial"/>
              </a:defRPr>
            </a:pPr>
            <a:r>
              <a:t>Emergency lighting and exit signs</a:t>
            </a:r>
          </a:p>
        </p:txBody>
      </p:sp>
      <p:sp xmlns:a="http://schemas.openxmlformats.org/drawingml/2006/main">
        <p:nvSpPr>
          <p:cNvPr id="43" name="Rounded Rectangle 42"/>
          <p:cNvSpPr/>
          <p:nvPr/>
        </p:nvSpPr>
        <p:spPr>
          <a:xfrm>
            <a:off x="806500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6500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29600"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RESCUE EQUIPMENT</a:t>
            </a:r>
          </a:p>
        </p:txBody>
      </p:sp>
      <p:sp xmlns:a="http://schemas.openxmlformats.org/drawingml/2006/main">
        <p:nvSpPr>
          <p:cNvPr id="46" name="TextBox 45"/>
          <p:cNvSpPr txBox="1"/>
          <p:nvPr/>
        </p:nvSpPr>
        <p:spPr>
          <a:xfrm>
            <a:off x="8229600"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Robot / controlled water monitor</a:t>
            </a:r>
          </a:p>
          <a:p>
            <a:pPr>
              <a:spcBef>
                <a:spcPts val="0"/>
              </a:spcBef>
              <a:spcAft>
                <a:spcPts val="500"/>
              </a:spcAft>
              <a:defRPr sz="1600" b="0">
                <a:solidFill>
                  <a:srgbClr val="20252B"/>
                </a:solidFill>
                <a:latin typeface="Arial"/>
              </a:defRPr>
            </a:pPr>
            <a:r>
              <a:t>Drone / vehicle / speaker</a:t>
            </a:r>
          </a:p>
          <a:p>
            <a:pPr>
              <a:spcBef>
                <a:spcPts val="0"/>
              </a:spcBef>
              <a:spcAft>
                <a:spcPts val="500"/>
              </a:spcAft>
              <a:defRPr sz="1600" b="0">
                <a:solidFill>
                  <a:srgbClr val="20252B"/>
                </a:solidFill>
                <a:latin typeface="Arial"/>
              </a:defRPr>
            </a:pPr>
            <a:r>
              <a:t>Mission, operator and feedback</a:t>
            </a:r>
          </a:p>
        </p:txBody>
      </p:sp>
      <p:sp xmlns:a="http://schemas.openxmlformats.org/drawingml/2006/main">
        <p:nvSpPr>
          <p:cNvPr id="47" name="TextBox 46"/>
          <p:cNvSpPr txBox="1"/>
          <p:nvPr/>
        </p:nvSpPr>
        <p:spPr>
          <a:xfrm>
            <a:off x="731520" y="5193792"/>
            <a:ext cx="10789920" cy="612648"/>
          </a:xfrm>
          <a:prstGeom prst="rect">
            <a:avLst/>
          </a:prstGeom>
          <a:noFill/>
        </p:spPr>
        <p:txBody>
          <a:bodyPr wrap="square" lIns="0" rIns="0" tIns="0" bIns="0">
            <a:spAutoFit/>
          </a:bodyPr>
          <a:lstStyle/>
          <a:p>
            <a:pPr>
              <a:spcBef>
                <a:spcPts val="0"/>
              </a:spcBef>
              <a:spcAft>
                <a:spcPts val="500"/>
              </a:spcAft>
              <a:defRPr sz="2100" b="1">
                <a:solidFill>
                  <a:srgbClr val="C8102E"/>
                </a:solidFill>
                <a:latin typeface="Arial"/>
              </a:defRPr>
            </a:pPr>
            <a:r>
              <a:t>Monitoring ≠ Control permission. Command accepted ≠ Physical action completed.</a:t>
            </a:r>
          </a:p>
        </p:txBody>
      </p:sp>
    </p:spTree>
    <p:extLst>
      <p:ext uri="{BB962C8B-B14F-4D97-AF65-F5344CB8AC3E}">
        <p14:creationId xmlns:p14="http://schemas.microsoft.com/office/powerpoint/2010/main" val="198995366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MANUFACTURER RESEARCH • EXISTING EQUIPMENT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Select interfaces by verified model and permitted function.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Examples checked against manufacturer documentation; installed compatibility still requires acceptance.</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28</a:t>
            </a:r>
          </a:p>
        </p:txBody>
      </p:sp>
      <p:sp xmlns:a="http://schemas.openxmlformats.org/drawingml/2006/main">
        <p:nvSpPr>
          <p:cNvPr id="35" name="Rectangle 34"/>
          <p:cNvSpPr/>
          <p:nvPr/>
        </p:nvSpPr>
        <p:spPr>
          <a:xfrm>
            <a:off x="658368" y="1965960"/>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084831"/>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Siemens Cerberus PRO</a:t>
            </a:r>
          </a:p>
        </p:txBody>
      </p:sp>
      <p:sp xmlns:a="http://schemas.openxmlformats.org/drawingml/2006/main">
        <p:nvSpPr>
          <p:cNvPr id="37" name="TextBox 36"/>
          <p:cNvSpPr txBox="1"/>
          <p:nvPr/>
        </p:nvSpPr>
        <p:spPr>
          <a:xfrm>
            <a:off x="4793284" y="2075688"/>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Selected US BACnet gateways: monitoring; regional configurations differ.</a:t>
            </a:r>
          </a:p>
        </p:txBody>
      </p:sp>
      <p:sp xmlns:a="http://schemas.openxmlformats.org/drawingml/2006/main">
        <p:nvSpPr>
          <p:cNvPr id="38" name="Rectangle 37"/>
          <p:cNvSpPr/>
          <p:nvPr/>
        </p:nvSpPr>
        <p:spPr>
          <a:xfrm>
            <a:off x="658368" y="2587752"/>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706624"/>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NOTIFIER BACNET-GW-3</a:t>
            </a:r>
          </a:p>
        </p:txBody>
      </p:sp>
      <p:sp xmlns:a="http://schemas.openxmlformats.org/drawingml/2006/main">
        <p:nvSpPr>
          <p:cNvPr id="40" name="TextBox 39"/>
          <p:cNvSpPr txBox="1"/>
          <p:nvPr/>
        </p:nvSpPr>
        <p:spPr>
          <a:xfrm>
            <a:off x="4793284" y="2697480"/>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Supplementary status interface; not a mass-notification trigger path.</a:t>
            </a:r>
          </a:p>
        </p:txBody>
      </p:sp>
      <p:sp xmlns:a="http://schemas.openxmlformats.org/drawingml/2006/main">
        <p:nvSpPr>
          <p:cNvPr id="41" name="Rectangle 40"/>
          <p:cNvSpPr/>
          <p:nvPr/>
        </p:nvSpPr>
        <p:spPr>
          <a:xfrm>
            <a:off x="658368" y="3209544"/>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328415"/>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Tornatech GPX / GPD</a:t>
            </a:r>
          </a:p>
        </p:txBody>
      </p:sp>
      <p:sp xmlns:a="http://schemas.openxmlformats.org/drawingml/2006/main">
        <p:nvSpPr>
          <p:cNvPr id="43" name="TextBox 42"/>
          <p:cNvSpPr txBox="1"/>
          <p:nvPr/>
        </p:nvSpPr>
        <p:spPr>
          <a:xfrm>
            <a:off x="4793284" y="3319272"/>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Pump/pressure/fault maps and vendor inputs; verify write rights per firmware.</a:t>
            </a:r>
          </a:p>
        </p:txBody>
      </p:sp>
      <p:sp xmlns:a="http://schemas.openxmlformats.org/drawingml/2006/main">
        <p:nvSpPr>
          <p:cNvPr id="44" name="Rectangle 43"/>
          <p:cNvSpPr/>
          <p:nvPr/>
        </p:nvSpPr>
        <p:spPr>
          <a:xfrm>
            <a:off x="658368" y="3831335"/>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3950207"/>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Potter PFC-4410G3</a:t>
            </a:r>
          </a:p>
        </p:txBody>
      </p:sp>
      <p:sp xmlns:a="http://schemas.openxmlformats.org/drawingml/2006/main">
        <p:nvSpPr>
          <p:cNvPr id="46" name="TextBox 45"/>
          <p:cNvSpPr txBox="1"/>
          <p:nvPr/>
        </p:nvSpPr>
        <p:spPr>
          <a:xfrm>
            <a:off x="4793284" y="3941063"/>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 releasing panel and status relays. Ethernet is not proof of a release API.</a:t>
            </a:r>
          </a:p>
        </p:txBody>
      </p:sp>
      <p:sp xmlns:a="http://schemas.openxmlformats.org/drawingml/2006/main">
        <p:nvSpPr>
          <p:cNvPr id="47" name="Rectangle 46"/>
          <p:cNvSpPr/>
          <p:nvPr/>
        </p:nvSpPr>
        <p:spPr>
          <a:xfrm>
            <a:off x="658368" y="4453128"/>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4572000"/>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Bosch PRAESENSA</a:t>
            </a:r>
          </a:p>
        </p:txBody>
      </p:sp>
      <p:sp xmlns:a="http://schemas.openxmlformats.org/drawingml/2006/main">
        <p:nvSpPr>
          <p:cNvPr id="49" name="TextBox 48"/>
          <p:cNvSpPr txBox="1"/>
          <p:nvPr/>
        </p:nvSpPr>
        <p:spPr>
          <a:xfrm>
            <a:off x="4793284" y="4562856"/>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Documented Open Interface; emergency use depends on configuration/certification.</a:t>
            </a:r>
          </a:p>
        </p:txBody>
      </p:sp>
      <p:sp xmlns:a="http://schemas.openxmlformats.org/drawingml/2006/main">
        <p:nvSpPr>
          <p:cNvPr id="50" name="Rectangle 49"/>
          <p:cNvSpPr/>
          <p:nvPr/>
        </p:nvSpPr>
        <p:spPr>
          <a:xfrm>
            <a:off x="658368" y="5074920"/>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795528" y="5193792"/>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Shark Robotics Colossus</a:t>
            </a:r>
          </a:p>
        </p:txBody>
      </p:sp>
      <p:sp xmlns:a="http://schemas.openxmlformats.org/drawingml/2006/main">
        <p:nvSpPr>
          <p:cNvPr id="52" name="TextBox 51"/>
          <p:cNvSpPr txBox="1"/>
          <p:nvPr/>
        </p:nvSpPr>
        <p:spPr>
          <a:xfrm>
            <a:off x="4793284" y="5184648"/>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Robot with water monitor; a public control API has not been established.</a:t>
            </a:r>
          </a:p>
        </p:txBody>
      </p:sp>
      <p:sp xmlns:a="http://schemas.openxmlformats.org/drawingml/2006/main">
        <p:nvSpPr>
          <p:cNvPr id="53" name="TextBox 52"/>
          <p:cNvSpPr txBox="1"/>
          <p:nvPr/>
        </p:nvSpPr>
        <p:spPr>
          <a:xfrm>
            <a:off x="749808" y="5843016"/>
            <a:ext cx="10698480" cy="256032"/>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Research dossier: 12 device configurations, official sources, vendor RFIs and device-specific tests.</a:t>
            </a:r>
          </a:p>
        </p:txBody>
      </p:sp>
    </p:spTree>
    <p:extLst>
      <p:ext uri="{BB962C8B-B14F-4D97-AF65-F5344CB8AC3E}">
        <p14:creationId xmlns:p14="http://schemas.microsoft.com/office/powerpoint/2010/main" val="19899536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CONNECTION ARCHITECTURE • IT / OT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 controlled integration path to local controllers.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Normalize data at the edge; dedicated systems retain safety logic and interlocks.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29</a:t>
            </a:r>
          </a:p>
        </p:txBody>
      </p:sp>
      <p:sp xmlns:a="http://schemas.openxmlformats.org/drawingml/2006/main">
        <p:nvSpPr>
          <p:cNvPr id="35" name="Rounded Rectangle 34"/>
          <p:cNvSpPr/>
          <p:nvPr/>
        </p:nvSpPr>
        <p:spPr>
          <a:xfrm>
            <a:off x="658368"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SMARTALARM</a:t>
            </a:r>
          </a:p>
        </p:txBody>
      </p:sp>
      <p:sp xmlns:a="http://schemas.openxmlformats.org/drawingml/2006/main">
        <p:nvSpPr>
          <p:cNvPr id="38" name="TextBox 37"/>
          <p:cNvSpPr txBox="1"/>
          <p:nvPr/>
        </p:nvSpPr>
        <p:spPr>
          <a:xfrm>
            <a:off x="822959"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Incident / workflow</a:t>
            </a:r>
          </a:p>
          <a:p>
            <a:pPr>
              <a:spcBef>
                <a:spcPts val="0"/>
              </a:spcBef>
              <a:spcAft>
                <a:spcPts val="500"/>
              </a:spcAft>
              <a:defRPr sz="1600" b="0">
                <a:solidFill>
                  <a:srgbClr val="20252B"/>
                </a:solidFill>
                <a:latin typeface="Arial"/>
              </a:defRPr>
            </a:pPr>
            <a:r>
              <a:t>Authorization &amp; audit</a:t>
            </a:r>
          </a:p>
          <a:p>
            <a:pPr>
              <a:spcBef>
                <a:spcPts val="0"/>
              </a:spcBef>
              <a:spcAft>
                <a:spcPts val="500"/>
              </a:spcAft>
              <a:defRPr sz="1600" b="0">
                <a:solidFill>
                  <a:srgbClr val="20252B"/>
                </a:solidFill>
                <a:latin typeface="Arial"/>
              </a:defRPr>
            </a:pPr>
            <a:r>
              <a:t>Content / tasks</a:t>
            </a:r>
          </a:p>
        </p:txBody>
      </p:sp>
      <p:sp xmlns:a="http://schemas.openxmlformats.org/drawingml/2006/main">
        <p:nvSpPr>
          <p:cNvPr id="39" name="Chevron 38"/>
          <p:cNvSpPr/>
          <p:nvPr/>
        </p:nvSpPr>
        <p:spPr>
          <a:xfrm>
            <a:off x="3246120"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3438144"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438144"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3602736"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OT DMZ / EDGE</a:t>
            </a:r>
          </a:p>
        </p:txBody>
      </p:sp>
      <p:sp xmlns:a="http://schemas.openxmlformats.org/drawingml/2006/main">
        <p:nvSpPr>
          <p:cNvPr id="43" name="TextBox 42"/>
          <p:cNvSpPr txBox="1"/>
          <p:nvPr/>
        </p:nvSpPr>
        <p:spPr>
          <a:xfrm>
            <a:off x="3602736"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mTLS / outbound</a:t>
            </a:r>
          </a:p>
          <a:p>
            <a:pPr>
              <a:spcBef>
                <a:spcPts val="0"/>
              </a:spcBef>
              <a:spcAft>
                <a:spcPts val="500"/>
              </a:spcAft>
              <a:defRPr sz="1600" b="0">
                <a:solidFill>
                  <a:srgbClr val="20252B"/>
                </a:solidFill>
                <a:latin typeface="Arial"/>
              </a:defRPr>
            </a:pPr>
            <a:r>
              <a:t>Point–zone mapping</a:t>
            </a:r>
          </a:p>
          <a:p>
            <a:pPr>
              <a:spcBef>
                <a:spcPts val="0"/>
              </a:spcBef>
              <a:spcAft>
                <a:spcPts val="500"/>
              </a:spcAft>
              <a:defRPr sz="1600" b="0">
                <a:solidFill>
                  <a:srgbClr val="20252B"/>
                </a:solidFill>
                <a:latin typeface="Arial"/>
              </a:defRPr>
            </a:pPr>
            <a:r>
              <a:t>TTL / quality / buffer</a:t>
            </a:r>
          </a:p>
        </p:txBody>
      </p:sp>
      <p:sp xmlns:a="http://schemas.openxmlformats.org/drawingml/2006/main">
        <p:nvSpPr>
          <p:cNvPr id="44" name="Chevron 43"/>
          <p:cNvSpPr/>
          <p:nvPr/>
        </p:nvSpPr>
        <p:spPr>
          <a:xfrm>
            <a:off x="6025896"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6217920"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6217920"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6382512"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VENDOR GATEWAY</a:t>
            </a:r>
          </a:p>
        </p:txBody>
      </p:sp>
      <p:sp xmlns:a="http://schemas.openxmlformats.org/drawingml/2006/main">
        <p:nvSpPr>
          <p:cNvPr id="48" name="TextBox 47"/>
          <p:cNvSpPr txBox="1"/>
          <p:nvPr/>
        </p:nvSpPr>
        <p:spPr>
          <a:xfrm>
            <a:off x="6382512"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BACnet / Modbus</a:t>
            </a:r>
          </a:p>
          <a:p>
            <a:pPr>
              <a:spcBef>
                <a:spcPts val="0"/>
              </a:spcBef>
              <a:spcAft>
                <a:spcPts val="500"/>
              </a:spcAft>
              <a:defRPr sz="1600" b="0">
                <a:solidFill>
                  <a:srgbClr val="20252B"/>
                </a:solidFill>
                <a:latin typeface="Arial"/>
              </a:defRPr>
            </a:pPr>
            <a:r>
              <a:t>OPC UA / vendor API</a:t>
            </a:r>
          </a:p>
          <a:p>
            <a:pPr>
              <a:spcBef>
                <a:spcPts val="0"/>
              </a:spcBef>
              <a:spcAft>
                <a:spcPts val="500"/>
              </a:spcAft>
              <a:defRPr sz="1600" b="0">
                <a:solidFill>
                  <a:srgbClr val="20252B"/>
                </a:solidFill>
                <a:latin typeface="Arial"/>
              </a:defRPr>
            </a:pPr>
            <a:r>
              <a:t>Approved supervised I/O</a:t>
            </a:r>
          </a:p>
        </p:txBody>
      </p:sp>
      <p:sp xmlns:a="http://schemas.openxmlformats.org/drawingml/2006/main">
        <p:nvSpPr>
          <p:cNvPr id="49" name="Chevron 48"/>
          <p:cNvSpPr/>
          <p:nvPr/>
        </p:nvSpPr>
        <p:spPr>
          <a:xfrm>
            <a:off x="8805672"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ounded Rectangle 49"/>
          <p:cNvSpPr/>
          <p:nvPr/>
        </p:nvSpPr>
        <p:spPr>
          <a:xfrm>
            <a:off x="8997696"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8997696"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9162288"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LOCAL CONTROL</a:t>
            </a:r>
          </a:p>
        </p:txBody>
      </p:sp>
      <p:sp xmlns:a="http://schemas.openxmlformats.org/drawingml/2006/main">
        <p:nvSpPr>
          <p:cNvPr id="53" name="TextBox 52"/>
          <p:cNvSpPr txBox="1"/>
          <p:nvPr/>
        </p:nvSpPr>
        <p:spPr>
          <a:xfrm>
            <a:off x="9162288"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Cause-and-effect</a:t>
            </a:r>
          </a:p>
          <a:p>
            <a:pPr>
              <a:spcBef>
                <a:spcPts val="0"/>
              </a:spcBef>
              <a:spcAft>
                <a:spcPts val="500"/>
              </a:spcAft>
              <a:defRPr sz="1600" b="0">
                <a:solidFill>
                  <a:srgbClr val="20252B"/>
                </a:solidFill>
                <a:latin typeface="Arial"/>
              </a:defRPr>
            </a:pPr>
            <a:r>
              <a:t>Interlocks / priority</a:t>
            </a:r>
          </a:p>
          <a:p>
            <a:pPr>
              <a:spcBef>
                <a:spcPts val="0"/>
              </a:spcBef>
              <a:spcAft>
                <a:spcPts val="500"/>
              </a:spcAft>
              <a:defRPr sz="1600" b="0">
                <a:solidFill>
                  <a:srgbClr val="20252B"/>
                </a:solidFill>
                <a:latin typeface="Arial"/>
              </a:defRPr>
            </a:pPr>
            <a:r>
              <a:t>Equipment &amp; feedback</a:t>
            </a:r>
          </a:p>
        </p:txBody>
      </p:sp>
      <p:cxnSp xmlns:a="http://schemas.openxmlformats.org/drawingml/2006/main">
        <p:nvCxnSpPr>
          <p:cNvPr id="54" name="Connector 53"/>
          <p:cNvCxnSpPr/>
          <p:nvPr/>
        </p:nvCxnSpPr>
        <p:spPr>
          <a:xfrm>
            <a:off x="1005840" y="4910328"/>
            <a:ext cx="10149840" cy="0"/>
          </a:xfrm>
          <a:prstGeom prst="line">
            <a:avLst/>
          </a:prstGeom>
          <a:ln w="381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5" name="TextBox 54"/>
          <p:cNvSpPr txBox="1"/>
          <p:nvPr/>
        </p:nvSpPr>
        <p:spPr>
          <a:xfrm>
            <a:off x="749808" y="5138928"/>
            <a:ext cx="10698480" cy="493776"/>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PHYSICAL FEEDBACK • Alarm / trouble • Pressure / waterflow • Valve position • Local/test mode</a:t>
            </a:r>
          </a:p>
        </p:txBody>
      </p:sp>
      <p:sp xmlns:a="http://schemas.openxmlformats.org/drawingml/2006/main">
        <p:nvSpPr>
          <p:cNvPr id="56" name="TextBox 55"/>
          <p:cNvSpPr txBox="1"/>
          <p:nvPr/>
        </p:nvSpPr>
        <p:spPr>
          <a:xfrm>
            <a:off x="749808" y="5779008"/>
            <a:ext cx="10698480" cy="27432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Loss of cloud must not disable local automatic protection.</a:t>
            </a:r>
          </a:p>
        </p:txBody>
      </p:sp>
    </p:spTree>
    <p:extLst>
      <p:ext uri="{BB962C8B-B14F-4D97-AF65-F5344CB8AC3E}">
        <p14:creationId xmlns:p14="http://schemas.microsoft.com/office/powerpoint/2010/main" val="198995366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AUTOMATIC FIRE PROTECTION • VERIFIED OUTCOMES</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Water discharge follows local logic and physical feedback.</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Distinguish heat-operated sprinklers from controlled-release zones; there is no universal “on” button.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30</a:t>
            </a:r>
          </a:p>
        </p:txBody>
      </p:sp>
      <p:sp xmlns:a="http://schemas.openxmlformats.org/drawingml/2006/main">
        <p:nvSpPr>
          <p:cNvPr id="35" name="Rounded Rectangle 34"/>
          <p:cNvSpPr/>
          <p:nvPr/>
        </p:nvSpPr>
        <p:spPr>
          <a:xfrm>
            <a:off x="658368" y="1984248"/>
            <a:ext cx="5257800" cy="178308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1984248"/>
            <a:ext cx="50292" cy="17830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139696"/>
            <a:ext cx="492861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HEAT-OPERATED SPRINKLERS</a:t>
            </a:r>
          </a:p>
        </p:txBody>
      </p:sp>
      <p:sp xmlns:a="http://schemas.openxmlformats.org/drawingml/2006/main">
        <p:nvSpPr>
          <p:cNvPr id="38" name="TextBox 37"/>
          <p:cNvSpPr txBox="1"/>
          <p:nvPr/>
        </p:nvSpPr>
        <p:spPr>
          <a:xfrm>
            <a:off x="822959" y="2779776"/>
            <a:ext cx="4928616" cy="88696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Heads respond to local heat.</a:t>
            </a:r>
          </a:p>
          <a:p>
            <a:pPr>
              <a:spcBef>
                <a:spcPts val="0"/>
              </a:spcBef>
              <a:spcAft>
                <a:spcPts val="500"/>
              </a:spcAft>
              <a:defRPr sz="1600" b="0">
                <a:solidFill>
                  <a:srgbClr val="20252B"/>
                </a:solidFill>
                <a:latin typeface="Arial"/>
              </a:defRPr>
            </a:pPr>
            <a:r>
              <a:t>Pump controllers retain their logic.</a:t>
            </a:r>
          </a:p>
          <a:p>
            <a:pPr>
              <a:spcBef>
                <a:spcPts val="0"/>
              </a:spcBef>
              <a:spcAft>
                <a:spcPts val="500"/>
              </a:spcAft>
              <a:defRPr sz="1600" b="0">
                <a:solidFill>
                  <a:srgbClr val="20252B"/>
                </a:solidFill>
                <a:latin typeface="Arial"/>
              </a:defRPr>
            </a:pPr>
            <a:r>
              <a:t>SmartAlarm receives alarm / flow / pressure.</a:t>
            </a:r>
          </a:p>
        </p:txBody>
      </p:sp>
      <p:sp xmlns:a="http://schemas.openxmlformats.org/drawingml/2006/main">
        <p:nvSpPr>
          <p:cNvPr id="39" name="Rounded Rectangle 38"/>
          <p:cNvSpPr/>
          <p:nvPr/>
        </p:nvSpPr>
        <p:spPr>
          <a:xfrm>
            <a:off x="6172200" y="1984248"/>
            <a:ext cx="5367528" cy="178308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6172200" y="1984248"/>
            <a:ext cx="50292" cy="17830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6336792" y="2139696"/>
            <a:ext cx="5038344"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DELUGE / CONTROLLED RELEASE</a:t>
            </a:r>
          </a:p>
        </p:txBody>
      </p:sp>
      <p:sp xmlns:a="http://schemas.openxmlformats.org/drawingml/2006/main">
        <p:nvSpPr>
          <p:cNvPr id="42" name="TextBox 41"/>
          <p:cNvSpPr txBox="1"/>
          <p:nvPr/>
        </p:nvSpPr>
        <p:spPr>
          <a:xfrm>
            <a:off x="6336792" y="2779776"/>
            <a:ext cx="5038344" cy="88696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Site-approved releasing controller.</a:t>
            </a:r>
          </a:p>
          <a:p>
            <a:pPr>
              <a:spcBef>
                <a:spcPts val="0"/>
              </a:spcBef>
              <a:spcAft>
                <a:spcPts val="500"/>
              </a:spcAft>
              <a:defRPr sz="1600" b="0">
                <a:solidFill>
                  <a:srgbClr val="20252B"/>
                </a:solidFill>
                <a:latin typeface="Arial"/>
              </a:defRPr>
            </a:pPr>
            <a:r>
              <a:t>Remote requests only if explicitly permitted.</a:t>
            </a:r>
          </a:p>
          <a:p>
            <a:pPr>
              <a:spcBef>
                <a:spcPts val="0"/>
              </a:spcBef>
              <a:spcAft>
                <a:spcPts val="500"/>
              </a:spcAft>
              <a:defRPr sz="1600" b="0">
                <a:solidFill>
                  <a:srgbClr val="20252B"/>
                </a:solidFill>
                <a:latin typeface="Arial"/>
              </a:defRPr>
            </a:pPr>
            <a:r>
              <a:t>Interlocks and local override remain active.</a:t>
            </a:r>
          </a:p>
        </p:txBody>
      </p:sp>
      <p:sp xmlns:a="http://schemas.openxmlformats.org/drawingml/2006/main">
        <p:nvSpPr>
          <p:cNvPr id="43" name="Rectangle 42"/>
          <p:cNvSpPr/>
          <p:nvPr/>
        </p:nvSpPr>
        <p:spPr>
          <a:xfrm>
            <a:off x="694944"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04672"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REQUEST</a:t>
            </a:r>
          </a:p>
        </p:txBody>
      </p:sp>
      <p:sp xmlns:a="http://schemas.openxmlformats.org/drawingml/2006/main">
        <p:nvSpPr>
          <p:cNvPr id="45" name="TextBox 44"/>
          <p:cNvSpPr txBox="1"/>
          <p:nvPr/>
        </p:nvSpPr>
        <p:spPr>
          <a:xfrm>
            <a:off x="804672"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Zone / purpose</a:t>
            </a:r>
          </a:p>
        </p:txBody>
      </p:sp>
      <p:sp xmlns:a="http://schemas.openxmlformats.org/drawingml/2006/main">
        <p:nvSpPr>
          <p:cNvPr id="46" name="Chevron 45"/>
          <p:cNvSpPr/>
          <p:nvPr/>
        </p:nvSpPr>
        <p:spPr>
          <a:xfrm>
            <a:off x="3273552"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3474720"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3584448"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VALIDATE</a:t>
            </a:r>
          </a:p>
        </p:txBody>
      </p:sp>
      <p:sp xmlns:a="http://schemas.openxmlformats.org/drawingml/2006/main">
        <p:nvSpPr>
          <p:cNvPr id="49" name="TextBox 48"/>
          <p:cNvSpPr txBox="1"/>
          <p:nvPr/>
        </p:nvSpPr>
        <p:spPr>
          <a:xfrm>
            <a:off x="3584448"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Rights / conditions</a:t>
            </a:r>
          </a:p>
        </p:txBody>
      </p:sp>
      <p:sp xmlns:a="http://schemas.openxmlformats.org/drawingml/2006/main">
        <p:nvSpPr>
          <p:cNvPr id="50" name="Chevron 49"/>
          <p:cNvSpPr/>
          <p:nvPr/>
        </p:nvSpPr>
        <p:spPr>
          <a:xfrm>
            <a:off x="6053327"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6254496"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6364224"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EXECUTE</a:t>
            </a:r>
          </a:p>
        </p:txBody>
      </p:sp>
      <p:sp xmlns:a="http://schemas.openxmlformats.org/drawingml/2006/main">
        <p:nvSpPr>
          <p:cNvPr id="53" name="TextBox 52"/>
          <p:cNvSpPr txBox="1"/>
          <p:nvPr/>
        </p:nvSpPr>
        <p:spPr>
          <a:xfrm>
            <a:off x="6364224"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Dedicated controller</a:t>
            </a:r>
          </a:p>
        </p:txBody>
      </p:sp>
      <p:sp xmlns:a="http://schemas.openxmlformats.org/drawingml/2006/main">
        <p:nvSpPr>
          <p:cNvPr id="54" name="Chevron 53"/>
          <p:cNvSpPr/>
          <p:nvPr/>
        </p:nvSpPr>
        <p:spPr>
          <a:xfrm>
            <a:off x="8833104"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Rectangle 54"/>
          <p:cNvSpPr/>
          <p:nvPr/>
        </p:nvSpPr>
        <p:spPr>
          <a:xfrm>
            <a:off x="9034272"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9144000"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VERIFY</a:t>
            </a:r>
          </a:p>
        </p:txBody>
      </p:sp>
      <p:sp xmlns:a="http://schemas.openxmlformats.org/drawingml/2006/main">
        <p:nvSpPr>
          <p:cNvPr id="57" name="TextBox 56"/>
          <p:cNvSpPr txBox="1"/>
          <p:nvPr/>
        </p:nvSpPr>
        <p:spPr>
          <a:xfrm>
            <a:off x="9144000"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Flow / pressure</a:t>
            </a:r>
          </a:p>
        </p:txBody>
      </p:sp>
      <p:sp xmlns:a="http://schemas.openxmlformats.org/drawingml/2006/main">
        <p:nvSpPr>
          <p:cNvPr id="58" name="TextBox 57"/>
          <p:cNvSpPr txBox="1"/>
          <p:nvPr/>
        </p:nvSpPr>
        <p:spPr>
          <a:xfrm>
            <a:off x="749808" y="5449824"/>
            <a:ext cx="10698480" cy="548640"/>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Uncertain outcome → UNKNOWN + reconciliation + accountable operator. No blind release retry.</a:t>
            </a:r>
          </a:p>
        </p:txBody>
      </p:sp>
    </p:spTree>
    <p:extLst>
      <p:ext uri="{BB962C8B-B14F-4D97-AF65-F5344CB8AC3E}">
        <p14:creationId xmlns:p14="http://schemas.microsoft.com/office/powerpoint/2010/main" val="198995366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STANDARDS • SURVEY • ACCEPTANCE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From manufacturer evidence to accepted site integration.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Standards, product certification and local approval are distinct layers.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31</a:t>
            </a:r>
          </a:p>
        </p:txBody>
      </p:sp>
      <p:sp xmlns:a="http://schemas.openxmlformats.org/drawingml/2006/main">
        <p:nvSpPr>
          <p:cNvPr id="35" name="Rectangle 34"/>
          <p:cNvSpPr/>
          <p:nvPr/>
        </p:nvSpPr>
        <p:spPr>
          <a:xfrm>
            <a:off x="658368" y="1993392"/>
            <a:ext cx="10881360"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112264"/>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Fire / water systems</a:t>
            </a:r>
          </a:p>
        </p:txBody>
      </p:sp>
      <p:sp xmlns:a="http://schemas.openxmlformats.org/drawingml/2006/main">
        <p:nvSpPr>
          <p:cNvPr id="37" name="TextBox 36"/>
          <p:cNvSpPr txBox="1"/>
          <p:nvPr/>
        </p:nvSpPr>
        <p:spPr>
          <a:xfrm>
            <a:off x="4793284" y="2103120"/>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NFPA 72 / 13 / 20 / 25; EN 54 / ISO 7240 by market and applicable scope.</a:t>
            </a:r>
          </a:p>
        </p:txBody>
      </p:sp>
      <p:sp xmlns:a="http://schemas.openxmlformats.org/drawingml/2006/main">
        <p:nvSpPr>
          <p:cNvPr id="38" name="Rectangle 37"/>
          <p:cNvSpPr/>
          <p:nvPr/>
        </p:nvSpPr>
        <p:spPr>
          <a:xfrm>
            <a:off x="658368" y="2715768"/>
            <a:ext cx="1088136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34640"/>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Interfaces &amp; data</a:t>
            </a:r>
          </a:p>
        </p:txBody>
      </p:sp>
      <p:sp xmlns:a="http://schemas.openxmlformats.org/drawingml/2006/main">
        <p:nvSpPr>
          <p:cNvPr id="40" name="TextBox 39"/>
          <p:cNvSpPr txBox="1"/>
          <p:nvPr/>
        </p:nvSpPr>
        <p:spPr>
          <a:xfrm>
            <a:off x="4793284" y="2825496"/>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BACnet / Modbus / OPC UA; MQTT / CAP / CloudEvents by use case.</a:t>
            </a:r>
          </a:p>
        </p:txBody>
      </p:sp>
      <p:sp xmlns:a="http://schemas.openxmlformats.org/drawingml/2006/main">
        <p:nvSpPr>
          <p:cNvPr id="41" name="Rectangle 40"/>
          <p:cNvSpPr/>
          <p:nvPr/>
        </p:nvSpPr>
        <p:spPr>
          <a:xfrm>
            <a:off x="658368" y="3438144"/>
            <a:ext cx="10881360"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57016"/>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Security &amp; authority</a:t>
            </a:r>
          </a:p>
        </p:txBody>
      </p:sp>
      <p:sp xmlns:a="http://schemas.openxmlformats.org/drawingml/2006/main">
        <p:nvSpPr>
          <p:cNvPr id="43" name="TextBox 42"/>
          <p:cNvSpPr txBox="1"/>
          <p:nvPr/>
        </p:nvSpPr>
        <p:spPr>
          <a:xfrm>
            <a:off x="4793284" y="3547872"/>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IT/OT zones, scoped IEC 62443 alignment; command rights by model/site.</a:t>
            </a:r>
          </a:p>
        </p:txBody>
      </p:sp>
      <p:sp xmlns:a="http://schemas.openxmlformats.org/drawingml/2006/main">
        <p:nvSpPr>
          <p:cNvPr id="44" name="Rectangle 43"/>
          <p:cNvSpPr/>
          <p:nvPr/>
        </p:nvSpPr>
        <p:spPr>
          <a:xfrm>
            <a:off x="694944"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86384"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SURVEY</a:t>
            </a:r>
          </a:p>
        </p:txBody>
      </p:sp>
      <p:sp xmlns:a="http://schemas.openxmlformats.org/drawingml/2006/main">
        <p:nvSpPr>
          <p:cNvPr id="46" name="TextBox 45"/>
          <p:cNvSpPr txBox="1"/>
          <p:nvPr/>
        </p:nvSpPr>
        <p:spPr>
          <a:xfrm>
            <a:off x="731520"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Asset / point list</a:t>
            </a:r>
          </a:p>
        </p:txBody>
      </p:sp>
      <p:sp xmlns:a="http://schemas.openxmlformats.org/drawingml/2006/main">
        <p:nvSpPr>
          <p:cNvPr id="47" name="Chevron 46"/>
          <p:cNvSpPr/>
          <p:nvPr/>
        </p:nvSpPr>
        <p:spPr>
          <a:xfrm>
            <a:off x="3275838"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ectangle 47"/>
          <p:cNvSpPr/>
          <p:nvPr/>
        </p:nvSpPr>
        <p:spPr>
          <a:xfrm>
            <a:off x="3454146"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3545586"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FAT</a:t>
            </a:r>
          </a:p>
        </p:txBody>
      </p:sp>
      <p:sp xmlns:a="http://schemas.openxmlformats.org/drawingml/2006/main">
        <p:nvSpPr>
          <p:cNvPr id="50" name="TextBox 49"/>
          <p:cNvSpPr txBox="1"/>
          <p:nvPr/>
        </p:nvSpPr>
        <p:spPr>
          <a:xfrm>
            <a:off x="3490722"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Simulated faults &amp; commands</a:t>
            </a:r>
          </a:p>
        </p:txBody>
      </p:sp>
      <p:sp xmlns:a="http://schemas.openxmlformats.org/drawingml/2006/main">
        <p:nvSpPr>
          <p:cNvPr id="51" name="Chevron 50"/>
          <p:cNvSpPr/>
          <p:nvPr/>
        </p:nvSpPr>
        <p:spPr>
          <a:xfrm>
            <a:off x="6035040"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6213348"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TextBox 52"/>
          <p:cNvSpPr txBox="1"/>
          <p:nvPr/>
        </p:nvSpPr>
        <p:spPr>
          <a:xfrm>
            <a:off x="6304788"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SAT</a:t>
            </a:r>
          </a:p>
        </p:txBody>
      </p:sp>
      <p:sp xmlns:a="http://schemas.openxmlformats.org/drawingml/2006/main">
        <p:nvSpPr>
          <p:cNvPr id="54" name="TextBox 53"/>
          <p:cNvSpPr txBox="1"/>
          <p:nvPr/>
        </p:nvSpPr>
        <p:spPr>
          <a:xfrm>
            <a:off x="6249924"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Site feedback measurements</a:t>
            </a:r>
          </a:p>
        </p:txBody>
      </p:sp>
      <p:sp xmlns:a="http://schemas.openxmlformats.org/drawingml/2006/main">
        <p:nvSpPr>
          <p:cNvPr id="55" name="Chevron 54"/>
          <p:cNvSpPr/>
          <p:nvPr/>
        </p:nvSpPr>
        <p:spPr>
          <a:xfrm>
            <a:off x="8794242"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Rectangle 55"/>
          <p:cNvSpPr/>
          <p:nvPr/>
        </p:nvSpPr>
        <p:spPr>
          <a:xfrm>
            <a:off x="8972550" y="4526280"/>
            <a:ext cx="255803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9063990"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04  HANDOVER</a:t>
            </a:r>
          </a:p>
        </p:txBody>
      </p:sp>
      <p:sp xmlns:a="http://schemas.openxmlformats.org/drawingml/2006/main">
        <p:nvSpPr>
          <p:cNvPr id="58" name="TextBox 57"/>
          <p:cNvSpPr txBox="1"/>
          <p:nvPr/>
        </p:nvSpPr>
        <p:spPr>
          <a:xfrm>
            <a:off x="9009126"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Owner / runbook / evidence</a:t>
            </a:r>
          </a:p>
        </p:txBody>
      </p:sp>
    </p:spTree>
    <p:extLst>
      <p:ext uri="{BB962C8B-B14F-4D97-AF65-F5344CB8AC3E}">
        <p14:creationId xmlns:p14="http://schemas.microsoft.com/office/powerpoint/2010/main" val="19899536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PRODUCTION ARCHITECTURE • MULTI-REGION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Scale by region. Sustain the response on site.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Cloud coordinates at scale; edge retains configured and verified local capabilities.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32</a:t>
            </a:r>
          </a:p>
        </p:txBody>
      </p:sp>
      <p:sp xmlns:a="http://schemas.openxmlformats.org/drawingml/2006/main">
        <p:nvSpPr>
          <p:cNvPr id="35" name="Rectangle 34"/>
          <p:cNvSpPr/>
          <p:nvPr/>
        </p:nvSpPr>
        <p:spPr>
          <a:xfrm>
            <a:off x="658368" y="2011680"/>
            <a:ext cx="10881360" cy="54864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68680" y="2176272"/>
            <a:ext cx="10424160" cy="246888"/>
          </a:xfrm>
          <a:prstGeom prst="rect">
            <a:avLst/>
          </a:prstGeom>
          <a:noFill/>
        </p:spPr>
        <p:txBody>
          <a:bodyPr wrap="square" lIns="0" rIns="0" tIns="0" bIns="0">
            <a:spAutoFit/>
          </a:bodyPr>
          <a:lstStyle/>
          <a:p>
            <a:pPr>
              <a:spcBef>
                <a:spcPts val="0"/>
              </a:spcBef>
              <a:spcAft>
                <a:spcPts val="500"/>
              </a:spcAft>
              <a:defRPr sz="1600" b="1">
                <a:solidFill>
                  <a:srgbClr val="FFFFFF"/>
                </a:solidFill>
                <a:latin typeface="Arial"/>
              </a:defRPr>
            </a:pPr>
            <a:r>
              <a:t>GLOBAL CONTROL PLANE    •    Tenant directory • Policy • Catalog • Operations</a:t>
            </a:r>
          </a:p>
        </p:txBody>
      </p:sp>
      <p:sp xmlns:a="http://schemas.openxmlformats.org/drawingml/2006/main">
        <p:nvSpPr>
          <p:cNvPr id="37" name="Rounded Rectangle 36"/>
          <p:cNvSpPr/>
          <p:nvPr/>
        </p:nvSpPr>
        <p:spPr>
          <a:xfrm>
            <a:off x="65836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65836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59"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REGIONAL CELL A</a:t>
            </a:r>
          </a:p>
        </p:txBody>
      </p:sp>
      <p:sp xmlns:a="http://schemas.openxmlformats.org/drawingml/2006/main">
        <p:nvSpPr>
          <p:cNvPr id="40" name="TextBox 39"/>
          <p:cNvSpPr txBox="1"/>
          <p:nvPr/>
        </p:nvSpPr>
        <p:spPr>
          <a:xfrm>
            <a:off x="822959" y="3630168"/>
            <a:ext cx="3145536" cy="138988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Multi-AZ services</a:t>
            </a:r>
          </a:p>
          <a:p>
            <a:pPr>
              <a:spcBef>
                <a:spcPts val="0"/>
              </a:spcBef>
              <a:spcAft>
                <a:spcPts val="500"/>
              </a:spcAft>
              <a:defRPr sz="1600" b="0" lang="en-US">
                <a:solidFill>
                  <a:srgbClr val="20252B"/>
                </a:solidFill>
                <a:latin typeface="Arial"/>
              </a:defRPr>
            </a:pPr>
            <a:r>
              <a:t>Event bus / workflow</a:t>
            </a:r>
          </a:p>
          <a:p>
            <a:pPr>
              <a:spcBef>
                <a:spcPts val="0"/>
              </a:spcBef>
              <a:spcAft>
                <a:spcPts val="500"/>
              </a:spcAft>
              <a:defRPr sz="1600" b="0" lang="en-US">
                <a:solidFill>
                  <a:srgbClr val="20252B"/>
                </a:solidFill>
                <a:latin typeface="Arial"/>
              </a:defRPr>
            </a:pPr>
            <a:r>
              <a:t>Regional data &amp; evidence</a:t>
            </a:r>
          </a:p>
        </p:txBody>
      </p:sp>
      <p:sp xmlns:a="http://schemas.openxmlformats.org/drawingml/2006/main">
        <p:nvSpPr>
          <p:cNvPr id="41" name="Rounded Rectangle 40"/>
          <p:cNvSpPr/>
          <p:nvPr/>
        </p:nvSpPr>
        <p:spPr>
          <a:xfrm>
            <a:off x="436168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436168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4526279"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REGIONAL CELL B</a:t>
            </a:r>
          </a:p>
        </p:txBody>
      </p:sp>
      <p:sp xmlns:a="http://schemas.openxmlformats.org/drawingml/2006/main">
        <p:nvSpPr>
          <p:cNvPr id="44" name="TextBox 43"/>
          <p:cNvSpPr txBox="1"/>
          <p:nvPr/>
        </p:nvSpPr>
        <p:spPr>
          <a:xfrm>
            <a:off x="4526279" y="3630168"/>
            <a:ext cx="3145536" cy="138988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Data residency boundaries</a:t>
            </a:r>
          </a:p>
          <a:p>
            <a:pPr>
              <a:spcBef>
                <a:spcPts val="0"/>
              </a:spcBef>
              <a:spcAft>
                <a:spcPts val="500"/>
              </a:spcAft>
              <a:defRPr sz="1600" b="0" lang="en-US">
                <a:solidFill>
                  <a:srgbClr val="20252B"/>
                </a:solidFill>
                <a:latin typeface="Arial"/>
              </a:defRPr>
            </a:pPr>
            <a:r>
              <a:t>Scale by tenant / workload</a:t>
            </a:r>
          </a:p>
          <a:p>
            <a:pPr>
              <a:spcBef>
                <a:spcPts val="0"/>
              </a:spcBef>
              <a:spcAft>
                <a:spcPts val="500"/>
              </a:spcAft>
              <a:defRPr sz="1600" b="0" lang="en-US">
                <a:solidFill>
                  <a:srgbClr val="20252B"/>
                </a:solidFill>
                <a:latin typeface="Arial"/>
              </a:defRPr>
            </a:pPr>
            <a:r>
              <a:t>Region-specific DR policy</a:t>
            </a:r>
          </a:p>
        </p:txBody>
      </p:sp>
      <p:sp xmlns:a="http://schemas.openxmlformats.org/drawingml/2006/main">
        <p:nvSpPr>
          <p:cNvPr id="45" name="Rounded Rectangle 44"/>
          <p:cNvSpPr/>
          <p:nvPr/>
        </p:nvSpPr>
        <p:spPr>
          <a:xfrm>
            <a:off x="806500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806500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0"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SITE / EDGE</a:t>
            </a:r>
          </a:p>
        </p:txBody>
      </p:sp>
      <p:sp xmlns:a="http://schemas.openxmlformats.org/drawingml/2006/main">
        <p:nvSpPr>
          <p:cNvPr id="48" name="TextBox 47"/>
          <p:cNvSpPr txBox="1"/>
          <p:nvPr/>
        </p:nvSpPr>
        <p:spPr>
          <a:xfrm>
            <a:off x="8229600" y="3630168"/>
            <a:ext cx="3145536" cy="138988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Gateway • event buffering</a:t>
            </a:r>
          </a:p>
          <a:p>
            <a:pPr>
              <a:spcBef>
                <a:spcPts val="0"/>
              </a:spcBef>
              <a:spcAft>
                <a:spcPts val="500"/>
              </a:spcAft>
              <a:defRPr sz="1600" b="0" lang="en-US">
                <a:solidFill>
                  <a:srgbClr val="20252B"/>
                </a:solidFill>
                <a:latin typeface="Arial"/>
              </a:defRPr>
            </a:pPr>
            <a:r>
              <a:t>Approved maps / content</a:t>
            </a:r>
          </a:p>
          <a:p>
            <a:pPr>
              <a:spcBef>
                <a:spcPts val="0"/>
              </a:spcBef>
              <a:spcAft>
                <a:spcPts val="500"/>
              </a:spcAft>
              <a:defRPr sz="1600" b="0" lang="en-US">
                <a:solidFill>
                  <a:srgbClr val="20252B"/>
                </a:solidFill>
                <a:latin typeface="Arial"/>
              </a:defRPr>
            </a:pPr>
            <a:r>
              <a:t>Local system priority</a:t>
            </a:r>
          </a:p>
        </p:txBody>
      </p:sp>
      <p:sp xmlns:a="http://schemas.openxmlformats.org/drawingml/2006/main">
        <p:nvSpPr>
          <p:cNvPr id="49" name="TextBox 48"/>
          <p:cNvSpPr txBox="1"/>
          <p:nvPr/>
        </p:nvSpPr>
        <p:spPr>
          <a:xfrm>
            <a:off x="758952" y="5449824"/>
            <a:ext cx="10698480" cy="457200"/>
          </a:xfrm>
          <a:prstGeom prst="rect">
            <a:avLst/>
          </a:prstGeom>
          <a:noFill/>
        </p:spPr>
        <p:txBody>
          <a:bodyPr wrap="square" lIns="0" rIns="0" tIns="0" bIns="0">
            <a:spAutoFit/>
          </a:bodyPr>
          <a:lstStyle/>
          <a:p>
            <a:pPr>
              <a:spcBef>
                <a:spcPts val="0"/>
              </a:spcBef>
              <a:spcAft>
                <a:spcPts val="500"/>
              </a:spcAft>
              <a:defRPr sz="1800" b="1" lang="en-US">
                <a:solidFill>
                  <a:srgbClr val="C8102E"/>
                </a:solidFill>
                <a:latin typeface="Arial"/>
              </a:defRPr>
            </a:pPr>
            <a:r>
              <a:t>End-to-end security   /   Monitoring &amp; audit   /   Backup–restore   /   Fault &amp; recovery exercises</a:t>
            </a:r>
          </a:p>
        </p:txBody>
      </p:sp>
    </p:spTree>
    <p:extLst>
      <p:ext uri="{BB962C8B-B14F-4D97-AF65-F5344CB8AC3E}">
        <p14:creationId xmlns:p14="http://schemas.microsoft.com/office/powerpoint/2010/main" val="17975678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TRUST • PRIVACY • ACCOUNTABILITY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Sensitive data is protected by design.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Responders receive the information needed to act; access is limited and auditable.</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33</a:t>
            </a:r>
          </a:p>
        </p:txBody>
      </p:sp>
      <p:sp xmlns:a="http://schemas.openxmlformats.org/drawingml/2006/main">
        <p:nvSpPr>
          <p:cNvPr id="35" name="Rounded Rectangle 34"/>
          <p:cNvSpPr/>
          <p:nvPr/>
        </p:nvSpPr>
        <p:spPr>
          <a:xfrm>
            <a:off x="65836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103120"/>
            <a:ext cx="50292" cy="29443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258568"/>
            <a:ext cx="3145536" cy="484632"/>
          </a:xfrm>
          <a:prstGeom prst="rect">
            <a:avLst/>
          </a:prstGeom>
          <a:noFill/>
        </p:spPr>
        <p:txBody>
          <a:bodyPr wrap="square" lIns="0" rIns="0" tIns="0" bIns="0">
            <a:spAutoFit/>
          </a:bodyPr>
          <a:lstStyle/>
          <a:p>
            <a:pPr>
              <a:spcBef>
                <a:spcPts val="0"/>
              </a:spcBef>
              <a:spcAft>
                <a:spcPts val="500"/>
              </a:spcAft>
              <a:defRPr sz="1800" b="1" lang="en-US">
                <a:solidFill>
                  <a:srgbClr val="C8102E"/>
                </a:solidFill>
                <a:latin typeface="Arial"/>
              </a:defRPr>
            </a:pPr>
            <a:r>
              <a:t>RIGHT PERSON</a:t>
            </a:r>
          </a:p>
        </p:txBody>
      </p:sp>
      <p:sp xmlns:a="http://schemas.openxmlformats.org/drawingml/2006/main">
        <p:nvSpPr>
          <p:cNvPr id="38" name="TextBox 37"/>
          <p:cNvSpPr txBox="1"/>
          <p:nvPr/>
        </p:nvSpPr>
        <p:spPr>
          <a:xfrm>
            <a:off x="822959" y="2898648"/>
            <a:ext cx="3145536" cy="2048256"/>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Role + organization + site</a:t>
            </a:r>
          </a:p>
          <a:p>
            <a:pPr>
              <a:spcBef>
                <a:spcPts val="0"/>
              </a:spcBef>
              <a:spcAft>
                <a:spcPts val="500"/>
              </a:spcAft>
              <a:defRPr sz="1600" b="0" lang="en-US">
                <a:solidFill>
                  <a:srgbClr val="20252B"/>
                </a:solidFill>
                <a:latin typeface="Arial"/>
              </a:defRPr>
            </a:pPr>
            <a:r>
              <a:t>Current task assignment</a:t>
            </a:r>
          </a:p>
          <a:p>
            <a:pPr>
              <a:spcBef>
                <a:spcPts val="0"/>
              </a:spcBef>
              <a:spcAft>
                <a:spcPts val="500"/>
              </a:spcAft>
              <a:defRPr sz="1600" b="0" lang="en-US">
                <a:solidFill>
                  <a:srgbClr val="20252B"/>
                </a:solidFill>
                <a:latin typeface="Arial"/>
              </a:defRPr>
            </a:pPr>
            <a:r>
              <a:t>Field-level permissions</a:t>
            </a:r>
          </a:p>
        </p:txBody>
      </p:sp>
      <p:sp xmlns:a="http://schemas.openxmlformats.org/drawingml/2006/main">
        <p:nvSpPr>
          <p:cNvPr id="39" name="Rounded Rectangle 38"/>
          <p:cNvSpPr/>
          <p:nvPr/>
        </p:nvSpPr>
        <p:spPr>
          <a:xfrm>
            <a:off x="436168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61688" y="2103120"/>
            <a:ext cx="50292" cy="294436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26279" y="2258568"/>
            <a:ext cx="3145536" cy="484632"/>
          </a:xfrm>
          <a:prstGeom prst="rect">
            <a:avLst/>
          </a:prstGeom>
          <a:noFill/>
        </p:spPr>
        <p:txBody>
          <a:bodyPr wrap="square" lIns="0" rIns="0" tIns="0" bIns="0">
            <a:spAutoFit/>
          </a:bodyPr>
          <a:lstStyle/>
          <a:p>
            <a:pPr>
              <a:spcBef>
                <a:spcPts val="0"/>
              </a:spcBef>
              <a:spcAft>
                <a:spcPts val="500"/>
              </a:spcAft>
              <a:defRPr sz="1800" b="1" lang="en-US">
                <a:solidFill>
                  <a:srgbClr val="06283F"/>
                </a:solidFill>
                <a:latin typeface="Arial"/>
              </a:defRPr>
            </a:pPr>
            <a:r>
              <a:t>RIGHT PURPOSE</a:t>
            </a:r>
          </a:p>
        </p:txBody>
      </p:sp>
      <p:sp xmlns:a="http://schemas.openxmlformats.org/drawingml/2006/main">
        <p:nvSpPr>
          <p:cNvPr id="42" name="TextBox 41"/>
          <p:cNvSpPr txBox="1"/>
          <p:nvPr/>
        </p:nvSpPr>
        <p:spPr>
          <a:xfrm>
            <a:off x="4526279" y="2898648"/>
            <a:ext cx="3145536" cy="2048256"/>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Separate needs from medical history</a:t>
            </a:r>
          </a:p>
          <a:p>
            <a:pPr>
              <a:spcBef>
                <a:spcPts val="0"/>
              </a:spcBef>
              <a:spcAft>
                <a:spcPts val="500"/>
              </a:spcAft>
              <a:defRPr sz="1600" b="0" lang="en-US">
                <a:solidFill>
                  <a:srgbClr val="20252B"/>
                </a:solidFill>
                <a:latin typeface="Arial"/>
              </a:defRPr>
            </a:pPr>
            <a:r>
              <a:t>Permission-based precise location</a:t>
            </a:r>
          </a:p>
          <a:p>
            <a:pPr>
              <a:spcBef>
                <a:spcPts val="0"/>
              </a:spcBef>
              <a:spcAft>
                <a:spcPts val="500"/>
              </a:spcAft>
              <a:defRPr sz="1600" b="0" lang="en-US">
                <a:solidFill>
                  <a:srgbClr val="20252B"/>
                </a:solidFill>
                <a:latin typeface="Arial"/>
              </a:defRPr>
            </a:pPr>
            <a:r>
              <a:t>Retention and processing basis</a:t>
            </a:r>
          </a:p>
        </p:txBody>
      </p:sp>
      <p:sp xmlns:a="http://schemas.openxmlformats.org/drawingml/2006/main">
        <p:nvSpPr>
          <p:cNvPr id="43" name="Rounded Rectangle 42"/>
          <p:cNvSpPr/>
          <p:nvPr/>
        </p:nvSpPr>
        <p:spPr>
          <a:xfrm>
            <a:off x="806500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65008" y="2103120"/>
            <a:ext cx="50292" cy="2944368"/>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29600" y="2258568"/>
            <a:ext cx="3145536" cy="484632"/>
          </a:xfrm>
          <a:prstGeom prst="rect">
            <a:avLst/>
          </a:prstGeom>
          <a:noFill/>
        </p:spPr>
        <p:txBody>
          <a:bodyPr wrap="square" lIns="0" rIns="0" tIns="0" bIns="0">
            <a:spAutoFit/>
          </a:bodyPr>
          <a:lstStyle/>
          <a:p>
            <a:pPr>
              <a:spcBef>
                <a:spcPts val="0"/>
              </a:spcBef>
              <a:spcAft>
                <a:spcPts val="500"/>
              </a:spcAft>
              <a:defRPr sz="1800" b="1" lang="en-US">
                <a:solidFill>
                  <a:srgbClr val="147D62"/>
                </a:solidFill>
                <a:latin typeface="Arial"/>
              </a:defRPr>
            </a:pPr>
            <a:r>
              <a:t>AUDITABLE EVIDENCE</a:t>
            </a:r>
          </a:p>
        </p:txBody>
      </p:sp>
      <p:sp xmlns:a="http://schemas.openxmlformats.org/drawingml/2006/main">
        <p:nvSpPr>
          <p:cNvPr id="46" name="TextBox 45"/>
          <p:cNvSpPr txBox="1"/>
          <p:nvPr/>
        </p:nvSpPr>
        <p:spPr>
          <a:xfrm>
            <a:off x="8229600" y="2898648"/>
            <a:ext cx="3145536" cy="2048256"/>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Who viewed / changed / commanded</a:t>
            </a:r>
          </a:p>
          <a:p>
            <a:pPr>
              <a:spcBef>
                <a:spcPts val="0"/>
              </a:spcBef>
              <a:spcAft>
                <a:spcPts val="500"/>
              </a:spcAft>
              <a:defRPr sz="1600" b="0" lang="en-US">
                <a:solidFill>
                  <a:srgbClr val="20252B"/>
                </a:solidFill>
                <a:latin typeface="Arial"/>
              </a:defRPr>
            </a:pPr>
            <a:r>
              <a:t>Reason for emergency access</a:t>
            </a:r>
          </a:p>
          <a:p>
            <a:pPr>
              <a:spcBef>
                <a:spcPts val="0"/>
              </a:spcBef>
              <a:spcAft>
                <a:spcPts val="500"/>
              </a:spcAft>
              <a:defRPr sz="1600" b="0" lang="en-US">
                <a:solidFill>
                  <a:srgbClr val="20252B"/>
                </a:solidFill>
                <a:latin typeface="Arial"/>
              </a:defRPr>
            </a:pPr>
            <a:r>
              <a:t>Audit and post-incident review</a:t>
            </a:r>
          </a:p>
        </p:txBody>
      </p:sp>
      <p:sp xmlns:a="http://schemas.openxmlformats.org/drawingml/2006/main">
        <p:nvSpPr>
          <p:cNvPr id="47" name="TextBox 46"/>
          <p:cNvSpPr txBox="1"/>
          <p:nvPr/>
        </p:nvSpPr>
        <p:spPr>
          <a:xfrm>
            <a:off x="731520" y="5394960"/>
            <a:ext cx="10789920" cy="658368"/>
          </a:xfrm>
          <a:prstGeom prst="rect">
            <a:avLst/>
          </a:prstGeom>
          <a:noFill/>
        </p:spPr>
        <p:txBody>
          <a:bodyPr wrap="square" lIns="0" rIns="0" tIns="0" bIns="0">
            <a:spAutoFit/>
          </a:bodyPr>
          <a:lstStyle/>
          <a:p>
            <a:pPr>
              <a:spcBef>
                <a:spcPts val="0"/>
              </a:spcBef>
              <a:spcAft>
                <a:spcPts val="500"/>
              </a:spcAft>
              <a:defRPr sz="2000" b="1" lang="en-US">
                <a:solidFill>
                  <a:srgbClr val="C8102E"/>
                </a:solidFill>
                <a:latin typeface="Arial"/>
              </a:defRPr>
            </a:pPr>
            <a:r>
              <a:t>Validate policies for the customer's market and operating model.</a:t>
            </a:r>
          </a:p>
        </p:txBody>
      </p:sp>
    </p:spTree>
    <p:extLst>
      <p:ext uri="{BB962C8B-B14F-4D97-AF65-F5344CB8AC3E}">
        <p14:creationId xmlns:p14="http://schemas.microsoft.com/office/powerpoint/2010/main" val="55061906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VIETNAMESE • ENGLISH • JAPANESE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Multilingual, from interfaces to rescue messages.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Language, country and time zone are independent settings.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34</a:t>
            </a:r>
          </a:p>
        </p:txBody>
      </p:sp>
      <p:pic xmlns:a="http://schemas.openxmlformats.org/drawingml/2006/main" xmlns:r="http://schemas.openxmlformats.org/officeDocument/2006/relationships">
        <p:nvPicPr>
          <p:cNvPr id="35" name="Picture 34" descr="C35-vi.png"/>
          <p:cNvPicPr>
            <a:picLocks noChangeAspect="1"/>
          </p:cNvPicPr>
          <p:nvPr/>
        </p:nvPicPr>
        <p:blipFill>
          <a:blip r:embed="rId3"/>
          <a:stretch>
            <a:fillRect/>
          </a:stretch>
        </p:blipFill>
        <p:spPr>
          <a:xfrm>
            <a:off x="929640" y="1920240"/>
            <a:ext cx="1752600" cy="4114800"/>
          </a:xfrm>
          <a:prstGeom prst="rect">
            <a:avLst/>
          </a:prstGeom>
        </p:spPr>
      </p:pic>
      <p:sp xmlns:a="http://schemas.openxmlformats.org/drawingml/2006/main">
        <p:nvSpPr>
          <p:cNvPr id="36" name="TextBox 35"/>
          <p:cNvSpPr txBox="1"/>
          <p:nvPr/>
        </p:nvSpPr>
        <p:spPr>
          <a:xfrm>
            <a:off x="137160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VI</a:t>
            </a:r>
          </a:p>
        </p:txBody>
      </p:sp>
      <p:pic xmlns:a="http://schemas.openxmlformats.org/drawingml/2006/main" xmlns:r="http://schemas.openxmlformats.org/officeDocument/2006/relationships">
        <p:nvPicPr>
          <p:cNvPr id="37" name="Picture 36" descr="C35-en.png"/>
          <p:cNvPicPr>
            <a:picLocks noChangeAspect="1"/>
          </p:cNvPicPr>
          <p:nvPr/>
        </p:nvPicPr>
        <p:blipFill>
          <a:blip r:embed="rId4"/>
          <a:stretch>
            <a:fillRect/>
          </a:stretch>
        </p:blipFill>
        <p:spPr>
          <a:xfrm>
            <a:off x="3809999" y="1920240"/>
            <a:ext cx="1752600" cy="4114800"/>
          </a:xfrm>
          <a:prstGeom prst="rect">
            <a:avLst/>
          </a:prstGeom>
        </p:spPr>
      </p:pic>
      <p:sp xmlns:a="http://schemas.openxmlformats.org/drawingml/2006/main">
        <p:nvSpPr>
          <p:cNvPr id="38" name="TextBox 37"/>
          <p:cNvSpPr txBox="1"/>
          <p:nvPr/>
        </p:nvSpPr>
        <p:spPr>
          <a:xfrm>
            <a:off x="425196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EN</a:t>
            </a:r>
          </a:p>
        </p:txBody>
      </p:sp>
      <p:pic xmlns:a="http://schemas.openxmlformats.org/drawingml/2006/main" xmlns:r="http://schemas.openxmlformats.org/officeDocument/2006/relationships">
        <p:nvPicPr>
          <p:cNvPr id="39" name="Picture 38" descr="C35-ja.png"/>
          <p:cNvPicPr>
            <a:picLocks noChangeAspect="1"/>
          </p:cNvPicPr>
          <p:nvPr/>
        </p:nvPicPr>
        <p:blipFill>
          <a:blip r:embed="rId5"/>
          <a:stretch>
            <a:fillRect/>
          </a:stretch>
        </p:blipFill>
        <p:spPr>
          <a:xfrm>
            <a:off x="6690360" y="1920240"/>
            <a:ext cx="1752600" cy="4114800"/>
          </a:xfrm>
          <a:prstGeom prst="rect">
            <a:avLst/>
          </a:prstGeom>
        </p:spPr>
      </p:pic>
      <p:sp xmlns:a="http://schemas.openxmlformats.org/drawingml/2006/main">
        <p:nvSpPr>
          <p:cNvPr id="40" name="TextBox 39"/>
          <p:cNvSpPr txBox="1"/>
          <p:nvPr/>
        </p:nvSpPr>
        <p:spPr>
          <a:xfrm>
            <a:off x="713232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JA</a:t>
            </a:r>
          </a:p>
        </p:txBody>
      </p:sp>
      <p:sp xmlns:a="http://schemas.openxmlformats.org/drawingml/2006/main">
        <p:nvSpPr>
          <p:cNvPr id="41" name="TextBox 40"/>
          <p:cNvSpPr txBox="1"/>
          <p:nvPr/>
        </p:nvSpPr>
        <p:spPr>
          <a:xfrm>
            <a:off x="9372600" y="2423160"/>
            <a:ext cx="2286000" cy="3200400"/>
          </a:xfrm>
          <a:prstGeom prst="rect">
            <a:avLst/>
          </a:prstGeom>
          <a:noFill/>
        </p:spPr>
        <p:txBody>
          <a:bodyPr wrap="square" lIns="0" rIns="0" tIns="0" bIns="0">
            <a:spAutoFit/>
          </a:bodyPr>
          <a:lstStyle/>
          <a:p>
            <a:pPr>
              <a:defRPr sz="2000" b="0">
                <a:solidFill>
                  <a:srgbClr val="142B35"/>
                </a:solidFill>
                <a:latin typeface="Segoe UI"/>
              </a:defRPr>
            </a:pPr>
            <a:r>
              <a:t>One visual meaning.</a:t>
            </a:r>
          </a:p>
          <a:p>
            <a:pPr>
              <a:defRPr sz="2000" b="0">
                <a:solidFill>
                  <a:srgbClr val="142B35"/>
                </a:solidFill>
                <a:latin typeface="Segoe UI"/>
              </a:defRPr>
            </a:pPr>
            <a:r>
              <a:t>Three languages.</a:t>
            </a:r>
          </a:p>
          <a:p>
            <a:pPr>
              <a:defRPr sz="2000" b="0">
                <a:solidFill>
                  <a:srgbClr val="142B35"/>
                </a:solidFill>
                <a:latin typeface="Segoe UI"/>
              </a:defRPr>
            </a:pPr>
          </a:p>
          <a:p>
            <a:pPr>
              <a:defRPr sz="2000" b="0">
                <a:solidFill>
                  <a:srgbClr val="142B35"/>
                </a:solidFill>
                <a:latin typeface="Segoe UI"/>
              </a:defRPr>
            </a:pPr>
            <a:r>
              <a:t>Reviewed emergency content; controlled voice fallback.</a:t>
            </a:r>
          </a:p>
        </p:txBody>
      </p:sp>
    </p:spTree>
    <p:extLst>
      <p:ext uri="{BB962C8B-B14F-4D97-AF65-F5344CB8AC3E}">
        <p14:creationId xmlns:p14="http://schemas.microsoft.com/office/powerpoint/2010/main" val="211770410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FULL PRODUCT SCOPE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142B35"/>
                </a:solidFill>
                <a:latin typeface="Segoe UI"/>
                <a:ea typeface="Arial"/>
                <a:cs typeface="Arial"/>
              </a:defRPr>
            </a:pPr>
            <a:r>
              <a:t>233 screens, with visual patterns for each role.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300" b="0" lang="en-US">
                <a:solidFill>
                  <a:srgbClr val="52666F"/>
                </a:solidFill>
                <a:latin typeface="Segoe UI"/>
                <a:ea typeface="Arial"/>
                <a:cs typeface="Arial"/>
              </a:defRPr>
            </a:pPr>
            <a:r>
              <a:t>Complete function appendix retained • visual specifications mapped to every screen ID</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35</a:t>
            </a:r>
          </a:p>
        </p:txBody>
      </p:sp>
      <p:pic xmlns:a="http://schemas.openxmlformats.org/drawingml/2006/main" xmlns:r="http://schemas.openxmlformats.org/officeDocument/2006/relationships">
        <p:nvPicPr>
          <p:cNvPr id="35" name="Picture 34" descr="F08-en.png"/>
          <p:cNvPicPr>
            <a:picLocks noChangeAspect="1"/>
          </p:cNvPicPr>
          <p:nvPr/>
        </p:nvPicPr>
        <p:blipFill>
          <a:blip r:embed="rId3"/>
          <a:stretch>
            <a:fillRect/>
          </a:stretch>
        </p:blipFill>
        <p:spPr>
          <a:xfrm>
            <a:off x="502920" y="1920240"/>
            <a:ext cx="3657600" cy="2717800"/>
          </a:xfrm>
          <a:prstGeom prst="rect">
            <a:avLst/>
          </a:prstGeom>
        </p:spPr>
      </p:pic>
      <p:sp xmlns:a="http://schemas.openxmlformats.org/drawingml/2006/main">
        <p:nvSpPr>
          <p:cNvPr id="36" name="TextBox 35"/>
          <p:cNvSpPr txBox="1"/>
          <p:nvPr/>
        </p:nvSpPr>
        <p:spPr>
          <a:xfrm>
            <a:off x="6400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PHYSICAL SYSTEMS</a:t>
            </a:r>
          </a:p>
        </p:txBody>
      </p:sp>
      <p:pic xmlns:a="http://schemas.openxmlformats.org/drawingml/2006/main" xmlns:r="http://schemas.openxmlformats.org/officeDocument/2006/relationships">
        <p:nvPicPr>
          <p:cNvPr id="37" name="Picture 36" descr="H08-en.png"/>
          <p:cNvPicPr>
            <a:picLocks noChangeAspect="1"/>
          </p:cNvPicPr>
          <p:nvPr/>
        </p:nvPicPr>
        <p:blipFill>
          <a:blip r:embed="rId4"/>
          <a:stretch>
            <a:fillRect/>
          </a:stretch>
        </p:blipFill>
        <p:spPr>
          <a:xfrm>
            <a:off x="4389120" y="1920240"/>
            <a:ext cx="3657600" cy="1888066"/>
          </a:xfrm>
          <a:prstGeom prst="rect">
            <a:avLst/>
          </a:prstGeom>
        </p:spPr>
      </p:pic>
      <p:sp xmlns:a="http://schemas.openxmlformats.org/drawingml/2006/main">
        <p:nvSpPr>
          <p:cNvPr id="38" name="TextBox 37"/>
          <p:cNvSpPr txBox="1"/>
          <p:nvPr/>
        </p:nvSpPr>
        <p:spPr>
          <a:xfrm>
            <a:off x="45262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PROACTIVE RESCUE</a:t>
            </a:r>
          </a:p>
        </p:txBody>
      </p:sp>
      <p:pic xmlns:a="http://schemas.openxmlformats.org/drawingml/2006/main" xmlns:r="http://schemas.openxmlformats.org/officeDocument/2006/relationships">
        <p:nvPicPr>
          <p:cNvPr id="39" name="Picture 38" descr="P04-en.png"/>
          <p:cNvPicPr>
            <a:picLocks noChangeAspect="1"/>
          </p:cNvPicPr>
          <p:nvPr/>
        </p:nvPicPr>
        <p:blipFill>
          <a:blip r:embed="rId5"/>
          <a:stretch>
            <a:fillRect/>
          </a:stretch>
        </p:blipFill>
        <p:spPr>
          <a:xfrm>
            <a:off x="8275320" y="1920240"/>
            <a:ext cx="3657600" cy="2543386"/>
          </a:xfrm>
          <a:prstGeom prst="rect">
            <a:avLst/>
          </a:prstGeom>
        </p:spPr>
      </p:pic>
      <p:sp xmlns:a="http://schemas.openxmlformats.org/drawingml/2006/main">
        <p:nvSpPr>
          <p:cNvPr id="40" name="TextBox 39"/>
          <p:cNvSpPr txBox="1"/>
          <p:nvPr/>
        </p:nvSpPr>
        <p:spPr>
          <a:xfrm>
            <a:off x="84124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SPEAKER COVERAGE</a:t>
            </a:r>
          </a:p>
        </p:txBody>
      </p:sp>
      <p:sp xmlns:a="http://schemas.openxmlformats.org/drawingml/2006/main">
        <p:nvSpPr>
          <p:cNvPr id="41" name="TextBox 40"/>
          <p:cNvSpPr txBox="1"/>
          <p:nvPr/>
        </p:nvSpPr>
        <p:spPr>
          <a:xfrm>
            <a:off x="640080" y="5943600"/>
            <a:ext cx="10972800" cy="274320"/>
          </a:xfrm>
          <a:prstGeom prst="rect">
            <a:avLst/>
          </a:prstGeom>
          <a:noFill/>
        </p:spPr>
        <p:txBody>
          <a:bodyPr wrap="square" lIns="0" rIns="0" tIns="0" bIns="0">
            <a:spAutoFit/>
          </a:bodyPr>
          <a:lstStyle/>
          <a:p>
            <a:pPr>
              <a:defRPr sz="1200" b="0">
                <a:solidFill>
                  <a:srgbClr val="142B35"/>
                </a:solidFill>
                <a:latin typeface="Segoe UI"/>
              </a:defRPr>
            </a:pPr>
            <a:r>
              <a:t>CITIZEN  /  FIELD  /  COMMAND  /  CONFIGURATION     •     ALL 233 SCREENS: GALLERY + INTERACTIVE PROTOTYPE</a:t>
            </a:r>
          </a:p>
        </p:txBody>
      </p:sp>
    </p:spTree>
    <p:extLst>
      <p:ext uri="{BB962C8B-B14F-4D97-AF65-F5344CB8AC3E}">
        <p14:creationId xmlns:p14="http://schemas.microsoft.com/office/powerpoint/2010/main" val="64772683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END-TO-END ACCEPTANCE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Prove scenarios, beyond individual screens.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Test people, equipment, data, actions and recovery together.</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36</a:t>
            </a:r>
          </a:p>
        </p:txBody>
      </p:sp>
      <p:sp xmlns:a="http://schemas.openxmlformats.org/drawingml/2006/main">
        <p:nvSpPr>
          <p:cNvPr id="35" name="Rectangle 34"/>
          <p:cNvSpPr/>
          <p:nvPr/>
        </p:nvSpPr>
        <p:spPr>
          <a:xfrm>
            <a:off x="667512" y="1984248"/>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103120"/>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Fire &amp; evacuation</a:t>
            </a:r>
          </a:p>
        </p:txBody>
      </p:sp>
      <p:sp xmlns:a="http://schemas.openxmlformats.org/drawingml/2006/main">
        <p:nvSpPr>
          <p:cNvPr id="37" name="TextBox 36"/>
          <p:cNvSpPr txBox="1"/>
          <p:nvPr/>
        </p:nvSpPr>
        <p:spPr>
          <a:xfrm>
            <a:off x="4802428" y="2093976"/>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Signal → route/voice → PA → SOS → contact → safety.</a:t>
            </a:r>
          </a:p>
        </p:txBody>
      </p:sp>
      <p:sp xmlns:a="http://schemas.openxmlformats.org/drawingml/2006/main">
        <p:nvSpPr>
          <p:cNvPr id="38" name="Rectangle 37"/>
          <p:cNvSpPr/>
          <p:nvPr/>
        </p:nvSpPr>
        <p:spPr>
          <a:xfrm>
            <a:off x="667512" y="2697480"/>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816352"/>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Without SOS</a:t>
            </a:r>
          </a:p>
        </p:txBody>
      </p:sp>
      <p:sp xmlns:a="http://schemas.openxmlformats.org/drawingml/2006/main">
        <p:nvSpPr>
          <p:cNvPr id="40" name="TextBox 39"/>
          <p:cNvSpPr txBox="1"/>
          <p:nvPr/>
        </p:nvSpPr>
        <p:spPr>
          <a:xfrm>
            <a:off x="4802428" y="2807208"/>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Assistance need → presence → check → assignment.</a:t>
            </a:r>
          </a:p>
        </p:txBody>
      </p:sp>
      <p:sp xmlns:a="http://schemas.openxmlformats.org/drawingml/2006/main">
        <p:nvSpPr>
          <p:cNvPr id="41" name="Rectangle 40"/>
          <p:cNvSpPr/>
          <p:nvPr/>
        </p:nvSpPr>
        <p:spPr>
          <a:xfrm>
            <a:off x="667512" y="3410712"/>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04672" y="3529584"/>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Widespread disaster</a:t>
            </a:r>
          </a:p>
        </p:txBody>
      </p:sp>
      <p:sp xmlns:a="http://schemas.openxmlformats.org/drawingml/2006/main">
        <p:nvSpPr>
          <p:cNvPr id="43" name="TextBox 42"/>
          <p:cNvSpPr txBox="1"/>
          <p:nvPr/>
        </p:nvSpPr>
        <p:spPr>
          <a:xfrm>
            <a:off x="4802428" y="3520440"/>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Official source → area → update/cancel → shelter.</a:t>
            </a:r>
          </a:p>
        </p:txBody>
      </p:sp>
      <p:sp xmlns:a="http://schemas.openxmlformats.org/drawingml/2006/main">
        <p:nvSpPr>
          <p:cNvPr id="44" name="Rectangle 43"/>
          <p:cNvSpPr/>
          <p:nvPr/>
        </p:nvSpPr>
        <p:spPr>
          <a:xfrm>
            <a:off x="667512" y="4123944"/>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04672" y="4242816"/>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Network / device failure</a:t>
            </a:r>
          </a:p>
        </p:txBody>
      </p:sp>
      <p:sp xmlns:a="http://schemas.openxmlformats.org/drawingml/2006/main">
        <p:nvSpPr>
          <p:cNvPr id="46" name="TextBox 45"/>
          <p:cNvSpPr txBox="1"/>
          <p:nvPr/>
        </p:nvSpPr>
        <p:spPr>
          <a:xfrm>
            <a:off x="4802428" y="4233672"/>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Edge, queues, expiry, synchronization and audit.</a:t>
            </a:r>
          </a:p>
        </p:txBody>
      </p:sp>
      <p:sp xmlns:a="http://schemas.openxmlformats.org/drawingml/2006/main">
        <p:nvSpPr>
          <p:cNvPr id="47" name="Rectangle 46"/>
          <p:cNvSpPr/>
          <p:nvPr/>
        </p:nvSpPr>
        <p:spPr>
          <a:xfrm>
            <a:off x="667512" y="4837176"/>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4672" y="4956048"/>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Access &amp; languages</a:t>
            </a:r>
          </a:p>
        </p:txBody>
      </p:sp>
      <p:sp xmlns:a="http://schemas.openxmlformats.org/drawingml/2006/main">
        <p:nvSpPr>
          <p:cNvPr id="49" name="TextBox 48"/>
          <p:cNvSpPr txBox="1"/>
          <p:nvPr/>
        </p:nvSpPr>
        <p:spPr>
          <a:xfrm>
            <a:off x="4802428" y="4946904"/>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Tenant isolation, care data, VI/EN/JA, fallback and audio.</a:t>
            </a:r>
          </a:p>
        </p:txBody>
      </p:sp>
    </p:spTree>
    <p:extLst>
      <p:ext uri="{BB962C8B-B14F-4D97-AF65-F5344CB8AC3E}">
        <p14:creationId xmlns:p14="http://schemas.microsoft.com/office/powerpoint/2010/main" val="21068228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FULL PRODUCT DELIVERY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Keep the full scope. Verify quality at every step.</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Acceptance gates turn a long-term architecture into accountable operations.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37</a:t>
            </a:r>
          </a:p>
        </p:txBody>
      </p:sp>
      <p:sp xmlns:a="http://schemas.openxmlformats.org/drawingml/2006/main">
        <p:nvSpPr>
          <p:cNvPr id="35" name="Rectangle 34"/>
          <p:cNvSpPr/>
          <p:nvPr/>
        </p:nvSpPr>
        <p:spPr>
          <a:xfrm>
            <a:off x="667512"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58952" y="2286000"/>
            <a:ext cx="2386584"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01  DESIGN</a:t>
            </a:r>
          </a:p>
        </p:txBody>
      </p:sp>
      <p:sp xmlns:a="http://schemas.openxmlformats.org/drawingml/2006/main">
        <p:nvSpPr>
          <p:cNvPr id="37" name="TextBox 36"/>
          <p:cNvSpPr txBox="1"/>
          <p:nvPr/>
        </p:nvSpPr>
        <p:spPr>
          <a:xfrm>
            <a:off x="704088" y="2834639"/>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Operating model</a:t>
            </a:r>
          </a:p>
          <a:p>
            <a:pPr>
              <a:spcBef>
                <a:spcPts val="0"/>
              </a:spcBef>
              <a:spcAft>
                <a:spcPts val="500"/>
              </a:spcAft>
              <a:defRPr sz="1600" b="0" lang="en-US">
                <a:solidFill>
                  <a:srgbClr val="20252B"/>
                </a:solidFill>
                <a:latin typeface="Arial"/>
              </a:defRPr>
            </a:pPr>
            <a:r>
              <a:t>Data &amp; permissions</a:t>
            </a:r>
          </a:p>
          <a:p>
            <a:pPr>
              <a:spcBef>
                <a:spcPts val="0"/>
              </a:spcBef>
              <a:spcAft>
                <a:spcPts val="500"/>
              </a:spcAft>
              <a:defRPr sz="1600" b="0" lang="en-US">
                <a:solidFill>
                  <a:srgbClr val="20252B"/>
                </a:solidFill>
                <a:latin typeface="Arial"/>
              </a:defRPr>
            </a:pPr>
            <a:r>
              <a:t>Equipment survey</a:t>
            </a:r>
          </a:p>
        </p:txBody>
      </p:sp>
      <p:sp xmlns:a="http://schemas.openxmlformats.org/drawingml/2006/main">
        <p:nvSpPr>
          <p:cNvPr id="38" name="Chevron 37"/>
          <p:cNvSpPr/>
          <p:nvPr/>
        </p:nvSpPr>
        <p:spPr>
          <a:xfrm>
            <a:off x="3259836"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3438144"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3529584" y="2286000"/>
            <a:ext cx="2386584"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02  BUILD</a:t>
            </a:r>
          </a:p>
        </p:txBody>
      </p:sp>
      <p:sp xmlns:a="http://schemas.openxmlformats.org/drawingml/2006/main">
        <p:nvSpPr>
          <p:cNvPr id="41" name="TextBox 40"/>
          <p:cNvSpPr txBox="1"/>
          <p:nvPr/>
        </p:nvSpPr>
        <p:spPr>
          <a:xfrm>
            <a:off x="3474720" y="2834639"/>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All domains &amp; roles</a:t>
            </a:r>
          </a:p>
          <a:p>
            <a:pPr>
              <a:spcBef>
                <a:spcPts val="0"/>
              </a:spcBef>
              <a:spcAft>
                <a:spcPts val="500"/>
              </a:spcAft>
              <a:defRPr sz="1600" b="0" lang="en-US">
                <a:solidFill>
                  <a:srgbClr val="20252B"/>
                </a:solidFill>
                <a:latin typeface="Arial"/>
              </a:defRPr>
            </a:pPr>
            <a:r>
              <a:t>Integrations / locales</a:t>
            </a:r>
          </a:p>
          <a:p>
            <a:pPr>
              <a:spcBef>
                <a:spcPts val="0"/>
              </a:spcBef>
              <a:spcAft>
                <a:spcPts val="500"/>
              </a:spcAft>
              <a:defRPr sz="1600" b="0" lang="en-US">
                <a:solidFill>
                  <a:srgbClr val="20252B"/>
                </a:solidFill>
                <a:latin typeface="Arial"/>
              </a:defRPr>
            </a:pPr>
            <a:r>
              <a:t>Security &amp; automation</a:t>
            </a:r>
          </a:p>
        </p:txBody>
      </p:sp>
      <p:sp xmlns:a="http://schemas.openxmlformats.org/drawingml/2006/main">
        <p:nvSpPr>
          <p:cNvPr id="42" name="Chevron 41"/>
          <p:cNvSpPr/>
          <p:nvPr/>
        </p:nvSpPr>
        <p:spPr>
          <a:xfrm>
            <a:off x="6030468"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6208776"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6300216" y="2286000"/>
            <a:ext cx="2386584"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03  VERIFY</a:t>
            </a:r>
          </a:p>
        </p:txBody>
      </p:sp>
      <p:sp xmlns:a="http://schemas.openxmlformats.org/drawingml/2006/main">
        <p:nvSpPr>
          <p:cNvPr id="45" name="TextBox 44"/>
          <p:cNvSpPr txBox="1"/>
          <p:nvPr/>
        </p:nvSpPr>
        <p:spPr>
          <a:xfrm>
            <a:off x="6245352" y="2834639"/>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End-to-end UAT</a:t>
            </a:r>
          </a:p>
          <a:p>
            <a:pPr>
              <a:spcBef>
                <a:spcPts val="0"/>
              </a:spcBef>
              <a:spcAft>
                <a:spcPts val="500"/>
              </a:spcAft>
              <a:defRPr sz="1600" b="0" lang="en-US">
                <a:solidFill>
                  <a:srgbClr val="20252B"/>
                </a:solidFill>
                <a:latin typeface="Arial"/>
              </a:defRPr>
            </a:pPr>
            <a:r>
              <a:t>Load &amp; faults / DR</a:t>
            </a:r>
          </a:p>
          <a:p>
            <a:pPr>
              <a:spcBef>
                <a:spcPts val="0"/>
              </a:spcBef>
              <a:spcAft>
                <a:spcPts val="500"/>
              </a:spcAft>
              <a:defRPr sz="1600" b="0" lang="en-US">
                <a:solidFill>
                  <a:srgbClr val="20252B"/>
                </a:solidFill>
                <a:latin typeface="Arial"/>
              </a:defRPr>
            </a:pPr>
            <a:r>
              <a:t>On-site exercises</a:t>
            </a:r>
          </a:p>
        </p:txBody>
      </p:sp>
      <p:sp xmlns:a="http://schemas.openxmlformats.org/drawingml/2006/main">
        <p:nvSpPr>
          <p:cNvPr id="46" name="Chevron 45"/>
          <p:cNvSpPr/>
          <p:nvPr/>
        </p:nvSpPr>
        <p:spPr>
          <a:xfrm>
            <a:off x="8801100"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8979408" y="2194560"/>
            <a:ext cx="256946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9070848" y="2286000"/>
            <a:ext cx="2386584"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04  OPERATE</a:t>
            </a:r>
          </a:p>
        </p:txBody>
      </p:sp>
      <p:sp xmlns:a="http://schemas.openxmlformats.org/drawingml/2006/main">
        <p:nvSpPr>
          <p:cNvPr id="49" name="TextBox 48"/>
          <p:cNvSpPr txBox="1"/>
          <p:nvPr/>
        </p:nvSpPr>
        <p:spPr>
          <a:xfrm>
            <a:off x="9015984" y="2834639"/>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Training &amp; handover</a:t>
            </a:r>
          </a:p>
          <a:p>
            <a:pPr>
              <a:spcBef>
                <a:spcPts val="0"/>
              </a:spcBef>
              <a:spcAft>
                <a:spcPts val="500"/>
              </a:spcAft>
              <a:defRPr sz="1600" b="0" lang="en-US">
                <a:solidFill>
                  <a:srgbClr val="20252B"/>
                </a:solidFill>
                <a:latin typeface="Arial"/>
              </a:defRPr>
            </a:pPr>
            <a:r>
              <a:t>Duty teams &amp; support</a:t>
            </a:r>
          </a:p>
          <a:p>
            <a:pPr>
              <a:spcBef>
                <a:spcPts val="0"/>
              </a:spcBef>
              <a:spcAft>
                <a:spcPts val="500"/>
              </a:spcAft>
              <a:defRPr sz="1600" b="0" lang="en-US">
                <a:solidFill>
                  <a:srgbClr val="20252B"/>
                </a:solidFill>
                <a:latin typeface="Arial"/>
              </a:defRPr>
            </a:pPr>
            <a:r>
              <a:t>Controlled improvement</a:t>
            </a:r>
          </a:p>
        </p:txBody>
      </p:sp>
      <p:sp xmlns:a="http://schemas.openxmlformats.org/drawingml/2006/main">
        <p:nvSpPr>
          <p:cNvPr id="50" name="Rectangle 49"/>
          <p:cNvSpPr/>
          <p:nvPr/>
        </p:nvSpPr>
        <p:spPr>
          <a:xfrm>
            <a:off x="667512" y="4882896"/>
            <a:ext cx="10881360" cy="8229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96112" y="5111496"/>
            <a:ext cx="10424160" cy="365760"/>
          </a:xfrm>
          <a:prstGeom prst="rect">
            <a:avLst/>
          </a:prstGeom>
          <a:noFill/>
        </p:spPr>
        <p:txBody>
          <a:bodyPr wrap="square" lIns="0" rIns="0" tIns="0" bIns="0">
            <a:spAutoFit/>
          </a:bodyPr>
          <a:lstStyle/>
          <a:p>
            <a:pPr>
              <a:spcBef>
                <a:spcPts val="0"/>
              </a:spcBef>
              <a:spcAft>
                <a:spcPts val="500"/>
              </a:spcAft>
              <a:defRPr sz="1800" b="1" lang="en-US">
                <a:solidFill>
                  <a:srgbClr val="FFFFFF"/>
                </a:solidFill>
                <a:latin typeface="Arial"/>
              </a:defRPr>
            </a:pPr>
            <a:r>
              <a:t>Production architecture from day one • Full product scope • Quality gates before go-live</a:t>
            </a:r>
          </a:p>
        </p:txBody>
      </p:sp>
    </p:spTree>
    <p:extLst>
      <p:ext uri="{BB962C8B-B14F-4D97-AF65-F5344CB8AC3E}">
        <p14:creationId xmlns:p14="http://schemas.microsoft.com/office/powerpoint/2010/main" val="80187265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INVESTMENT VALUE • ENGAGEMENT SCOPE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Invest in measurable coordination capability.</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Assess value through operational results, with clear scope and responsibilities.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38</a:t>
            </a:r>
          </a:p>
        </p:txBody>
      </p:sp>
      <p:sp xmlns:a="http://schemas.openxmlformats.org/drawingml/2006/main">
        <p:nvSpPr>
          <p:cNvPr id="35" name="Rectangle 34"/>
          <p:cNvSpPr/>
          <p:nvPr/>
        </p:nvSpPr>
        <p:spPr>
          <a:xfrm>
            <a:off x="667512" y="1984248"/>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103120"/>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Earlier awareness</a:t>
            </a:r>
          </a:p>
        </p:txBody>
      </p:sp>
      <p:sp xmlns:a="http://schemas.openxmlformats.org/drawingml/2006/main">
        <p:nvSpPr>
          <p:cNvPr id="37" name="TextBox 36"/>
          <p:cNvSpPr txBox="1"/>
          <p:nvPr/>
        </p:nvSpPr>
        <p:spPr>
          <a:xfrm>
            <a:off x="4802428" y="2093976"/>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Measure signal-to-verification time by incident type.</a:t>
            </a:r>
          </a:p>
        </p:txBody>
      </p:sp>
      <p:sp xmlns:a="http://schemas.openxmlformats.org/drawingml/2006/main">
        <p:nvSpPr>
          <p:cNvPr id="38" name="Rectangle 37"/>
          <p:cNvSpPr/>
          <p:nvPr/>
        </p:nvSpPr>
        <p:spPr>
          <a:xfrm>
            <a:off x="667512" y="2697480"/>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816352"/>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Clearer contact status</a:t>
            </a:r>
          </a:p>
        </p:txBody>
      </p:sp>
      <p:sp xmlns:a="http://schemas.openxmlformats.org/drawingml/2006/main">
        <p:nvSpPr>
          <p:cNvPr id="40" name="TextBox 39"/>
          <p:cNvSpPr txBox="1"/>
          <p:nvPr/>
        </p:nvSpPr>
        <p:spPr>
          <a:xfrm>
            <a:off x="4802428" y="2807208"/>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Measure task acceptance, contact and unresolved cases.</a:t>
            </a:r>
          </a:p>
        </p:txBody>
      </p:sp>
      <p:sp xmlns:a="http://schemas.openxmlformats.org/drawingml/2006/main">
        <p:nvSpPr>
          <p:cNvPr id="41" name="Rectangle 40"/>
          <p:cNvSpPr/>
          <p:nvPr/>
        </p:nvSpPr>
        <p:spPr>
          <a:xfrm>
            <a:off x="667512" y="3410712"/>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04672" y="3529584"/>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Consistent coordination</a:t>
            </a:r>
          </a:p>
        </p:txBody>
      </p:sp>
      <p:sp xmlns:a="http://schemas.openxmlformats.org/drawingml/2006/main">
        <p:nvSpPr>
          <p:cNvPr id="43" name="TextBox 42"/>
          <p:cNvSpPr txBox="1"/>
          <p:nvPr/>
        </p:nvSpPr>
        <p:spPr>
          <a:xfrm>
            <a:off x="4802428" y="3520440"/>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Measure message consistency, handovers and exercise outcomes.</a:t>
            </a:r>
          </a:p>
        </p:txBody>
      </p:sp>
      <p:sp xmlns:a="http://schemas.openxmlformats.org/drawingml/2006/main">
        <p:nvSpPr>
          <p:cNvPr id="44" name="Rectangle 43"/>
          <p:cNvSpPr/>
          <p:nvPr/>
        </p:nvSpPr>
        <p:spPr>
          <a:xfrm>
            <a:off x="667512" y="4123944"/>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04672" y="4242816"/>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Easier expansion</a:t>
            </a:r>
          </a:p>
        </p:txBody>
      </p:sp>
      <p:sp xmlns:a="http://schemas.openxmlformats.org/drawingml/2006/main">
        <p:nvSpPr>
          <p:cNvPr id="46" name="TextBox 45"/>
          <p:cNvSpPr txBox="1"/>
          <p:nvPr/>
        </p:nvSpPr>
        <p:spPr>
          <a:xfrm>
            <a:off x="4802428" y="4233672"/>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Measure integration effort, version compatibility and health.</a:t>
            </a:r>
          </a:p>
        </p:txBody>
      </p:sp>
      <p:sp xmlns:a="http://schemas.openxmlformats.org/drawingml/2006/main">
        <p:nvSpPr>
          <p:cNvPr id="47" name="Rectangle 46"/>
          <p:cNvSpPr/>
          <p:nvPr/>
        </p:nvSpPr>
        <p:spPr>
          <a:xfrm>
            <a:off x="667512" y="4837176"/>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4672" y="4956048"/>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Agree before deployment</a:t>
            </a:r>
          </a:p>
        </p:txBody>
      </p:sp>
      <p:sp xmlns:a="http://schemas.openxmlformats.org/drawingml/2006/main">
        <p:nvSpPr>
          <p:cNvPr id="49" name="TextBox 48"/>
          <p:cNvSpPr txBox="1"/>
          <p:nvPr/>
        </p:nvSpPr>
        <p:spPr>
          <a:xfrm>
            <a:off x="4802428" y="4946904"/>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Sites/users/devices, data regions, channels, responders and SLA.</a:t>
            </a:r>
          </a:p>
        </p:txBody>
      </p:sp>
    </p:spTree>
    <p:extLst>
      <p:ext uri="{BB962C8B-B14F-4D97-AF65-F5344CB8AC3E}">
        <p14:creationId xmlns:p14="http://schemas.microsoft.com/office/powerpoint/2010/main" val="970924340"/>
      </p:ext>
    </p:extLst>
  </p:cSld>
</p:sld>
</file>

<file path=ppt/slides/slide39.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34" name="">
            <ns1:extLst>
              <ns1:ext uri="{FF2B5EF4-FFF2-40B4-BE49-F238E27FC236}">
                <ns2:creationId id="{9C7C363B-B4FA-49A6-982A-9350B5F01548}"/>
              </ns1:ext>
            </ns1:extLst>
          </ns0:cNvPr>
          <ns0:cNvSpPr>
            <ns1:spLocks noGrp="1"/>
          </ns0:cNvSpPr>
          <ns0:nvPr/>
        </ns0:nvSpPr>
        <ns0:spPr>
          <ns1:xfrm>
            <ns1:off x="0" y="0"/>
            <ns1:ext cx="12192000" cy="95250"/>
          </ns1:xfrm>
          <ns1:prstGeom prst="rect">
            <ns1:avLst/>
          </ns1:prstGeom>
          <ns1:solidFill>
            <ns1:srgbClr val="C8102E"/>
          </ns1:solidFill>
          <ns1:ln w="0">
            <ns1:noFill/>
          </ns1:ln>
        </ns0:spPr>
        <ns0:txBody>
          <ns1:bodyPr/>
          <ns1:p/>
        </ns0:txBody>
      </ns0:sp>
      <ns0:sp>
        <ns0:nvSpPr>
          <ns0:cNvPr id="2" name="">
            <ns1:extLst>
              <ns1:ext uri="{FF2B5EF4-FFF2-40B4-BE49-F238E27FC236}">
                <ns2:creationId id="{AD9FAADC-810E-4595-833E-715EF48B02AF}"/>
              </ns1:ext>
            </ns1:extLst>
          </ns0:cNvPr>
          <ns0:cNvSpPr>
            <ns1:spLocks noGrp="1"/>
          </ns0:cNvSpPr>
          <ns0:nvPr/>
        </ns0:nvSpPr>
        <ns0:spPr>
          <ns1:xfrm>
            <ns1:off x="3857625" y="0"/>
            <ns1:ext cx="2000250" cy="95250"/>
          </ns1:xfrm>
          <ns1:prstGeom prst="rect">
            <ns1:avLst/>
          </ns1:prstGeom>
          <ns1:solidFill>
            <ns1:srgbClr val="FF383C"/>
          </ns1:solidFill>
          <ns1:ln w="0">
            <ns1:noFill/>
          </ns1:ln>
        </ns0:spPr>
        <ns0:txBody>
          <ns1:bodyPr/>
          <ns1:p/>
        </ns0:txBody>
      </ns0:sp>
      <ns0:sp>
        <ns0:nvSpPr>
          <ns0:cNvPr id="3" name="">
            <ns1:extLst>
              <ns1:ext uri="{FF2B5EF4-FFF2-40B4-BE49-F238E27FC236}">
                <ns2:creationId id="{26430B17-7848-4D31-8CAF-00E32363DD65}"/>
              </ns1:ext>
            </ns1:extLst>
          </ns0:cNvPr>
          <ns0:cNvSpPr>
            <ns1:spLocks noGrp="1"/>
          </ns0:cNvSpPr>
          <ns0:nvPr/>
        </ns0:nvSpPr>
        <ns0:spPr>
          <ns1:xfrm>
            <ns1:off x="571500" y="276225"/>
            <ns1:ext cx="8572500" cy="228600"/>
          </ns1:xfrm>
          <ns1:prstGeom prst="rect">
            <ns1:avLst/>
          </ns1:prstGeom>
          <ns1:noFill/>
          <ns1:ln w="0">
            <ns1:noFill/>
          </ns1:ln>
        </ns0:spPr>
        <ns0:txBody>
          <ns1:bodyPr lIns="0" tIns="0" rIns="0" bIns="0"/>
          <ns1:lstStyle>
            <ns1:defPPr>
              <ns1:defRPr sz="1050" b="1" lang="en-US">
                <ns1:solidFill>
                  <ns1:srgbClr val="C8102E"/>
                </ns1:solidFill>
                <ns1:latin typeface="Arial"/>
                <ns1:ea typeface="Arial"/>
                <ns1:cs typeface="Arial"/>
              </ns1:defRPr>
            </ns1:defPPr>
          </ns1:lstStyle>
          <ns1:p>
            <ns1:pPr>
              <ns1:defRPr sz="1050" b="1" lang="en-US">
                <ns1:solidFill>
                  <ns1:srgbClr val="C8102E"/>
                </ns1:solidFill>
                <ns1:latin typeface="Arial"/>
                <ns1:ea typeface="Arial"/>
                <ns1:cs typeface="Arial"/>
              </ns1:defRPr>
            </ns1:pPr>
            <ns1:r>
              <ns1:rPr sz="1050" b="1" lang="en-US">
                <ns1:solidFill>
                  <ns1:srgbClr val="C8102E"/>
                </ns1:solidFill>
                <ns1:latin typeface="Arial"/>
                <ns1:ea typeface="Arial"/>
                <ns1:cs typeface="Arial"/>
              </ns1:rPr>
              <ns1:t>PRODUCT FOUNDATION • PROPOSAL BASIS</ns1:t>
            </ns1:r>
          </ns1:p>
        </ns0:txBody>
      </ns0:sp>
      <ns0:sp>
        <ns0:nvSpPr>
          <ns0:cNvPr id="4" name="">
            <ns1:extLst>
              <ns1:ext uri="{FF2B5EF4-FFF2-40B4-BE49-F238E27FC236}">
                <ns2:creationId id="{E773F526-5891-4DFB-86B7-7E0223ED193C}"/>
              </ns1:ext>
            </ns1:extLst>
          </ns0:cNvPr>
          <ns0:cNvSpPr>
            <ns1:spLocks noGrp="1"/>
          </ns0:cNvSpPr>
          <ns0:nvPr/>
        </ns0:nvSpPr>
        <ns0:spPr>
          <ns1:xfrm>
            <ns1:off x="9810750" y="238125"/>
            <ns1:ext cx="1905000" cy="342900"/>
          </ns1:xfrm>
          <ns1:prstGeom prst="rect">
            <ns1:avLst/>
          </ns1:prstGeom>
          <ns1:noFill/>
          <ns1:ln w="0">
            <ns1:noFill/>
          </ns1:ln>
        </ns0:spPr>
        <ns0:txBody>
          <ns1:bodyPr lIns="0" tIns="0" rIns="0" bIns="0"/>
          <ns1:lstStyle>
            <ns1:defPPr>
              <ns1:defRPr sz="2025" b="1">
                <ns1:solidFill>
                  <ns1:srgbClr val="C8102E"/>
                </ns1:solidFill>
                <ns1:latin typeface="Arial"/>
                <ns1:ea typeface="Arial"/>
                <ns1:cs typeface="Arial"/>
              </ns1:defRPr>
            </ns1:defPPr>
          </ns1:lstStyle>
          <ns1:p>
            <ns1:pPr>
              <ns1:defRPr sz="2025" b="1">
                <ns1:solidFill>
                  <ns1:srgbClr val="C8102E"/>
                </ns1:solidFill>
                <ns1:latin typeface="Arial"/>
                <ns1:ea typeface="Arial"/>
                <ns1:cs typeface="Arial"/>
              </ns1:defRPr>
            </ns1:pPr>
            <ns1:r>
              <ns1:rPr sz="2025" b="1">
                <ns1:solidFill>
                  <ns1:srgbClr val="C8102E"/>
                </ns1:solidFill>
                <ns1:latin typeface="Arial"/>
                <ns1:ea typeface="Arial"/>
                <ns1:cs typeface="Arial"/>
              </ns1:rPr>
              <ns1:t>SmartAlarm</ns1:t>
            </ns1:r>
          </ns1:p>
        </ns0:txBody>
      </ns0:sp>
      <ns0:sp>
        <ns0:nvSpPr>
          <ns0:cNvPr id="5" name="">
            <ns1:extLst>
              <ns1:ext uri="{FF2B5EF4-FFF2-40B4-BE49-F238E27FC236}">
                <ns2:creationId id="{C4C79359-0FF2-4CD9-A5C7-7C2E4715FA08}"/>
              </ns1:ext>
            </ns1:extLst>
          </ns0:cNvPr>
          <ns0:cNvSpPr>
            <ns1:spLocks noGrp="1"/>
          </ns0:cNvSpPr>
          <ns0:nvPr/>
        </ns0:nvSpPr>
        <ns0:spPr>
          <ns1:xfrm>
            <ns1:off x="571500" y="600075"/>
            <ns1:ext cx="11049000" cy="809625"/>
          </ns1:xfrm>
          <ns1:prstGeom prst="rect">
            <ns1:avLst/>
          </ns1:prstGeom>
          <ns1:noFill/>
          <ns1:ln w="0">
            <ns1:noFill/>
          </ns1:ln>
        </ns0:spPr>
        <ns0:txBody>
          <ns1:bodyPr lIns="0" tIns="0" rIns="0" bIns="0"/>
          <ns1:lstStyle>
            <ns1:defPPr>
              <ns1:defRPr sz="2700" b="1" lang="en-US">
                <ns1:solidFill>
                  <ns1:srgbClr val="C8102E"/>
                </ns1:solidFill>
                <ns1:latin typeface="Arial"/>
                <ns1:ea typeface="Arial"/>
                <ns1:cs typeface="Arial"/>
              </ns1:defRPr>
            </ns1:defPPr>
          </ns1:lstStyle>
          <ns1:p>
            <ns1:pPr>
              <ns1:defRPr sz="2700" b="1" lang="en-US">
                <ns1:solidFill>
                  <ns1:srgbClr val="C8102E"/>
                </ns1:solidFill>
                <ns1:latin typeface="Arial"/>
                <ns1:ea typeface="Arial"/>
                <ns1:cs typeface="Arial"/>
              </ns1:defRPr>
            </ns1:pPr>
            <ns1:r>
              <ns1:rPr sz="2700" b="1" lang="en-US">
                <ns1:solidFill>
                  <ns1:srgbClr val="C8102E"/>
                </ns1:solidFill>
                <ns1:latin typeface="Arial"/>
                <ns1:ea typeface="Arial"/>
                <ns1:cs typeface="Arial"/>
              </ns1:rPr>
              <ns1:t>From FireEscape to SmartAlarm: a grounded expansion.</ns1:t>
            </ns1:r>
          </ns1:p>
        </ns0:txBody>
      </ns0:sp>
      <ns0:sp>
        <ns0:nvSpPr>
          <ns0:cNvPr id="6" name="">
            <ns1:extLst>
              <ns1:ext uri="{FF2B5EF4-FFF2-40B4-BE49-F238E27FC236}">
                <ns2:creationId id="{CF28658E-3722-469C-BDBF-60596E5764D7}"/>
              </ns1:ext>
            </ns1:extLst>
          </ns0:cNvPr>
          <ns0:cNvSpPr>
            <ns1:spLocks noGrp="1"/>
          </ns0:cNvSpPr>
          <ns0:nvPr/>
        </ns0:nvSpPr>
        <ns0:spPr>
          <ns1:xfrm>
            <ns1:off x="581025" y="1381125"/>
            <ns1:ext cx="10953750" cy="476250"/>
          </ns1:xfrm>
          <ns1:prstGeom prst="rect">
            <ns1:avLst/>
          </ns1:prstGeom>
          <ns1:noFill/>
          <ns1:ln w="0">
            <ns1:noFill/>
          </ns1:ln>
        </ns0:spPr>
        <ns0:txBody>
          <ns1:bodyPr lIns="0" tIns="0" rIns="0" bIns="0"/>
          <ns1:lstStyle>
            <ns1:defPPr>
              <ns1:defRPr sz="1425" b="0" lang="en-US">
                <ns1:solidFill>
                  <ns1:srgbClr val="4D4D4D"/>
                </ns1:solidFill>
                <ns1:latin typeface="Arial"/>
                <ns1:ea typeface="Arial"/>
                <ns1:cs typeface="Arial"/>
              </ns1:defRPr>
            </ns1:defPPr>
          </ns1:lstStyle>
          <ns1:p>
            <ns1:pPr>
              <ns1:defRPr sz="1425" b="0" lang="en-US">
                <ns1:solidFill>
                  <ns1:srgbClr val="4D4D4D"/>
                </ns1:solidFill>
                <ns1:latin typeface="Arial"/>
                <ns1:ea typeface="Arial"/>
                <ns1:cs typeface="Arial"/>
              </ns1:defRPr>
            </ns1:pPr>
            <ns1:r>
              <ns1:rPr sz="1425" b="0" lang="en-US">
                <ns1:solidFill>
                  <ns1:srgbClr val="4D4D4D"/>
                </ns1:solidFill>
                <ns1:latin typeface="Arial"/>
                <ns1:ea typeface="Arial"/>
                <ns1:cs typeface="Arial"/>
              </ns1:rPr>
              <ns1:t>Preserve the existing response cycle and add the capabilities requested by the product owner.</ns1:t>
            </ns1:r>
          </ns1:p>
        </ns0:txBody>
      </ns0:sp>
      <ns0:sp>
        <ns0:nvSpPr>
          <ns0:cNvPr id="7" name="">
            <ns1:extLst>
              <ns1:ext uri="{FF2B5EF4-FFF2-40B4-BE49-F238E27FC236}">
                <ns2:creationId id="{7D61DBF3-1A13-41F4-BB71-52F56133D84D}"/>
              </ns1:ext>
            </ns1:extLst>
          </ns0:cNvPr>
          <ns0:cNvSpPr>
            <ns1:spLocks noGrp="1"/>
          </ns0:cNvSpPr>
          <ns0:nvPr/>
        </ns0:nvSpPr>
        <ns0:spPr>
          <ns1:xfrm>
            <ns1:off x="571500" y="6400800"/>
            <ns1:ext cx="11049000" cy="9525"/>
          </ns1:xfrm>
          <ns1:prstGeom prst="rect">
            <ns1:avLst/>
          </ns1:prstGeom>
          <ns1:solidFill>
            <ns1:srgbClr val="F0CFD3"/>
          </ns1:solidFill>
          <ns1:ln w="0">
            <ns1:noFill/>
          </ns1:ln>
        </ns0:spPr>
        <ns0:txBody>
          <ns1:bodyPr/>
          <ns1:p/>
        </ns0:txBody>
      </ns0:sp>
      <ns0:sp>
        <ns0:nvSpPr>
          <ns0:cNvPr id="8" name="">
            <ns1:extLst>
              <ns1:ext uri="{FF2B5EF4-FFF2-40B4-BE49-F238E27FC236}">
                <ns2:creationId id="{B62B3784-9D48-430F-979A-BC4D407586CA}"/>
              </ns1:ext>
            </ns1:extLst>
          </ns0:cNvPr>
          <ns0:cNvSpPr>
            <ns1:spLocks noGrp="1"/>
          </ns0:cNvSpPr>
          <ns0:nvPr/>
        </ns0:nvSpPr>
        <ns0:spPr>
          <ns1:xfrm>
            <ns1:off x="581025" y="6553200"/>
            <ns1:ext cx="10477500" cy="190500"/>
          </ns1:xfrm>
          <ns1:prstGeom prst="rect">
            <ns1:avLst/>
          </ns1:prstGeom>
          <ns1:noFill/>
          <ns1:ln w="0">
            <ns1:noFill/>
          </ns1:ln>
        </ns0:spPr>
        <ns0:txBody>
          <ns1:bodyPr lIns="0" tIns="0" rIns="0" bIns="0"/>
          <ns1:lstStyle>
            <ns1:defPPr>
              <ns1:defRPr sz="825" b="0">
                <ns1:solidFill>
                  <ns1:srgbClr val="4D4D4D"/>
                </ns1:solidFill>
                <ns1:latin typeface="Arial"/>
                <ns1:ea typeface="Arial"/>
                <ns1:cs typeface="Arial"/>
              </ns1:defRPr>
            </ns1:defPPr>
          </ns1:lstStyle>
          <ns1:p>
            <ns1:pPr>
              <ns1:defRPr sz="825" b="0">
                <ns1:solidFill>
                  <ns1:srgbClr val="4D4D4D"/>
                </ns1:solidFill>
                <ns1:latin typeface="Arial"/>
                <ns1:ea typeface="Arial"/>
                <ns1:cs typeface="Arial"/>
              </ns1:defRPr>
            </ns1:pPr>
            <ns1:r>
              <ns1:rPr sz="825" b="0">
                <ns1:solidFill>
                  <ns1:srgbClr val="4D4D4D"/>
                </ns1:solidFill>
                <ns1:latin typeface="Arial"/>
                <ns1:ea typeface="Arial"/>
                <ns1:cs typeface="Arial"/>
              </ns1:rPr>
              <ns1:t>AIPOWER  |  SmartAlarm solution proposal  |  International • Multi-industry</ns1:t>
            </ns1:r>
          </ns1:p>
        </ns0:txBody>
      </ns0:sp>
      <ns0:sp>
        <ns0:nvSpPr>
          <ns0:cNvPr id="9" name="">
            <ns1:extLst>
              <ns1:ext uri="{FF2B5EF4-FFF2-40B4-BE49-F238E27FC236}">
                <ns2:creationId id="{F89C71A7-586E-4255-8104-F402B2A46D54}"/>
              </ns1:ext>
            </ns1:extLst>
          </ns0:cNvPr>
          <ns0:cNvSpPr>
            <ns1:spLocks noGrp="1"/>
          </ns0:cNvSpPr>
          <ns0:nvPr/>
        </ns0:nvSpPr>
        <ns0:spPr>
          <ns1:xfrm>
            <ns1:off x="11391900" y="6524625"/>
            <ns1:ext cx="333375" cy="228600"/>
          </ns1:xfrm>
          <ns1:prstGeom prst="rect">
            <ns1:avLst/>
          </ns1:prstGeom>
          <ns1:noFill/>
          <ns1:ln w="0">
            <ns1:noFill/>
          </ns1:ln>
        </ns0:spPr>
        <ns0:txBody>
          <ns1:bodyPr lIns="0" tIns="0" rIns="0" bIns="0"/>
          <ns1:lstStyle>
            <ns1:defPPr>
              <ns1:defRPr sz="975" b="0" lang="en-US">
                <ns1:solidFill>
                  <ns1:srgbClr val="4D4D4D"/>
                </ns1:solidFill>
                <ns1:latin typeface="Arial"/>
                <ns1:ea typeface="Arial"/>
                <ns1:cs typeface="Arial"/>
              </ns1:defRPr>
            </ns1:defPPr>
          </ns1:lstStyle>
          <ns1:p>
            <ns1:pPr>
              <ns1:defRPr sz="975" b="0" lang="en-US">
                <ns1:solidFill>
                  <ns1:srgbClr val="4D4D4D"/>
                </ns1:solidFill>
                <ns1:latin typeface="Arial"/>
                <ns1:ea typeface="Arial"/>
                <ns1:cs typeface="Arial"/>
              </ns1:defRPr>
            </ns1:pPr>
            <ns1:r>
              <ns1:rPr sz="975" b="0" lang="en-US">
                <ns1:solidFill>
                  <ns1:srgbClr val="4D4D4D"/>
                </ns1:solidFill>
                <ns1:latin typeface="Arial"/>
                <ns1:ea typeface="Arial"/>
                <ns1:cs typeface="Arial"/>
              </ns1:rPr>
              <ns1:t>39</ns1:t>
            </ns1:r>
          </ns1:p>
        </ns0:txBody>
      </ns0:sp>
      <ns0:pic>
        <ns0:nvPicPr>
          <ns0:cNvPr id="35" name="Picture 34" descr="image.png"/>
          <ns0:cNvPicPr>
            <ns1:picLocks noChangeAspect="1"/>
          </ns0:cNvPicPr>
          <ns0:nvPr/>
        </ns0:nvPicPr>
        <ns0:blipFill>
          <ns1:blip ns3:embed="rId5"/>
          <ns1:stretch>
            <ns1:fillRect/>
          </ns1:stretch>
        </ns0:blipFill>
        <ns0:spPr>
          <ns1:xfrm>
            <ns1:off x="667512" y="2066948"/>
            <ns1:ext cx="4937760" cy="2778966"/>
          </ns1:xfrm>
          <ns1:prstGeom prst="rect">
            <ns1:avLst/>
          </ns1:prstGeom>
        </ns0:spPr>
      </ns0:pic>
      <ns0:sp>
        <ns0:nvSpPr>
          <ns0:cNvPr id="36" name="TextBox 35"/>
          <ns0:cNvSpPr txBox="1"/>
          <ns0:nvPr/>
        </ns0:nvSpPr>
        <ns0:spPr>
          <ns1:xfrm>
            <ns1:off x="749808" y="5065776"/>
            <ns1:ext cx="4663440" cy="320040"/>
          </ns1:xfrm>
          <ns1:prstGeom prst="rect">
            <ns1:avLst/>
          </ns1:prstGeom>
          <ns1:noFill/>
        </ns0:spPr>
        <ns0:txBody>
          <ns1:bodyPr wrap="square" lIns="0" rIns="0" tIns="0" bIns="0">
            <ns1:spAutoFit/>
          </ns1:bodyPr>
          <ns1:lstStyle/>
          <ns1:p>
            <ns1:pPr>
              <ns1:spcBef>
                <ns1:spcPts val="0"/>
              </ns1:spcBef>
              <ns1:spcAft>
                <ns1:spcPts val="500"/>
              </ns1:spcAft>
              <ns1:defRPr sz="1600" b="1" lang="en-US">
                <ns1:solidFill>
                  <ns1:srgbClr val="C8102E"/>
                </ns1:solidFill>
                <ns1:latin typeface="Arial"/>
              </ns1:defRPr>
            </ns1:pPr>
            <ns1:r>
              <ns1:t>FIRESCAPE • ORIGINAL MATERIAL</ns1:t>
            </ns1:r>
          </ns1:p>
        </ns0:txBody>
      </ns0:sp>
      <ns0:sp>
        <ns0:nvSpPr>
          <ns0:cNvPr id="37" name="Rectangle 36"/>
          <ns0:cNvSpPr/>
          <ns0:nvPr/>
        </ns0:nvSpPr>
        <ns0:spPr>
          <ns1:xfrm>
            <ns1:off x="5870448" y="2075688"/>
            <ns1:ext cx="5669280" cy="914400"/>
          </ns1:xfrm>
          <ns1:prstGeom prst="rect">
            <ns1:avLst/>
          </ns1:prstGeom>
          <ns1:solidFill>
            <ns1:srgbClr val="F3F6F8"/>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8" name="TextBox 37"/>
          <ns0:cNvSpPr txBox="1"/>
          <ns0:nvPr/>
        </ns0:nvSpPr>
        <ns0:spPr>
          <ns1:xfrm>
            <ns1:off x="6007608" y="2194560"/>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lang="en-US">
                <ns1:solidFill>
                  <ns1:srgbClr val="C8102E"/>
                </ns1:solidFill>
                <ns1:latin typeface="Arial"/>
              </ns1:defRPr>
            </ns1:pPr>
            <ns1:r>
              <ns1:t>Retain</ns1:t>
            </ns1:r>
          </ns1:p>
        </ns0:txBody>
      </ns0:sp>
      <ns0:sp>
        <ns0:nvSpPr>
          <ns0:cNvPr id="39" name="TextBox 38"/>
          <ns0:cNvSpPr txBox="1"/>
          <ns0:nvPr/>
        </ns0:nvSpPr>
        <ns0:spPr>
          <ns1:xfrm>
            <ns1:off x="8024774" y="2185416"/>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lang="en-US">
                <ns1:solidFill>
                  <ns1:srgbClr val="20252B"/>
                </ns1:solidFill>
                <ns1:latin typeface="Arial"/>
              </ns1:defRPr>
            </ns1:pPr>
            <ns1:r>
              <ns1:t>Cameras, floors/zones, maps/voice, SOS, hubs, groups and safety updates.</ns1:t>
            </ns1:r>
          </ns1:p>
        </ns0:txBody>
      </ns0:sp>
      <ns0:sp>
        <ns0:nvSpPr>
          <ns0:cNvPr id="40" name="Rectangle 39"/>
          <ns0:cNvSpPr/>
          <ns0:nvPr/>
        </ns0:nvSpPr>
        <ns0:spPr>
          <ns1:xfrm>
            <ns1:off x="5870448" y="3072384"/>
            <ns1:ext cx="5669280" cy="9144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1" name="TextBox 40"/>
          <ns0:cNvSpPr txBox="1"/>
          <ns0:nvPr/>
        </ns0:nvSpPr>
        <ns0:spPr>
          <ns1:xfrm>
            <ns1:off x="6007608" y="3191256"/>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lang="en-US">
                <ns1:solidFill>
                  <ns1:srgbClr val="C8102E"/>
                </ns1:solidFill>
                <ns1:latin typeface="Arial"/>
              </ns1:defRPr>
            </ns1:pPr>
            <ns1:r>
              <ns1:t>Extend</ns1:t>
            </ns1:r>
          </ns1:p>
        </ns0:txBody>
      </ns0:sp>
      <ns0:sp>
        <ns0:nvSpPr>
          <ns0:cNvPr id="42" name="TextBox 41"/>
          <ns0:cNvSpPr txBox="1"/>
          <ns0:nvPr/>
        </ns0:nvSpPr>
        <ns0:spPr>
          <ns1:xfrm>
            <ns1:off x="8024774" y="3182112"/>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lang="en-US">
                <ns1:solidFill>
                  <ns1:srgbClr val="20252B"/>
                </ns1:solidFill>
                <ns1:latin typeface="Arial"/>
              </ns1:defRPr>
            </ns1:pPr>
            <ns1:r>
              <ns1:t>Multiple hazards, care/proactive rescue, PA/drones, positioning/routing and AI.</ns1:t>
            </ns1:r>
          </ns1:p>
        </ns0:txBody>
      </ns0:sp>
      <ns0:sp>
        <ns0:nvSpPr>
          <ns0:cNvPr id="43" name="Rectangle 42"/>
          <ns0:cNvSpPr/>
          <ns0:nvPr/>
        </ns0:nvSpPr>
        <ns0:spPr>
          <ns1:xfrm>
            <ns1:off x="5870448" y="4069080"/>
            <ns1:ext cx="5669280" cy="914400"/>
          </ns1:xfrm>
          <ns1:prstGeom prst="rect">
            <ns1:avLst/>
          </ns1:prstGeom>
          <ns1:solidFill>
            <ns1:srgbClr val="F3F6F8"/>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4" name="TextBox 43"/>
          <ns0:cNvSpPr txBox="1"/>
          <ns0:nvPr/>
        </ns0:nvSpPr>
        <ns0:spPr>
          <ns1:xfrm>
            <ns1:off x="6007608" y="4187952"/>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lang="en-US">
                <ns1:solidFill>
                  <ns1:srgbClr val="C8102E"/>
                </ns1:solidFill>
                <ns1:latin typeface="Arial"/>
              </ns1:defRPr>
            </ns1:pPr>
            <ns1:r>
              <ns1:t>Long-term foundation</ns1:t>
            </ns1:r>
          </ns1:p>
        </ns0:txBody>
      </ns0:sp>
      <ns0:sp>
        <ns0:nvSpPr>
          <ns0:cNvPr id="45" name="TextBox 44"/>
          <ns0:cNvSpPr txBox="1"/>
          <ns0:nvPr/>
        </ns0:nvSpPr>
        <ns0:spPr>
          <ns1:xfrm>
            <ns1:off x="8024774" y="4178808"/>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lang="en-US">
                <ns1:solidFill>
                  <ns1:srgbClr val="20252B"/>
                </ns1:solidFill>
                <ns1:latin typeface="Arial"/>
              </ns1:defRPr>
            </ns1:pPr>
            <ns1:r>
              <ns1:t>Multiple tenants/industries/regions; VI/EN/JA; security and operations.</ns1:t>
            </ns1:r>
          </ns1:p>
        </ns0:txBody>
      </ns0:sp>
      <ns0:sp>
        <ns0:nvSpPr>
          <ns0:cNvPr id="46" name="TextBox 45"/>
          <ns0:cNvSpPr txBox="1"/>
          <ns0:nvPr/>
        </ns0:nvSpPr>
        <ns0:spPr>
          <ns1:xfrm>
            <ns1:off x="5989320" y="5404104"/>
            <ns1:ext cx="5440680" cy="448056"/>
          </ns1:xfrm>
          <ns1:prstGeom prst="rect">
            <ns1:avLst/>
          </ns1:prstGeom>
          <ns1:noFill/>
        </ns0:spPr>
        <ns0:txBody>
          <ns1:bodyPr wrap="square" lIns="0" rIns="0" tIns="0" bIns="0">
            <ns1:spAutoFit/>
          </ns1:bodyPr>
          <ns1:lstStyle/>
          <ns1:p>
            <ns1:pPr>
              <ns1:spcBef>
                <ns1:spcPts val="0"/>
              </ns1:spcBef>
              <ns1:spcAft>
                <ns1:spcPts val="500"/>
              </ns1:spcAft>
              <ns1:defRPr sz="1200" b="0" lang="en-US">
                <ns1:solidFill>
                  <ns1:srgbClr val="52616B"/>
                </ns1:solidFill>
                <ns1:latin typeface="Arial"/>
              </ns1:defRPr>
            </ns1:pPr>
            <ns1:r>
              <ns1:t>Images and interfaces illustrate the proposed solution. This deck does not claim the extensions are already deployed.</ns1:t>
            </ns1:r>
          </ns1:p>
        </ns0:txBody>
      </ns0:sp>
    </ns0:spTree>
    <ns0:extLst>
      <ns0:ext uri="{BB962C8B-B14F-4D97-AF65-F5344CB8AC3E}">
        <ns4:creationId val="2119301327"/>
      </ns0:ext>
    </ns0:extLst>
  </ns0:cSld>
</ns0: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1999"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594360" y="457200"/>
            <a:ext cx="21488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4" name="Picture 3" descr="image.png"/>
          <p:cNvPicPr>
            <a:picLocks noChangeAspect="1"/>
          </p:cNvPicPr>
          <p:nvPr/>
        </p:nvPicPr>
        <p:blipFill>
          <a:blip r:embed="rId4"/>
          <a:stretch>
            <a:fillRect/>
          </a:stretch>
        </p:blipFill>
        <p:spPr>
          <a:xfrm>
            <a:off x="594581" y="457200"/>
            <a:ext cx="2148396" cy="914400"/>
          </a:xfrm>
          <a:prstGeom prst="rect">
            <a:avLst/>
          </a:prstGeom>
        </p:spPr>
      </p:pic>
      <p:sp xmlns:a="http://schemas.openxmlformats.org/drawingml/2006/main">
        <p:nvSpPr>
          <p:cNvPr id="5" name="TextBox 4"/>
          <p:cNvSpPr txBox="1"/>
          <p:nvPr/>
        </p:nvSpPr>
        <p:spPr>
          <a:xfrm>
            <a:off x="640080" y="1874519"/>
            <a:ext cx="10789920" cy="749808"/>
          </a:xfrm>
          <a:prstGeom prst="rect">
            <a:avLst/>
          </a:prstGeom>
          <a:noFill/>
        </p:spPr>
        <p:txBody>
          <a:bodyPr wrap="square" lIns="0" rIns="0" tIns="0" bIns="0">
            <a:spAutoFit/>
          </a:bodyPr>
          <a:lstStyle/>
          <a:p>
            <a:pPr>
              <a:spcBef>
                <a:spcPts val="0"/>
              </a:spcBef>
              <a:spcAft>
                <a:spcPts val="500"/>
              </a:spcAft>
              <a:defRPr sz="4700" b="1">
                <a:solidFill>
                  <a:srgbClr val="FFFFFF"/>
                </a:solidFill>
                <a:latin typeface="Arial"/>
              </a:defRPr>
            </a:pPr>
            <a:r>
              <a:t>SmartAlarm</a:t>
            </a:r>
          </a:p>
        </p:txBody>
      </p:sp>
      <p:sp xmlns:a="http://schemas.openxmlformats.org/drawingml/2006/main">
        <p:nvSpPr>
          <p:cNvPr id="6" name="TextBox 5"/>
          <p:cNvSpPr txBox="1"/>
          <p:nvPr/>
        </p:nvSpPr>
        <p:spPr>
          <a:xfrm>
            <a:off x="667512" y="3017520"/>
            <a:ext cx="10789920" cy="621792"/>
          </a:xfrm>
          <a:prstGeom prst="rect">
            <a:avLst/>
          </a:prstGeom>
          <a:noFill/>
        </p:spPr>
        <p:txBody>
          <a:bodyPr wrap="square" lIns="0" rIns="0" tIns="0" bIns="0">
            <a:spAutoFit/>
          </a:bodyPr>
          <a:lstStyle/>
          <a:p>
            <a:pPr>
              <a:spcBef>
                <a:spcPts val="0"/>
              </a:spcBef>
              <a:spcAft>
                <a:spcPts val="500"/>
              </a:spcAft>
              <a:defRPr sz="2900" b="1" lang="en-US">
                <a:solidFill>
                  <a:srgbClr val="FFFFFF"/>
                </a:solidFill>
                <a:latin typeface="Arial"/>
              </a:defRPr>
            </a:pPr>
            <a:r>
              <a:t>Detect. Guide. Rescue. Confirm.</a:t>
            </a:r>
          </a:p>
        </p:txBody>
      </p:sp>
      <p:sp xmlns:a="http://schemas.openxmlformats.org/drawingml/2006/main">
        <p:nvSpPr>
          <p:cNvPr id="7" name="TextBox 6"/>
          <p:cNvSpPr txBox="1"/>
          <p:nvPr/>
        </p:nvSpPr>
        <p:spPr>
          <a:xfrm>
            <a:off x="667512" y="4361688"/>
            <a:ext cx="10607040" cy="960120"/>
          </a:xfrm>
          <a:prstGeom prst="rect">
            <a:avLst/>
          </a:prstGeom>
          <a:noFill/>
        </p:spPr>
        <p:txBody>
          <a:bodyPr wrap="square" lIns="0" rIns="0" tIns="0" bIns="0">
            <a:spAutoFit/>
          </a:bodyPr>
          <a:lstStyle/>
          <a:p>
            <a:pPr>
              <a:spcBef>
                <a:spcPts val="0"/>
              </a:spcBef>
              <a:spcAft>
                <a:spcPts val="500"/>
              </a:spcAft>
              <a:defRPr sz="2500" b="0" lang="en-US">
                <a:solidFill>
                  <a:srgbClr val="FFFFFF"/>
                </a:solidFill>
                <a:latin typeface="Arial"/>
              </a:defRPr>
            </a:pPr>
            <a:r>
              <a:t>Connect equipment with people —</a:t>
            </a:r>
          </a:p>
          <a:p>
            <a:pPr>
              <a:spcBef>
                <a:spcPts val="0"/>
              </a:spcBef>
              <a:spcAft>
                <a:spcPts val="500"/>
              </a:spcAft>
              <a:defRPr sz="2500" b="0" lang="en-US">
                <a:solidFill>
                  <a:srgbClr val="FFFFFF"/>
                </a:solidFill>
                <a:latin typeface="Arial"/>
              </a:defRPr>
            </a:pPr>
            <a:r>
              <a:t>and recognize those who need help, even without an SOS.</a:t>
            </a:r>
          </a:p>
        </p:txBody>
      </p:sp>
      <p:sp xmlns:a="http://schemas.openxmlformats.org/drawingml/2006/main">
        <p:nvSpPr>
          <p:cNvPr id="8" name="TextBox 7"/>
          <p:cNvSpPr txBox="1"/>
          <p:nvPr/>
        </p:nvSpPr>
        <p:spPr>
          <a:xfrm>
            <a:off x="667512" y="6217920"/>
            <a:ext cx="10789920" cy="27432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CONNECTED SAFETY &amp; RESCUE  /  INTERNATIONAL  /  VI • EN • JA</a:t>
            </a:r>
          </a:p>
        </p:txBody>
      </p:sp>
    </p:spTree>
    <p:extLst>
      <p:ext uri="{BB962C8B-B14F-4D97-AF65-F5344CB8AC3E}">
        <p14:creationId xmlns:p14="http://schemas.microsoft.com/office/powerpoint/2010/main" val="33741456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 COMPLETE FUNCTIONAL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The complete baseline, with traceable IDs.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Beyond primary screens: business workflows, detailed functions and background processing.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41</a:t>
            </a:r>
          </a:p>
        </p:txBody>
      </p:sp>
      <p:sp xmlns:a="http://schemas.openxmlformats.org/drawingml/2006/main">
        <p:nvSpPr>
          <p:cNvPr id="35" name="Rounded Rectangle 34"/>
          <p:cNvSpPr/>
          <p:nvPr/>
        </p:nvSpPr>
        <p:spPr>
          <a:xfrm>
            <a:off x="68580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8580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50392"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33</a:t>
            </a:r>
          </a:p>
        </p:txBody>
      </p:sp>
      <p:sp xmlns:a="http://schemas.openxmlformats.org/drawingml/2006/main">
        <p:nvSpPr>
          <p:cNvPr id="38" name="TextBox 37"/>
          <p:cNvSpPr txBox="1"/>
          <p:nvPr/>
        </p:nvSpPr>
        <p:spPr>
          <a:xfrm>
            <a:off x="850392"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BUSINESS WORKFLOWS</a:t>
            </a:r>
          </a:p>
        </p:txBody>
      </p:sp>
      <p:sp xmlns:a="http://schemas.openxmlformats.org/drawingml/2006/main">
        <p:nvSpPr>
          <p:cNvPr id="39" name="Rounded Rectangle 38"/>
          <p:cNvSpPr/>
          <p:nvPr/>
        </p:nvSpPr>
        <p:spPr>
          <a:xfrm>
            <a:off x="438912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8912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53712"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233</a:t>
            </a:r>
          </a:p>
        </p:txBody>
      </p:sp>
      <p:sp xmlns:a="http://schemas.openxmlformats.org/drawingml/2006/main">
        <p:nvSpPr>
          <p:cNvPr id="42" name="TextBox 41"/>
          <p:cNvSpPr txBox="1"/>
          <p:nvPr/>
        </p:nvSpPr>
        <p:spPr>
          <a:xfrm>
            <a:off x="4553712"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SCREEN-LEVEL FR FUNCTIONS</a:t>
            </a:r>
          </a:p>
        </p:txBody>
      </p:sp>
      <p:sp xmlns:a="http://schemas.openxmlformats.org/drawingml/2006/main">
        <p:nvSpPr>
          <p:cNvPr id="43" name="Rounded Rectangle 42"/>
          <p:cNvSpPr/>
          <p:nvPr/>
        </p:nvSpPr>
        <p:spPr>
          <a:xfrm>
            <a:off x="809244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9244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57031"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261</a:t>
            </a:r>
          </a:p>
        </p:txBody>
      </p:sp>
      <p:sp xmlns:a="http://schemas.openxmlformats.org/drawingml/2006/main">
        <p:nvSpPr>
          <p:cNvPr id="46" name="TextBox 45"/>
          <p:cNvSpPr txBox="1"/>
          <p:nvPr/>
        </p:nvSpPr>
        <p:spPr>
          <a:xfrm>
            <a:off x="8257031"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BACKGROUND / SYSTEM REQUIREMENTS</a:t>
            </a:r>
          </a:p>
        </p:txBody>
      </p:sp>
      <p:sp xmlns:a="http://schemas.openxmlformats.org/drawingml/2006/main">
        <p:nvSpPr>
          <p:cNvPr id="47" name="TextBox 46"/>
          <p:cNvSpPr txBox="1"/>
          <p:nvPr/>
        </p:nvSpPr>
        <p:spPr>
          <a:xfrm>
            <a:off x="822960" y="4251960"/>
            <a:ext cx="10607040" cy="1234440"/>
          </a:xfrm>
          <a:prstGeom prst="rect">
            <a:avLst/>
          </a:prstGeom>
          <a:noFill/>
        </p:spPr>
        <p:txBody>
          <a:bodyPr wrap="square" lIns="0" rIns="0" tIns="0" bIns="0">
            <a:spAutoFit/>
          </a:bodyPr>
          <a:lstStyle/>
          <a:p>
            <a:pPr>
              <a:spcBef>
                <a:spcPts val="0"/>
              </a:spcBef>
              <a:spcAft>
                <a:spcPts val="500"/>
              </a:spcAft>
              <a:defRPr sz="2000" b="0">
                <a:solidFill>
                  <a:srgbClr val="20252B"/>
                </a:solidFill>
                <a:latin typeface="Arial"/>
              </a:defRPr>
            </a:pPr>
            <a:r>
              <a:t>A · End-to-end workflows</a:t>
            </a:r>
          </a:p>
          <a:p>
            <a:pPr>
              <a:spcBef>
                <a:spcPts val="0"/>
              </a:spcBef>
              <a:spcAft>
                <a:spcPts val="500"/>
              </a:spcAft>
              <a:defRPr sz="2000" b="0">
                <a:solidFill>
                  <a:srgbClr val="20252B"/>
                </a:solidFill>
                <a:latin typeface="Arial"/>
              </a:defRPr>
            </a:pPr>
            <a:r>
              <a:t>B · Every detailed function, organized by domain</a:t>
            </a:r>
          </a:p>
          <a:p>
            <a:pPr>
              <a:spcBef>
                <a:spcPts val="0"/>
              </a:spcBef>
              <a:spcAft>
                <a:spcPts val="500"/>
              </a:spcAft>
              <a:defRPr sz="2000" b="0">
                <a:solidFill>
                  <a:srgbClr val="20252B"/>
                </a:solidFill>
                <a:latin typeface="Arial"/>
              </a:defRPr>
            </a:pPr>
            <a:r>
              <a:t>C · Background processing, integration, controls and quality requirements</a:t>
            </a:r>
          </a:p>
        </p:txBody>
      </p:sp>
    </p:spTree>
    <p:extLst>
      <p:ext uri="{BB962C8B-B14F-4D97-AF65-F5344CB8AC3E}">
        <p14:creationId xmlns:p14="http://schemas.microsoft.com/office/powerpoint/2010/main" val="198995366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1/7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Provision tenant/region, SSO/MFA, invitations and workspace access without account enumeration.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14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Manage site/floor/zone, approved plan revisions and location quality.</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Durably ingest multi-source events with source/tenant validation, deduplication and quarantine.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Review evidence and create/link/split incidents while retaining audit and ownership.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7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Submit need-specific SOS with manual location, offline pending and reviewed cancellation.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10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2/7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Check possible falls with a server timer and escalate non-response without diagnosis.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 and dispatch road incidents using location, road direction and unknown injury status.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Process CAP/disaster advisories with issuer, mode, polygon, lineage and expiry validation.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Author and approve exact warning content, audience and locale versions.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Track per-channel delivery, authenticated callbacks, bounded retries/fallback and escalation.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3/7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 capable teams, accept tasks atomically, update progress and hand over ownership.</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17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Record sourced personal status and share with circles/contacts under consent.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12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Maintain shelters and approved guidance with versioned, expiring offline packs.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Enroll devices, manage certificates/health, maintain/calibrate and expose coverage gaps.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Control devices only within capability/interlock/TTL rules and verified outcome evidence.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4/7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Plan/review drone missions with pilot authority, telemetry and local lost-link policy.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Manage connector lifecycle from manifest/sandbox to activation, rotation and deprecation.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14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Provide locale/timezone support, residency and verified site/country emergency contacts.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Apply retention/legal holds, scoped export/deletion and immutable audit.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11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Close incidents, analyze/improve response, isolate drills and acknowledge shift handovers.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30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5/7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Reach people without phones through approved PA zones/content, playback, live speech and fallback.</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Guide step-by-step using graph/hazard/accessibility constraints, replanning and SOS fallback.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10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Fuse uncertain position evidence and distinguish observed presence from registration.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Optimize feasible routes under hard constraints, capacity and cohort balancing.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Ground AI summaries/SOP checks/drafts in evidence; human review, no autonomous actuation.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6/7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Manage care profiles, caregiver authority, emergency subsets and audited access.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7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Proactively identify/prioritize assistance before SOS using presence and evidence.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Bind model/firmware/capability, point/zone mappings and approved cause-and-effect.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Supervise physical signals with provenance/freshness and independent local protection.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Authorize/execute permitted commands, reconcile UNKNOWN and support local takeover.</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7/7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Isolate impairment/tests, assign compensating measures and verify restoration.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Maintain compatibility/certification, FAT/SAT and configuration-specific capability gates.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 robot/water-monitor missions with operators, limits and verified outcomes.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 screens</a:t>
            </a:r>
          </a:p>
        </p:txBody>
      </p:sp>
      <p:sp xmlns:a="http://schemas.openxmlformats.org/drawingml/2006/main">
        <p:nvSpPr>
          <p:cNvPr id="50" name="TextBox 49"/>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Access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Welcome &amp; region: Choose your safety region; continue.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 in: Your workspace, securely connected; sign in.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Verify identity: Confirm this sign-in; verify.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Workspace switcher: Choose an organization; enter workspace.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Recover access: Restore access without exposing account existence; send recovery link.</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Access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Accept invitation: Review your organization invitation; accept invitation.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Permissions &amp; consent: Choose how SmartAlarm supports you; save choices.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Session &amp; device security: Review devices with access; review session.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Revoke session: End access on the selected device; revoke selected session.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Profile &amp; accessibility: Make the interface work for you; save profile.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1/8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Safety home: A clear next step, when it matters; view active alert.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Alert detail: Fire reported in Building A; view guidance.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Evacuation guidance: Use the published evacuation plan; i need assistance.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&amp; accessible guidance: Read or listen to the same instruction; return to plan.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type: What kind of help do you need?; continue with selected need.</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2/8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location &amp; details: Tell responders where to find you; review SOS.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Confirm SOS: Send this request to campus command?; send SOS.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tracking: Your request has been received; contact assigned team.</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conversation: Stay connected to the response team; send message.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Update or cancel SOS: Update your situation; submit update.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3/8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Confirm personal safety: Let your circle know your status; confirm my safety.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Safety receipt: Your safety update was saved; view delivery details.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Notification inbox: Updates that need your attention; open alert.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Nearby hazards: Know what is happening nearby; view hazard.</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Disaster advisory: Flood watch for Riverside district; view shelter information.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4/8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Shelters &amp; assembly points: Find a designated assistance point; open shelter details.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Shelter details: North shelter; save shelter offline.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Offline safety pack: Essential information on your device; review cached plan.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My circles: The people who should hear from you; open family.</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Circle conversation: Family; view member status.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5/8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Create or edit circle: Choose members and sharing rules; save circle.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Circle member status: A status is a report, not a guarantee; send check-in request.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Emergency contacts: Who should receive your updates?; save contacts.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Care &amp; fall detection: Configure a supported fall detector; review test alert.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Possible fall check-in: A possible fall was detected; i need help now.</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6/8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Road incident report: Report a road incident safely; review SOS.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Discreet assistance: Request help with a quiet interface; send discreet request.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My reports &amp; history: Your previous requests; view request.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Privacy &amp; data requests: Control optional sharing; review data request.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Data request receipt: Request DR-202 received; back to privacy.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7/8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Circle membership &amp; invitations: Control who receives your updates; manage invitation.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Invite circle member: Invite someone you trust; create invitation.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 or block conversation: Control unwanted social contact; submit report.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Notification preferences: Choose channels and quiet hours; save preferences.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evacuation navigation: Follow reviewed steps away from the danger area; show next instruction.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8/8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Navigation step &amp; orientation: Use the WEST STAIR sign as your landmark; repeat voice instruction.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change notification: The previous route is no longer recommended; review updated route.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Position uncertain / no route: We cannot verify a route from your position; request assistance.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Outdoor hazard avoidance: Leave the affected area using reviewed guidance; view next route step.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FR-C40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language &amp; guidance settings: Choose how guidance reaches you; save guidance preferences.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Responder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Shift &amp; readiness: Ready for your next assignment; view assignments.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Assignment inbox: Assignments for Rescue 02; open assignment.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Accept or decline task: Assist person at Room 505; accept assignment.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Navigation &amp; arrival: Building A · East access; report arrival.</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Field situation: Floor 05 response context; open assistance record.</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Responder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Assistance &amp; triage record: Record observations, not diagnosis; save observation.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status &amp; handover: Hand over with a clear record; submit handover.</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completion: Assignment completed; back to shift.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Team communications: Incident channel · INC-2041; send message.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Evidence capture: Attach a field observation; queue attachment.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Responder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Offline outbox: Updates waiting to sync; resolve sync conflict.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Resolve field conflict: A newer assignment state exists; keep note and refresh.</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1/8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overview: Every signal. One coordinated response; open priority incident.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Live situation map: See incidents across your authorized region; open incident.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 triage queue: Separate evidence from assumptions; inspect signal.</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workspace: Fire · Building A / Floor 05; open dispatch.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 evidence review: Camera and sensor evidence; create incident from signal.</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2/8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Create incident: Establish the incident record; create incident.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Correlate or split incidents: Review possible duplicate reports; save correlation.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 board: Match the task to a capable team; review assignment.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Assign responder: Confirm ownership of the task; assign team.</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Response timeline: A shared record of decisions; review people status.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3/8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People accountability: Know what is reported and what is unknown; open person.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Person assistance detail: Alex Morgan · SOS-041; assign assistance.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Compose warning: Prepare a targeted warning; preview audience.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preview &amp; audience: Review message and recipients; submit for approval.</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Approve warning: Independent approval before broadcast; approve warning.</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4/8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Delivery &amp; escalation: Sending does not mean received; review failed deliveries.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Delivery failure review: Resolve notification gaps; queue fallback.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command approval: Review a proposed equipment action; approve command.</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command status: Track controller evidence; refresh command evidence.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closure review: Resolve outstanding obligations; close incident.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5/8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After-action review: Learn from the response; create improvement action.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Improvement action: Give follow-up work an owner; save action.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Drill scheduler: Practice without contacting live recipients; open drill control.</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Drill control room: EXERCISE · Building A evacuation; review drill report.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Shift handover: Transfer active operational responsibility; record handover.</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6/8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Shelter operations: Publish fresh shelter information; edit shelter.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Edit shelter status: Update a designated shelter; publish update.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Regional disaster feed: Review trusted public advisories; inspect advisory.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CAP advisory review: Preserve the issuing authority's context; create local response.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Search &amp; audit timeline: Find an event without changing history; inspect audit entry.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7/8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archive &amp; reopen: Review closed incidents with full history; review reopening.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Reopen incident: Record why response needs to resume; reopen incident.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Federated incident sharing: Share a controlled incident projection; review partner exchange.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Accessibility assistance queue: Assign support based on reported needs; assign capable unit.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Hazard zones &amp; route restrictions: Publish time-bounded movement restrictions; review guidance impact.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8/8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Guidance distribution &amp; receipts: Keep app and speaker instructions consistent; open speaker operations.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Sites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Site directory: One location model across industries; open site.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Site structure: Harbor Campus / Building A; edit location.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Location editor: Link physical and geographic context; save location.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Floor plan editor: Publish a reviewed evacuation map; review plan publication.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Plan approval &amp; versions: Keep published guidance traceable; publish reviewed draft.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Sites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Device inventory: Know which devices can be trusted; open device.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Device detail &amp; health: CAM-A05-03; review device configuration.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Provision device: Bind a device to an authorized tenant; enroll device.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Camera wall: Review selected camera sources; open detection evidence.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Maintenance &amp; calibration: Keep suppression visible during maintenance; schedule maintenance.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Sites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Rule library: Detection policies by hazard and site; edit rule.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Rule editor &amp; simulation: Test a rule against recorded events; view simulation results.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Rule test &amp; approval: Review behavioral changes before release; return rule for changes.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model monitoring: Track detector behavior by site; open review queue.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Evacuation graph editor: Build a versioned indoor and outdoor route graph; review route validation.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Sites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simulation &amp; approval: Test hazards, accessibility and uncertainty; publish reviewed graph.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Integrations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catalog: Connect systems through declared capabilities; configure connector.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setup: Create a scoped connection; test connection.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Schema mapping: Map source data into a versioned event; run contract tests.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test console: Prove behavior before enabling traffic; enable connector.</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health: Monitor transport and processing separately; inspect dead letters.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Integrations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Dead-letter &amp; replay: Replay only after inspecting the failure; replay event.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API clients &amp; scopes: Grant only required API access; save client.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Webhook subscriptions: Deliver filtered incident updates; send test payload.</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Partner exchange agreements: Define cross-organization sharing; save agreement draft.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IOC exchange history: Verify what a partner actually received; inspect payload.</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Integrations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fleet: Mission readiness at a glance; plan mission.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mission planning: Observe the perimeter of Building A; review mission approval.</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preflight &amp; approval: Local authority remains with the pilot; approve mission.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mission telemetry: DR-01 · observation mission; review mission record.</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mission record: Preserve mission evidence; return to fleet.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Administration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Tenant overview: Operate across regions with clear boundaries; manage organization.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Organization &amp; regions: Choose residency and local defaults; save settings.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Users &amp; invitations: Review access across the organization; edit membership.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Role &amp; scope editor: Separate operational duties; save role.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On-call &amp; escalation: Escalate when acknowledgment is missing; save escalation.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Administration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Message templates &amp; languages: Publish reviewed instructions per locale; preview template.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Hazard taxonomy &amp; playbooks: Extend categories without changing the core; save draft playbook.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Playbook approval: Approve the operational sequence; publish playbook.</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Retention &amp; legal holds: Apply policies by data class and region; save policy draft.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Privacy request review: Review request DR-202; approve export.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Administration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Audit record: Immutable decision evidence; return to audit search.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Service health &amp; recovery: Separate degraded service from silent failure; open recovery runbook.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Recovery runbook: Regional incident data recovery; record drill outcome.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Usage &amp; subscription: Capacity and commercial visibility; review capacity policy.</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Capacity &amp; quota policy: Protect emergency traffic during bursts; save capacity draft.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Administration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Analytics &amp; export: Measure response without hiding gaps; prepare report.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 schedule: Deliver an authorized operational report; save schedule draft.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System states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 connection / SOS pending: Your SOS has not reached the server; view offline outbox.</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Permission unavailable: Location permission is off; enter location manually.</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 active incidents: No active incidents in this view; review device health.</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Access denied: This record is outside your access scope; choose workspace.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Service unavailable: This service is temporarily unavailable; open offline pack.</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System states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Unsaved changes &amp; conflict: A newer version was published; review latest version.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Empty search &amp; filter reset: No matches for these filters; reset search.</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Expired session: Sign in again to continue; sign in.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Loading &amp; stale data: Refreshing the situation view; return to command.</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Attachment rejected: This attachment could not be accepted; choose another attachment.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Platform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Regional operations: Production cells, independently operated; inspect regional cell.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Regional cell detail: EU cell · operational readiness; review recovery readiness.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Disaster recovery drill: Validate recovery with recorded evidence; record drill evidence.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Recovery verification: Verify data and ownership before routing; review regional operations.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Tenant provisioning: Provision a production tenant boundary; review provisioning plan.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Platform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Tenant lifecycle: Northstar · lifecycle controls; request support access.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Time-bound support access: Request the smallest support scope; submit access request.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Support access approval: Approve a scoped support session; approve scoped access.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Release &amp; schema compatibility: Release only compatible contracts; review release gate.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Release gate &amp; rollback: Verify behavior before promotion; record release decision.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Platform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Security incidents: Respond to platform threats; open security case.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Security case &amp; containment: Contain the source without hiding coverage gaps; record containment.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Developer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Developer workspace: Build against explicit contracts; open API explorer.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API explorer: POST /v1/events; run sandbox request.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Sandbox request results: Inspect the complete receipt; open schema registry.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Schema registry: Track compatibility before upgrading; view schema contract.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manifest editor: Declare capabilities explicitly; submit for conformance.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Developer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Conformance certification: Review adapter behavior under failure; approve adapter version.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Webhook delivery trace: Understand every delivery attempt; review subscription.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Credential rotation: Rotate credentials without exposing secrets; create rotation request.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TextBox 49"/>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Localization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Language coverage: Three languages, one product meaning; open translation workspace.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Translation editor: Translate a versioned message; submit translation review.</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Translation review: Review terminology and emergency meaning; approve translation version.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&amp; pronunciation: Keep speech aligned with reviewed text; save voice configuration.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Locale fallback policy: Make missing translations visible; save language policy.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Localization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Emergency terminology: Keep terms consistent across channels; review translation editor.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Public address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Speaker zones &amp; coverage: Reach people without a smartphone; select broadcast zones.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Compose rescue announcement: Prepare an announcement for the right area; preview announcement.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Preview &amp; approve announcement: Check message, zones and playback behavior; approve sample playback.</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Speaker playback monitoring: Track playback separately from command receipt; inspect speaker health.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Speaker device &amp; self-test: SPK-A05-08 · playback unknown; open coverage fallback.</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Public address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Live rescue microphone: Announce live to approved rescue zones; review live session.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 vehicle speaker mission: Coordinate mobile public-address support; review mission.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Audio library &amp; TTS review: Use approved speech in every supported language; edit voice content.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PA priority &amp; arbitration: Avoid competing announcements; save arbitration policy.</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Care profiles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My rescue assistance profile: Tell responders what support you may need; review emergency sharing.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Health &amp; assistance sharing: Share only what the response team needs; save sharing preferences.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Caregiver relationships: Review who can help manage your profile; review caregiver authority.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Caregiver authorization: Verify authority before granting access; approve scoped relationship.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Dependent person profile: Review the assistance plan with the person; request profile update.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Care profiles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Profile update &amp; review: Keep assistance information current; submit profile update.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People &amp; assistance registry: Find people who may need proactive help; open assistance case.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Proactive rescue queue: No SOS does not mean no need for help; review priority reasons.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Priority evidence &amp; decision: Review why assistance was recommended; assign proactive assistance.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Presence &amp; accountability: Distinguish presence from registration; open proactive queue.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Care profiles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Restricted medical record: Emergency medical subset · audited access; return to assistance.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Welfare check outcome: Record contact even without an SOS; save welfare observation.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Intelligence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Positioning source health: Know where location can be trusted; inspect location quality.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Position quality &amp; history: Alex · position is evidence, not certainty; open assistance context.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Indoor calibration editor: Align anchors to a versioned floor plan; review route graph.</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Evacuation optimization: Compare feasible evacuation strategies; review route comparison.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comparison &amp; decision: Understand the trade-offs before publishing; publish guidance version.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Intelligence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incident copilot: A grounded summary with visible uncertainty; review AI recommendation.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evidence &amp; approval: Approve an action, not a fluent paragraph; review route decision.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policies &amp; model evaluation: Keep model behavior measurable; open model governance.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deployment governance: Publish a reviewed model and prompt version; save deployment draft.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Simulation &amp; crowd scenarios: Test strategy without asserting real-world certainty; review route validation.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PhysicalSystems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systems overview: Never aggregate stale or impaired systems into a green all-clear; each zone retains its controller and observation time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Controller inventory: Inventory discovery grants no write rights; bind exact model, firmware, site and interface evidence before enrollment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Controller capability detail: Unknown or undocumented capability is read-only; certification and API compatibility are separate evidence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 point mapping: Verify point polarity and meaning against wiring and witnessed tests; a valve contact is not proof of water flow</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zone mapping: Reject ambiguous floor or cross-tenant zone mappings; require signed plan revision and site walkdown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PhysicalSystems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Cause-and-effect matrix: Only the locally approved cause-and-effect matrix governs physical effects; cloud edits cannot silently rewrite controller logic</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event detail: Deduplicate source sequence; retain raw evidence and distinguish alarm, supervisory, trouble, test and inferred incident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Fire-water status: Pump-running, pressure, valve position and flow are independent signals; unknown water availability blocks readiness claims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Controlled release review: Release is blocked without documented allowed operation, installed certification, fresh prerequisites, local permit and controller interlocks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authorization: Bind distinct requester/approver to exact equipment, operation, parameters, zone, version and expiry; any change invalidates approval</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PhysicalSystems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Execution feedback: Controller acceptance is not physical completion; missing independent feedback becomes unknown with no blind retry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Unknown-result reconciliation: Reconcile through supported readback and qualified observation; never resend a non-idempotent release to discover the outcome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 override &amp; handover: Local override revokes remote authority; reconnection cannot replay commands or restore a revoked lease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 &amp; test mode: Test mode requires bounded isolation and compensating measures; permit expiry escalates but does not assert restoration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Commissioning plan: Freeze BOM, firmware, mappings and matrix; physical tests require site permit, witnesses, isolation and local abort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PhysicalSystems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Test-run evidence: Expected results cannot populate observed results; failed or unexecuted tests block release and preserve attachments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Compatibility &amp; certificate dossier: A product certificate does not certify the installation or cloud adapter; exact scope, revisions and acceptance evidence must match</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Maintenance &amp; restoration: Only witnessed restoration and site approval clear impairment; time elapsed or technician closure alone cannot restore availability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Rescue equipment mission: Colossus control API is unverified: dispatch to trained vendor-console operator; no cloud movement, nozzle or casualty actuation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connector onboarding: Connector activation starts read-only; credentials stay in vault and only signed capability policy can enable an approved write operation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Signal/Event: an immutable observation from a source, with observed_at and received_at.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an operational record collecting evidence, with severity and an owner.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a request for assistance for a person/group, with its own state and an optional incident link.</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a message issued by version and audience.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Delivery: one sending attempt through one channel.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an assignment for a unit.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Personal status: a sourced statement/status, not an inference of absolute safety.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an instruction to a device, separate from an event.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 — received → validated → correlated / quarantined / rejected — Gateway validates schema/source/tenant; invalid signals do not enter live workflows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 new → triaging → active → contained → resolved → closed — Operator triage; supervisor closes after checklist completion; reopening requires a reason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exception — new/triaging → dismissed; any incident not yet closed → linked — Dismissal requires a reason; linking does not delete IDs or evidence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 submitted → acknowledged → assigned → assisting → resolved — Server receipt differs from operator ACK; responders update only assigned tasks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cancel — submitted/acknowledged/assigned → cancellation_requested → canceled or continued processing — After dispatch, an operator decision is required; citizens cannot delete the record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Person status — unknown, in_danger, help_requested, self_reported_safe, responder_confirmed_assisted — Append observations with timestamp/source; may return to danger; safe does not close the incident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 draft → review → approved → sending → active → expired / canceled — New versions require reapproval; authors cannot approve their own work when policy requires separation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 offered → accepted → en_route → on_scene → completed — Offer deadline → expired → reassign; decline requires a reason; a task has one current owner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 requested → approved → dispatched → accepted → executing → succeeded / failed / unknown / expired — Device acceptance does not prove success; a timeout does not automatically mean physical failure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asset: an installed, configuration-bound controller, pump, valve, releasing system, or rescue device.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Capability: independently approved observe/control permission for an exact operation.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feedback: observed evidence distinct from transport/device acknowledgment.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 an authorized reduction in protection requiring compensating measures and verified restoration.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Mission: a supervised equipment operation with local authority and handover.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UI label UNKNOWN maps to the existing machine state unknown; it is not a new terminal success/failure state.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 lifecycle: requested → approved → active → restoration_pending → verified_closed; expiry without restoration stays restoration_pending and escalates.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Mission lifecycle: draft → review → approved → locally_accepted → executing → completed / aborted / unknown; completion requires outcome evidence.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Every endpoint checks the principal, tenant membership, region, site scope, object ownership, and action permission on the server.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Hiding frontend buttons is not a security control.</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Family members see only shared fields; operators see information needed for the incident; platform admins have no automatic data access.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approvers and command approvers have separate permissions.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Break-glass access requires a reason, expiry, audit, and supervisor notification; it does not bypass tenant boundaries.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Access to out-of-scope objects returns 404 or an error that does not disclose their existence.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Lists use cursor pagination, stable sorting (created_at,id), and a maximum of 100 records/page.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All mutations require validation, idempotency when creating effects, and optimistic concurrency on updates.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List screens provide search/filter for appropriate fields and loading/empty/error/denied states; forms provide required/invalid/conflict/unsaved states; details provide stale/not-found states.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Prototype data is not real telemetry.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control additionally checks the site/controller capability, vendor permission, OT access policy, current impairment/lockout, local authority, and operation-specific approval.</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UI must show monitor-only, control eligible, inhibited, stale, and UNKNOWN distinctly.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Engineering access does not imply incident command authority.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Segment OT from public networks; allowlist supported endpoints and operations, use controlled maintenance access, and retain credential/change audit.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 automatic detection, pump starting, and releasing protection must not depend on cloud approval or connectivity.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admin creates a tenant with an immutable home_region; selects locale/timezone, configures SSO/MFA, and invites memberships by site.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Users select a workspace before entering the console.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Recovery returns the same message for existing and nonexistent emails to reduce enumeration.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Invitations are single-use, have a TTL, and enforce email/domain policy.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When SSO is unavailable, a controlled break-glass account is available within the appropriate tenant; MFA is not automatically bypassed.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expired invitations are rejected; revoked roles cannot use old tokens after the proposed 60 s revocation propagation limit; switching workspaces does not display the previous tenant's cache.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Site admins create a country/region/site/building/floor/zone/road-segment/geofence graph.</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Not every site must have floors.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Device binding checks that the device belongs to the same tenant.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Floor plans have revisions, scale, exits, accessibility, and an approver.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Each incident stores the plan revision used.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Locations carry method, accuracy, and age; GPS does not automatically infer a floor.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Without positioning, users can enter a location manually and send an SOS.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plans without a reviewer cannot be published; zones with active incidents cannot be hard-deleted; routes without freshness information show “not verified” and are not presented as certainly safe.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Adapters check credentials, tenant binding, schema, clock skew, and payload limits, then durably store the event before issuing a receipt.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 duplicate key (tenant,source,event_id) returns the previous receipt.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Late events are retained for audit, but live rules evaluate TTL by hazard.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Unknown sources/permissions/units/locations are quarantined.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Inputs support HTTPS/CloudEvents, MQTT adapters, CAP, camera metadata, wearables, telematics, and manual entry.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replaying the same ID 100 times creates one event; two tenants using the same event ID do not collide; sources spoofing a tenant are blocked; stale events do not initiate commands.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Versioned rules provide candidate incidents by time window, zone, hazard, and source.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Operators review evidence and confidence, then create or link incidents; splitting preserves audit records and source links.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Different hazards are not combined merely because they are nearby; cross-hazard relationships have a type (caused_by/nearby/possible_duplicate).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Camera detection is labeled “possible fire”; fire panel policy may immediately initiate a response through a site-approved workflow without waiting for AI.</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merging does not lose SOS/tasks; splitting does not duplicate dispatch; rule changes do not rewrite history; dismissal requires a reason.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Users select a category or Other/Unknown; enter/update location, notes, and the number of people.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emergency flow does not require a complete profile.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server returns an SOS ID and received_at after commit.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client displays pending when the request is only stored locally.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Resending uses client_request_id, TTL, and reconciled state.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Threat/discreet requests default to no sound and no group fan-out; ordinary assistance uses rule-based severity rather than treating every SOS as P1.</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network loss does not show “received”; resending does not create a second SOS; users who deny GPS can still enter location manually; changing category does not lose the ID.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approved detector emits possible_fall; the app displays a proposed 30 s check-in with “I'm OK” and “Get help now”.</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Without a response, the server timer continues even if the app closes, creating an operator/caregiver request according to consent.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offline device produces unknown status, not a conclusion that the person fell.</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Check-in duration is configurable by service/group, with an accessible alternative; it is not automatically used as a diagnosis.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escalation continues after the app is killed; a late “I'm OK” updates the record without silently withdrawing an ongoing task; false positives retain a review reason.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Reports/telematics provide position, heading if available, road segment, vehicle count, and injuries=unknown.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Correlation distinguishes opposite traffic directions and bridge levels.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Users can submit a minimal quick report and add details later.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 targets configured units; without an agreement, the system does not automatically call a public emergency endpoint.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missing injury data is accepted as unknown; one acceleration sample does not auto-confirm a collision; sensitive data goes only to the assigned team.</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Connectors allowlist issuers and validate XML/schema, identifiers, sent, status, scope, info/area, and expiry.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Deduplicate sender+identifier; Update/Cancel references the previous version and must preserve lineage.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Official warnings and local responses are separate objects.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Expired warnings do not continue live broadcast; cancellation does not delete previously sent versions.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Polygons use CAP's coordinate order and are explicitly converted to GeoJSON; lat/lon must not be implicitly swapped.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Test/Exercise does not enter the Actual flow; unauthorized issuers are quarantined; Update replaces the active version while retaining the previous one; users outside the polygon are not selected because of coordinate errors.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Authors select the incident, area/site/group, severity, languages, content, and expiry.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Audience preview is a snapshot of eligible recipients and exclusion reasons; an independent approver signs the version.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Changing content/audience after approval requires reapproval.</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Rapid break-glass issuance requires special permission and audit; not every P1 must wait for approval if the site playbook permits preapproved templates.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Machine translation is draft-only; safety content must be reviewed.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approval of v3 does not permit sending v4; an audience ID targeting the wrong tenant is blocked; scheduled warnings recheck expiry and permissions at issuance.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Notifications create individual delivery attempts by recipient/channel/version; queued/submitted/provider_accepted/delivered/read/human_ack/failed/unknown remain distinct states.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Provider callbacks are authenticated and replay-protected.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ACK deadline triggers durable escalation with an owner and maximum steps.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Channel fallback does not automatically send private content by SMS; SMS templates are minimal and use authenticated links when needed.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Push notifications cannot guarantee bypassing the operating system's silent mode.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provider acceptance does not increase the human ACK count; duplicate callbacks do not duplicate escalation; provider failures use bounded retries and alternate providers, and 429 respects retry_after.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Dispatchers filter units by capability, availability, site authorization, and latest location.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ETA is only a timestamped estimate.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Offers have a deadline; units accept atomically using a version.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If nobody accepts, escalate; do not automatically mark dispatch as completed.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Responders transition through en_route/on_scene, record observations and handover, and complete tasks; task completion does not close the incident.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two dispatchers cannot assign two owners to one task; offline acceptance must remain pending until server confirmation; reassignment retains the previous responder's notes as observations.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Safety reports store status, person, incident scope, observed_at, reporter, and location precision.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Fan-out reaches all eligible subscribed groups at report time, plus verified contacts; recipients are deduplicated.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Each group receives status; detailed location requires specific consent.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Revoked memberships/consent are rechecked before delivery.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Group chat includes membership, abuse reporting, and individual blocking for social interaction; blocking cannot disable mandatory site warnings under the published policy.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one contact in 3 groups does not receive 3 identical SMS messages; location consent off does not leak coordinates; a safe report does not close a building incident; unknown is not counted as safe.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Operators maintain shelter status, estimated capacity, timestamp, accessibility, and valid_until.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Offline packs store versioned, expiring plans/guidance/contacts and do not guarantee live routes.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uses the same approved text with a transcript and pause/replay; autoplay must not expose discreet mode.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Without a verified route, display only the plan and approved guidance rather than automatically drawing an optimized fire-avoidance route.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 shelter past valid_until becomes unknown; missing capacity data is not shown as 0; offline plans display their age.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Enrollment tokens are single-use; device certificates support rotation/revocation.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Heartbeat thresholds depend on device class; stale/disconnected is distinct from the area's safety status.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Maintenance suppression has a start/end, reason, approver, and replacement coverage; blind spots are always visible.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When maintenance ends, monitoring automatically resumes and is logged.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revoked certificates cannot ingest; suppression does not continue after maintenance ends; firmware upgrades do not automatically run fleet-wide during an active incident.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maintenance additionally follows WF-31: ending a software suppression window does not prove that physical protection has been restored; required local checks and acknowledgment remain mandatory.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Commands are limited to declared capabilities; parameter schema, zone, expiry, interlock, authorized approver, and local controller policy are all mandatory.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web interface cannot send arbitrary raw commands.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Gateway receipt, device accepted, executing, and verified result are separate.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unknown timeout does not blindly retry a non-idempotent command.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Cloud actuation does not replace certified local protection loops.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Closed-head sprinklers typically activate thermally; the prototype does not assume software can open individual sprinkler heads.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commands past TTL do not execute after reconnect; zone mismatches are rejected; acceptance without feedback remains unknown/awaiting confirmation; simulators have no live credentials.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WF-30 refines this command workflow for installed suppression and rescue equipment.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Wet-pipe monitoring, releasing-controller requests, pump requests, and mobile equipment actions remain separate capabilities; use WF-28 binding and WF-32 acceptance before enabling any control.</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Fleet adapters primarily provide telemetry/media and health.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 mission draft includes purpose, incident, route/geofence, altitude reference, pilot, clearance, weather check, and lost-link policy.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local pilot decides deployment according to the integrated system's capabilities.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Approval does not mean takeoff has occurred.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detectors do not automatically issue TAKEOFF.</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Abort/return commands require capability support and flight-stack confirmation; the UI does not promise universal cancellation.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no approval without pilot/clearance; stale telemetry disables position-dependent commands; link loss shows unknown while local policy continues; mission evidence has hash/provenance.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Install manifest → configure secret reference → map → sandbox test → approve → activate → monitor → rotate/deprecate.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Connectors run with least privilege, outbound allowlists, quota/backpressure, and a kill switch.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DLQ replay requires a reason, a valid schema, and retention of the original ID; command replay is blocked by default.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Cross-tenant exchange requires an agreement and payload allowlist.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adapter failures do not block direct SOS; oversized payloads return 413; incompatible major schemas are quarantined; secrets do not appear in logs/exports.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 UTC for storage, IANA timezones for display/schedules, BCP47 locales, Unicode, and E.164 phone numbers according to country.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UI includes RTL layout tests, pluralization, and pseudo-localization.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Do not hardcode one worldwide emergency number; the emergency contact registry is verified by country/site.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Residency covers databases, object storage, backups, logs, support, and exports; global routing does not carry raw SOS data.</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schedules crossing DST do not send twice, using a schedule occurrence ID; long locales do not obscure CTAs; changing region is a reviewed migration, not merely editing a dropdown.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Data classes have retention policies, legal holds, and deletion jobs with reports.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Export/deletion verifies the requester, scope, and exceptions; held evidence is not deleted.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Audit is append-only with actor, action, object/version, reason, time, correlation, and before/after digests.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Do not embed tokens, raw secrets, or complete medical notes in audit records.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precise-location access is logged; deletion does not remove held records; exports exclude other tenants; break-glass access automatically revokes at TTL expiry.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Closure requires an open SOS/task check, disposition of people with unknown status, partner handover, a reason, and a supervisor.</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“All clear” warning is a separate action.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Drills require environment+mode isolation in the broker, credentials, and recipient directory; a banner alone is insufficient.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Reports separate transport latency, operator latency, and response latency; samples with missing data explicitly state their denominator.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safety check-ins do not close incidents; drills do not call live webhooks/actuators; shift handovers have incoming acknowledgment; reports are deidentified when the user lacks PII permission.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Bind the installed regional model, serial number, firmware, gateway, license, vendor permission, and compatibility dossier before activating an adapter.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Import and independently review point addresses, semantic states, units/scaling, site/zone associations, and cause-and-effect revisions.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Distinguish wet-pipe, pre-action/deluge, pump, and mobile rescue assets.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Unknown capability defaults to monitor-only; onboarding cannot create control authority.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FR-PHY-01</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FR-PHY-01: retain the exact equipment/interface identity and approved evidence revision.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FR-PHY-02</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FR-PHY-02: validate point and zone mapping against physical labels and reject cross-tenant, duplicate, or unresolved mappings.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FR-PHY-03</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FR-PHY-03: version the cause-and-effect and read/control capability contracts; changes require impact review and reacceptance where affected.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an unbound firmware or license change suspends dependent control; a wrong-zone mapping cannot be activated; wet-pipe heads are not offered as individually controllable outputs.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Ingest manufacturer-supported panel, pump, valve, release, waterflow, power, and link states with provenance and quality.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Preserve controller alarm priority and local protection when cloud/edge is unavailable.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Separate demand, motor running, release output, valve position, waterflow, and confirmed field observations.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Missing or stale values remain unknown; do not turn a link fault into a safe indication.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FR-PHY-04: store source/receive time, source address, unit, quality, mapping revision, and raw evidence reference for each observation.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FR-PHY-05: supervise freshness/link health using approved device/site thresholds and expose coverage gaps and compensating measures.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FR-PHY-06: correlate without suppressing local protective actions; deduplicate transport replay while retaining state transitions and restoration evidence.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stale pump-running data is visibly uncertain; pressure alone does not confirm discharge; loss of cloud leaves local automatic protection available; duplicate telemetry does not create duplicate incidents.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Only a site-accepted, explicitly control-capable operation may create a physical request.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Validate actor authority, incident/site/zone, approved parameter envelope, current physical readiness, local interlocks, command expiry, and the policy's independent approval requirements.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Site/controller authority prevails.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system never assumes that BACnet/Modbus writes, a relay, or a network ACK authorizes or proves suppression.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cannot originate autonomous release/start/motion actions.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FR-PHY-07: reject monitor-only or undocumented operations server-side and at the edge; preserve the approved request and command-policy version.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FR-PHY-08: enforce TTL, unique request ID, duplicate-effect prevention, and bounded delivery; do not replay expired requests after reconnect or blindly retry non-idempotent actions.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FR-PHY-09: distinguish transport receipt, device acceptance, execution, and physical feedback; evaluate success only against operation-specific approved evidence.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FR-PHY-10: display UNKNOWN for missing/conflicting outcomes; assign reconciliation to a named operator and support local override and acknowledged manual handover without erasing history.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ACK without required feedback cannot become succeeded; duplicate/expired requests produce no new effect; loss of feedback opens reconciliation; local override blocks conflicting remote control.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authorized impairment identifies equipment, affected zones, time window, reason, owner, compensating protection, and the local test/lockout arrangement.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Keep test and production credentials, routes, and outputs distinct; a UI banner is insufficient.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Expiry prompts restoration verification and escalation rather than claiming protection has returned.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 safety ownership remains explicit during shift handover.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FR-PHY-11</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FR-PHY-11: require approved impairment and physical isolation/lockout evidence before relevant tests; block unauthorized production commands while preserving agreed local protection arrangements.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FR-PHY-12</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FR-PHY-12: close an impairment only after required physical state checks, restoration evidence, and responsible-person acknowledgment; track overdue restoration and residual gaps.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 simulated test cannot reach a live output; expiration without verification remains impaired/awaiting restoration; maintenance handover has an incoming owner.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Maintain a configuration-specific dossier of manufacturer documents, interface permissions, regional listings/limitations, point maps, electrical/hydraulic dependencies, approved cause-and-effect, FAT, SAT, commissioning, calibration, and operator training.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Manufacturer research and simulator results are not field acceptance.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 whole-system certification is inferred from a component listing.</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FR-PHY-13</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FR-PHY-13: track document revision, provenance, reviewer, expiry where applicable, and acceptance scope per model/firmware/site/capability.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FR-PHY-14</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FR-PHY-14: gate production capability activation on signed required tests and approvals; equipment, firmware, mapping, or policy changes trigger impact assessment and invalidate affected acceptance until revalidated.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missing SAT blocks production control even after simulator PASS; an unrelated site's certificate cannot satisfy the gate; changed firmware leaves unaffected read capabilities available only if their contract remains valid.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 mission binds the actual supported robot or water-monitor interface, purpose, incident, qualified operator, operating area, route/no-go zones, water/energy supply, telemetry freshness, and lost-link/local-emergency policy.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Observe-only equipment remains observe-only.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Approval is not movement or discharge.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local operator determines deployment and remains able to take over according to the vendor-supported design; no universal stop/return function is promised.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FR-PHY-15: require mission-specific authority, capability evidence, operating envelope, and readiness checks; separate movement, aiming, and water discharge permissions.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FR-PHY-16: record telemetry and action feedback, enforce approved lost-link behavior locally, and provide acknowledged manual handover and outcome evidence; never infer rescue completion from command acceptance.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missing vendor-supported control or operator blocks dispatch of physical actions; stale position blocks dependent aiming/motion; link loss shows UNKNOWN and the approved local policy; a handover retains responsibility and evidence.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NFR-01</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NFR-01 — Production regional core 99.95% monthly — Synthetic + server metrics; include dependency failures affecting users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NFR-02</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NFR-02 — Ingest p95 ≤ 2 s; fan-out enqueue p95 ≤ 5 s — Load of 100 event/s steady, 1,000 event/s for 60 s; 10,000 recipients/incident; metadata payload ≤ 64 KB</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NFR-03</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NFR-03 — Priority fairness — P1 reserved queues; tenant noisy-neighbor test; bulk telemetry must not block SOS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NFR-04</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NFR-04 — Multi-AZ target RPO 0 for committed records, RTO ≤ 15 minutes — Kill primary, verify durable commit and failover; commit only after testing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NFR-05</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NFR-05 — Regional disaster RPO ≤ 5 minutes, RTO ≤ 60 minutes — Restore/cold-region drill within residency policy; immutable backup restore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NFR-06</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NFR-06 — WCAG 2.2 AA target — Keyboard, screen reader, zoom, contrast, and error announcements; no certification claim yet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NFR-07</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NFR-07 — Web interactive p95 ≤ 3 s on the reference network — 4G simulation, representative low-end device; map loads separate from core content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NFR-08</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NFR-08 — Offline durable outbox and stale visibility — Airplane mode, app kill, reconnect, clock skew, and reassignment conflict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NFR-09</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NFR-09 — Security isolation — Tenant/object permission tests, upload validation, credential revocation, audit coverage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NFR-10</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NFR-10 — Backward compatibility — API/event contract tests; additive minor changes; parallel major versions with sunset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Reference loads are engineering targets, not measured benchmarks.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Media uploads use object storage separately from the critical event pipeline.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NFRs apply to the product to be built; the static prototype does not demonstrate that these requirements are met.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NFR-11 — Local automatic protection independent of cloud/edge availability — Witness cloud/link/adapter failure without inhibiting the approved local protection sequence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NFR-12 — Configuration-specific telemetry/feedback timing and quality — Signed freshness, delivery, and feedback deadlines per device/site; measure separately; UNKNOWN on deadline violation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NFR-13 — OT and command isolation — Prove monitor-only enforcement, denied writes, least privilege, maintenance access control, and no test-to-live path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NFR-14 — Configuration-specific physical assurance — Complete provenance and signed required FAT/SAT; changes invalidate affected capability acceptance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These physical NFRs do not substitute software latency targets for physical response or hydraulic performance.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Device/site timing and pass criteria must be approved before tests, and results must identify firmware, hardware, and operating conditions.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Run complete Fire, Disaster, Fall, Road, discreet SOS, and generic assistance flows; test duplicates, late data, out-of-order data, expiry, network partitions, unauthorized tenants, quota saturation, provider failures, and restore.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For physical/drone integrations, simulator PASS does not replace on-site acceptance.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detailed matrix is in Acceptance-Matrix.csv.</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Screen-level acceptance is in Screen-Specifications.md and linked to each mockup ID.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physical gate additionally executes PHY-01–PHY-16 and AC-F01–AC-F20, checks every FR-PHY-01–FR-PHY-16 requirement, and requires the approved physical test arrangement and authorized site team.</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Acceptance-Matrix.csv contains 65 cross-system and 233 screen cases (298 total).</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Designed cases are not execution evidence.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Supplier support, physical permits, local operator readiness, and signed FAT/SAT are dependencies for enabling production control; missing evidence leaves the relevant capability unavailable or monitor-only.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Orchestrate PA using exact message/zone digest, priority, repeat and expiry; arbitrate competing zone leases.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Separate controller ACK, buffering/playing/completed and acoustic evidence; faults create coverage gaps/fallback.</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Live mic needs explicit action, approved zones, short-lived tokens, indicators, heartbeat and timeout stop.</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Media gateway bridges WebRTC to supported vendor protocols; isolate OT and cache checksummed/versioned audio.</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Preserve local fire priority; scope stop to one broadcast; never replay expired messages after reconnect.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Validate floor/heading quality; uncertain position uses landmarks/SOS, never invented left/right guidance.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Exclude forbidden/blocked/unknown-critical edges and expired destinations; accessibility is a hard constraint.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Dijkstra/A* selects feasible routes only; penalties never bypass exclusions; no path means assistance/refuge.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Withdraw hazard-cut routes immediately; replan with hysteresis, cancel old TTS; stale cache uses approved procedures.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Align vi/en/ja text/voice, lexicon, pronunciation, transcript and visual/haptic alternatives.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API returns LOCATION_UNCERTAIN/NO_VERIFIED_ROUTE when unverified; arrival never automatically marks safe.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Ingest GNSS/QR/NFC/BLE/UWB/Wi-Fi/manual by capability/permission, calibration and coordinate frame.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Fuse floor hypotheses/outliers/motion/quality; never average floors or discard provenance on correction.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Separate registered/expected/observed/last-seen/absent/unknown presence; beacon loss never means absent/safe.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Produce one primary and up to two alternatives with reasons/assumptions/validity; diversify bottlenecks where feasible.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Balance cohorts/capacity using uncertain occupancy/throughput; regional strategy changes need operator approval.</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Keep simulations separate from observed hazards; show assumptions and ETA intervals/confidence, not false precision.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retrieves approved SOPs and returns structured evidence/cutoff/uncertainty; unsupported claims cannot instruct.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only compares planner routes read-only; no graph edits, warning approval, commands, diagnosis or incident closure.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Policy proxy blocks injection/excess scope; regional models use minimal health data and redacted logs, no chain-of-thought.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Evaluate grounding/injection/leakage/unsafe action/locale/abstention before promotion; review feedback before training.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timeouts cannot block alarms/SOS/dispatch; streaming text cannot reach PA before validation/approval.</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Separate identity from functional-needs profiles; preserve source/review/consent; self-report is not medically verified.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Verify guardians/caregivers with revocable field scopes; dispatchers/responders receive only necessary emergency subsets.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Audit health access and scoped/time-bound/reasoned break-glass; social circles cannot see medical notes/impairments.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Build candidates from presence/impact/needs/no confirmation; uncertain presence triggers welfare checks, not asserted location.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Explain priority by exposure/ability/isolation/route/contact/confidence; exclude wealth/nationality and age alone.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Deduplicate ProactiveCase by incident/person/policyVersion; later SOS links the case without duplicate dispatch.</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Escalate non-response without confirming injury; location corrections retain evidence/audit and trigger reevaluation.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AIPOWER / SmartAlarm Solution Design</dc:creator>
  <lastModifiedBy>Walnut Exporter</lastModifiedBy>
  <dc:title>SmartAlarm — Complete Solution Proposal</dc:title>
  <dcterms:created xsi:type="dcterms:W3CDTF">2026-10-17T11:28:17.6480000Z</dcterms:created>
  <dcterms:modified xsi:type="dcterms:W3CDTF">2026-10-17T11:28:17.6490000Z</dcterms:modified>
  <dc:subject>Revision 1.0 — researched physical fire protection and rescue integration</dc:subject>
  <keywords>SmartAlarm, FireEscape, rescue, multi-hazard, all-in-one</keywords>
</coreProperties>
</file>