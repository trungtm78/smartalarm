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e1e6a89b0f54e3b" Type="http://schemas.openxmlformats.org/package/2006/relationships/metadata/core-properties" Target="docProps/core.xml"/><Relationship Id="R92c8cac5f02f4a96" Type="http://schemas.openxmlformats.org/officeDocument/2006/relationships/officeDocument" Target="ppt/presentation.xml"/><Relationship Id="Re19df09942bc49f0" Type="http://schemas.openxmlformats.org/officeDocument/2006/relationships/extended-properties" Target="docProps/app.xml"/></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bd79aac9c2dc4787"/>
  </p:sldMasterIdLst>
  <p:notesMasterIdLst>
    <p:notesMasterId xmlns:r="http://schemas.openxmlformats.org/officeDocument/2006/relationships" r:id="R03ee1456718c4107"/>
  </p:notesMasterIdLst>
  <p:sldIdLst>
    <p:sldId xmlns:r="http://schemas.openxmlformats.org/officeDocument/2006/relationships" id="256" r:id="Rd3b824b3c56a4a1c"/>
    <p:sldId xmlns:r="http://schemas.openxmlformats.org/officeDocument/2006/relationships" id="257" r:id="R772d01f8182244ce"/>
    <p:sldId xmlns:r="http://schemas.openxmlformats.org/officeDocument/2006/relationships" id="258" r:id="Rf1c7bd4bf711459f"/>
    <p:sldId xmlns:r="http://schemas.openxmlformats.org/officeDocument/2006/relationships" id="259" r:id="R64d978f4974741dc"/>
    <p:sldId xmlns:r="http://schemas.openxmlformats.org/officeDocument/2006/relationships" id="260" r:id="R402d61dffd5d4594"/>
    <p:sldId xmlns:r="http://schemas.openxmlformats.org/officeDocument/2006/relationships" id="261" r:id="Rd77e658bd5564dc1"/>
    <p:sldId xmlns:r="http://schemas.openxmlformats.org/officeDocument/2006/relationships" id="262" r:id="Rf31d67a014264d99"/>
    <p:sldId xmlns:r="http://schemas.openxmlformats.org/officeDocument/2006/relationships" id="263" r:id="R8986666c9c5b423e"/>
    <p:sldId xmlns:r="http://schemas.openxmlformats.org/officeDocument/2006/relationships" id="264" r:id="R06a82829f3d84e3d"/>
    <p:sldId xmlns:r="http://schemas.openxmlformats.org/officeDocument/2006/relationships" id="265" r:id="R592bd631568a4cbe"/>
    <p:sldId xmlns:r="http://schemas.openxmlformats.org/officeDocument/2006/relationships" id="266" r:id="Rd4683dc28cbc4f86"/>
    <p:sldId xmlns:r="http://schemas.openxmlformats.org/officeDocument/2006/relationships" id="267" r:id="R67ff4ddf145d42f4"/>
    <p:sldId xmlns:r="http://schemas.openxmlformats.org/officeDocument/2006/relationships" id="268" r:id="R3f9581d678784e7d"/>
    <p:sldId xmlns:r="http://schemas.openxmlformats.org/officeDocument/2006/relationships" id="269" r:id="R923f1f01be59492d"/>
    <p:sldId xmlns:r="http://schemas.openxmlformats.org/officeDocument/2006/relationships" id="270" r:id="R8963dff127a44f92"/>
    <p:sldId xmlns:r="http://schemas.openxmlformats.org/officeDocument/2006/relationships" id="271" r:id="R7bf6e96f7f9a479b"/>
    <p:sldId xmlns:r="http://schemas.openxmlformats.org/officeDocument/2006/relationships" id="272" r:id="R0f8eb29643e1440b"/>
    <p:sldId xmlns:r="http://schemas.openxmlformats.org/officeDocument/2006/relationships" id="273" r:id="R5d6aa3c6efe64338"/>
    <p:sldId xmlns:r="http://schemas.openxmlformats.org/officeDocument/2006/relationships" id="274" r:id="R07add42806dc4e46"/>
    <p:sldId xmlns:r="http://schemas.openxmlformats.org/officeDocument/2006/relationships" id="275" r:id="R286474b05c614a6e"/>
    <p:sldId xmlns:r="http://schemas.openxmlformats.org/officeDocument/2006/relationships" id="276" r:id="R7cbb952dba4e46c9"/>
    <p:sldId xmlns:r="http://schemas.openxmlformats.org/officeDocument/2006/relationships" id="277" r:id="R1d1f894c05d54e9a"/>
    <p:sldId xmlns:r="http://schemas.openxmlformats.org/officeDocument/2006/relationships" id="278" r:id="Ra6dedbc91f1247d7"/>
    <p:sldId xmlns:r="http://schemas.openxmlformats.org/officeDocument/2006/relationships" id="279" r:id="R041e5bc6ac5844b6"/>
    <p:sldId xmlns:r="http://schemas.openxmlformats.org/officeDocument/2006/relationships" id="280" r:id="R65a65cbb64974781"/>
    <p:sldId id="295" r:id="rId6"/>
    <p:sldId id="294" r:id="rId5"/>
    <p:sldId id="293" r:id="rId4"/>
    <p:sldId id="292" r:id="rId3"/>
    <p:sldId id="291" r:id="rId2"/>
    <p:sldId id="290" r:id="rId1"/>
    <p:sldId xmlns:r="http://schemas.openxmlformats.org/officeDocument/2006/relationships" id="281" r:id="R21172d8909bf41c5"/>
    <p:sldId xmlns:r="http://schemas.openxmlformats.org/officeDocument/2006/relationships" id="282" r:id="Reec033de8d89447f"/>
    <p:sldId xmlns:r="http://schemas.openxmlformats.org/officeDocument/2006/relationships" id="283" r:id="Rb27e9e9ad96e47d6"/>
    <p:sldId xmlns:r="http://schemas.openxmlformats.org/officeDocument/2006/relationships" id="284" r:id="Rb1c3df0506e04065"/>
    <p:sldId xmlns:r="http://schemas.openxmlformats.org/officeDocument/2006/relationships" id="285" r:id="R96205d0d0f124809"/>
    <p:sldId xmlns:r="http://schemas.openxmlformats.org/officeDocument/2006/relationships" id="286" r:id="R20780b76b66f45e1"/>
    <p:sldId xmlns:r="http://schemas.openxmlformats.org/officeDocument/2006/relationships" id="287" r:id="Rf66d74e65c4845bc"/>
    <p:sldId xmlns:r="http://schemas.openxmlformats.org/officeDocument/2006/relationships" id="288" r:id="Ra3e8d53283b14724"/>
    <p:sldId xmlns:r="http://schemas.openxmlformats.org/officeDocument/2006/relationships" id="289" r:id="R90ac0099787843fc"/>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 id="339" r:id="rId50"/>
    <p:sldId id="340" r:id="rId51"/>
    <p:sldId id="341" r:id="rId52"/>
    <p:sldId id="342" r:id="rId53"/>
    <p:sldId id="343" r:id="rId54"/>
    <p:sldId id="344" r:id="rId55"/>
    <p:sldId id="345" r:id="rId56"/>
    <p:sldId id="346" r:id="rId57"/>
    <p:sldId id="347" r:id="rId58"/>
    <p:sldId id="348" r:id="rId59"/>
    <p:sldId id="349" r:id="rId60"/>
    <p:sldId id="350" r:id="rId61"/>
    <p:sldId id="351" r:id="rId62"/>
    <p:sldId id="352" r:id="rId63"/>
    <p:sldId id="353" r:id="rId64"/>
    <p:sldId id="354" r:id="rId65"/>
    <p:sldId id="355" r:id="rId66"/>
    <p:sldId id="356" r:id="rId67"/>
    <p:sldId id="357" r:id="rId68"/>
    <p:sldId id="358" r:id="rId69"/>
    <p:sldId id="359" r:id="rId70"/>
    <p:sldId id="360" r:id="rId71"/>
    <p:sldId id="361" r:id="rId72"/>
    <p:sldId id="362" r:id="rId73"/>
    <p:sldId id="363" r:id="rId74"/>
    <p:sldId id="364" r:id="rId75"/>
    <p:sldId id="365" r:id="rId76"/>
    <p:sldId id="366" r:id="rId77"/>
    <p:sldId id="367" r:id="rId78"/>
    <p:sldId id="368" r:id="rId79"/>
    <p:sldId id="369" r:id="rId80"/>
    <p:sldId id="370" r:id="rId81"/>
    <p:sldId id="371" r:id="rId82"/>
    <p:sldId id="372" r:id="rId83"/>
    <p:sldId id="373" r:id="rId84"/>
    <p:sldId id="374" r:id="rId85"/>
    <p:sldId id="375" r:id="rId86"/>
    <p:sldId id="376" r:id="rId87"/>
    <p:sldId id="377" r:id="rId88"/>
    <p:sldId id="378" r:id="rId89"/>
    <p:sldId id="379" r:id="rId90"/>
    <p:sldId id="380" r:id="rId91"/>
    <p:sldId id="381" r:id="rId92"/>
    <p:sldId id="382" r:id="rId93"/>
    <p:sldId id="383" r:id="rId94"/>
    <p:sldId id="384" r:id="rId95"/>
    <p:sldId id="385" r:id="rId96"/>
    <p:sldId id="386" r:id="rId97"/>
    <p:sldId id="387" r:id="rId98"/>
    <p:sldId id="388" r:id="rId99"/>
    <p:sldId id="389" r:id="rId100"/>
    <p:sldId id="390" r:id="rId101"/>
    <p:sldId id="391" r:id="rId102"/>
    <p:sldId id="392" r:id="rId103"/>
    <p:sldId id="393" r:id="rId104"/>
    <p:sldId id="394" r:id="rId105"/>
    <p:sldId id="395" r:id="rId106"/>
    <p:sldId id="396" r:id="rId107"/>
    <p:sldId id="397" r:id="rId108"/>
    <p:sldId id="398" r:id="rId109"/>
    <p:sldId id="399" r:id="rId110"/>
    <p:sldId id="400" r:id="rId111"/>
    <p:sldId id="401" r:id="rId112"/>
    <p:sldId id="402" r:id="rId113"/>
    <p:sldId id="403" r:id="rId114"/>
    <p:sldId id="404" r:id="rId115"/>
    <p:sldId id="405" r:id="rId116"/>
    <p:sldId id="406" r:id="rId117"/>
    <p:sldId id="407" r:id="rId118"/>
    <p:sldId id="408" r:id="rId119"/>
    <p:sldId id="409" r:id="rId120"/>
    <p:sldId id="410" r:id="rId121"/>
    <p:sldId id="411" r:id="rId122"/>
    <p:sldId id="412" r:id="rId123"/>
    <p:sldId id="413" r:id="rId124"/>
    <p:sldId id="414" r:id="rId125"/>
    <p:sldId id="415" r:id="rId126"/>
    <p:sldId id="416" r:id="rId127"/>
    <p:sldId id="417" r:id="rId128"/>
    <p:sldId id="418" r:id="rId129"/>
    <p:sldId id="419" r:id="rId130"/>
    <p:sldId id="420" r:id="rId131"/>
    <p:sldId id="421" r:id="rId1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ee1456718c4107" Type="http://schemas.openxmlformats.org/officeDocument/2006/relationships/notesMaster" Target="notesMasters/notesMaster1.xml"/><Relationship Id="R041e5bc6ac5844b6" Type="http://schemas.openxmlformats.org/officeDocument/2006/relationships/slide" Target="slides/slide24.xml"/><Relationship Id="R06a82829f3d84e3d" Type="http://schemas.openxmlformats.org/officeDocument/2006/relationships/slide" Target="slides/slide9.xml"/><Relationship Id="R07add42806dc4e46" Type="http://schemas.openxmlformats.org/officeDocument/2006/relationships/slide" Target="slides/slide19.xml"/><Relationship Id="R0f8eb29643e1440b" Type="http://schemas.openxmlformats.org/officeDocument/2006/relationships/slide" Target="slides/slide17.xml"/><Relationship Id="R1d1f894c05d54e9a" Type="http://schemas.openxmlformats.org/officeDocument/2006/relationships/slide" Target="slides/slide22.xml"/><Relationship Id="R20780b76b66f45e1" Type="http://schemas.openxmlformats.org/officeDocument/2006/relationships/slide" Target="slides/slide37.xml"/><Relationship Id="R21172d8909bf41c5" Type="http://schemas.openxmlformats.org/officeDocument/2006/relationships/slide" Target="slides/slide32.xml"/><Relationship Id="R286474b05c614a6e" Type="http://schemas.openxmlformats.org/officeDocument/2006/relationships/slide" Target="slides/slide20.xml"/><Relationship Id="R3f9581d678784e7d" Type="http://schemas.openxmlformats.org/officeDocument/2006/relationships/slide" Target="slides/slide13.xml"/><Relationship Id="R402d61dffd5d4594" Type="http://schemas.openxmlformats.org/officeDocument/2006/relationships/slide" Target="slides/slide5.xml"/><Relationship Id="R592bd631568a4cbe" Type="http://schemas.openxmlformats.org/officeDocument/2006/relationships/slide" Target="slides/slide10.xml"/><Relationship Id="R5d6aa3c6efe64338" Type="http://schemas.openxmlformats.org/officeDocument/2006/relationships/slide" Target="slides/slide18.xml"/><Relationship Id="R64d978f4974741dc" Type="http://schemas.openxmlformats.org/officeDocument/2006/relationships/slide" Target="slides/slide4.xml"/><Relationship Id="R65a65cbb64974781" Type="http://schemas.openxmlformats.org/officeDocument/2006/relationships/slide" Target="slides/slide25.xml"/><Relationship Id="R67ff4ddf145d42f4" Type="http://schemas.openxmlformats.org/officeDocument/2006/relationships/slide" Target="slides/slide12.xml"/><Relationship Id="R772d01f8182244ce" Type="http://schemas.openxmlformats.org/officeDocument/2006/relationships/slide" Target="slides/slide2.xml"/><Relationship Id="R7bf6e96f7f9a479b" Type="http://schemas.openxmlformats.org/officeDocument/2006/relationships/slide" Target="slides/slide16.xml"/><Relationship Id="R7cbb952dba4e46c9" Type="http://schemas.openxmlformats.org/officeDocument/2006/relationships/slide" Target="slides/slide21.xml"/><Relationship Id="R8963dff127a44f92" Type="http://schemas.openxmlformats.org/officeDocument/2006/relationships/slide" Target="slides/slide15.xml"/><Relationship Id="R8986666c9c5b423e" Type="http://schemas.openxmlformats.org/officeDocument/2006/relationships/slide" Target="slides/slide8.xml"/><Relationship Id="R90ac0099787843fc" Type="http://schemas.openxmlformats.org/officeDocument/2006/relationships/slide" Target="slides/slide40.xml"/><Relationship Id="R923f1f01be59492d" Type="http://schemas.openxmlformats.org/officeDocument/2006/relationships/slide" Target="slides/slide14.xml"/><Relationship Id="R96205d0d0f124809" Type="http://schemas.openxmlformats.org/officeDocument/2006/relationships/slide" Target="slides/slide36.xml"/><Relationship Id="Ra3e8d53283b14724" Type="http://schemas.openxmlformats.org/officeDocument/2006/relationships/slide" Target="slides/slide39.xml"/><Relationship Id="Ra4aa1e9f28754beb" Type="http://schemas.openxmlformats.org/officeDocument/2006/relationships/tableStyles" Target="tableStyles.xml"/><Relationship Id="Ra6dedbc91f1247d7" Type="http://schemas.openxmlformats.org/officeDocument/2006/relationships/slide" Target="slides/slide23.xml"/><Relationship Id="Rb1c3df0506e04065" Type="http://schemas.openxmlformats.org/officeDocument/2006/relationships/slide" Target="slides/slide35.xml"/><Relationship Id="Rb27e9e9ad96e47d6" Type="http://schemas.openxmlformats.org/officeDocument/2006/relationships/slide" Target="slides/slide34.xml"/><Relationship Id="Rbd79aac9c2dc4787" Type="http://schemas.openxmlformats.org/officeDocument/2006/relationships/slideMaster" Target="slideMasters/slideMaster1.xml"/><Relationship Id="Rd3b824b3c56a4a1c" Type="http://schemas.openxmlformats.org/officeDocument/2006/relationships/slide" Target="slides/slide1.xml"/><Relationship Id="Rd4683dc28cbc4f86" Type="http://schemas.openxmlformats.org/officeDocument/2006/relationships/slide" Target="slides/slide11.xml"/><Relationship Id="Rd77e658bd5564dc1" Type="http://schemas.openxmlformats.org/officeDocument/2006/relationships/slide" Target="slides/slide6.xml"/><Relationship Id="Reec033de8d89447f" Type="http://schemas.openxmlformats.org/officeDocument/2006/relationships/slide" Target="slides/slide33.xml"/><Relationship Id="Rf1c7bd4bf711459f" Type="http://schemas.openxmlformats.org/officeDocument/2006/relationships/slide" Target="slides/slide3.xml"/><Relationship Id="Rf31d67a014264d99" Type="http://schemas.openxmlformats.org/officeDocument/2006/relationships/slide" Target="slides/slide7.xml"/><Relationship Id="Rf66d74e65c4845bc" Type="http://schemas.openxmlformats.org/officeDocument/2006/relationships/slide" Target="slides/slide38.xml"/><Relationship Id="Rfb6c2608c7b349ac" Type="http://schemas.openxmlformats.org/officeDocument/2006/relationships/presProps" Target="presProps.xml"/><Relationship Id="Rfbf7b41cae924b95" Type="http://schemas.openxmlformats.org/officeDocument/2006/relationships/theme" Target="theme/theme1.xml"/><Relationship Id="rId1" Type="http://schemas.openxmlformats.org/officeDocument/2006/relationships/slide" Target="slides/slide31.xml"/><Relationship Id="rId2" Type="http://schemas.openxmlformats.org/officeDocument/2006/relationships/slide" Target="slides/slide30.xml"/><Relationship Id="rId3" Type="http://schemas.openxmlformats.org/officeDocument/2006/relationships/slide" Target="slides/slide29.xml"/><Relationship Id="rId4" Type="http://schemas.openxmlformats.org/officeDocument/2006/relationships/slide" Target="slides/slide28.xml"/><Relationship Id="rId5" Type="http://schemas.openxmlformats.org/officeDocument/2006/relationships/slide" Target="slides/slide27.xml"/><Relationship Id="rId6" Type="http://schemas.openxmlformats.org/officeDocument/2006/relationships/slide" Target="slides/slide26.xml"/><Relationship Id="rId7" Type="http://schemas.openxmlformats.org/officeDocument/2006/relationships/slide" Target="slides/slide41.xml"/><Relationship Id="rId8" Type="http://schemas.openxmlformats.org/officeDocument/2006/relationships/slide" Target="slides/slide42.xml"/><Relationship Id="rId9" Type="http://schemas.openxmlformats.org/officeDocument/2006/relationships/slide" Target="slides/slide43.xml"/><Relationship Id="rId10" Type="http://schemas.openxmlformats.org/officeDocument/2006/relationships/slide" Target="slides/slide44.xml"/><Relationship Id="rId11" Type="http://schemas.openxmlformats.org/officeDocument/2006/relationships/slide" Target="slides/slide45.xml"/><Relationship Id="rId12" Type="http://schemas.openxmlformats.org/officeDocument/2006/relationships/slide" Target="slides/slide46.xml"/><Relationship Id="rId13" Type="http://schemas.openxmlformats.org/officeDocument/2006/relationships/slide" Target="slides/slide47.xml"/><Relationship Id="rId14" Type="http://schemas.openxmlformats.org/officeDocument/2006/relationships/slide" Target="slides/slide48.xml"/><Relationship Id="rId15" Type="http://schemas.openxmlformats.org/officeDocument/2006/relationships/slide" Target="slides/slide49.xml"/><Relationship Id="rId16" Type="http://schemas.openxmlformats.org/officeDocument/2006/relationships/slide" Target="slides/slide50.xml"/><Relationship Id="rId17" Type="http://schemas.openxmlformats.org/officeDocument/2006/relationships/slide" Target="slides/slide51.xml"/><Relationship Id="rId18" Type="http://schemas.openxmlformats.org/officeDocument/2006/relationships/slide" Target="slides/slide52.xml"/><Relationship Id="rId19" Type="http://schemas.openxmlformats.org/officeDocument/2006/relationships/slide" Target="slides/slide53.xml"/><Relationship Id="rId20" Type="http://schemas.openxmlformats.org/officeDocument/2006/relationships/slide" Target="slides/slide54.xml"/><Relationship Id="rId21" Type="http://schemas.openxmlformats.org/officeDocument/2006/relationships/slide" Target="slides/slide55.xml"/><Relationship Id="rId22" Type="http://schemas.openxmlformats.org/officeDocument/2006/relationships/slide" Target="slides/slide56.xml"/><Relationship Id="rId23" Type="http://schemas.openxmlformats.org/officeDocument/2006/relationships/slide" Target="slides/slide57.xml"/><Relationship Id="rId24" Type="http://schemas.openxmlformats.org/officeDocument/2006/relationships/slide" Target="slides/slide58.xml"/><Relationship Id="rId25" Type="http://schemas.openxmlformats.org/officeDocument/2006/relationships/slide" Target="slides/slide59.xml"/><Relationship Id="rId26" Type="http://schemas.openxmlformats.org/officeDocument/2006/relationships/slide" Target="slides/slide60.xml"/><Relationship Id="rId27" Type="http://schemas.openxmlformats.org/officeDocument/2006/relationships/slide" Target="slides/slide61.xml"/><Relationship Id="rId28" Type="http://schemas.openxmlformats.org/officeDocument/2006/relationships/slide" Target="slides/slide62.xml"/><Relationship Id="rId29" Type="http://schemas.openxmlformats.org/officeDocument/2006/relationships/slide" Target="slides/slide63.xml"/><Relationship Id="rId30" Type="http://schemas.openxmlformats.org/officeDocument/2006/relationships/slide" Target="slides/slide64.xml"/><Relationship Id="rId31" Type="http://schemas.openxmlformats.org/officeDocument/2006/relationships/slide" Target="slides/slide65.xml"/><Relationship Id="rId32" Type="http://schemas.openxmlformats.org/officeDocument/2006/relationships/slide" Target="slides/slide66.xml"/><Relationship Id="rId33" Type="http://schemas.openxmlformats.org/officeDocument/2006/relationships/slide" Target="slides/slide67.xml"/><Relationship Id="rId34" Type="http://schemas.openxmlformats.org/officeDocument/2006/relationships/slide" Target="slides/slide68.xml"/><Relationship Id="rId35" Type="http://schemas.openxmlformats.org/officeDocument/2006/relationships/slide" Target="slides/slide69.xml"/><Relationship Id="rId36" Type="http://schemas.openxmlformats.org/officeDocument/2006/relationships/slide" Target="slides/slide70.xml"/><Relationship Id="rId37" Type="http://schemas.openxmlformats.org/officeDocument/2006/relationships/slide" Target="slides/slide71.xml"/><Relationship Id="rId38" Type="http://schemas.openxmlformats.org/officeDocument/2006/relationships/slide" Target="slides/slide72.xml"/><Relationship Id="rId39" Type="http://schemas.openxmlformats.org/officeDocument/2006/relationships/slide" Target="slides/slide73.xml"/><Relationship Id="rId40" Type="http://schemas.openxmlformats.org/officeDocument/2006/relationships/slide" Target="slides/slide74.xml"/><Relationship Id="rId41" Type="http://schemas.openxmlformats.org/officeDocument/2006/relationships/slide" Target="slides/slide75.xml"/><Relationship Id="rId42" Type="http://schemas.openxmlformats.org/officeDocument/2006/relationships/slide" Target="slides/slide76.xml"/><Relationship Id="rId43" Type="http://schemas.openxmlformats.org/officeDocument/2006/relationships/slide" Target="slides/slide77.xml"/><Relationship Id="rId44" Type="http://schemas.openxmlformats.org/officeDocument/2006/relationships/slide" Target="slides/slide78.xml"/><Relationship Id="rId45" Type="http://schemas.openxmlformats.org/officeDocument/2006/relationships/slide" Target="slides/slide79.xml"/><Relationship Id="rId46" Type="http://schemas.openxmlformats.org/officeDocument/2006/relationships/slide" Target="slides/slide80.xml"/><Relationship Id="rId47" Type="http://schemas.openxmlformats.org/officeDocument/2006/relationships/slide" Target="slides/slide81.xml"/><Relationship Id="rId48" Type="http://schemas.openxmlformats.org/officeDocument/2006/relationships/slide" Target="slides/slide82.xml"/><Relationship Id="rId49" Type="http://schemas.openxmlformats.org/officeDocument/2006/relationships/slide" Target="slides/slide83.xml"/><Relationship Id="rId50" Type="http://schemas.openxmlformats.org/officeDocument/2006/relationships/slide" Target="slides/slide84.xml"/><Relationship Id="rId51" Type="http://schemas.openxmlformats.org/officeDocument/2006/relationships/slide" Target="slides/slide85.xml"/><Relationship Id="rId52" Type="http://schemas.openxmlformats.org/officeDocument/2006/relationships/slide" Target="slides/slide86.xml"/><Relationship Id="rId53" Type="http://schemas.openxmlformats.org/officeDocument/2006/relationships/slide" Target="slides/slide87.xml"/><Relationship Id="rId54" Type="http://schemas.openxmlformats.org/officeDocument/2006/relationships/slide" Target="slides/slide88.xml"/><Relationship Id="rId55" Type="http://schemas.openxmlformats.org/officeDocument/2006/relationships/slide" Target="slides/slide89.xml"/><Relationship Id="rId56" Type="http://schemas.openxmlformats.org/officeDocument/2006/relationships/slide" Target="slides/slide90.xml"/><Relationship Id="rId57" Type="http://schemas.openxmlformats.org/officeDocument/2006/relationships/slide" Target="slides/slide91.xml"/><Relationship Id="rId58" Type="http://schemas.openxmlformats.org/officeDocument/2006/relationships/slide" Target="slides/slide92.xml"/><Relationship Id="rId59" Type="http://schemas.openxmlformats.org/officeDocument/2006/relationships/slide" Target="slides/slide93.xml"/><Relationship Id="rId60" Type="http://schemas.openxmlformats.org/officeDocument/2006/relationships/slide" Target="slides/slide94.xml"/><Relationship Id="rId61" Type="http://schemas.openxmlformats.org/officeDocument/2006/relationships/slide" Target="slides/slide95.xml"/><Relationship Id="rId62" Type="http://schemas.openxmlformats.org/officeDocument/2006/relationships/slide" Target="slides/slide96.xml"/><Relationship Id="rId63" Type="http://schemas.openxmlformats.org/officeDocument/2006/relationships/slide" Target="slides/slide97.xml"/><Relationship Id="rId64" Type="http://schemas.openxmlformats.org/officeDocument/2006/relationships/slide" Target="slides/slide98.xml"/><Relationship Id="rId65" Type="http://schemas.openxmlformats.org/officeDocument/2006/relationships/slide" Target="slides/slide99.xml"/><Relationship Id="rId66" Type="http://schemas.openxmlformats.org/officeDocument/2006/relationships/slide" Target="slides/slide100.xml"/><Relationship Id="rId67" Type="http://schemas.openxmlformats.org/officeDocument/2006/relationships/slide" Target="slides/slide101.xml"/><Relationship Id="rId68" Type="http://schemas.openxmlformats.org/officeDocument/2006/relationships/slide" Target="slides/slide102.xml"/><Relationship Id="rId69" Type="http://schemas.openxmlformats.org/officeDocument/2006/relationships/slide" Target="slides/slide103.xml"/><Relationship Id="rId70" Type="http://schemas.openxmlformats.org/officeDocument/2006/relationships/slide" Target="slides/slide104.xml"/><Relationship Id="rId71" Type="http://schemas.openxmlformats.org/officeDocument/2006/relationships/slide" Target="slides/slide105.xml"/><Relationship Id="rId72" Type="http://schemas.openxmlformats.org/officeDocument/2006/relationships/slide" Target="slides/slide106.xml"/><Relationship Id="rId73" Type="http://schemas.openxmlformats.org/officeDocument/2006/relationships/slide" Target="slides/slide107.xml"/><Relationship Id="rId74" Type="http://schemas.openxmlformats.org/officeDocument/2006/relationships/slide" Target="slides/slide108.xml"/><Relationship Id="rId75" Type="http://schemas.openxmlformats.org/officeDocument/2006/relationships/slide" Target="slides/slide109.xml"/><Relationship Id="rId76" Type="http://schemas.openxmlformats.org/officeDocument/2006/relationships/slide" Target="slides/slide110.xml"/><Relationship Id="rId77" Type="http://schemas.openxmlformats.org/officeDocument/2006/relationships/slide" Target="slides/slide111.xml"/><Relationship Id="rId78" Type="http://schemas.openxmlformats.org/officeDocument/2006/relationships/slide" Target="slides/slide112.xml"/><Relationship Id="rId79" Type="http://schemas.openxmlformats.org/officeDocument/2006/relationships/slide" Target="slides/slide113.xml"/><Relationship Id="rId80" Type="http://schemas.openxmlformats.org/officeDocument/2006/relationships/slide" Target="slides/slide114.xml"/><Relationship Id="rId81" Type="http://schemas.openxmlformats.org/officeDocument/2006/relationships/slide" Target="slides/slide115.xml"/><Relationship Id="rId82" Type="http://schemas.openxmlformats.org/officeDocument/2006/relationships/slide" Target="slides/slide116.xml"/><Relationship Id="rId83" Type="http://schemas.openxmlformats.org/officeDocument/2006/relationships/slide" Target="slides/slide117.xml"/><Relationship Id="rId84" Type="http://schemas.openxmlformats.org/officeDocument/2006/relationships/slide" Target="slides/slide118.xml"/><Relationship Id="rId85" Type="http://schemas.openxmlformats.org/officeDocument/2006/relationships/slide" Target="slides/slide119.xml"/><Relationship Id="rId86" Type="http://schemas.openxmlformats.org/officeDocument/2006/relationships/slide" Target="slides/slide120.xml"/><Relationship Id="rId87" Type="http://schemas.openxmlformats.org/officeDocument/2006/relationships/slide" Target="slides/slide121.xml"/><Relationship Id="rId88" Type="http://schemas.openxmlformats.org/officeDocument/2006/relationships/slide" Target="slides/slide122.xml"/><Relationship Id="rId89" Type="http://schemas.openxmlformats.org/officeDocument/2006/relationships/slide" Target="slides/slide123.xml"/><Relationship Id="rId90" Type="http://schemas.openxmlformats.org/officeDocument/2006/relationships/slide" Target="slides/slide124.xml"/><Relationship Id="rId91" Type="http://schemas.openxmlformats.org/officeDocument/2006/relationships/slide" Target="slides/slide125.xml"/><Relationship Id="rId92" Type="http://schemas.openxmlformats.org/officeDocument/2006/relationships/slide" Target="slides/slide126.xml"/><Relationship Id="rId93" Type="http://schemas.openxmlformats.org/officeDocument/2006/relationships/slide" Target="slides/slide127.xml"/><Relationship Id="rId94" Type="http://schemas.openxmlformats.org/officeDocument/2006/relationships/slide" Target="slides/slide128.xml"/><Relationship Id="rId95" Type="http://schemas.openxmlformats.org/officeDocument/2006/relationships/slide" Target="slides/slide129.xml"/><Relationship Id="rId96" Type="http://schemas.openxmlformats.org/officeDocument/2006/relationships/slide" Target="slides/slide130.xml"/><Relationship Id="rId97" Type="http://schemas.openxmlformats.org/officeDocument/2006/relationships/slide" Target="slides/slide131.xml"/><Relationship Id="rId98" Type="http://schemas.openxmlformats.org/officeDocument/2006/relationships/slide" Target="slides/slide132.xml"/><Relationship Id="rId99" Type="http://schemas.openxmlformats.org/officeDocument/2006/relationships/slide" Target="slides/slide133.xml"/><Relationship Id="rId100" Type="http://schemas.openxmlformats.org/officeDocument/2006/relationships/slide" Target="slides/slide134.xml"/><Relationship Id="rId101" Type="http://schemas.openxmlformats.org/officeDocument/2006/relationships/slide" Target="slides/slide135.xml"/><Relationship Id="rId102" Type="http://schemas.openxmlformats.org/officeDocument/2006/relationships/slide" Target="slides/slide136.xml"/><Relationship Id="rId103" Type="http://schemas.openxmlformats.org/officeDocument/2006/relationships/slide" Target="slides/slide137.xml"/><Relationship Id="rId104" Type="http://schemas.openxmlformats.org/officeDocument/2006/relationships/slide" Target="slides/slide138.xml"/><Relationship Id="rId105" Type="http://schemas.openxmlformats.org/officeDocument/2006/relationships/slide" Target="slides/slide139.xml"/><Relationship Id="rId106" Type="http://schemas.openxmlformats.org/officeDocument/2006/relationships/slide" Target="slides/slide140.xml"/><Relationship Id="rId107" Type="http://schemas.openxmlformats.org/officeDocument/2006/relationships/slide" Target="slides/slide141.xml"/><Relationship Id="rId108" Type="http://schemas.openxmlformats.org/officeDocument/2006/relationships/slide" Target="slides/slide142.xml"/><Relationship Id="rId109" Type="http://schemas.openxmlformats.org/officeDocument/2006/relationships/slide" Target="slides/slide143.xml"/><Relationship Id="rId110" Type="http://schemas.openxmlformats.org/officeDocument/2006/relationships/slide" Target="slides/slide144.xml"/><Relationship Id="rId111" Type="http://schemas.openxmlformats.org/officeDocument/2006/relationships/slide" Target="slides/slide145.xml"/><Relationship Id="rId112" Type="http://schemas.openxmlformats.org/officeDocument/2006/relationships/slide" Target="slides/slide146.xml"/><Relationship Id="rId113" Type="http://schemas.openxmlformats.org/officeDocument/2006/relationships/slide" Target="slides/slide147.xml"/><Relationship Id="rId114" Type="http://schemas.openxmlformats.org/officeDocument/2006/relationships/slide" Target="slides/slide148.xml"/><Relationship Id="rId115" Type="http://schemas.openxmlformats.org/officeDocument/2006/relationships/slide" Target="slides/slide149.xml"/><Relationship Id="rId116" Type="http://schemas.openxmlformats.org/officeDocument/2006/relationships/slide" Target="slides/slide150.xml"/><Relationship Id="rId117" Type="http://schemas.openxmlformats.org/officeDocument/2006/relationships/slide" Target="slides/slide151.xml"/><Relationship Id="rId118" Type="http://schemas.openxmlformats.org/officeDocument/2006/relationships/slide" Target="slides/slide152.xml"/><Relationship Id="rId119" Type="http://schemas.openxmlformats.org/officeDocument/2006/relationships/slide" Target="slides/slide153.xml"/><Relationship Id="rId120" Type="http://schemas.openxmlformats.org/officeDocument/2006/relationships/slide" Target="slides/slide154.xml"/><Relationship Id="rId121" Type="http://schemas.openxmlformats.org/officeDocument/2006/relationships/slide" Target="slides/slide155.xml"/><Relationship Id="rId122" Type="http://schemas.openxmlformats.org/officeDocument/2006/relationships/slide" Target="slides/slide156.xml"/><Relationship Id="rId123" Type="http://schemas.openxmlformats.org/officeDocument/2006/relationships/slide" Target="slides/slide157.xml"/><Relationship Id="rId124" Type="http://schemas.openxmlformats.org/officeDocument/2006/relationships/slide" Target="slides/slide158.xml"/><Relationship Id="rId125" Type="http://schemas.openxmlformats.org/officeDocument/2006/relationships/slide" Target="slides/slide159.xml"/><Relationship Id="rId126" Type="http://schemas.openxmlformats.org/officeDocument/2006/relationships/slide" Target="slides/slide160.xml"/><Relationship Id="rId127" Type="http://schemas.openxmlformats.org/officeDocument/2006/relationships/slide" Target="slides/slide161.xml"/><Relationship Id="rId128" Type="http://schemas.openxmlformats.org/officeDocument/2006/relationships/slide" Target="slides/slide162.xml"/><Relationship Id="rId129" Type="http://schemas.openxmlformats.org/officeDocument/2006/relationships/slide" Target="slides/slide163.xml"/><Relationship Id="rId130" Type="http://schemas.openxmlformats.org/officeDocument/2006/relationships/slide" Target="slides/slide164.xml"/><Relationship Id="rId131" Type="http://schemas.openxmlformats.org/officeDocument/2006/relationships/slide" Target="slides/slide165.xml"/><Relationship Id="rId132" Type="http://schemas.openxmlformats.org/officeDocument/2006/relationships/slide" Target="slides/slide166.xml"/></Relationships>
</file>

<file path=ppt/notesMasters/_rels/notesMaster1.xml.rels><?xml version='1.0' encoding='UTF-8' standalone='yes'?>
<Relationships xmlns="http://schemas.openxmlformats.org/package/2006/relationships"><Relationship Id="R681627191897420d"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bddb84c71a446b4" Type="http://schemas.openxmlformats.org/officeDocument/2006/relationships/slide" Target="../slides/slide1.xml"/><Relationship Id="R8cec7fbe1f01483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c453aa6bc79449e" Type="http://schemas.openxmlformats.org/officeDocument/2006/relationships/notesMaster" Target="../notesMasters/notesMaster1.xml"/><Relationship Id="Rd296cea242f64958"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29508b638ac346b7" Type="http://schemas.openxmlformats.org/officeDocument/2006/relationships/notesMaster" Target="../notesMasters/notesMaster1.xml"/><Relationship Id="R9c46fc0af64b4a8e"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fdad88427ee4d21" Type="http://schemas.openxmlformats.org/officeDocument/2006/relationships/notesMaster" Target="../notesMasters/notesMaster1.xml"/><Relationship Id="Rf7fd3164e56640b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e88c7c8a80c4a63" Type="http://schemas.openxmlformats.org/officeDocument/2006/relationships/notesMaster" Target="../notesMasters/notesMaster1.xml"/><Relationship Id="Reff3e312ec674c2f"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b1d5f2abaea64741" Type="http://schemas.openxmlformats.org/officeDocument/2006/relationships/notesMaster" Target="../notesMasters/notesMaster1.xml"/><Relationship Id="Rf589275c0a534e97"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3cb0f62b9f0d4c42" Type="http://schemas.openxmlformats.org/officeDocument/2006/relationships/notesMaster" Target="../notesMasters/notesMaster1.xml"/><Relationship Id="R871f45899d144cbe"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91a06f3840c441e" Type="http://schemas.openxmlformats.org/officeDocument/2006/relationships/slide" Target="../slides/slide8.xml"/><Relationship Id="R9a6f88a7a5f4486f"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14ee780090c4c53" Type="http://schemas.openxmlformats.org/officeDocument/2006/relationships/slide" Target="../slides/slide9.xml"/><Relationship Id="R3ede97ff6ce84883"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032d6004bd04e13" Type="http://schemas.openxmlformats.org/officeDocument/2006/relationships/notesMaster" Target="../notesMasters/notesMaster1.xml"/><Relationship Id="Rf8999cc1abc24a36"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7cc811a73ee4cbc" Type="http://schemas.openxmlformats.org/officeDocument/2006/relationships/slide" Target="../slides/slide11.xml"/><Relationship Id="R6db42b30f33e45f0"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406eb8365ae94866" Type="http://schemas.openxmlformats.org/officeDocument/2006/relationships/slide" Target="../slides/slide12.xml"/><Relationship Id="Rb77dc15a14ca4a89"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7943f20fffa848c3" Type="http://schemas.openxmlformats.org/officeDocument/2006/relationships/slide" Target="../slides/slide13.xml"/><Relationship Id="Rc9fdd27fbb9b4a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71326de7cbe4706" Type="http://schemas.openxmlformats.org/officeDocument/2006/relationships/notesMaster" Target="../notesMasters/notesMaster1.xml"/><Relationship Id="Re317d3da68cb489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3461ce253164d60" Type="http://schemas.openxmlformats.org/officeDocument/2006/relationships/notesMaster" Target="../notesMasters/notesMaster1.xml"/><Relationship Id="R8406d0c12409494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32f4b4e7e2af4240" Type="http://schemas.openxmlformats.org/officeDocument/2006/relationships/slide" Target="../slides/slide16.xml"/><Relationship Id="Rf7f85108a00841c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9948eb58ac24737" Type="http://schemas.openxmlformats.org/officeDocument/2006/relationships/slide" Target="../slides/slide17.xml"/><Relationship Id="Rdb6f194a3784480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60eb62bb34eb4f7d" Type="http://schemas.openxmlformats.org/officeDocument/2006/relationships/slide" Target="../slides/slide18.xml"/><Relationship Id="Rf5842f4e181442e7"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b9e53713f56f422b" Type="http://schemas.openxmlformats.org/officeDocument/2006/relationships/notesMaster" Target="../notesMasters/notesMaster1.xml"/><Relationship Id="Re79bfe720d1b4a08"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60ca92791f174821" Type="http://schemas.openxmlformats.org/officeDocument/2006/relationships/slide" Target="../slides/slide20.xml"/><Relationship Id="Rb6e4dbe2d6244a3f"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463ac6e719a445c3" Type="http://schemas.openxmlformats.org/officeDocument/2006/relationships/slide" Target="../slides/slide21.xml"/><Relationship Id="R7362b7125ad843f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a0ef5f01c80a4efc" Type="http://schemas.openxmlformats.org/officeDocument/2006/relationships/notesMaster" Target="../notesMasters/notesMaster1.xml"/><Relationship Id="Rca06c891a0b04f5c"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9251c8ca28974110" Type="http://schemas.openxmlformats.org/officeDocument/2006/relationships/slide" Target="../slides/slide23.xml"/><Relationship Id="R9de1a23ff4dc4fe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5c08572b5f174f1f" Type="http://schemas.openxmlformats.org/officeDocument/2006/relationships/notesMaster" Target="../notesMasters/notesMaster1.xml"/><Relationship Id="Ra0f7fc503f4e4197"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11366edaafe4cf0" Type="http://schemas.openxmlformats.org/officeDocument/2006/relationships/slide" Target="../slides/slide25.xml"/><Relationship Id="Rfecc47c2bdd34eff"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dc78341509054700" Type="http://schemas.openxmlformats.org/officeDocument/2006/relationships/slide" Target="../slides/slide32.xml"/><Relationship Id="Re3cf702b5e294236"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a534907112784d53" Type="http://schemas.openxmlformats.org/officeDocument/2006/relationships/notesMaster" Target="../notesMasters/notesMaster1.xml"/><Relationship Id="Re842c12e11124110"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465beaab66fe44fc" Type="http://schemas.openxmlformats.org/officeDocument/2006/relationships/notesMaster" Target="../notesMasters/notesMaster1.xml"/><Relationship Id="R7d5116edc00b4e2b"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6357130691754196" Type="http://schemas.openxmlformats.org/officeDocument/2006/relationships/notesMaster" Target="../notesMasters/notesMaster1.xml"/><Relationship Id="R7355afec13e7445b"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e1bfa1630b7c4f18" Type="http://schemas.openxmlformats.org/officeDocument/2006/relationships/slide" Target="../slides/slide36.xml"/><Relationship Id="Rf8f9ed5e533746cc"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1c9e5f5a8c534302" Type="http://schemas.openxmlformats.org/officeDocument/2006/relationships/notesMaster" Target="../notesMasters/notesMaster1.xml"/><Relationship Id="R221e363880004465"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a7cdc6c14a104dad" Type="http://schemas.openxmlformats.org/officeDocument/2006/relationships/notesMaster" Target="../notesMasters/notesMaster1.xml"/><Relationship Id="Reb924442822f478a"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71f8a153d81249e7" Type="http://schemas.openxmlformats.org/officeDocument/2006/relationships/notesMaster" Target="../notesMasters/notesMaster1.xml"/><Relationship Id="R8ec10af5bddb4de4"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0581e3d5ff214985" Type="http://schemas.openxmlformats.org/officeDocument/2006/relationships/notesMaster" Target="../notesMasters/notesMaster1.xml"/><Relationship Id="R7a71d1a98a2e4d03"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SmartAlarm: kế thừa vòng phát hiện–hướng dẫn–SOS–xác nhận của FireEscape, mở rộng đa nguy cơ và cứu hộ chủ động. Phạm vi thiết kế đầy đủ ngay từ đầu, hỗ trợ Việt–Anh–Nhật. Giữ ảnh, logo, master và nhận diện trang bìa từ deck gốc.</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Bài toán kinh doanh là nối phát hiện, hiểu tình huống, hướng dẫn, tiếp cận và xác nhận. Người không có điện thoại, mất khả năng thao tác hoặc khó tự thoát vẫn phải được đưa vào quy trình hỗ trợ. Trạng thái chưa rõ phải tồn tại độc lập với đã an toàn.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all-in-one gồm bảy năng lực. Phía đầu vào: cháy, thiên tai, té ngã, tai nạn, cảm biến và SOS. Nền tảng hợp nhất ngữ cảnh. App và loa hướng dẫn theo vùng. Người có nhu cầu hỗ trợ được kiểm tra chủ động. Chỉ huy phối hợp các đội và xác nhận từng người. Những mũi tên mô tả quan hệ nghiệp vụ, không biểu thị quyền điều khiển tự động.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Tách các xác nhận: nền tảng nhận sự kiện; nhà cung cấp nhận thông báo; người dùng đọc; đội nhận nhiệm vụ; đội tới hiện trường; người được xác nhận an toàn. Các trạng thái này không thay thế nhau. Ghi mốc thời gian và nguồn để truy vết.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Từ đầu mô hình tenant, tổ chức liên kết, site, zone, person, asset, event, incident, task và connector độc lập ngành. Vertical pack bổ sung taxonomy, mẫu thông báo, biểu mẫu, rule và SOP có phiên bản. Thiết kế toàn cầu phải cấu hình theo ngôn ngữ, múi giờ, residency và cơ quan địa phương.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Chuẩn bị gồm quyền truy cập, care profile, khảo sát indoor positioning, đánh giá vùng loa, nguồn điện dự phòng, kết nối cục bộ và playbook. Sau sự cố không tự đóng chỉ vì một người đã an toàn. Kết thúc cần xử lý các yêu cầu và bàn giao còn mở.</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phối cảnh khái niệm: vùng cháy được cô lập, người có thể đi tự thoát theo tuyến đã xác minh, người cần hỗ trợ có phương án riêng. Mũi tên chỉ minh họa; tuyến triển khai phải do chuyên gia địa điểm xác minh và cập nhật theo nguy cơ. Điểm chờ hỗ trợ phải thuộc phương án được phê duyệt, không được suy diễn từ ảnh.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trạng thái: signal_received → verified_incident → warning_issued → response_assigned → person_contacted → safe_or_handover. Không đặt SLA giả định trên hình. Độ mới bằng chứng và vị trí được đánh giá trước khi phát hướng dẫn hoặc giao đội.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có SOS vẫn có thể tạo assistance case nếu có căn cứ phơi nhiễm và nhu cầu hỗ trợ. Dữ liệu chưa rõ dẫn đến kiểm tra, không khẳng định nạn nhân đang mắc kẹt. Không lấy tuổi hoặc bệnh làm thứ tự triage duy nhất. Đội cứu hộ và chỉ huy chịu trách nhiệm quyết định theo quy trình chuyên môn.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Functional assistance needs được tách khỏi bệnh sử đầy đủ. Người dùng/người giám hộ có quyền quản lý theo chính sách. Presence có nguồn, sai số và timestamp. Nếu SOS xuất hiện sau, hợp nhất vào case đang mở thay vì nhân đôi dispatch. Cần kiểm tra consent hoặc căn cứ sử dụng phù hợp tại thị trường triển khai.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suy ra tầng từ GNSS khi không có độ tin cậy. Đăng ký cư trú không chứng minh hiện diện. Indoor positioning cần khảo sát, mốc chuẩn và đo kiểm; không cam kết độ chính xác chưa thử tại site. Vị trí cũ được giữ lịch sử nhưng không dùng như vị trí realtime. Không có heading tin cậy: dùng hướng dẫn theo landmark.</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Routing dùng graph công trình có phiên bản và hazard overlay. Hard exclusions trước cost function. Giới hạn gồm accessibility, công suất, turn restrictions, hazard freshness và uncertainty. Không có đường đủ tin cậy thì không bịa đường: hiển thị yêu cầu hỗ trợ hoặc điểm chờ được phê duyệt. AI chỉ giải thích, engine có kiểm thử tính tuyến. Không bảo đảm tuyệt đối an toàn trong môi trường biến động.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minh họa đề xuất. Dẫn hướng turn-by-turn cần heading phù hợp; nếu thiếu thì dùng landmark. Câu ngắn, nhắc lại có kiểm soát, hỗ trợ người khó nhìn/nghe, không chỉ dựa vào màu. Nội dung khẩn cấp VI/EN/JA cần review bản ngữ và theo site. Voice offline chỉ dùng nội dung và trạng thái còn hiệu lực.</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Lệnh phát có site/zone, ngôn ngữ, nội dung, phiên bản, ưu tiên và thời hạn. TTS/bản ghi/micro trực tiếp được quản lý. Loa drone tùy payload và tích hợp, do người vận hành có thẩm quyền điều khiển. Controller nhận lệnh khác playback hoàn tất, và playback khác người đã nghe. Không dùng platform để vô hiệu ưu tiên hệ thống an toàn cục bộ.</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orchestration dùng idempotency và channel receipts. Không retries vô hạn lệnh đã hết hạn. Phát âm thanh theo arbitration zone, cho phép emergency local override. Tiếng nói live cần quyền, timeout và audit. Phân biệt quyền phát cảnh báo với quyền điều khiển suppression; hệ thống chuyên dụng duy trì interlock và quy trình riêng.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Thiên tai dùng cảnh báo có issuer, identifier, area, onset/effective/expires và liên kết cập nhật/hủy; CAP 1.2 là một chuẩn tích hợp có thể áp dụng. Nguồn chính thức khác quyết định phản ứng của tenant. Shelter cần trạng thái sức chứa, tiếp cận và người quản lý. Mọi tuyến phải tránh nguy cơ mới, không cố dùng tuyến cũ vì đã được phát trước đó.</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SOS taxonomy có intent, severity, sensitivity, source và evidence; không coi mọi SOS là cùng một loại khẩn cấp. Possible fall có check-in timeout và escalation cấu hình. Discreet SOS tránh tự phát âm thanh làm lộ người dùng. Tai nạn cần địa chỉ truy cập hiện trường, chiều đường, nguy cơ thứ cấp và liên kết lực lượng tại địa phương.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UI đề xuất với số liệu mô phỏng. Command workspace liên kết evidence, hazard overlay, care needs theo quyền, status từng người, mission và delivery. Các hành động có quyền riêng. Tác vụ phải có owner và tiếp nhận. Các trường uncertainty hiển thị thay vì che giấu. App sản phẩm chi tiết được mô tả trong danh mục 233 màn hình.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Dispatch xem capability, availability, địa điểm và quyền phối hợp. Accepted khác arrived, contacted, handover và completed. Offline field update có idempotency, time nguồn và nhận dạng người cập nhật; xử lý conflict khi có thay đổi từ chỉ huy. Không phát lại mù lệnh cũ sau reconnect.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xác nhận có thể gửi đến mọi nhóm và liên hệ đã đăng ký theo chính sách chia sẻ. Không đồng nghĩa chia sẻ hồ sơ sức khỏe hay vị trí chi tiết. Phân biệt self-reported safe và responder-confirmed. Sự cố chỉ đóng theo tiêu chí chỉ huy, không theo số push đã gửi.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 lấy dữ liệu đã lọc quyền, evidence IDs và cutoff; response schema gắn citations, uncertainty và recommendation. Không tự tạo đường thoát, chẩn đoán hay phát lệnh thiết bị. Prompt injection từ tài liệu/camera/connector là dữ liệu không tin cậy. Có model gateway, dữ liệu tối thiểu, evaluation, audit và fallback. Realtime là cập nhật theo event và cửa sổ dữ liệu, không phải nguồn chân lý độc lập.</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hub là ranh giới chức năng, không phải hai máy chủ đơn lẻ. Mỗi domain có owner và hợp đồng; event-driven orchestration, outbox/inbox, retry bounded, DLQ/replay có quyền và schema versioning. Integration Hub cô lập vendor và protocol; Alarm Hub quản lý trạng thái nghiệp vụ. IAM/tenant và policy enforcement áp dụng xuyên suốt.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Domain services: event ingestion/correlation, incident command, SOS/accountability, dispatch, warnings/content, delivery, positioning, routing, care/assistance, collaboration, media/evidence và audit. State transitions có điều kiện, quyền và side effects rõ. Eventual consistency không làm mất owner sự cố; per-incident sequencing/fencing bảo vệ lệnh tranh chấp.</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Connector manifest có capability whitelist, event/schema versions, command constraints, health/heartbeat, auth, network và residency. Chuẩn hóa OASIS MQTT, CloudEvents, CAP hoặc OGC SensorThings khi phù hợp, không tuyên bố mọi hãng tự tương thích. Các adapter cần map device semantics và test. Command accepted không có nghĩa completed; luôn correlate receipt và timeout.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Drone: mission owner, pilot, geofence, command authorization, loss-link và manual override. PA: vùng, ưu tiên cục bộ, health và playback receipts. Báo cháy/suppression: tích hợp thiết bị tương thích và quy trình site; không đưa LLM vào vòng tự kích hoạt. Từng quốc gia và môi trường cần đánh giá điều kiện vận hành, được xử lý trong phạm vi triển khai.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Regional cell data plane, multi-AZ và data residency. Global control không đồng nghĩa sao chép toàn bộ dữ liệu sức khỏe/vị trí. Single writer/fencing theo scope nghiệp vụ, durable workflows, backpressure và partitioning. Edge không được thực thi tùy ý lệnh cloud cũ sau mất mạng. RTO/RPO và SLO là mục tiêu cần được định cỡ, benchmark và thử nghiệm phục hồi trước cam kết.</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RBAC + ABAC: tenant, region, site, assignment, purpose và field scope. Mã hóa, quản lý secrets, access token có audience, credential rotation và least privilege. Break-glass có lý do, giới hạn thời gian, audit và review. Không tuyên bố chứng nhận hay tuân thủ mọi quốc gia; legal/security review là hạng mục triển khai cụ thể.</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Internationalization bao gồm pluralization, timezone, đơn vị, định dạng, line breaking và font Nhật. Critical content có locale-specific review, version và effective date. TTS kiểm tra phát âm địa danh tại site; AI dịch chỉ là bản nháp. Thiếu locale dùng bản fallback đã duyệt với nhận diện rõ. Không ép ngôn ngữ từ vùng dữ liệu.</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233 là số mã màn hình trong Screen-Registry.json của bộ thiết kế; không phải số màn hình phần mềm đã hoàn thiện. Proposal chọn các cảnh tiêu biểu để giới thiệu. Danh mục và prototype đầy đủ trong bộ hồ sơ. 33 workflow groups và acceptance matrix hỗ trợ truy vết; sản phẩm thực tế cần triển khai và UAT, không gọi mockup là hệ thống vận hành.</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a:p xmlns:a="http://schemas.openxmlformats.org/drawingml/2006/main">
            <a:r>
              <a:t>UX revision 2: screenshots from the current local prototype. Illustrative data; no live operation or usability certification. Full catalogue:233screens; VI/EN/JA. Original function appendix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 hoạch nghiệm thu bao gồm rule correctness, mapping site, accessibility, human factors, load, fault injection, disaster recovery và operational drill. Độ chính xác vị trí, vùng phủ loa, phát âm, tương tác local controller được đo tại site. Không thay thế nghiệm thu bằng số ảnh chụp màn hình. Tiêu chí chấp nhận gắn với AC và workflow trong tài liệu.</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kế hoạch triển khai full product; không đề xuất kiến trúc demo hay cắt phạm vi thành bản tạm. Các mốc phát triển, tích hợp, kiểm thử và nghiệm thu là quản trị delivery. Lịch, ngân sách, staffing và SLA phải chốt trên sizing và danh mục tích hợp; không tự đưa thời hạn hoặc giá chưa có cơ sở.</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chỉ số là thước đo đề xuất, không phải kết quả đã đạt. Baseline và mục tiêu cần khảo sát thực tế. Commercial scope gồm nền tảng, hạ tầng, thiết bị, tích hợp, nội dung, vận hành và hỗ trợ. ROI, tỷ lệ giảm thiệt hại hay response guarantee chỉ được công bố sau đo lường và thống nhất. Khách hàng sở hữu quyết định vận hành địa phương theo hợp đồng.</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trực tiếp đã đọc: FireEscape_Proposal_Expanded_EN.pptx 34 slides; không có source code gốc. Introduction.pptx và video chỉ được deck gốc nhắc đến, không được xem như tài liệu đã truy cập. Các chuẩn tham chiếu trong hồ sơ: https://docs.oasis-open.org/emergency/cap/v1.2/CAP-v1.2.html ; https://docs.oasis-open.org/mqtt/mqtt/v5.0/mqtt-v5.0.html ; https://cloudevents.io/ ; https://www.ogc.org/standards/sensorthings/ ; https://mavlink.io/en/services/command.html ; https://www.w3.org/TR/WCAG22/ . Không tuyên bố certification.</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Thông điệp kết thúc: SmartAlarm là nền tảng phối hợp an toàn và cứu hộ đa nguy cơ. Đề án đầy đủ kết nối kiến trúc, trải nghiệm và triển khai. Bản sửa này sử dụng chính deck FireEscape làm nền, giữ nhận diện AIPOWER và hình gốc liên quan, bổ sung hình all-in-one và mô phỏng mới.</a:t>
            </a:r>
          </a:p>
          <a:p xmlns:a="http://schemas.openxmlformats.org/drawingml/2006/main"/>
          <a:p xmlns:a="http://schemas.openxmlformats.org/drawingml/2006/main">
            <a:r>
              <a:t>Đề án thiết kế SmartAlarm — 23/10/2026. Mọi tình huống, giao diện và số liệu trên slide là mô phỏng giải pháp đề xuất. Không phải tuyên bố sản phẩm đã triển khai. Nguồn: FireEscape_Proposal_Expanded_EN.pptx và yêu cầu chủ sản phẩm. Hình ảnh giải thích được tạo bằng imagegen; tiêu đề, luồng, UI và kiến trúc là đối tượng PowerPoint có thể sửa.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nối hệ thống hiện hữu qua gateway và tủ điều khiển phù hợp: tín hiệu alarm/fault, trạng thái bơm, áp suất, waterflow, vị trí van, interlock và trạng thái điều khiển cục bộ. Hình thể hiện sprinkler kích hoạt do nhiệt và vùng controlled release riêng biệt. SmartAlarm bổ sung giám sát, điều phối và lệnh được cho phép; tự động bảo vệ tại chỗ vẫn hoạt động khi mất cloud. Hình thiết bị là minh họa, không phải sơ đồ lắp đặt hay model đã nghiệm thu.</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Asset registry quản lý cả thiết bị hiện hữu và bổ sung mới, không chỉ IoT mới lắp. Wet-pipe sprinkler thông thường mở do nhiệt; không có lệnh bật từng đầu từ cloud. Deluge/pre-action dùng releasing controller và cause-and-effect được phê duyệt. Bơm nước có tủ điều khiển riêng. Cửa, damper và hút khói theo logic hệ thống và điều kiện site; robot/vòi phun cần người có thẩm quyền, vùng hoạt động và cơ chế local override. Phải khảo sát dây tín hiệu, gateway hãng, trạng thái thực và chế độ test trước khi enable.</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model và giới hạn xem catalog kèm theo. Siemens: https://support.industry.siemens.com/cs/attachments/109789153/A6V10349679.pdf ; NOTIFIER: https://prod-edam.honeywell.com/content/dam/honeywell-edam/hbt/en-us/documents/manuals-and-guides/installation-guides/notifier-us/ba-fire-LS10014-000NF-E.pdf ; Potter: https://www.pottersignal.com/product/datasheet/5401600_PFC-4410G3.pdf . Hai catalog ghi rõ khác biệt region/firmware/license, bằng chứng và điều chưa xác minh. Không gán quyền ghi vì gateway có BACnet/Modbus; không xem ảnh hãng là bằng chứng đã tích hợp.</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kiến trúc đề xuất, không phải hướng dẫn đấu dây. Khảo sát point list, scaling, units, zone mapping, time/source/quality, feedback point, revision cause-effect, certificate và support. Legacy OT không có crypto cần network isolation và gateway; không tuyên bố thêm mTLS biến thiết bị legacy thành an toàn. Không dùng relay phổ thông để bypass safety panel. Read-only mặc định cho năng lực chưa được xác minh; đường điều khiển chỉ enable khi có bằng chứng hãng, thiết kế site và nghiệm thu.</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Sprinkler thường kích hoạt riêng do nhiệt, không phải lệnh cloud hay báo khói. Nguồn: https://www.usfa.fema.gov/gallery/pictographs/pictograph85.html . Với hệ releasing, các điều kiện kích hoạt/abort/interlock là của thiết kế được phê duyệt tại site; không mặc định mọi hệ đều có cùng điều kiện. State: requested→validated→authorized→sent→controller_accepted→executing→effect_verified; timeout có thể là unknown chứ không failed. Flow/pressure xác nhận hiệu ứng nước chứ không chứng minh đám cháy đã tắt. Dừng/reset/restore cần quy trình riêng và vai trò có thẩm quyền.</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standards/deployment dẫn nguồn chính thức và edition đã kiểm tra, không khẳng định tuân thủ mọi quốc gia. NFPA72/13/20 editions2025; NFPA25edition2026 theo hồ sơ; BACnet ISO16484-5:2026 cần phân biệt chuẩn mới với edition thiết bị thực sự hỗ trợ. Vendor RFI phải xác nhận model/firmware/license, point register, quyền đọc/ghi, độ mới/timeout và support. FAT/SAT kiểm thử mất cloud/edge, localoverride, mapping sai, duplicate/expired command, UNKNOWN, test isolation, feedback discrepancy, impairment và phục hồi. Chưa có nghiệm thu hiện trường ở giai đoạn thiết kế.</a:t>
            </a:r>
          </a:p>
          <a:p/>
          <a:p>
            <a:r>
              <a:t>Sources researched 23 October 2026. See Physical-Device-Catalog, Rescue-IoT-Device-Catalog and External-Integration-Standards-Deployment for exact models, evidence, limits, RFIs and FAT/SAT acceptance. This is a proposed integration design, not installed compatibility or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Phụ lục liệt kê đầy đủ baseline hiện tại. A/B/C là các lớp chồng lấp để đối chiếu, không cộng thành số lượng tính năng độc lập. Chức năng có ID tương ứng với FRD, Screen Specifications và Acceptance Matrix. Chức năng phụ thuộc thiết bị/vendor vẫn là phạm vi thiết kế cần xác minh.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WF-01: Thiết lập tenant/region, SSO/MFA, invitation và workspace, chống lộ tài khoản.</a:t>
            </a:r>
          </a:p>
          <a:p>
            <a:r>
              <a:t>Workflows: WF-01</a:t>
            </a:r>
          </a:p>
          <a:p>
            <a:r>
              <a:t>Screens: A01, A02, A03, A04, A05, A06, A07, A08, A09, A10, T03, T04, X04, X08</a:t>
            </a:r>
          </a:p>
          <a:p/>
          <a:p>
            <a:r>
              <a:t>WF-02: Quản lý site/tầng/zone, sơ đồ có duyệt và vị trí kèm chất lượng.</a:t>
            </a:r>
          </a:p>
          <a:p>
            <a:r>
              <a:t>Workflows: WF-02</a:t>
            </a:r>
          </a:p>
          <a:p>
            <a:r>
              <a:t>Screens: S01, S02, S03, S04, S05, X06</a:t>
            </a:r>
          </a:p>
          <a:p/>
          <a:p>
            <a:r>
              <a:t>WF-03: Nhận event đa nguồn bền vững, xác thực tenant/source, dedupe và quarantine.</a:t>
            </a:r>
          </a:p>
          <a:p>
            <a:r>
              <a:t>Workflows: WF-03</a:t>
            </a:r>
          </a:p>
          <a:p>
            <a:r>
              <a:t>Screens: O03, I03, D02, D03, D04</a:t>
            </a:r>
          </a:p>
          <a:p/>
          <a:p>
            <a:r>
              <a:t>WF-04: Review evidence, tạo/liên kết/tách incident giữ audit và trách nhiệm.</a:t>
            </a:r>
          </a:p>
          <a:p>
            <a:r>
              <a:t>Workflows: WF-04</a:t>
            </a:r>
          </a:p>
          <a:p>
            <a:r>
              <a:t>Screens: O05, O06, O07, S11, S12, S13, S14</a:t>
            </a:r>
          </a:p>
          <a:p/>
          <a:p>
            <a:r>
              <a:t>WF-05: Gửi SOS theo nhu cầu, vị trí thủ công, pending offline và hủy có review.</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WF-06: Check-in possible fall với server timer và chuyển cấp khi không phản hồi.</a:t>
            </a:r>
          </a:p>
          <a:p>
            <a:r>
              <a:t>Workflows: WF-06</a:t>
            </a:r>
          </a:p>
          <a:p>
            <a:r>
              <a:t>Screens: C24, C25</a:t>
            </a:r>
          </a:p>
          <a:p/>
          <a:p>
            <a:r>
              <a:t>WF-07: Báo/điều phối tai nạn theo vị trí, hướng đường và thương tích chưa rõ.</a:t>
            </a:r>
          </a:p>
          <a:p>
            <a:r>
              <a:t>Workflows: WF-07</a:t>
            </a:r>
          </a:p>
          <a:p>
            <a:r>
              <a:t>Screens: C26</a:t>
            </a:r>
          </a:p>
          <a:p/>
          <a:p>
            <a:r>
              <a:t>WF-08: Nhận CAP/thiên tai đúng issuer, mode, polygon, lineage và expiry.</a:t>
            </a:r>
          </a:p>
          <a:p>
            <a:r>
              <a:t>Workflows: WF-08</a:t>
            </a:r>
          </a:p>
          <a:p>
            <a:r>
              <a:t>Screens: C14, C15, O28, O29</a:t>
            </a:r>
          </a:p>
          <a:p/>
          <a:p>
            <a:r>
              <a:t>WF-09: Soạn và duyệt warning đúng version nội dung/audience/ngôn ngữ.</a:t>
            </a:r>
          </a:p>
          <a:p>
            <a:r>
              <a:t>Workflows: WF-09</a:t>
            </a:r>
          </a:p>
          <a:p>
            <a:r>
              <a:t>Screens: O13, O14, O15, T06</a:t>
            </a:r>
          </a:p>
          <a:p/>
          <a:p>
            <a:r>
              <a:t>WF-10: Theo dõi delivery từng kênh, callback, retry/fallback và escalation.</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WF-11: Phân công đội đủ khả năng, nhận atomically, cập nhật và bàn giao task.</a:t>
            </a:r>
          </a:p>
          <a:p>
            <a:r>
              <a:t>Workflows: WF-11</a:t>
            </a:r>
          </a:p>
          <a:p>
            <a:r>
              <a:t>Screens: R01, R02, R03, R04, R05, R06, R07, R08, R09, R10, R11, R12, O08, O09, O10, X10, O34</a:t>
            </a:r>
          </a:p>
          <a:p/>
          <a:p>
            <a:r>
              <a:t>WF-12: Ghi trạng thái cá nhân có nguồn, chia sẻ nhóm/liên hệ theo consent.</a:t>
            </a:r>
          </a:p>
          <a:p>
            <a:r>
              <a:t>Workflows: WF-12</a:t>
            </a:r>
          </a:p>
          <a:p>
            <a:r>
              <a:t>Screens: C11, C12, C19, C20, C21, C22, C23, O11, O12, C31, C32, C33</a:t>
            </a:r>
          </a:p>
          <a:p/>
          <a:p>
            <a:r>
              <a:t>WF-13: Quản lý shelter và guidance đã duyệt, offline pack có expiry.</a:t>
            </a:r>
          </a:p>
          <a:p>
            <a:r>
              <a:t>Workflows: WF-13</a:t>
            </a:r>
          </a:p>
          <a:p>
            <a:r>
              <a:t>Screens: C01, C02, C03, C04, C16, C17, C18, O26, O27</a:t>
            </a:r>
          </a:p>
          <a:p/>
          <a:p>
            <a:r>
              <a:t>WF-14: Enroll/chứng chỉ thiết bị, health, bảo trì/calibration và coverage gap.</a:t>
            </a:r>
          </a:p>
          <a:p>
            <a:r>
              <a:t>Workflows: WF-14</a:t>
            </a:r>
          </a:p>
          <a:p>
            <a:r>
              <a:t>Screens: S06, S07, S08, S09, S10</a:t>
            </a:r>
          </a:p>
          <a:p/>
          <a:p>
            <a:r>
              <a:t>WF-15: Lệnh thiết bị theo capability/interlock/TTL và bằng chứng kết quả.</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WF-16: Lập/duyệt nhiệm vụ drone, pilot authority, telemetry và lost-link policy.</a:t>
            </a:r>
          </a:p>
          <a:p>
            <a:r>
              <a:t>Workflows: WF-16</a:t>
            </a:r>
          </a:p>
          <a:p>
            <a:r>
              <a:t>Screens: I11, I12, I13, I14, I15</a:t>
            </a:r>
          </a:p>
          <a:p/>
          <a:p>
            <a:r>
              <a:t>WF-17: Vòng đời connector từ manifest, sandbox tới activate/rotate/deprecate.</a:t>
            </a:r>
          </a:p>
          <a:p>
            <a:r>
              <a:t>Workflows: WF-17</a:t>
            </a:r>
          </a:p>
          <a:p>
            <a:r>
              <a:t>Screens: I01, I02, I04, I05, I06, I07, I08, I09, I10, D01, D05, D06, D08, O33</a:t>
            </a:r>
          </a:p>
          <a:p/>
          <a:p>
            <a:r>
              <a:t>WF-18: Đa locale/timezone, residency và danh bạ emergency theo site/quốc gia.</a:t>
            </a:r>
          </a:p>
          <a:p>
            <a:r>
              <a:t>Workflows: WF-18</a:t>
            </a:r>
          </a:p>
          <a:p>
            <a:r>
              <a:t>Screens: T02, G05, G06, L01, L02, L03, L04, L05, L06</a:t>
            </a:r>
          </a:p>
          <a:p/>
          <a:p>
            <a:r>
              <a:t>WF-19: Retention, legal hold, export/delete đúng scope và audit bất biến.</a:t>
            </a:r>
          </a:p>
          <a:p>
            <a:r>
              <a:t>Workflows: WF-19</a:t>
            </a:r>
          </a:p>
          <a:p>
            <a:r>
              <a:t>Screens: C29, C30, O30, T09, T10, T11, G07, G08, G11, G12, H11</a:t>
            </a:r>
          </a:p>
          <a:p/>
          <a:p>
            <a:r>
              <a:t>WF-20: Đóng incident, analytics, cải tiến, drill cách ly và bàn giao ca.</a:t>
            </a:r>
          </a:p>
          <a:p>
            <a:r>
              <a:t>Workflows: WF-20</a:t>
            </a:r>
          </a:p>
          <a:p>
            <a:r>
              <a:t>Screens: O01, O02, O04, O20, O21, O22, O23, O24, O25, T01, T07, T08, T12, T13, T14, T15, T16, T17, X03, X05, X07, X09, G01, G02, G03, G04, G09, G10, O31, O32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WF-21: PA cho người không smartphone: duyệt vùng/nội dung, playback, live và fallback.</a:t>
            </a:r>
          </a:p>
          <a:p>
            <a:r>
              <a:t>Workflows: WF-21</a:t>
            </a:r>
          </a:p>
          <a:p>
            <a:r>
              <a:t>Screens: P01, P02, P03, P04, P05, P06, P07, P08, P09</a:t>
            </a:r>
          </a:p>
          <a:p/>
          <a:p>
            <a:r>
              <a:t>WF-22: Voice navigation từng chặng theo graph/hazard/accessibility, reroute và SOS.</a:t>
            </a:r>
          </a:p>
          <a:p>
            <a:r>
              <a:t>Workflows: WF-22</a:t>
            </a:r>
          </a:p>
          <a:p>
            <a:r>
              <a:t>Screens: C35, C36, C37, C38, C39, C40, S15, S16, O35, O36</a:t>
            </a:r>
          </a:p>
          <a:p/>
          <a:p>
            <a:r>
              <a:t>WF-23: Hợp nhất định vị có uncertainty, phân biệt presence và đăng ký.</a:t>
            </a:r>
          </a:p>
          <a:p>
            <a:r>
              <a:t>Workflows: WF-23</a:t>
            </a:r>
          </a:p>
          <a:p>
            <a:r>
              <a:t>Screens: H10, Q01, Q02, Q03</a:t>
            </a:r>
          </a:p>
          <a:p/>
          <a:p>
            <a:r>
              <a:t>WF-24: Tối ưu tuyến khả thi với hard constraints, capacity và cohort balancing.</a:t>
            </a:r>
          </a:p>
          <a:p>
            <a:r>
              <a:t>Workflows: WF-24</a:t>
            </a:r>
          </a:p>
          <a:p>
            <a:r>
              <a:t>Screens: Q04, Q05, Q10</a:t>
            </a:r>
          </a:p>
          <a:p/>
          <a:p>
            <a:r>
              <a:t>WF-25: AI tóm tắt grounded, đối chiếu SOP và draft; con người duyệt, không actuation.</a:t>
            </a:r>
          </a:p>
          <a:p>
            <a:r>
              <a:t>Workflows: WF-25</a:t>
            </a:r>
          </a:p>
          <a:p>
            <a:r>
              <a:t>Screens: Q06, Q07, Q08, Q09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WF-26: Quản lý profile trợ giúp, caregiver authority, emergency subset và audit.</a:t>
            </a:r>
          </a:p>
          <a:p>
            <a:r>
              <a:t>Workflows: WF-26</a:t>
            </a:r>
          </a:p>
          <a:p>
            <a:r>
              <a:t>Screens: H01, H02, H03, H04, H05, H06, H07</a:t>
            </a:r>
          </a:p>
          <a:p/>
          <a:p>
            <a:r>
              <a:t>WF-27: Chủ động tìm/ưu tiên người cần hỗ trợ trước SOS bằng presence và evidence.</a:t>
            </a:r>
          </a:p>
          <a:p>
            <a:r>
              <a:t>Workflows: WF-27</a:t>
            </a:r>
          </a:p>
          <a:p>
            <a:r>
              <a:t>Screens: H08, H09, H12</a:t>
            </a:r>
          </a:p>
          <a:p/>
          <a:p>
            <a:r>
              <a:t>WF-28: Ràng buộc model/firmware/capability, mapping point/zone và cause-effect.</a:t>
            </a:r>
          </a:p>
          <a:p>
            <a:r>
              <a:t>Workflows: WF-28</a:t>
            </a:r>
          </a:p>
          <a:p>
            <a:r>
              <a:t>Screens: F02, F03, F04, F05, F06, F20</a:t>
            </a:r>
          </a:p>
          <a:p/>
          <a:p>
            <a:r>
              <a:t>WF-29: Giám sát tín hiệu vật lý có provenance/freshness, bảo vệ cục bộ độc lập.</a:t>
            </a:r>
          </a:p>
          <a:p>
            <a:r>
              <a:t>Workflows: WF-29</a:t>
            </a:r>
          </a:p>
          <a:p>
            <a:r>
              <a:t>Screens: F01, F07, F08</a:t>
            </a:r>
          </a:p>
          <a:p/>
          <a:p>
            <a:r>
              <a:t>WF-30: Duyệt/thi hành lệnh có thẩm quyền, đối soát UNKNOWN và local takeover.</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WF-31: Impairment/test cách ly, biện pháp bù và khôi phục có xác minh.</a:t>
            </a:r>
          </a:p>
          <a:p>
            <a:r>
              <a:t>Workflows: WF-31</a:t>
            </a:r>
          </a:p>
          <a:p>
            <a:r>
              <a:t>Screens: F14, F18</a:t>
            </a:r>
          </a:p>
          <a:p/>
          <a:p>
            <a:r>
              <a:t>WF-32: Hồ sơ tương thích/chứng nhận, FAT/SAT và cổng bật capability theo cấu hình.</a:t>
            </a:r>
          </a:p>
          <a:p>
            <a:r>
              <a:t>Workflows: WF-32</a:t>
            </a:r>
          </a:p>
          <a:p>
            <a:r>
              <a:t>Screens: F15, F16, F17</a:t>
            </a:r>
          </a:p>
          <a:p/>
          <a:p>
            <a:r>
              <a:t>WF-33: Giao nhiệm vụ robot/water-monitor có operator, giới hạn và kết quả xác minh.</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FR-A01: Chọn vùng và ngôn ngữ: Chọn vùng và ngôn ngữ để bắt đầu đăng nhập.</a:t>
            </a:r>
          </a:p>
          <a:p>
            <a:r>
              <a:t>Workflows: WF-01</a:t>
            </a:r>
          </a:p>
          <a:p>
            <a:r>
              <a:t>Screens: A01</a:t>
            </a:r>
          </a:p>
          <a:p/>
          <a:p>
            <a:r>
              <a:t>FR-A02: Đăng nhập: Đăng nhập bằng passkey hoặc SSO của tổ chức.</a:t>
            </a:r>
          </a:p>
          <a:p>
            <a:r>
              <a:t>Workflows: WF-01</a:t>
            </a:r>
          </a:p>
          <a:p>
            <a:r>
              <a:t>Screens: A02</a:t>
            </a:r>
          </a:p>
          <a:p/>
          <a:p>
            <a:r>
              <a:t>FR-A03: Xác minh danh tính: Xác minh phiên đăng nhập bằng phương thức được cấp.</a:t>
            </a:r>
          </a:p>
          <a:p>
            <a:r>
              <a:t>Workflows: WF-01</a:t>
            </a:r>
          </a:p>
          <a:p>
            <a:r>
              <a:t>Screens: A03</a:t>
            </a:r>
          </a:p>
          <a:p/>
          <a:p>
            <a:r>
              <a:t>FR-A04: Chọn không gian làm việc: Chọn tổ chức và vào phạm vi điều hành được phép.</a:t>
            </a:r>
          </a:p>
          <a:p>
            <a:r>
              <a:t>Workflows: WF-01</a:t>
            </a:r>
          </a:p>
          <a:p>
            <a:r>
              <a:t>Screens: A04</a:t>
            </a:r>
          </a:p>
          <a:p/>
          <a:p>
            <a:r>
              <a:t>FR-A05: Khôi phục truy cập: Gửi liên kết phục hồi mà không tiết lộ tài khoản tồn tại.</a:t>
            </a:r>
          </a:p>
          <a:p>
            <a:r>
              <a:t>Workflows: WF-01</a:t>
            </a:r>
          </a:p>
          <a:p>
            <a:r>
              <a:t>Screens: A05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FR-A06: Chấp nhận lời mời: Kiểm tra tổ chức/vai trò và chấp nhận lời mời còn hạn.</a:t>
            </a:r>
          </a:p>
          <a:p>
            <a:r>
              <a:t>Workflows: WF-01</a:t>
            </a:r>
          </a:p>
          <a:p>
            <a:r>
              <a:t>Screens: A06</a:t>
            </a:r>
          </a:p>
          <a:p/>
          <a:p>
            <a:r>
              <a:t>FR-A07: Quyền truy cập và đồng ý: Lưu lựa chọn thông báo, vị trí, camera và chia sẻ.</a:t>
            </a:r>
          </a:p>
          <a:p>
            <a:r>
              <a:t>Workflows: WF-01</a:t>
            </a:r>
          </a:p>
          <a:p>
            <a:r>
              <a:t>Screens: A07</a:t>
            </a:r>
          </a:p>
          <a:p/>
          <a:p>
            <a:r>
              <a:t>FR-A08: Phiên và thiết bị đăng nhập: Xem phiên/thiết bị có quyền và chọn phiên cần thu hồi.</a:t>
            </a:r>
          </a:p>
          <a:p>
            <a:r>
              <a:t>Workflows: WF-01</a:t>
            </a:r>
          </a:p>
          <a:p>
            <a:r>
              <a:t>Screens: A08</a:t>
            </a:r>
          </a:p>
          <a:p/>
          <a:p>
            <a:r>
              <a:t>FR-A09: Thu hồi phiên đăng nhập: Thu hồi phiên thiết bị đã chọn, yêu cầu đăng nhập lại.</a:t>
            </a:r>
          </a:p>
          <a:p>
            <a:r>
              <a:t>Workflows: WF-01</a:t>
            </a:r>
          </a:p>
          <a:p>
            <a:r>
              <a:t>Screens: A09</a:t>
            </a:r>
          </a:p>
          <a:p/>
          <a:p>
            <a:r>
              <a:t>FR-A10: Hồ sơ và khả năng tiếp cận: Lưu ngôn ngữ, cỡ chữ, giảm chuyển động và múi giờ.</a:t>
            </a:r>
          </a:p>
          <a:p>
            <a:r>
              <a:t>Workflows: WF-01</a:t>
            </a:r>
          </a:p>
          <a:p>
            <a:r>
              <a:t>Screens: A10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FR-C01: An toàn của bạn: Mở cảnh báo đang hoạt động từ tổng quan cá nhân.</a:t>
            </a:r>
          </a:p>
          <a:p>
            <a:r>
              <a:t>Workflows: WF-13</a:t>
            </a:r>
          </a:p>
          <a:p>
            <a:r>
              <a:t>Screens: C01</a:t>
            </a:r>
          </a:p>
          <a:p/>
          <a:p>
            <a:r>
              <a:t>FR-C02: Chi tiết cảnh báo: Xem nguồn, mức độ và chỉ dẫn của cảnh báo.</a:t>
            </a:r>
          </a:p>
          <a:p>
            <a:r>
              <a:t>Workflows: WF-13</a:t>
            </a:r>
          </a:p>
          <a:p>
            <a:r>
              <a:t>Screens: C02</a:t>
            </a:r>
          </a:p>
          <a:p/>
          <a:p>
            <a:r>
              <a:t>FR-C03: Hướng dẫn sơ tán: Xem sơ đồ được duyệt hoặc yêu cầu hỗ trợ sơ tán.</a:t>
            </a:r>
          </a:p>
          <a:p>
            <a:r>
              <a:t>Workflows: WF-13</a:t>
            </a:r>
          </a:p>
          <a:p>
            <a:r>
              <a:t>Screens: C03</a:t>
            </a:r>
          </a:p>
          <a:p/>
          <a:p>
            <a:r>
              <a:t>FR-C04: Hướng dẫn bằng giọng nói: Nghe/đọc cùng chỉ dẫn và quay lại sơ đồ.</a:t>
            </a:r>
          </a:p>
          <a:p>
            <a:r>
              <a:t>Workflows: WF-13</a:t>
            </a:r>
          </a:p>
          <a:p>
            <a:r>
              <a:t>Screens: C04</a:t>
            </a:r>
          </a:p>
          <a:p/>
          <a:p>
            <a:r>
              <a:t>FR-C05: Chọn loại trợ giúp: Chọn loại trợ giúp trước khi bổ sung vị trí.</a:t>
            </a:r>
          </a:p>
          <a:p>
            <a:r>
              <a:t>Workflows: WF-05</a:t>
            </a:r>
          </a:p>
          <a:p>
            <a:r>
              <a:t>Screens: C05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FR-C06: Vị trí và nội dung SOS: Nhập vị trí, số người và ghi chú rồi xem lại SOS.</a:t>
            </a:r>
          </a:p>
          <a:p>
            <a:r>
              <a:t>Workflows: WF-05</a:t>
            </a:r>
          </a:p>
          <a:p>
            <a:r>
              <a:t>Screens: C06</a:t>
            </a:r>
          </a:p>
          <a:p/>
          <a:p>
            <a:r>
              <a:t>FR-C07: Xác nhận gửi SOS: Xác nhận phạm vi chia sẻ và gửi SOS tới đơn vị nhận.</a:t>
            </a:r>
          </a:p>
          <a:p>
            <a:r>
              <a:t>Workflows: WF-05</a:t>
            </a:r>
          </a:p>
          <a:p>
            <a:r>
              <a:t>Screens: C07</a:t>
            </a:r>
          </a:p>
          <a:p/>
          <a:p>
            <a:r>
              <a:t>FR-C08: Theo dõi yêu cầu trợ giúp: Theo dõi biên nhận, ACK, phân công và liên hệ đội.</a:t>
            </a:r>
          </a:p>
          <a:p>
            <a:r>
              <a:t>Workflows: WF-05</a:t>
            </a:r>
          </a:p>
          <a:p>
            <a:r>
              <a:t>Screens: C08</a:t>
            </a:r>
          </a:p>
          <a:p/>
          <a:p>
            <a:r>
              <a:t>FR-C09: Trao đổi với đội ứng cứu: Trao đổi tin nhắn sự cố với đội ứng cứu được giao.</a:t>
            </a:r>
          </a:p>
          <a:p>
            <a:r>
              <a:t>Workflows: WF-05</a:t>
            </a:r>
          </a:p>
          <a:p>
            <a:r>
              <a:t>Screens: C09</a:t>
            </a:r>
          </a:p>
          <a:p/>
          <a:p>
            <a:r>
              <a:t>FR-C10: Cập nhật hoặc đề nghị hủy SOS: Cập nhật hoặc yêu cầu hủy SOS để operator xem xét.</a:t>
            </a:r>
          </a:p>
          <a:p>
            <a:r>
              <a:t>Workflows: WF-05</a:t>
            </a:r>
          </a:p>
          <a:p>
            <a:r>
              <a:t>Screens: C10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FR-C11: Báo trạng thái an toàn: Tự báo trạng thái an toàn và chọn phạm vi chia sẻ.</a:t>
            </a:r>
          </a:p>
          <a:p>
            <a:r>
              <a:t>Workflows: WF-12</a:t>
            </a:r>
          </a:p>
          <a:p>
            <a:r>
              <a:t>Screens: C11</a:t>
            </a:r>
          </a:p>
          <a:p/>
          <a:p>
            <a:r>
              <a:t>FR-C12: Biên nhận báo an toàn: Xem biên nhận báo an toàn và kết quả gửi nhóm/liên hệ.</a:t>
            </a:r>
          </a:p>
          <a:p>
            <a:r>
              <a:t>Workflows: WF-12</a:t>
            </a:r>
          </a:p>
          <a:p>
            <a:r>
              <a:t>Screens: C12</a:t>
            </a:r>
          </a:p>
          <a:p/>
          <a:p>
            <a:r>
              <a:t>FR-C13: Hộp thông báo: Mở thông báo và phân biệt đã gửi, nhận, đọc.</a:t>
            </a:r>
          </a:p>
          <a:p>
            <a:r>
              <a:t>Workflows: WF-10</a:t>
            </a:r>
          </a:p>
          <a:p>
            <a:r>
              <a:t>Screens: C13</a:t>
            </a:r>
          </a:p>
          <a:p/>
          <a:p>
            <a:r>
              <a:t>FR-C14: Nguy cơ gần bạn: Xem nguy cơ lân cận theo nguồn và khoảng cách.</a:t>
            </a:r>
          </a:p>
          <a:p>
            <a:r>
              <a:t>Workflows: WF-08</a:t>
            </a:r>
          </a:p>
          <a:p>
            <a:r>
              <a:t>Screens: C14</a:t>
            </a:r>
          </a:p>
          <a:p/>
          <a:p>
            <a:r>
              <a:t>FR-C15: Thông tin thiên tai: Đọc cảnh báo thiên tai và tìm điểm hỗ trợ.</a:t>
            </a:r>
          </a:p>
          <a:p>
            <a:r>
              <a:t>Workflows: WF-08</a:t>
            </a:r>
          </a:p>
          <a:p>
            <a:r>
              <a:t>Screens: C15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FR-C16: Nơi trú ẩn và điểm tập kết: Tìm shelter/điểm tập kết theo trạng thái và accessibility.</a:t>
            </a:r>
          </a:p>
          <a:p>
            <a:r>
              <a:t>Workflows: WF-13</a:t>
            </a:r>
          </a:p>
          <a:p>
            <a:r>
              <a:t>Screens: C16</a:t>
            </a:r>
          </a:p>
          <a:p/>
          <a:p>
            <a:r>
              <a:t>FR-C17: Chi tiết nơi trú ẩn: Xem sức chứa/địa chỉ và lưu shelter dùng offline.</a:t>
            </a:r>
          </a:p>
          <a:p>
            <a:r>
              <a:t>Workflows: WF-13</a:t>
            </a:r>
          </a:p>
          <a:p>
            <a:r>
              <a:t>Screens: C17</a:t>
            </a:r>
          </a:p>
          <a:p/>
          <a:p>
            <a:r>
              <a:t>FR-C18: Thông tin an toàn ngoại tuyến: Đọc sơ đồ, liên hệ, chỉ dẫn đã cache kèm revision.</a:t>
            </a:r>
          </a:p>
          <a:p>
            <a:r>
              <a:t>Workflows: WF-13</a:t>
            </a:r>
          </a:p>
          <a:p>
            <a:r>
              <a:t>Screens: C18</a:t>
            </a:r>
          </a:p>
          <a:p/>
          <a:p>
            <a:r>
              <a:t>FR-C19: Các nhóm của tôi: Mở nhóm được đăng ký nhận cập nhật an toàn.</a:t>
            </a:r>
          </a:p>
          <a:p>
            <a:r>
              <a:t>Workflows: WF-12</a:t>
            </a:r>
          </a:p>
          <a:p>
            <a:r>
              <a:t>Screens: C19</a:t>
            </a:r>
          </a:p>
          <a:p/>
          <a:p>
            <a:r>
              <a:t>FR-C20: Trò chuyện trong nhóm: Trao đổi trong nhóm và xem trạng thái thành viên.</a:t>
            </a:r>
          </a:p>
          <a:p>
            <a:r>
              <a:t>Workflows: WF-12</a:t>
            </a:r>
          </a:p>
          <a:p>
            <a:r>
              <a:t>Screens: C20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FR-C21: Tạo hoặc sửa nhóm: Lưu thành viên, cách mời và quy tắc chia sẻ nhóm.</a:t>
            </a:r>
          </a:p>
          <a:p>
            <a:r>
              <a:t>Workflows: WF-12</a:t>
            </a:r>
          </a:p>
          <a:p>
            <a:r>
              <a:t>Screens: C21</a:t>
            </a:r>
          </a:p>
          <a:p/>
          <a:p>
            <a:r>
              <a:t>FR-C22: Trạng thái thành viên: Xem trạng thái có nguồn và gửi yêu cầu check-in.</a:t>
            </a:r>
          </a:p>
          <a:p>
            <a:r>
              <a:t>Workflows: WF-12</a:t>
            </a:r>
          </a:p>
          <a:p>
            <a:r>
              <a:t>Screens: C22</a:t>
            </a:r>
          </a:p>
          <a:p/>
          <a:p>
            <a:r>
              <a:t>FR-C23: Liên hệ khẩn cấp: Lưu liên hệ khẩn cấp, kênh và phạm vi thông tin.</a:t>
            </a:r>
          </a:p>
          <a:p>
            <a:r>
              <a:t>Workflows: WF-12</a:t>
            </a:r>
          </a:p>
          <a:p>
            <a:r>
              <a:t>Screens: C23</a:t>
            </a:r>
          </a:p>
          <a:p/>
          <a:p>
            <a:r>
              <a:t>FR-C24: Chăm sóc và phát hiện té ngã: Cấu hình detector té ngã được hỗ trợ và thử cảnh báo.</a:t>
            </a:r>
          </a:p>
          <a:p>
            <a:r>
              <a:t>Workflows: WF-06</a:t>
            </a:r>
          </a:p>
          <a:p>
            <a:r>
              <a:t>Screens: C24</a:t>
            </a:r>
          </a:p>
          <a:p/>
          <a:p>
            <a:r>
              <a:t>FR-C25: Kiểm tra sau nghi ngờ té ngã: Phản hồi check-in té ngã hoặc yêu cầu trợ giúp ngay.</a:t>
            </a:r>
          </a:p>
          <a:p>
            <a:r>
              <a:t>Workflows: WF-06</a:t>
            </a:r>
          </a:p>
          <a:p>
            <a:r>
              <a:t>Screens: C25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FR-C26: Báo sự cố giao thông: Báo vị trí, hướng đường và thông tin tai nạn chưa rõ.</a:t>
            </a:r>
          </a:p>
          <a:p>
            <a:r>
              <a:t>Workflows: WF-07</a:t>
            </a:r>
          </a:p>
          <a:p>
            <a:r>
              <a:t>Screens: C26</a:t>
            </a:r>
          </a:p>
          <a:p/>
          <a:p>
            <a:r>
              <a:t>FR-C27: Yêu cầu trợ giúp kín đáo: Gửi yêu cầu kín đáo qua giao diện yên lặng.</a:t>
            </a:r>
          </a:p>
          <a:p>
            <a:r>
              <a:t>Workflows: WF-05</a:t>
            </a:r>
          </a:p>
          <a:p>
            <a:r>
              <a:t>Screens: C27</a:t>
            </a:r>
          </a:p>
          <a:p/>
          <a:p>
            <a:r>
              <a:t>FR-C28: Lịch sử yêu cầu: Xem lịch sử báo cáo và mở yêu cầu trợ giúp.</a:t>
            </a:r>
          </a:p>
          <a:p>
            <a:r>
              <a:t>Workflows: WF-05</a:t>
            </a:r>
          </a:p>
          <a:p>
            <a:r>
              <a:t>Screens: C28</a:t>
            </a:r>
          </a:p>
          <a:p/>
          <a:p>
            <a:r>
              <a:t>FR-C29: Quyền riêng tư và dữ liệu: Điều chỉnh chia sẻ tùy chọn và yêu cầu dữ liệu.</a:t>
            </a:r>
          </a:p>
          <a:p>
            <a:r>
              <a:t>Workflows: WF-19</a:t>
            </a:r>
          </a:p>
          <a:p>
            <a:r>
              <a:t>Screens: C29</a:t>
            </a:r>
          </a:p>
          <a:p/>
          <a:p>
            <a:r>
              <a:t>FR-C30: Biên nhận yêu cầu dữ liệu: Xem biên nhận yêu cầu dữ liệu, không coi đã xử lý xong.</a:t>
            </a:r>
          </a:p>
          <a:p>
            <a:r>
              <a:t>Workflows: WF-19</a:t>
            </a:r>
          </a:p>
          <a:p>
            <a:r>
              <a:t>Screens: C30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FR-C31: Thành viên và lời mời nhóm: Quản lý membership và lời mời nhóm.</a:t>
            </a:r>
          </a:p>
          <a:p>
            <a:r>
              <a:t>Workflows: WF-12</a:t>
            </a:r>
          </a:p>
          <a:p>
            <a:r>
              <a:t>Screens: C31</a:t>
            </a:r>
          </a:p>
          <a:p/>
          <a:p>
            <a:r>
              <a:t>FR-C32: Mời thành viên nhóm: Tạo lời mời người tin cậy vào nhóm.</a:t>
            </a:r>
          </a:p>
          <a:p>
            <a:r>
              <a:t>Workflows: WF-12</a:t>
            </a:r>
          </a:p>
          <a:p>
            <a:r>
              <a:t>Screens: C32</a:t>
            </a:r>
          </a:p>
          <a:p/>
          <a:p>
            <a:r>
              <a:t>FR-C33: Báo cáo hoặc chặn hội thoại: Báo cáo hoặc chặn liên lạc xã hội không mong muốn.</a:t>
            </a:r>
          </a:p>
          <a:p>
            <a:r>
              <a:t>Workflows: WF-12</a:t>
            </a:r>
          </a:p>
          <a:p>
            <a:r>
              <a:t>Screens: C33</a:t>
            </a:r>
          </a:p>
          <a:p/>
          <a:p>
            <a:r>
              <a:t>FR-C34: Tùy chọn thông báo: Lưu kênh thông báo và giờ yên lặng.</a:t>
            </a:r>
          </a:p>
          <a:p>
            <a:r>
              <a:t>Workflows: WF-10</a:t>
            </a:r>
          </a:p>
          <a:p>
            <a:r>
              <a:t>Screens: C34</a:t>
            </a:r>
          </a:p>
          <a:p/>
          <a:p>
            <a:r>
              <a:t>FR-C35: Dẫn đường thoát hiểm bằng giọng nói: Theo dõi từng chặng hướng dẫn voice đã review.</a:t>
            </a:r>
          </a:p>
          <a:p>
            <a:r>
              <a:t>Workflows: WF-22</a:t>
            </a:r>
          </a:p>
          <a:p>
            <a:r>
              <a:t>Screens: C35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FR-C36: Chặng dẫn đường và phương hướng: Đọc mốc định hướng và phát lại chỉ dẫn.</a:t>
            </a:r>
          </a:p>
          <a:p>
            <a:r>
              <a:t>Workflows: WF-22</a:t>
            </a:r>
          </a:p>
          <a:p>
            <a:r>
              <a:t>Screens: C36</a:t>
            </a:r>
          </a:p>
          <a:p/>
          <a:p>
            <a:r>
              <a:t>FR-C37: Thông báo thay đổi tuyến: Thông báo tuyến cũ bị rút và xem tuyến mới.</a:t>
            </a:r>
          </a:p>
          <a:p>
            <a:r>
              <a:t>Workflows: WF-22</a:t>
            </a:r>
          </a:p>
          <a:p>
            <a:r>
              <a:t>Screens: C37</a:t>
            </a:r>
          </a:p>
          <a:p/>
          <a:p>
            <a:r>
              <a:t>FR-C38: Chưa rõ vị trí hoặc không có tuyến: Hiện vị trí/route chưa xác minh và yêu cầu trợ giúp.</a:t>
            </a:r>
          </a:p>
          <a:p>
            <a:r>
              <a:t>Workflows: WF-22</a:t>
            </a:r>
          </a:p>
          <a:p>
            <a:r>
              <a:t>Screens: C38</a:t>
            </a:r>
          </a:p>
          <a:p/>
          <a:p>
            <a:r>
              <a:t>FR-C39: Di chuyển khỏi vùng nguy hiểm: Theo hướng dẫn ngoài trời tránh vùng hạn chế.</a:t>
            </a:r>
          </a:p>
          <a:p>
            <a:r>
              <a:t>Workflows: WF-22</a:t>
            </a:r>
          </a:p>
          <a:p>
            <a:r>
              <a:t>Screens: C39</a:t>
            </a:r>
          </a:p>
          <a:p/>
          <a:p>
            <a:r>
              <a:t>FR-C40: Ngôn ngữ và tùy chọn giọng đọc: Lưu ngôn ngữ/cách nhận voice guidance.</a:t>
            </a:r>
          </a:p>
          <a:p>
            <a:r>
              <a:t>Workflows: WF-22</a:t>
            </a:r>
          </a:p>
          <a:p>
            <a:r>
              <a:t>Screens: C40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FR-R01: Ca trực và trạng thái sẵn sàng: Khai báo ca trực/sẵn sàng và xem nhiệm vụ.</a:t>
            </a:r>
          </a:p>
          <a:p>
            <a:r>
              <a:t>Workflows: WF-11</a:t>
            </a:r>
          </a:p>
          <a:p>
            <a:r>
              <a:t>Screens: R01</a:t>
            </a:r>
          </a:p>
          <a:p/>
          <a:p>
            <a:r>
              <a:t>FR-R02: Nhiệm vụ được giao: Mở nhiệm vụ được đề nghị cho đội.</a:t>
            </a:r>
          </a:p>
          <a:p>
            <a:r>
              <a:t>Workflows: WF-11</a:t>
            </a:r>
          </a:p>
          <a:p>
            <a:r>
              <a:t>Screens: R02</a:t>
            </a:r>
          </a:p>
          <a:p/>
          <a:p>
            <a:r>
              <a:t>FR-R03: Tiếp nhận nhiệm vụ: Nhận hoặc từ chối nhiệm vụ theo version hiện hành.</a:t>
            </a:r>
          </a:p>
          <a:p>
            <a:r>
              <a:t>Workflows: WF-11</a:t>
            </a:r>
          </a:p>
          <a:p>
            <a:r>
              <a:t>Screens: R03</a:t>
            </a:r>
          </a:p>
          <a:p/>
          <a:p>
            <a:r>
              <a:t>FR-R04: Đường tiếp cận và đến nơi: Xem lối tiếp cận và báo đã đến hiện trường.</a:t>
            </a:r>
          </a:p>
          <a:p>
            <a:r>
              <a:t>Workflows: WF-11</a:t>
            </a:r>
          </a:p>
          <a:p>
            <a:r>
              <a:t>Screens: R04</a:t>
            </a:r>
          </a:p>
          <a:p/>
          <a:p>
            <a:r>
              <a:t>FR-R05: Tình hình hiện trường: Xem bối cảnh hiện trường và hồ sơ cần trợ giúp.</a:t>
            </a:r>
          </a:p>
          <a:p>
            <a:r>
              <a:t>Workflows: WF-11</a:t>
            </a:r>
          </a:p>
          <a:p>
            <a:r>
              <a:t>Screens: R05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FR-R06: Hồ sơ hỗ trợ tại hiện trường: Ghi quan sát hỗ trợ/triage, không suy thành chẩn đoán.</a:t>
            </a:r>
          </a:p>
          <a:p>
            <a:r>
              <a:t>Workflows: WF-11</a:t>
            </a:r>
          </a:p>
          <a:p>
            <a:r>
              <a:t>Screens: R06</a:t>
            </a:r>
          </a:p>
          <a:p/>
          <a:p>
            <a:r>
              <a:t>FR-R07: Trạng thái và bàn giao nhiệm vụ: Cập nhật nhiệm vụ và gửi hồ sơ bàn giao.</a:t>
            </a:r>
          </a:p>
          <a:p>
            <a:r>
              <a:t>Workflows: WF-11</a:t>
            </a:r>
          </a:p>
          <a:p>
            <a:r>
              <a:t>Screens: R07</a:t>
            </a:r>
          </a:p>
          <a:p/>
          <a:p>
            <a:r>
              <a:t>FR-R08: Hoàn tất nhiệm vụ: Xem hoàn tất nhiệm vụ rồi trở về ca trực.</a:t>
            </a:r>
          </a:p>
          <a:p>
            <a:r>
              <a:t>Workflows: WF-11</a:t>
            </a:r>
          </a:p>
          <a:p>
            <a:r>
              <a:t>Screens: R08</a:t>
            </a:r>
          </a:p>
          <a:p/>
          <a:p>
            <a:r>
              <a:t>FR-R09: Trao đổi trong đội: Trao đổi qua kênh liên lạc đội theo sự cố.</a:t>
            </a:r>
          </a:p>
          <a:p>
            <a:r>
              <a:t>Workflows: WF-11</a:t>
            </a:r>
          </a:p>
          <a:p>
            <a:r>
              <a:t>Screens: R09</a:t>
            </a:r>
          </a:p>
          <a:p/>
          <a:p>
            <a:r>
              <a:t>FR-R10: Ghi nhận bằng chứng: Đính kèm bằng chứng quan sát và đưa vào outbox.</a:t>
            </a:r>
          </a:p>
          <a:p>
            <a:r>
              <a:t>Workflows: WF-11</a:t>
            </a:r>
          </a:p>
          <a:p>
            <a:r>
              <a:t>Screens: R10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FR-R11: Dữ liệu chờ đồng bộ: Xem cập nhật chờ sync và xử lý xung đột.</a:t>
            </a:r>
          </a:p>
          <a:p>
            <a:r>
              <a:t>Workflows: WF-11</a:t>
            </a:r>
          </a:p>
          <a:p>
            <a:r>
              <a:t>Screens: R11</a:t>
            </a:r>
          </a:p>
          <a:p/>
          <a:p>
            <a:r>
              <a:t>FR-R12: Xử lý xung đột đồng bộ: Giữ ghi chú hiện trường, tải lại trạng thái phân công.</a:t>
            </a:r>
          </a:p>
          <a:p>
            <a:r>
              <a:t>Workflows: WF-11</a:t>
            </a:r>
          </a:p>
          <a:p>
            <a:r>
              <a:t>Screens: R12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FR-O01: Tổng quan điều hành: Mở sự cố ưu tiên từ tổng quan điều hành.</a:t>
            </a:r>
          </a:p>
          <a:p>
            <a:r>
              <a:t>Workflows: WF-20</a:t>
            </a:r>
          </a:p>
          <a:p>
            <a:r>
              <a:t>Screens: O01</a:t>
            </a:r>
          </a:p>
          <a:p/>
          <a:p>
            <a:r>
              <a:t>FR-O02: Bản đồ tình hình: Xem bản đồ sự cố trong region được cấp quyền.</a:t>
            </a:r>
          </a:p>
          <a:p>
            <a:r>
              <a:t>Workflows: WF-20</a:t>
            </a:r>
          </a:p>
          <a:p>
            <a:r>
              <a:t>Screens: O02</a:t>
            </a:r>
          </a:p>
          <a:p/>
          <a:p>
            <a:r>
              <a:t>FR-O03: Hàng đợi xác minh tín hiệu: Phân loại tín hiệu và mở bằng chứng để kiểm tra.</a:t>
            </a:r>
          </a:p>
          <a:p>
            <a:r>
              <a:t>Workflows: WF-03</a:t>
            </a:r>
          </a:p>
          <a:p>
            <a:r>
              <a:t>Screens: O03</a:t>
            </a:r>
          </a:p>
          <a:p/>
          <a:p>
            <a:r>
              <a:t>FR-O04: Không gian xử lý sự cố: Điều hành một incident với evidence, người và dispatch.</a:t>
            </a:r>
          </a:p>
          <a:p>
            <a:r>
              <a:t>Workflows: WF-20</a:t>
            </a:r>
          </a:p>
          <a:p>
            <a:r>
              <a:t>Screens: O04</a:t>
            </a:r>
          </a:p>
          <a:p/>
          <a:p>
            <a:r>
              <a:t>FR-O05: Kiểm tra bằng chứng: Kiểm bằng chứng camera/cảm biến trước lập incident.</a:t>
            </a:r>
          </a:p>
          <a:p>
            <a:r>
              <a:t>Workflows: WF-04</a:t>
            </a:r>
          </a:p>
          <a:p>
            <a:r>
              <a:t>Screens: O05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FR-O06: Tạo sự cố: Lập incident với hazard, vị trí và owner.</a:t>
            </a:r>
          </a:p>
          <a:p>
            <a:r>
              <a:t>Workflows: WF-04</a:t>
            </a:r>
          </a:p>
          <a:p>
            <a:r>
              <a:t>Screens: O06</a:t>
            </a:r>
          </a:p>
          <a:p/>
          <a:p>
            <a:r>
              <a:t>FR-O07: Liên kết hoặc tách sự cố: Liên kết/tách báo cáo trùng, giữ bằng chứng và audit.</a:t>
            </a:r>
          </a:p>
          <a:p>
            <a:r>
              <a:t>Workflows: WF-04</a:t>
            </a:r>
          </a:p>
          <a:p>
            <a:r>
              <a:t>Screens: O07</a:t>
            </a:r>
          </a:p>
          <a:p/>
          <a:p>
            <a:r>
              <a:t>FR-O08: Bảng điều phối: Chọn đội theo khả năng, sẵn sàng và quyền site.</a:t>
            </a:r>
          </a:p>
          <a:p>
            <a:r>
              <a:t>Workflows: WF-11</a:t>
            </a:r>
          </a:p>
          <a:p>
            <a:r>
              <a:t>Screens: O08</a:t>
            </a:r>
          </a:p>
          <a:p/>
          <a:p>
            <a:r>
              <a:t>FR-O09: Phân công đội ứng cứu: Xác nhận giao nhiệm vụ và owner chịu trách nhiệm.</a:t>
            </a:r>
          </a:p>
          <a:p>
            <a:r>
              <a:t>Workflows: WF-11</a:t>
            </a:r>
          </a:p>
          <a:p>
            <a:r>
              <a:t>Screens: O09</a:t>
            </a:r>
          </a:p>
          <a:p/>
          <a:p>
            <a:r>
              <a:t>FR-O10: Dòng thời gian ứng cứu: Xem timeline quyết định và kiểm trạng thái con người.</a:t>
            </a:r>
          </a:p>
          <a:p>
            <a:r>
              <a:t>Workflows: WF-11</a:t>
            </a:r>
          </a:p>
          <a:p>
            <a:r>
              <a:t>Screens: O10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FR-O11: Theo dõi trạng thái con người: Phân biệt người có báo cáo với người chưa rõ.</a:t>
            </a:r>
          </a:p>
          <a:p>
            <a:r>
              <a:t>Workflows: WF-12</a:t>
            </a:r>
          </a:p>
          <a:p>
            <a:r>
              <a:t>Screens: O11</a:t>
            </a:r>
          </a:p>
          <a:p/>
          <a:p>
            <a:r>
              <a:t>FR-O12: Chi tiết yêu cầu hỗ trợ: Xem nhu cầu cá nhân và phân công trợ giúp.</a:t>
            </a:r>
          </a:p>
          <a:p>
            <a:r>
              <a:t>Workflows: WF-12</a:t>
            </a:r>
          </a:p>
          <a:p>
            <a:r>
              <a:t>Screens: O12</a:t>
            </a:r>
          </a:p>
          <a:p/>
          <a:p>
            <a:r>
              <a:t>FR-O13: Soạn cảnh báo: Soạn cảnh báo có incident, nội dung, vùng và expiry.</a:t>
            </a:r>
          </a:p>
          <a:p>
            <a:r>
              <a:t>Workflows: WF-09</a:t>
            </a:r>
          </a:p>
          <a:p>
            <a:r>
              <a:t>Screens: O13</a:t>
            </a:r>
          </a:p>
          <a:p/>
          <a:p>
            <a:r>
              <a:t>FR-O14: Xem trước nội dung và người nhận: Xem trước thông điệp/audience và gửi duyệt.</a:t>
            </a:r>
          </a:p>
          <a:p>
            <a:r>
              <a:t>Workflows: WF-09</a:t>
            </a:r>
          </a:p>
          <a:p>
            <a:r>
              <a:t>Screens: O14</a:t>
            </a:r>
          </a:p>
          <a:p/>
          <a:p>
            <a:r>
              <a:t>FR-O15: Duyệt cảnh báo: Duyệt độc lập đúng version cảnh báo và audience.</a:t>
            </a:r>
          </a:p>
          <a:p>
            <a:r>
              <a:t>Workflows: WF-09</a:t>
            </a:r>
          </a:p>
          <a:p>
            <a:r>
              <a:t>Screens: O15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FR-O16: Gửi tin và chuyển cấp: Theo dõi từng kênh gửi, ACK và chuyển cấp.</a:t>
            </a:r>
          </a:p>
          <a:p>
            <a:r>
              <a:t>Workflows: WF-10</a:t>
            </a:r>
          </a:p>
          <a:p>
            <a:r>
              <a:t>Screens: O16</a:t>
            </a:r>
          </a:p>
          <a:p/>
          <a:p>
            <a:r>
              <a:t>FR-O17: Xử lý gửi tin thất bại: Xem lỗi gửi và lập fallback theo policy.</a:t>
            </a:r>
          </a:p>
          <a:p>
            <a:r>
              <a:t>Workflows: WF-10</a:t>
            </a:r>
          </a:p>
          <a:p>
            <a:r>
              <a:t>Screens: O17</a:t>
            </a:r>
          </a:p>
          <a:p/>
          <a:p>
            <a:r>
              <a:t>FR-O18: Duyệt lệnh thiết bị: Duyệt hành động thiết bị theo capability/interlock.</a:t>
            </a:r>
          </a:p>
          <a:p>
            <a:r>
              <a:t>Workflows: WF-15</a:t>
            </a:r>
          </a:p>
          <a:p>
            <a:r>
              <a:t>Screens: O18</a:t>
            </a:r>
          </a:p>
          <a:p/>
          <a:p>
            <a:r>
              <a:t>FR-O19: Trạng thái thực thi lệnh: Đọc bằng chứng controller, giữ unknown nếu thiếu feedback.</a:t>
            </a:r>
          </a:p>
          <a:p>
            <a:r>
              <a:t>Workflows: WF-15</a:t>
            </a:r>
          </a:p>
          <a:p>
            <a:r>
              <a:t>Screens: O19</a:t>
            </a:r>
          </a:p>
          <a:p/>
          <a:p>
            <a:r>
              <a:t>FR-O20: Kiểm tra trước khi đóng sự cố: Kiểm SOS/task/người chưa rõ trước đóng incident.</a:t>
            </a:r>
          </a:p>
          <a:p>
            <a:r>
              <a:t>Workflows: WF-20</a:t>
            </a:r>
          </a:p>
          <a:p>
            <a:r>
              <a:t>Screens: O20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FR-O21: Đánh giá sau sự cố: Đánh giá sau sự cố và tạo việc cải tiến.</a:t>
            </a:r>
          </a:p>
          <a:p>
            <a:r>
              <a:t>Workflows: WF-20</a:t>
            </a:r>
          </a:p>
          <a:p>
            <a:r>
              <a:t>Screens: O21</a:t>
            </a:r>
          </a:p>
          <a:p/>
          <a:p>
            <a:r>
              <a:t>FR-O22: Hành động cải tiến: Giao owner, hạn và nội dung cho việc cải tiến.</a:t>
            </a:r>
          </a:p>
          <a:p>
            <a:r>
              <a:t>Workflows: WF-20</a:t>
            </a:r>
          </a:p>
          <a:p>
            <a:r>
              <a:t>Screens: O22</a:t>
            </a:r>
          </a:p>
          <a:p/>
          <a:p>
            <a:r>
              <a:t>FR-O23: Lập lịch diễn tập: Lập lịch diễn tập tách người nhận thật.</a:t>
            </a:r>
          </a:p>
          <a:p>
            <a:r>
              <a:t>Workflows: WF-20</a:t>
            </a:r>
          </a:p>
          <a:p>
            <a:r>
              <a:t>Screens: O23</a:t>
            </a:r>
          </a:p>
          <a:p/>
          <a:p>
            <a:r>
              <a:t>FR-O24: Điều hành diễn tập: Điều hành bài diễn tập và xem báo cáo kết quả.</a:t>
            </a:r>
          </a:p>
          <a:p>
            <a:r>
              <a:t>Workflows: WF-20</a:t>
            </a:r>
          </a:p>
          <a:p>
            <a:r>
              <a:t>Screens: O24</a:t>
            </a:r>
          </a:p>
          <a:p/>
          <a:p>
            <a:r>
              <a:t>FR-O25: Bàn giao ca trực: Bàn giao trách nhiệm vận hành có người nhận.</a:t>
            </a:r>
          </a:p>
          <a:p>
            <a:r>
              <a:t>Workflows: WF-20</a:t>
            </a:r>
          </a:p>
          <a:p>
            <a:r>
              <a:t>Screens: O25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FR-O26: Vận hành nơi trú ẩn: Xem trạng thái/sức chứa shelter và cập nhật.</a:t>
            </a:r>
          </a:p>
          <a:p>
            <a:r>
              <a:t>Workflows: WF-13</a:t>
            </a:r>
          </a:p>
          <a:p>
            <a:r>
              <a:t>Screens: O26</a:t>
            </a:r>
          </a:p>
          <a:p/>
          <a:p>
            <a:r>
              <a:t>FR-O27: Cập nhật nơi trú ẩn: Công bố trạng thái shelter có thời điểm/hiệu lực.</a:t>
            </a:r>
          </a:p>
          <a:p>
            <a:r>
              <a:t>Workflows: WF-13</a:t>
            </a:r>
          </a:p>
          <a:p>
            <a:r>
              <a:t>Screens: O27</a:t>
            </a:r>
          </a:p>
          <a:p/>
          <a:p>
            <a:r>
              <a:t>FR-O28: Nguồn cảnh báo thiên tai: Xem feed thiên tai từ nguồn được cho phép.</a:t>
            </a:r>
          </a:p>
          <a:p>
            <a:r>
              <a:t>Workflows: WF-08</a:t>
            </a:r>
          </a:p>
          <a:p>
            <a:r>
              <a:t>Screens: O28</a:t>
            </a:r>
          </a:p>
          <a:p/>
          <a:p>
            <a:r>
              <a:t>FR-O29: Kiểm tra thông điệp CAP: Kiểm CAP và tạo phản ứng cục bộ, giữ context nguồn.</a:t>
            </a:r>
          </a:p>
          <a:p>
            <a:r>
              <a:t>Workflows: WF-08</a:t>
            </a:r>
          </a:p>
          <a:p>
            <a:r>
              <a:t>Screens: O29</a:t>
            </a:r>
          </a:p>
          <a:p/>
          <a:p>
            <a:r>
              <a:t>FR-O30: Tìm kiếm và lịch sử kiểm toán: Tìm event/audit mà không sửa lịch sử.</a:t>
            </a:r>
          </a:p>
          <a:p>
            <a:r>
              <a:t>Workflows: WF-19</a:t>
            </a:r>
          </a:p>
          <a:p>
            <a:r>
              <a:t>Screens: O30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FR-O31: Lưu trữ và mở lại sự cố: Xem incident đã đóng và lịch sử trước reopen.</a:t>
            </a:r>
          </a:p>
          <a:p>
            <a:r>
              <a:t>Workflows: WF-20</a:t>
            </a:r>
          </a:p>
          <a:p>
            <a:r>
              <a:t>Screens: O31</a:t>
            </a:r>
          </a:p>
          <a:p/>
          <a:p>
            <a:r>
              <a:t>FR-O32: Mở lại sự cố: Mở lại incident với lý do được ghi nhận.</a:t>
            </a:r>
          </a:p>
          <a:p>
            <a:r>
              <a:t>Workflows: WF-20</a:t>
            </a:r>
          </a:p>
          <a:p>
            <a:r>
              <a:t>Screens: O32</a:t>
            </a:r>
          </a:p>
          <a:p/>
          <a:p>
            <a:r>
              <a:t>FR-O33: Chia sẻ sự cố liên tổ chức: Chia sẻ projection incident theo thỏa thuận.</a:t>
            </a:r>
          </a:p>
          <a:p>
            <a:r>
              <a:t>Workflows: WF-17</a:t>
            </a:r>
          </a:p>
          <a:p>
            <a:r>
              <a:t>Screens: O33</a:t>
            </a:r>
          </a:p>
          <a:p/>
          <a:p>
            <a:r>
              <a:t>FR-O34: Hàng đợi hỗ trợ tiếp cận: Phân đội đủ khả năng theo nhu cầu accessibility.</a:t>
            </a:r>
          </a:p>
          <a:p>
            <a:r>
              <a:t>Workflows: WF-11</a:t>
            </a:r>
          </a:p>
          <a:p>
            <a:r>
              <a:t>Screens: O34</a:t>
            </a:r>
          </a:p>
          <a:p/>
          <a:p>
            <a:r>
              <a:t>FR-O35: Vùng nguy hiểm và hạn chế di chuyển: Công bố hạn chế di chuyển có thời hạn.</a:t>
            </a:r>
          </a:p>
          <a:p>
            <a:r>
              <a:t>Workflows: WF-22</a:t>
            </a:r>
          </a:p>
          <a:p>
            <a:r>
              <a:t>Screens: O35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FR-O36: Phân phối hướng dẫn và biên nhận: Đối chiếu guidance version/receipt app và loa.</a:t>
            </a:r>
          </a:p>
          <a:p>
            <a:r>
              <a:t>Workflows: WF-22</a:t>
            </a:r>
          </a:p>
          <a:p>
            <a:r>
              <a:t>Screens: O36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FR-S01: Danh mục địa điểm: Tìm site trong mô hình vị trí dùng chung.</a:t>
            </a:r>
          </a:p>
          <a:p>
            <a:r>
              <a:t>Workflows: WF-02</a:t>
            </a:r>
          </a:p>
          <a:p>
            <a:r>
              <a:t>Screens: S01</a:t>
            </a:r>
          </a:p>
          <a:p/>
          <a:p>
            <a:r>
              <a:t>FR-S02: Cấu trúc địa điểm: Xem cây site/building/floor/zone và chọn vị trí.</a:t>
            </a:r>
          </a:p>
          <a:p>
            <a:r>
              <a:t>Workflows: WF-02</a:t>
            </a:r>
          </a:p>
          <a:p>
            <a:r>
              <a:t>Screens: S02</a:t>
            </a:r>
          </a:p>
          <a:p/>
          <a:p>
            <a:r>
              <a:t>FR-S03: Chỉnh sửa vị trí: Lưu vị trí gắn tenant, tọa độ và cấu trúc vật lý.</a:t>
            </a:r>
          </a:p>
          <a:p>
            <a:r>
              <a:t>Workflows: WF-02</a:t>
            </a:r>
          </a:p>
          <a:p>
            <a:r>
              <a:t>Screens: S03</a:t>
            </a:r>
          </a:p>
          <a:p/>
          <a:p>
            <a:r>
              <a:t>FR-S04: Biên tập sơ đồ tầng: Biên tập sơ đồ có exits/accessibility để gửi duyệt.</a:t>
            </a:r>
          </a:p>
          <a:p>
            <a:r>
              <a:t>Workflows: WF-02</a:t>
            </a:r>
          </a:p>
          <a:p>
            <a:r>
              <a:t>Screens: S04</a:t>
            </a:r>
          </a:p>
          <a:p/>
          <a:p>
            <a:r>
              <a:t>FR-S05: Phê duyệt và phiên bản sơ đồ: Duyệt và xuất bản revision sơ đồ có truy vết.</a:t>
            </a:r>
          </a:p>
          <a:p>
            <a:r>
              <a:t>Workflows: WF-02</a:t>
            </a:r>
          </a:p>
          <a:p>
            <a:r>
              <a:t>Screens: S05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FR-S06: Danh mục thiết bị: Xem inventory thiết bị và mở health detail.</a:t>
            </a:r>
          </a:p>
          <a:p>
            <a:r>
              <a:t>Workflows: WF-14</a:t>
            </a:r>
          </a:p>
          <a:p>
            <a:r>
              <a:t>Screens: S06</a:t>
            </a:r>
          </a:p>
          <a:p/>
          <a:p>
            <a:r>
              <a:t>FR-S07: Chi tiết và sức khỏe thiết bị: Xem health, source binding và cấu hình thiết bị.</a:t>
            </a:r>
          </a:p>
          <a:p>
            <a:r>
              <a:t>Workflows: WF-14</a:t>
            </a:r>
          </a:p>
          <a:p>
            <a:r>
              <a:t>Screens: S07</a:t>
            </a:r>
          </a:p>
          <a:p/>
          <a:p>
            <a:r>
              <a:t>FR-S08: Đăng ký thiết bị: Enroll thiết bị vào tenant bằng token/chứng chỉ.</a:t>
            </a:r>
          </a:p>
          <a:p>
            <a:r>
              <a:t>Workflows: WF-14</a:t>
            </a:r>
          </a:p>
          <a:p>
            <a:r>
              <a:t>Screens: S08</a:t>
            </a:r>
          </a:p>
          <a:p/>
          <a:p>
            <a:r>
              <a:t>FR-S09: Giám sát camera: Xem camera được chọn và mở evidence phát hiện.</a:t>
            </a:r>
          </a:p>
          <a:p>
            <a:r>
              <a:t>Workflows: WF-14</a:t>
            </a:r>
          </a:p>
          <a:p>
            <a:r>
              <a:t>Screens: S09</a:t>
            </a:r>
          </a:p>
          <a:p/>
          <a:p>
            <a:r>
              <a:t>FR-S10: Bảo trì và hiệu chuẩn: Lập bảo trì/calibration và hiển thị vùng thiếu bảo vệ.</a:t>
            </a:r>
          </a:p>
          <a:p>
            <a:r>
              <a:t>Workflows: WF-14</a:t>
            </a:r>
          </a:p>
          <a:p>
            <a:r>
              <a:t>Screens: S10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FR-S11: Thư viện quy tắc: Chọn rule phát hiện theo hazard/site để sửa.</a:t>
            </a:r>
          </a:p>
          <a:p>
            <a:r>
              <a:t>Workflows: WF-04</a:t>
            </a:r>
          </a:p>
          <a:p>
            <a:r>
              <a:t>Screens: S11</a:t>
            </a:r>
          </a:p>
          <a:p/>
          <a:p>
            <a:r>
              <a:t>FR-S12: Biên tập và mô phỏng quy tắc: Mô phỏng rule trên event đã ghi trước khi duyệt.</a:t>
            </a:r>
          </a:p>
          <a:p>
            <a:r>
              <a:t>Workflows: WF-04</a:t>
            </a:r>
          </a:p>
          <a:p>
            <a:r>
              <a:t>Screens: S12</a:t>
            </a:r>
          </a:p>
          <a:p/>
          <a:p>
            <a:r>
              <a:t>FR-S13: Kiểm thử và duyệt quy tắc: Kiểm kết quả test và trả rule cần sửa.</a:t>
            </a:r>
          </a:p>
          <a:p>
            <a:r>
              <a:t>Workflows: WF-04</a:t>
            </a:r>
          </a:p>
          <a:p>
            <a:r>
              <a:t>Screens: S13</a:t>
            </a:r>
          </a:p>
          <a:p/>
          <a:p>
            <a:r>
              <a:t>FR-S14: Giám sát mô hình AI: Theo dõi detector/model theo site và queue review.</a:t>
            </a:r>
          </a:p>
          <a:p>
            <a:r>
              <a:t>Workflows: WF-04</a:t>
            </a:r>
          </a:p>
          <a:p>
            <a:r>
              <a:t>Screens: S14</a:t>
            </a:r>
          </a:p>
          <a:p/>
          <a:p>
            <a:r>
              <a:t>FR-S15: Biên tập mạng lưới thoát hiểm: Biên tập graph tuyến indoor/outdoor có version.</a:t>
            </a:r>
          </a:p>
          <a:p>
            <a:r>
              <a:t>Workflows: WF-22</a:t>
            </a:r>
          </a:p>
          <a:p>
            <a:r>
              <a:t>Screens: S15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FR-S16: Mô phỏng và phê duyệt tuyến: Thử hazard/accessibility/uncertainty trước duyệt graph.</a:t>
            </a:r>
          </a:p>
          <a:p>
            <a:r>
              <a:t>Workflows: WF-22</a:t>
            </a:r>
          </a:p>
          <a:p>
            <a:r>
              <a:t>Screens: S16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FR-I01: Danh mục kết nối: Chọn connector theo capability khai báo.</a:t>
            </a:r>
          </a:p>
          <a:p>
            <a:r>
              <a:t>Workflows: WF-17</a:t>
            </a:r>
          </a:p>
          <a:p>
            <a:r>
              <a:t>Screens: I01</a:t>
            </a:r>
          </a:p>
          <a:p/>
          <a:p>
            <a:r>
              <a:t>FR-I02: Thiết lập kết nối: Cấu hình kết nối có scope và kiểm tra.</a:t>
            </a:r>
          </a:p>
          <a:p>
            <a:r>
              <a:t>Workflows: WF-17</a:t>
            </a:r>
          </a:p>
          <a:p>
            <a:r>
              <a:t>Screens: I02</a:t>
            </a:r>
          </a:p>
          <a:p/>
          <a:p>
            <a:r>
              <a:t>FR-I03: Ánh xạ dữ liệu: Ánh xạ schema nguồn sang event có version.</a:t>
            </a:r>
          </a:p>
          <a:p>
            <a:r>
              <a:t>Workflows: WF-03</a:t>
            </a:r>
          </a:p>
          <a:p>
            <a:r>
              <a:t>Screens: I03</a:t>
            </a:r>
          </a:p>
          <a:p/>
          <a:p>
            <a:r>
              <a:t>FR-I04: Kiểm thử kết nối: Chạy contract tests trước kích hoạt connector.</a:t>
            </a:r>
          </a:p>
          <a:p>
            <a:r>
              <a:t>Workflows: WF-17</a:t>
            </a:r>
          </a:p>
          <a:p>
            <a:r>
              <a:t>Screens: I04</a:t>
            </a:r>
          </a:p>
          <a:p/>
          <a:p>
            <a:r>
              <a:t>FR-I05: Sức khỏe các kết nối: Theo dõi transport/processing và dead letters.</a:t>
            </a:r>
          </a:p>
          <a:p>
            <a:r>
              <a:t>Workflows: WF-17</a:t>
            </a:r>
          </a:p>
          <a:p>
            <a:r>
              <a:t>Screens: I05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FR-I06: Xử lý lỗi và phát lại sự kiện: Kiểm lỗi, replay event giữ ID gốc và audit.</a:t>
            </a:r>
          </a:p>
          <a:p>
            <a:r>
              <a:t>Workflows: WF-17</a:t>
            </a:r>
          </a:p>
          <a:p>
            <a:r>
              <a:t>Screens: I06</a:t>
            </a:r>
          </a:p>
          <a:p/>
          <a:p>
            <a:r>
              <a:t>FR-I07: API client và phạm vi quyền: Cấp API client đúng scope cần thiết.</a:t>
            </a:r>
          </a:p>
          <a:p>
            <a:r>
              <a:t>Workflows: WF-17</a:t>
            </a:r>
          </a:p>
          <a:p>
            <a:r>
              <a:t>Screens: I07</a:t>
            </a:r>
          </a:p>
          <a:p/>
          <a:p>
            <a:r>
              <a:t>FR-I08: Đăng ký webhook: Đăng ký webhook lọc sự kiện và gửi payload test.</a:t>
            </a:r>
          </a:p>
          <a:p>
            <a:r>
              <a:t>Workflows: WF-17</a:t>
            </a:r>
          </a:p>
          <a:p>
            <a:r>
              <a:t>Screens: I08</a:t>
            </a:r>
          </a:p>
          <a:p/>
          <a:p>
            <a:r>
              <a:t>FR-I09: Thỏa thuận trao đổi dữ liệu: Lập thỏa thuận chia sẻ xuyên tổ chức.</a:t>
            </a:r>
          </a:p>
          <a:p>
            <a:r>
              <a:t>Workflows: WF-17</a:t>
            </a:r>
          </a:p>
          <a:p>
            <a:r>
              <a:t>Screens: I09</a:t>
            </a:r>
          </a:p>
          <a:p/>
          <a:p>
            <a:r>
              <a:t>FR-I10: Lịch sử trao đổi IOC: Kiểm payload và lịch sử đối tác thực nhận.</a:t>
            </a:r>
          </a:p>
          <a:p>
            <a:r>
              <a:t>Workflows: WF-17</a:t>
            </a:r>
          </a:p>
          <a:p>
            <a:r>
              <a:t>Screens: I10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FR-I11: Đội drone: Xem đội drone/health và lập nhiệm vụ.</a:t>
            </a:r>
          </a:p>
          <a:p>
            <a:r>
              <a:t>Workflows: WF-16</a:t>
            </a:r>
          </a:p>
          <a:p>
            <a:r>
              <a:t>Screens: I11</a:t>
            </a:r>
          </a:p>
          <a:p/>
          <a:p>
            <a:r>
              <a:t>FR-I12: Lập nhiệm vụ drone: Lập mục đích, vùng bay, pilot và điều kiện nhiệm vụ.</a:t>
            </a:r>
          </a:p>
          <a:p>
            <a:r>
              <a:t>Workflows: WF-16</a:t>
            </a:r>
          </a:p>
          <a:p>
            <a:r>
              <a:t>Screens: I12</a:t>
            </a:r>
          </a:p>
          <a:p/>
          <a:p>
            <a:r>
              <a:t>FR-I13: Kiểm tra trước bay và phê duyệt: Kiểm preflight/clearance trước duyệt, pilot giữ quyền.</a:t>
            </a:r>
          </a:p>
          <a:p>
            <a:r>
              <a:t>Workflows: WF-16</a:t>
            </a:r>
          </a:p>
          <a:p>
            <a:r>
              <a:t>Screens: I13</a:t>
            </a:r>
          </a:p>
          <a:p/>
          <a:p>
            <a:r>
              <a:t>FR-I14: Theo dõi nhiệm vụ drone: Theo dõi telemetry/media drone và độ mới.</a:t>
            </a:r>
          </a:p>
          <a:p>
            <a:r>
              <a:t>Workflows: WF-16</a:t>
            </a:r>
          </a:p>
          <a:p>
            <a:r>
              <a:t>Screens: I14</a:t>
            </a:r>
          </a:p>
          <a:p/>
          <a:p>
            <a:r>
              <a:t>FR-I15: Hồ sơ nhiệm vụ drone: Giữ hồ sơ/bằng chứng nhiệm vụ drone.</a:t>
            </a:r>
          </a:p>
          <a:p>
            <a:r>
              <a:t>Workflows: WF-16</a:t>
            </a:r>
          </a:p>
          <a:p>
            <a:r>
              <a:t>Screens: I15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FR-T01: Tổng quan tổ chức: Xem tenant và quản trị tổ chức/region.</a:t>
            </a:r>
          </a:p>
          <a:p>
            <a:r>
              <a:t>Workflows: WF-20</a:t>
            </a:r>
          </a:p>
          <a:p>
            <a:r>
              <a:t>Screens: T01</a:t>
            </a:r>
          </a:p>
          <a:p/>
          <a:p>
            <a:r>
              <a:t>FR-T02: Tổ chức và vùng dữ liệu: Thiết lập residency, locale và mặc định tổ chức.</a:t>
            </a:r>
          </a:p>
          <a:p>
            <a:r>
              <a:t>Workflows: WF-18</a:t>
            </a:r>
          </a:p>
          <a:p>
            <a:r>
              <a:t>Screens: T02</a:t>
            </a:r>
          </a:p>
          <a:p/>
          <a:p>
            <a:r>
              <a:t>FR-T03: Người dùng và lời mời: Quản lý user, invitation và membership.</a:t>
            </a:r>
          </a:p>
          <a:p>
            <a:r>
              <a:t>Workflows: WF-01</a:t>
            </a:r>
          </a:p>
          <a:p>
            <a:r>
              <a:t>Screens: T03</a:t>
            </a:r>
          </a:p>
          <a:p/>
          <a:p>
            <a:r>
              <a:t>FR-T04: Vai trò và phạm vi quyền: Lưu role/site scope, tách nhiệm vụ vận hành.</a:t>
            </a:r>
          </a:p>
          <a:p>
            <a:r>
              <a:t>Workflows: WF-01</a:t>
            </a:r>
          </a:p>
          <a:p>
            <a:r>
              <a:t>Screens: T04</a:t>
            </a:r>
          </a:p>
          <a:p/>
          <a:p>
            <a:r>
              <a:t>FR-T05: Lịch trực và chuyển cấp: Cấu hình on-call và chuyển cấp khi thiếu ACK.</a:t>
            </a:r>
          </a:p>
          <a:p>
            <a:r>
              <a:t>Workflows: WF-10</a:t>
            </a:r>
          </a:p>
          <a:p>
            <a:r>
              <a:t>Screens: T05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FR-T06: Mẫu nội dung và ngôn ngữ: Quản lý template được duyệt theo ngôn ngữ.</a:t>
            </a:r>
          </a:p>
          <a:p>
            <a:r>
              <a:t>Workflows: WF-09</a:t>
            </a:r>
          </a:p>
          <a:p>
            <a:r>
              <a:t>Screens: T06</a:t>
            </a:r>
          </a:p>
          <a:p/>
          <a:p>
            <a:r>
              <a:t>FR-T07: Phân loại nguy cơ và quy trình: Biên tập taxonomy hazard và playbook bản nháp.</a:t>
            </a:r>
          </a:p>
          <a:p>
            <a:r>
              <a:t>Workflows: WF-20</a:t>
            </a:r>
          </a:p>
          <a:p>
            <a:r>
              <a:t>Screens: T07</a:t>
            </a:r>
          </a:p>
          <a:p/>
          <a:p>
            <a:r>
              <a:t>FR-T08: Phê duyệt quy trình: Duyệt và công bố trình tự playbook.</a:t>
            </a:r>
          </a:p>
          <a:p>
            <a:r>
              <a:t>Workflows: WF-20</a:t>
            </a:r>
          </a:p>
          <a:p>
            <a:r>
              <a:t>Screens: T08</a:t>
            </a:r>
          </a:p>
          <a:p/>
          <a:p>
            <a:r>
              <a:t>FR-T09: Lưu trữ và bảo toàn pháp lý: Lập retention/hold theo class và region.</a:t>
            </a:r>
          </a:p>
          <a:p>
            <a:r>
              <a:t>Workflows: WF-19</a:t>
            </a:r>
          </a:p>
          <a:p>
            <a:r>
              <a:t>Screens: T09</a:t>
            </a:r>
          </a:p>
          <a:p/>
          <a:p>
            <a:r>
              <a:t>FR-T10: Xử lý yêu cầu quyền riêng tư: Kiểm danh tính/scope/ngoại lệ yêu cầu privacy.</a:t>
            </a:r>
          </a:p>
          <a:p>
            <a:r>
              <a:t>Workflows: WF-19</a:t>
            </a:r>
          </a:p>
          <a:p>
            <a:r>
              <a:t>Screens: T10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FR-T11: Bản ghi kiểm toán: Đọc audit bất biến có actor/object/version/reason.</a:t>
            </a:r>
          </a:p>
          <a:p>
            <a:r>
              <a:t>Workflows: WF-19</a:t>
            </a:r>
          </a:p>
          <a:p>
            <a:r>
              <a:t>Screens: T11</a:t>
            </a:r>
          </a:p>
          <a:p/>
          <a:p>
            <a:r>
              <a:t>FR-T12: Sức khỏe dịch vụ và khôi phục: Giám sát service suy giảm và mở recovery runbook.</a:t>
            </a:r>
          </a:p>
          <a:p>
            <a:r>
              <a:t>Workflows: WF-20</a:t>
            </a:r>
          </a:p>
          <a:p>
            <a:r>
              <a:t>Screens: T12</a:t>
            </a:r>
          </a:p>
          <a:p/>
          <a:p>
            <a:r>
              <a:t>FR-T13: Quy trình khôi phục: Ghi kết quả diễn tập phục hồi dữ liệu region.</a:t>
            </a:r>
          </a:p>
          <a:p>
            <a:r>
              <a:t>Workflows: WF-20</a:t>
            </a:r>
          </a:p>
          <a:p>
            <a:r>
              <a:t>Screens: T13</a:t>
            </a:r>
          </a:p>
          <a:p/>
          <a:p>
            <a:r>
              <a:t>FR-T14: Sử dụng và gói dịch vụ: Xem usage/subscription và policy năng lực.</a:t>
            </a:r>
          </a:p>
          <a:p>
            <a:r>
              <a:t>Workflows: WF-20</a:t>
            </a:r>
          </a:p>
          <a:p>
            <a:r>
              <a:t>Screens: T14</a:t>
            </a:r>
          </a:p>
          <a:p/>
          <a:p>
            <a:r>
              <a:t>FR-T15: Dung lượng và giới hạn: Lập quota bảo vệ traffic khẩn cấp khi tải đột biến.</a:t>
            </a:r>
          </a:p>
          <a:p>
            <a:r>
              <a:t>Workflows: WF-20</a:t>
            </a:r>
          </a:p>
          <a:p>
            <a:r>
              <a:t>Screens: T15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FR-T16: Phân tích và xuất báo cáo: Đo response với denominator rõ và xuất báo cáo.</a:t>
            </a:r>
          </a:p>
          <a:p>
            <a:r>
              <a:t>Workflows: WF-20</a:t>
            </a:r>
          </a:p>
          <a:p>
            <a:r>
              <a:t>Screens: T16</a:t>
            </a:r>
          </a:p>
          <a:p/>
          <a:p>
            <a:r>
              <a:t>FR-T17: Lập lịch báo cáo: Lập lịch gửi báo cáo tới người đủ quyền.</a:t>
            </a:r>
          </a:p>
          <a:p>
            <a:r>
              <a:t>Workflows: WF-20</a:t>
            </a:r>
          </a:p>
          <a:p>
            <a:r>
              <a:t>Screens: T17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FR-X01: Mất mạng · SOS chưa gửi: Hiện SOS chưa tới server và mở outbox.</a:t>
            </a:r>
          </a:p>
          <a:p>
            <a:r>
              <a:t>Workflows: WF-05</a:t>
            </a:r>
          </a:p>
          <a:p>
            <a:r>
              <a:t>Screens: X01</a:t>
            </a:r>
          </a:p>
          <a:p/>
          <a:p>
            <a:r>
              <a:t>FR-X02: Không có quyền vị trí: Cho nhập vị trí bằng tay khi thiếu permission.</a:t>
            </a:r>
          </a:p>
          <a:p>
            <a:r>
              <a:t>Workflows: WF-05</a:t>
            </a:r>
          </a:p>
          <a:p>
            <a:r>
              <a:t>Screens: X02</a:t>
            </a:r>
          </a:p>
          <a:p/>
          <a:p>
            <a:r>
              <a:t>FR-X03: Không có sự cố đang mở: Phân biệt không có incident với health thiết bị.</a:t>
            </a:r>
          </a:p>
          <a:p>
            <a:r>
              <a:t>Workflows: WF-20</a:t>
            </a:r>
          </a:p>
          <a:p>
            <a:r>
              <a:t>Screens: X03</a:t>
            </a:r>
          </a:p>
          <a:p/>
          <a:p>
            <a:r>
              <a:t>FR-X04: Không có quyền truy cập: Không lộ record ngoài scope; chọn lại workspace.</a:t>
            </a:r>
          </a:p>
          <a:p>
            <a:r>
              <a:t>Workflows: WF-01</a:t>
            </a:r>
          </a:p>
          <a:p>
            <a:r>
              <a:t>Screens: X04</a:t>
            </a:r>
          </a:p>
          <a:p/>
          <a:p>
            <a:r>
              <a:t>FR-X05: Dịch vụ tạm gián đoạn: Hiện service unavailable và mở gói offline.</a:t>
            </a:r>
          </a:p>
          <a:p>
            <a:r>
              <a:t>Workflows: WF-20</a:t>
            </a:r>
          </a:p>
          <a:p>
            <a:r>
              <a:t>Screens: X05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FR-X06: Thay đổi chưa lưu và xung đột: Giữ draft và so phiên bản khi có conflict.</a:t>
            </a:r>
          </a:p>
          <a:p>
            <a:r>
              <a:t>Workflows: WF-02</a:t>
            </a:r>
          </a:p>
          <a:p>
            <a:r>
              <a:t>Screens: X06</a:t>
            </a:r>
          </a:p>
          <a:p/>
          <a:p>
            <a:r>
              <a:t>FR-X07: Không có kết quả tìm kiếm: Hiện không có kết quả và reset bộ lọc.</a:t>
            </a:r>
          </a:p>
          <a:p>
            <a:r>
              <a:t>Workflows: WF-20</a:t>
            </a:r>
          </a:p>
          <a:p>
            <a:r>
              <a:t>Screens: X07</a:t>
            </a:r>
          </a:p>
          <a:p/>
          <a:p>
            <a:r>
              <a:t>FR-X08: Phiên đăng nhập hết hạn: Yêu cầu đăng nhập lại khi phiên hết hạn.</a:t>
            </a:r>
          </a:p>
          <a:p>
            <a:r>
              <a:t>Workflows: WF-01</a:t>
            </a:r>
          </a:p>
          <a:p>
            <a:r>
              <a:t>Screens: X08</a:t>
            </a:r>
          </a:p>
          <a:p/>
          <a:p>
            <a:r>
              <a:t>FR-X09: Đang tải và dữ liệu cũ: Hiện loading/stale mà không giả dữ liệu mới.</a:t>
            </a:r>
          </a:p>
          <a:p>
            <a:r>
              <a:t>Workflows: WF-20</a:t>
            </a:r>
          </a:p>
          <a:p>
            <a:r>
              <a:t>Screens: X09</a:t>
            </a:r>
          </a:p>
          <a:p/>
          <a:p>
            <a:r>
              <a:t>FR-X10: Tệp đính kèm bị từ chối: Giải thích attachment bị từ chối và chọn lại.</a:t>
            </a:r>
          </a:p>
          <a:p>
            <a:r>
              <a:t>Workflows: WF-11</a:t>
            </a:r>
          </a:p>
          <a:p>
            <a:r>
              <a:t>Screens: X10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FR-G01: Vận hành các vùng dữ liệu: Xem vận hành các production cell độc lập.</a:t>
            </a:r>
          </a:p>
          <a:p>
            <a:r>
              <a:t>Workflows: WF-20</a:t>
            </a:r>
          </a:p>
          <a:p>
            <a:r>
              <a:t>Screens: G01</a:t>
            </a:r>
          </a:p>
          <a:p/>
          <a:p>
            <a:r>
              <a:t>FR-G02: Chi tiết regional cell: Kiểm cell region và mức sẵn sàng recovery.</a:t>
            </a:r>
          </a:p>
          <a:p>
            <a:r>
              <a:t>Workflows: WF-20</a:t>
            </a:r>
          </a:p>
          <a:p>
            <a:r>
              <a:t>Screens: G02</a:t>
            </a:r>
          </a:p>
          <a:p/>
          <a:p>
            <a:r>
              <a:t>FR-G03: Diễn tập khôi phục thảm họa: Ghi bằng chứng diễn tập disaster recovery.</a:t>
            </a:r>
          </a:p>
          <a:p>
            <a:r>
              <a:t>Workflows: WF-20</a:t>
            </a:r>
          </a:p>
          <a:p>
            <a:r>
              <a:t>Screens: G03</a:t>
            </a:r>
          </a:p>
          <a:p/>
          <a:p>
            <a:r>
              <a:t>FR-G04: Xác minh khôi phục: Xác minh dữ liệu/writer ownership trước đổi routing.</a:t>
            </a:r>
          </a:p>
          <a:p>
            <a:r>
              <a:t>Workflows: WF-20</a:t>
            </a:r>
          </a:p>
          <a:p>
            <a:r>
              <a:t>Screens: G04</a:t>
            </a:r>
          </a:p>
          <a:p/>
          <a:p>
            <a:r>
              <a:t>FR-G05: Khởi tạo tổ chức: Lập kế hoạch provision boundary tenant production.</a:t>
            </a:r>
          </a:p>
          <a:p>
            <a:r>
              <a:t>Workflows: WF-18</a:t>
            </a:r>
          </a:p>
          <a:p>
            <a:r>
              <a:t>Screens: G05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FR-G06: Vòng đời tổ chức: Quản lý lifecycle tenant và yêu cầu support access.</a:t>
            </a:r>
          </a:p>
          <a:p>
            <a:r>
              <a:t>Workflows: WF-18</a:t>
            </a:r>
          </a:p>
          <a:p>
            <a:r>
              <a:t>Screens: G06</a:t>
            </a:r>
          </a:p>
          <a:p/>
          <a:p>
            <a:r>
              <a:t>FR-G07: Truy cập hỗ trợ có thời hạn: Yêu cầu support scope nhỏ nhất với thời hạn.</a:t>
            </a:r>
          </a:p>
          <a:p>
            <a:r>
              <a:t>Workflows: WF-19</a:t>
            </a:r>
          </a:p>
          <a:p>
            <a:r>
              <a:t>Screens: G07</a:t>
            </a:r>
          </a:p>
          <a:p/>
          <a:p>
            <a:r>
              <a:t>FR-G08: Duyệt quyền hỗ trợ: Duyệt session support có scope và expiry.</a:t>
            </a:r>
          </a:p>
          <a:p>
            <a:r>
              <a:t>Workflows: WF-19</a:t>
            </a:r>
          </a:p>
          <a:p>
            <a:r>
              <a:t>Screens: G08</a:t>
            </a:r>
          </a:p>
          <a:p/>
          <a:p>
            <a:r>
              <a:t>FR-G09: Phát hành và tương thích schema: Kiểm release với API/schema compatibility.</a:t>
            </a:r>
          </a:p>
          <a:p>
            <a:r>
              <a:t>Workflows: WF-20</a:t>
            </a:r>
          </a:p>
          <a:p>
            <a:r>
              <a:t>Screens: G09</a:t>
            </a:r>
          </a:p>
          <a:p/>
          <a:p>
            <a:r>
              <a:t>FR-G10: Cổng phát hành và rollback: Ghi quyết định promotion/rollback theo release gate.</a:t>
            </a:r>
          </a:p>
          <a:p>
            <a:r>
              <a:t>Workflows: WF-20</a:t>
            </a:r>
          </a:p>
          <a:p>
            <a:r>
              <a:t>Screens: G10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FR-G11: Sự cố an ninh nền tảng: Theo dõi incident an ninh nền tảng.</a:t>
            </a:r>
          </a:p>
          <a:p>
            <a:r>
              <a:t>Workflows: WF-19</a:t>
            </a:r>
          </a:p>
          <a:p>
            <a:r>
              <a:t>Screens: G11</a:t>
            </a:r>
          </a:p>
          <a:p/>
          <a:p>
            <a:r>
              <a:t>FR-G12: Hồ sơ an ninh và cô lập: Contain nguồn sự cố mà không che coverage gap.</a:t>
            </a:r>
          </a:p>
          <a:p>
            <a:r>
              <a:t>Workflows: WF-19</a:t>
            </a:r>
          </a:p>
          <a:p>
            <a:r>
              <a:t>Screens: G12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FR-D01: Không gian nhà phát triển: Mở workspace phát triển theo contract rõ.</a:t>
            </a:r>
          </a:p>
          <a:p>
            <a:r>
              <a:t>Workflows: WF-17</a:t>
            </a:r>
          </a:p>
          <a:p>
            <a:r>
              <a:t>Screens: D01</a:t>
            </a:r>
          </a:p>
          <a:p/>
          <a:p>
            <a:r>
              <a:t>FR-D02: Khám phá API: Thử API trong sandbox, không tác động production.</a:t>
            </a:r>
          </a:p>
          <a:p>
            <a:r>
              <a:t>Workflows: WF-03</a:t>
            </a:r>
          </a:p>
          <a:p>
            <a:r>
              <a:t>Screens: D02</a:t>
            </a:r>
          </a:p>
          <a:p/>
          <a:p>
            <a:r>
              <a:t>FR-D03: Kết quả yêu cầu sandbox: Đọc đầy đủ request receipt và mở schema.</a:t>
            </a:r>
          </a:p>
          <a:p>
            <a:r>
              <a:t>Workflows: WF-03</a:t>
            </a:r>
          </a:p>
          <a:p>
            <a:r>
              <a:t>Screens: D03</a:t>
            </a:r>
          </a:p>
          <a:p/>
          <a:p>
            <a:r>
              <a:t>FR-D04: Danh mục schema: Theo dõi schema/version trước nâng cấp.</a:t>
            </a:r>
          </a:p>
          <a:p>
            <a:r>
              <a:t>Workflows: WF-03</a:t>
            </a:r>
          </a:p>
          <a:p>
            <a:r>
              <a:t>Screens: D04</a:t>
            </a:r>
          </a:p>
          <a:p/>
          <a:p>
            <a:r>
              <a:t>FR-D05: Biên tập manifest kết nối: Khai báo manifest capability để kiểm conformance.</a:t>
            </a:r>
          </a:p>
          <a:p>
            <a:r>
              <a:t>Workflows: WF-17</a:t>
            </a:r>
          </a:p>
          <a:p>
            <a:r>
              <a:t>Screens: D05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FR-D06: Kiểm tra tính tương thích: Kiểm adapter dưới lỗi trước duyệt version.</a:t>
            </a:r>
          </a:p>
          <a:p>
            <a:r>
              <a:t>Workflows: WF-17</a:t>
            </a:r>
          </a:p>
          <a:p>
            <a:r>
              <a:t>Screens: D06</a:t>
            </a:r>
          </a:p>
          <a:p/>
          <a:p>
            <a:r>
              <a:t>FR-D07: Truy vết gửi webhook: Theo dấu từng attempt webhook.</a:t>
            </a:r>
          </a:p>
          <a:p>
            <a:r>
              <a:t>Workflows: WF-10</a:t>
            </a:r>
          </a:p>
          <a:p>
            <a:r>
              <a:t>Screens: D07</a:t>
            </a:r>
          </a:p>
          <a:p/>
          <a:p>
            <a:r>
              <a:t>FR-D08: Luân chuyển thông tin xác thực: Yêu cầu rotate credential không lộ secret.</a:t>
            </a:r>
          </a:p>
          <a:p>
            <a:r>
              <a:t>Workflows: WF-17</a:t>
            </a:r>
          </a:p>
          <a:p>
            <a:r>
              <a:t>Screens: D08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FR-L01: Mức độ hoàn thiện ngôn ngữ: Theo dõi coverage Việt/Anh/Nhật và bản thiếu.</a:t>
            </a:r>
          </a:p>
          <a:p>
            <a:r>
              <a:t>Workflows: WF-18</a:t>
            </a:r>
          </a:p>
          <a:p>
            <a:r>
              <a:t>Screens: L01</a:t>
            </a:r>
          </a:p>
          <a:p/>
          <a:p>
            <a:r>
              <a:t>FR-L02: Biên tập bản dịch: Biên tập bản dịch message có version để review.</a:t>
            </a:r>
          </a:p>
          <a:p>
            <a:r>
              <a:t>Workflows: WF-18</a:t>
            </a:r>
          </a:p>
          <a:p>
            <a:r>
              <a:t>Screens: L02</a:t>
            </a:r>
          </a:p>
          <a:p/>
          <a:p>
            <a:r>
              <a:t>FR-L03: Phê duyệt bản dịch: Duyệt thuật ngữ và ý nghĩa khẩn cấp bản dịch.</a:t>
            </a:r>
          </a:p>
          <a:p>
            <a:r>
              <a:t>Workflows: WF-18</a:t>
            </a:r>
          </a:p>
          <a:p>
            <a:r>
              <a:t>Screens: L03</a:t>
            </a:r>
          </a:p>
          <a:p/>
          <a:p>
            <a:r>
              <a:t>FR-L04: Giọng đọc và phát âm: Lưu voice/pronunciation khớp text đã duyệt.</a:t>
            </a:r>
          </a:p>
          <a:p>
            <a:r>
              <a:t>Workflows: WF-18</a:t>
            </a:r>
          </a:p>
          <a:p>
            <a:r>
              <a:t>Screens: L04</a:t>
            </a:r>
          </a:p>
          <a:p/>
          <a:p>
            <a:r>
              <a:t>FR-L05: Quy tắc ngôn ngữ dự phòng: Lập fallback policy làm rõ bản dịch thiếu.</a:t>
            </a:r>
          </a:p>
          <a:p>
            <a:r>
              <a:t>Workflows: WF-18</a:t>
            </a:r>
          </a:p>
          <a:p>
            <a:r>
              <a:t>Screens: L05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FR-L06: Thuật ngữ khẩn cấp: Quản lý thuật ngữ khẩn cấp nhất quán đa kênh.</a:t>
            </a:r>
          </a:p>
          <a:p>
            <a:r>
              <a:t>Workflows: WF-18</a:t>
            </a:r>
          </a:p>
          <a:p>
            <a:r>
              <a:t>Screens: L06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FR-P01: Vùng loa và độ bao phủ: Chọn vùng loa và xem khoảng trống coverage.</a:t>
            </a:r>
          </a:p>
          <a:p>
            <a:r>
              <a:t>Workflows: WF-21</a:t>
            </a:r>
          </a:p>
          <a:p>
            <a:r>
              <a:t>Screens: P01</a:t>
            </a:r>
          </a:p>
          <a:p/>
          <a:p>
            <a:r>
              <a:t>FR-P02: Soạn thông báo cứu hộ: Soạn nội dung cứu hộ cho đúng vùng/ngôn ngữ.</a:t>
            </a:r>
          </a:p>
          <a:p>
            <a:r>
              <a:t>Workflows: WF-21</a:t>
            </a:r>
          </a:p>
          <a:p>
            <a:r>
              <a:t>Screens: P02</a:t>
            </a:r>
          </a:p>
          <a:p/>
          <a:p>
            <a:r>
              <a:t>FR-P03: Nghe thử và duyệt thông báo: Duyệt message, vùng và hành vi playback.</a:t>
            </a:r>
          </a:p>
          <a:p>
            <a:r>
              <a:t>Workflows: WF-21</a:t>
            </a:r>
          </a:p>
          <a:p>
            <a:r>
              <a:t>Screens: P03</a:t>
            </a:r>
          </a:p>
          <a:p/>
          <a:p>
            <a:r>
              <a:t>FR-P04: Giám sát phát loa: Giám sát playback riêng với command receipt.</a:t>
            </a:r>
          </a:p>
          <a:p>
            <a:r>
              <a:t>Workflows: WF-21</a:t>
            </a:r>
          </a:p>
          <a:p>
            <a:r>
              <a:t>Screens: P04</a:t>
            </a:r>
          </a:p>
          <a:p/>
          <a:p>
            <a:r>
              <a:t>FR-P05: Thiết bị loa và tự kiểm tra: Kiểm speaker self-test và chuyển fallback coverage.</a:t>
            </a:r>
          </a:p>
          <a:p>
            <a:r>
              <a:t>Workflows: WF-21</a:t>
            </a:r>
          </a:p>
          <a:p>
            <a:r>
              <a:t>Screens: P05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FR-P06: Micro cứu hộ trực tiếp: Review live session microphone cho vùng được duyệt.</a:t>
            </a:r>
          </a:p>
          <a:p>
            <a:r>
              <a:t>Workflows: WF-21</a:t>
            </a:r>
          </a:p>
          <a:p>
            <a:r>
              <a:t>Screens: P06</a:t>
            </a:r>
          </a:p>
          <a:p/>
          <a:p>
            <a:r>
              <a:t>FR-P07: Loa trên drone hoặc phương tiện: Phối hợp loa drone/xe với nhiệm vụ được duyệt.</a:t>
            </a:r>
          </a:p>
          <a:p>
            <a:r>
              <a:t>Workflows: WF-21</a:t>
            </a:r>
          </a:p>
          <a:p>
            <a:r>
              <a:t>Screens: P07</a:t>
            </a:r>
          </a:p>
          <a:p/>
          <a:p>
            <a:r>
              <a:t>FR-P08: Thư viện âm thanh và duyệt TTS: Quản lý audio/TTS đã review theo ngôn ngữ.</a:t>
            </a:r>
          </a:p>
          <a:p>
            <a:r>
              <a:t>Workflows: WF-21</a:t>
            </a:r>
          </a:p>
          <a:p>
            <a:r>
              <a:t>Screens: P08</a:t>
            </a:r>
          </a:p>
          <a:p/>
          <a:p>
            <a:r>
              <a:t>FR-P09: Ưu tiên và điều phối phát loa: Lập priority/zone arbitration tránh phát chồng.</a:t>
            </a:r>
          </a:p>
          <a:p>
            <a:r>
              <a:t>Workflows: WF-21</a:t>
            </a:r>
          </a:p>
          <a:p>
            <a:r>
              <a:t>Screens: P09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FR-H01: Hồ sơ hỗ trợ cứu hộ của tôi: Ghi nhu cầu hỗ trợ cứu hộ và xem sharing.</a:t>
            </a:r>
          </a:p>
          <a:p>
            <a:r>
              <a:t>Workflows: WF-26</a:t>
            </a:r>
          </a:p>
          <a:p>
            <a:r>
              <a:t>Screens: H01</a:t>
            </a:r>
          </a:p>
          <a:p/>
          <a:p>
            <a:r>
              <a:t>FR-H02: Chia sẻ thông tin hỗ trợ và sức khỏe: Chọn subset health/assistance chia sẻ khẩn cấp.</a:t>
            </a:r>
          </a:p>
          <a:p>
            <a:r>
              <a:t>Workflows: WF-26</a:t>
            </a:r>
          </a:p>
          <a:p>
            <a:r>
              <a:t>Screens: H02</a:t>
            </a:r>
          </a:p>
          <a:p/>
          <a:p>
            <a:r>
              <a:t>FR-H03: Người chăm sóc được ủy quyền: Xem quan hệ caregiver và phạm vi quyền.</a:t>
            </a:r>
          </a:p>
          <a:p>
            <a:r>
              <a:t>Workflows: WF-26</a:t>
            </a:r>
          </a:p>
          <a:p>
            <a:r>
              <a:t>Screens: H03</a:t>
            </a:r>
          </a:p>
          <a:p/>
          <a:p>
            <a:r>
              <a:t>FR-H04: Xác minh quyền người chăm sóc: Xác minh authority trước cấp quan hệ theo scope.</a:t>
            </a:r>
          </a:p>
          <a:p>
            <a:r>
              <a:t>Workflows: WF-26</a:t>
            </a:r>
          </a:p>
          <a:p>
            <a:r>
              <a:t>Screens: H04</a:t>
            </a:r>
          </a:p>
          <a:p/>
          <a:p>
            <a:r>
              <a:t>FR-H05: Hồ sơ người được chăm sóc: Xem kế hoạch hỗ trợ người phụ thuộc.</a:t>
            </a:r>
          </a:p>
          <a:p>
            <a:r>
              <a:t>Workflows: WF-26</a:t>
            </a:r>
          </a:p>
          <a:p>
            <a:r>
              <a:t>Screens: H05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FR-H06: Cập nhật và kiểm tra hồ sơ: Cập nhật/review profile theo nguồn và version.</a:t>
            </a:r>
          </a:p>
          <a:p>
            <a:r>
              <a:t>Workflows: WF-26</a:t>
            </a:r>
          </a:p>
          <a:p>
            <a:r>
              <a:t>Screens: H06</a:t>
            </a:r>
          </a:p>
          <a:p/>
          <a:p>
            <a:r>
              <a:t>FR-H07: Danh mục người cần hỗ trợ: Tìm người có thể cần chủ động trợ giúp.</a:t>
            </a:r>
          </a:p>
          <a:p>
            <a:r>
              <a:t>Workflows: WF-26</a:t>
            </a:r>
          </a:p>
          <a:p>
            <a:r>
              <a:t>Screens: H07</a:t>
            </a:r>
          </a:p>
          <a:p/>
          <a:p>
            <a:r>
              <a:t>FR-H08: Chủ động ưu tiên cứu hộ: Xếp queue cứu hộ trước SOS với reason/evidence.</a:t>
            </a:r>
          </a:p>
          <a:p>
            <a:r>
              <a:t>Workflows: WF-27</a:t>
            </a:r>
          </a:p>
          <a:p>
            <a:r>
              <a:t>Screens: H08</a:t>
            </a:r>
          </a:p>
          <a:p/>
          <a:p>
            <a:r>
              <a:t>FR-H09: Căn cứ ưu tiên và quyết định: Xem lý do priority và phân công trợ giúp.</a:t>
            </a:r>
          </a:p>
          <a:p>
            <a:r>
              <a:t>Workflows: WF-27</a:t>
            </a:r>
          </a:p>
          <a:p>
            <a:r>
              <a:t>Screens: H09</a:t>
            </a:r>
          </a:p>
          <a:p/>
          <a:p>
            <a:r>
              <a:t>FR-H10: Hiện diện và kiểm đếm: Phân biệt presence thực ghi nhận và đăng ký.</a:t>
            </a:r>
          </a:p>
          <a:p>
            <a:r>
              <a:t>Workflows: WF-23</a:t>
            </a:r>
          </a:p>
          <a:p>
            <a:r>
              <a:t>Screens: H10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FR-H11: Hồ sơ y tế hạn chế truy cập: Đọc emergency medical subset có audit/scope.</a:t>
            </a:r>
          </a:p>
          <a:p>
            <a:r>
              <a:t>Workflows: WF-19</a:t>
            </a:r>
          </a:p>
          <a:p>
            <a:r>
              <a:t>Screens: H11</a:t>
            </a:r>
          </a:p>
          <a:p/>
          <a:p>
            <a:r>
              <a:t>FR-H12: Kết quả chủ động kiểm tra: Ghi kết quả welfare check kể cả chưa có SOS.</a:t>
            </a:r>
          </a:p>
          <a:p>
            <a:r>
              <a:t>Workflows: WF-27</a:t>
            </a:r>
          </a:p>
          <a:p>
            <a:r>
              <a:t>Screens: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FR-Q01: Sức khỏe nguồn định vị: Giám sát nguồn định vị và chất lượng.</a:t>
            </a:r>
          </a:p>
          <a:p>
            <a:r>
              <a:t>Workflows: WF-23</a:t>
            </a:r>
          </a:p>
          <a:p>
            <a:r>
              <a:t>Screens: Q01</a:t>
            </a:r>
          </a:p>
          <a:p/>
          <a:p>
            <a:r>
              <a:t>FR-Q02: Chất lượng và lịch sử vị trí: Xem lịch sử vị trí, uncertainty và assistance context.</a:t>
            </a:r>
          </a:p>
          <a:p>
            <a:r>
              <a:t>Workflows: WF-23</a:t>
            </a:r>
          </a:p>
          <a:p>
            <a:r>
              <a:t>Screens: Q02</a:t>
            </a:r>
          </a:p>
          <a:p/>
          <a:p>
            <a:r>
              <a:t>FR-Q03: Hiệu chuẩn định vị trong nhà: Hiệu chuẩn anchor với floor plan có revision.</a:t>
            </a:r>
          </a:p>
          <a:p>
            <a:r>
              <a:t>Workflows: WF-23</a:t>
            </a:r>
          </a:p>
          <a:p>
            <a:r>
              <a:t>Screens: Q03</a:t>
            </a:r>
          </a:p>
          <a:p/>
          <a:p>
            <a:r>
              <a:t>FR-Q04: Tối ưu phương án thoát hiểm: So sánh phương án sơ tán khả thi dưới constraints.</a:t>
            </a:r>
          </a:p>
          <a:p>
            <a:r>
              <a:t>Workflows: WF-24</a:t>
            </a:r>
          </a:p>
          <a:p>
            <a:r>
              <a:t>Screens: Q04</a:t>
            </a:r>
          </a:p>
          <a:p/>
          <a:p>
            <a:r>
              <a:t>FR-Q05: So sánh và chọn tuyến: Duyệt trade-off tuyến và công bố guidance version.</a:t>
            </a:r>
          </a:p>
          <a:p>
            <a:r>
              <a:t>Workflows: WF-24</a:t>
            </a:r>
          </a:p>
          <a:p>
            <a:r>
              <a:t>Screens: Q05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FR-Q06: Trợ lý AI xử lý sự cố: Tóm tắt AI có nguồn, cutoff và uncertainty.</a:t>
            </a:r>
          </a:p>
          <a:p>
            <a:r>
              <a:t>Workflows: WF-25</a:t>
            </a:r>
          </a:p>
          <a:p>
            <a:r>
              <a:t>Screens: Q06</a:t>
            </a:r>
          </a:p>
          <a:p/>
          <a:p>
            <a:r>
              <a:t>FR-Q07: Bằng chứng và duyệt đề xuất AI: Review evidence/đề xuất AI trước quyết định.</a:t>
            </a:r>
          </a:p>
          <a:p>
            <a:r>
              <a:t>Workflows: WF-25</a:t>
            </a:r>
          </a:p>
          <a:p>
            <a:r>
              <a:t>Screens: Q07</a:t>
            </a:r>
          </a:p>
          <a:p/>
          <a:p>
            <a:r>
              <a:t>FR-Q08: Chính sách AI và đánh giá mô hình: Đánh giá model/policy bằng scenario và metric.</a:t>
            </a:r>
          </a:p>
          <a:p>
            <a:r>
              <a:t>Workflows: WF-25</a:t>
            </a:r>
          </a:p>
          <a:p>
            <a:r>
              <a:t>Screens: Q08</a:t>
            </a:r>
          </a:p>
          <a:p/>
          <a:p>
            <a:r>
              <a:t>FR-Q09: Quản trị triển khai AI: Quản trị phiên bản model/prompt đã review.</a:t>
            </a:r>
          </a:p>
          <a:p>
            <a:r>
              <a:t>Workflows: WF-25</a:t>
            </a:r>
          </a:p>
          <a:p>
            <a:r>
              <a:t>Screens: Q09</a:t>
            </a:r>
          </a:p>
          <a:p/>
          <a:p>
            <a:r>
              <a:t>FR-Q10: Mô phỏng dòng người và kịch bản: Mô phỏng crowd/chiến lược, không khẳng định thực địa.</a:t>
            </a:r>
          </a:p>
          <a:p>
            <a:r>
              <a:t>Workflows: WF-24</a:t>
            </a:r>
          </a:p>
          <a:p>
            <a:r>
              <a:t>Screens: Q10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FR-F01: Tổng quan hệ thống vật lý: Giám sát controller/vùng và freshness, không gộp stale thành an toàn.</a:t>
            </a:r>
          </a:p>
          <a:p>
            <a:r>
              <a:t>Workflows: WF-29</a:t>
            </a:r>
          </a:p>
          <a:p>
            <a:r>
              <a:t>Screens: F01</a:t>
            </a:r>
          </a:p>
          <a:p/>
          <a:p>
            <a:r>
              <a:t>FR-F02: Danh mục bộ điều khiển: Kiểm inventory đúng model/firmware/site; discovery không cấp quyền ghi.</a:t>
            </a:r>
          </a:p>
          <a:p>
            <a:r>
              <a:t>Workflows: WF-28</a:t>
            </a:r>
          </a:p>
          <a:p>
            <a:r>
              <a:t>Screens: F02</a:t>
            </a:r>
          </a:p>
          <a:p/>
          <a:p>
            <a:r>
              <a:t>FR-F03: Chi tiết khả năng bộ điều khiển: Đối chiếu capability; thiếu tài liệu giữ chỉ đọc.</a:t>
            </a:r>
          </a:p>
          <a:p>
            <a:r>
              <a:t>Workflows: WF-28</a:t>
            </a:r>
          </a:p>
          <a:p>
            <a:r>
              <a:t>Screens: F03</a:t>
            </a:r>
          </a:p>
          <a:p/>
          <a:p>
            <a:r>
              <a:t>FR-F04: Ánh xạ điểm tín hiệu: Ánh xạ point, cực tính và ý nghĩa theo dây/test chứng kiến.</a:t>
            </a:r>
          </a:p>
          <a:p>
            <a:r>
              <a:t>Workflows: WF-28</a:t>
            </a:r>
          </a:p>
          <a:p>
            <a:r>
              <a:t>Screens: F04</a:t>
            </a:r>
          </a:p>
          <a:p/>
          <a:p>
            <a:r>
              <a:t>FR-F05: Ánh xạ vùng vật lý: Ánh xạ zone đúng tầng/tenant và revision sơ đồ.</a:t>
            </a:r>
          </a:p>
          <a:p>
            <a:r>
              <a:t>Workflows: WF-28</a:t>
            </a:r>
          </a:p>
          <a:p>
            <a:r>
              <a:t>Screens: F05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FR-F06: Ma trận nguyên nhân–tác động: Review cause-and-effect được site duyệt trước thay đổi.</a:t>
            </a:r>
          </a:p>
          <a:p>
            <a:r>
              <a:t>Workflows: WF-28</a:t>
            </a:r>
          </a:p>
          <a:p>
            <a:r>
              <a:t>Screens: F06</a:t>
            </a:r>
          </a:p>
          <a:p/>
          <a:p>
            <a:r>
              <a:t>FR-F07: Chi tiết sự kiện vật lý: Giữ source sequence, alarm/trouble/test và incident linkage.</a:t>
            </a:r>
          </a:p>
          <a:p>
            <a:r>
              <a:t>Workflows: WF-29</a:t>
            </a:r>
          </a:p>
          <a:p>
            <a:r>
              <a:t>Screens: F07</a:t>
            </a:r>
          </a:p>
          <a:p/>
          <a:p>
            <a:r>
              <a:t>FR-F08: Trạng thái nước chữa cháy: Tách pump/pressure/valve/flow và khả năng cấp nước.</a:t>
            </a:r>
          </a:p>
          <a:p>
            <a:r>
              <a:t>Workflows: WF-29</a:t>
            </a:r>
          </a:p>
          <a:p>
            <a:r>
              <a:t>Screens: F08</a:t>
            </a:r>
          </a:p>
          <a:p/>
          <a:p>
            <a:r>
              <a:t>FR-F09: Xem xét kích hoạt có kiểm soát: Review release có phép site, capability và interlock đã xác minh.</a:t>
            </a:r>
          </a:p>
          <a:p>
            <a:r>
              <a:t>Workflows: WF-30</a:t>
            </a:r>
          </a:p>
          <a:p>
            <a:r>
              <a:t>Screens: F09</a:t>
            </a:r>
          </a:p>
          <a:p/>
          <a:p>
            <a:r>
              <a:t>FR-F10: Phê duyệt lệnh thiết bị: Duyệt độc lập đúng digest/target/operation/expiry.</a:t>
            </a:r>
          </a:p>
          <a:p>
            <a:r>
              <a:t>Workflows: WF-30</a:t>
            </a:r>
          </a:p>
          <a:p>
            <a:r>
              <a:t>Screens: F10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FR-F11: Phản hồi thực thi: Tách ACK và phản hồi vật lý; thiếu feedback thành UNKNOWN.</a:t>
            </a:r>
          </a:p>
          <a:p>
            <a:r>
              <a:t>Workflows: WF-30</a:t>
            </a:r>
          </a:p>
          <a:p>
            <a:r>
              <a:t>Screens: F11</a:t>
            </a:r>
          </a:p>
          <a:p/>
          <a:p>
            <a:r>
              <a:t>FR-F12: Đối soát kết quả chưa rõ: Đối soát bằng readback/quan sát, không retry release mù.</a:t>
            </a:r>
          </a:p>
          <a:p>
            <a:r>
              <a:t>Workflows: WF-30</a:t>
            </a:r>
          </a:p>
          <a:p>
            <a:r>
              <a:t>Screens: F12</a:t>
            </a:r>
          </a:p>
          <a:p/>
          <a:p>
            <a:r>
              <a:t>FR-F13: Ưu tiên cục bộ và bàn giao: Thu hồi remote lease khi local override; bàn giao có xác nhận.</a:t>
            </a:r>
          </a:p>
          <a:p>
            <a:r>
              <a:t>Workflows: WF-30</a:t>
            </a:r>
          </a:p>
          <a:p>
            <a:r>
              <a:t>Screens: F13</a:t>
            </a:r>
          </a:p>
          <a:p/>
          <a:p>
            <a:r>
              <a:t>FR-F14: Suy giảm và chế độ kiểm thử: Lập impairment/test permit, cách ly và biện pháp bù.</a:t>
            </a:r>
          </a:p>
          <a:p>
            <a:r>
              <a:t>Workflows: WF-31</a:t>
            </a:r>
          </a:p>
          <a:p>
            <a:r>
              <a:t>Screens: F14</a:t>
            </a:r>
          </a:p>
          <a:p/>
          <a:p>
            <a:r>
              <a:t>FR-F15: Kế hoạch nghiệm thu: Khóa cấu hình và kế hoạch FAT/SAT có witness/abort.</a:t>
            </a:r>
          </a:p>
          <a:p>
            <a:r>
              <a:t>Workflows: WF-32</a:t>
            </a:r>
          </a:p>
          <a:p>
            <a:r>
              <a:t>Screens: F15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FR-F16: Bằng chứng lần kiểm thử: Ghi expected/observed độc lập và bằng chứng từng test.</a:t>
            </a:r>
          </a:p>
          <a:p>
            <a:r>
              <a:t>Workflows: WF-32</a:t>
            </a:r>
          </a:p>
          <a:p>
            <a:r>
              <a:t>Screens: F16</a:t>
            </a:r>
          </a:p>
          <a:p/>
          <a:p>
            <a:r>
              <a:t>FR-F17: Hồ sơ tương thích và chứng nhận: Đối chiếu certificate/BOM/firmware/SAT trước bật capability.</a:t>
            </a:r>
          </a:p>
          <a:p>
            <a:r>
              <a:t>Workflows: WF-32</a:t>
            </a:r>
          </a:p>
          <a:p>
            <a:r>
              <a:t>Screens: F17</a:t>
            </a:r>
          </a:p>
          <a:p/>
          <a:p>
            <a:r>
              <a:t>FR-F18: Bảo trì và khôi phục: Xác minh khôi phục vật lý và site duyệt trước xóa impairment.</a:t>
            </a:r>
          </a:p>
          <a:p>
            <a:r>
              <a:t>Workflows: WF-31</a:t>
            </a:r>
          </a:p>
          <a:p>
            <a:r>
              <a:t>Screens: F18</a:t>
            </a:r>
          </a:p>
          <a:p/>
          <a:p>
            <a:r>
              <a:t>FR-F19: Nhiệm vụ thiết bị cứu hộ: Giao robot cho operator đủ năng lực; API chưa rõ không điều khiển cloud.</a:t>
            </a:r>
          </a:p>
          <a:p>
            <a:r>
              <a:t>Workflows: WF-33</a:t>
            </a:r>
          </a:p>
          <a:p>
            <a:r>
              <a:t>Screens: F19</a:t>
            </a:r>
          </a:p>
          <a:p/>
          <a:p>
            <a:r>
              <a:t>FR-F20: Kết nối hệ thống vật lý: Onboard connector chỉ đọc, vault credential và capability ký duyệt.</a:t>
            </a:r>
          </a:p>
          <a:p>
            <a:r>
              <a:t>Workflows: WF-28</a:t>
            </a:r>
          </a:p>
          <a:p>
            <a:r>
              <a:t>Screens: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APP-SYS-001: Signal/Event: quan sát từ nguồn, immutable; có observed_at và received_at.</a:t>
            </a:r>
          </a:p>
          <a:p>
            <a:r>
              <a:t>Workflows: ALL</a:t>
            </a:r>
          </a:p>
          <a:p>
            <a:r>
              <a:t>Screens: </a:t>
            </a:r>
          </a:p>
          <a:p/>
          <a:p>
            <a:r>
              <a:t>APP-SYS-002: Incident: hồ sơ vận hành tập hợp bằng chứng, có severity và owner.</a:t>
            </a:r>
          </a:p>
          <a:p>
            <a:r>
              <a:t>Workflows: ALL</a:t>
            </a:r>
          </a:p>
          <a:p>
            <a:r>
              <a:t>Screens: </a:t>
            </a:r>
          </a:p>
          <a:p/>
          <a:p>
            <a:r>
              <a:t>APP-SYS-003: SOS: yêu cầu trợ giúp theo người/nhóm, có trạng thái riêng và có thể liên kết incident.</a:t>
            </a:r>
          </a:p>
          <a:p>
            <a:r>
              <a:t>Workflows: ALL</a:t>
            </a:r>
          </a:p>
          <a:p>
            <a:r>
              <a:t>Screens: </a:t>
            </a:r>
          </a:p>
          <a:p/>
          <a:p>
            <a:r>
              <a:t>APP-SYS-004: Warning: thông điệp phát hành theo version và audience.</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APP-SYS-005: Delivery: một lần gửi qua một kênh.</a:t>
            </a:r>
          </a:p>
          <a:p>
            <a:r>
              <a:t>Workflows: ALL</a:t>
            </a:r>
          </a:p>
          <a:p>
            <a:r>
              <a:t>Screens: </a:t>
            </a:r>
          </a:p>
          <a:p/>
          <a:p>
            <a:r>
              <a:t>APP-SYS-006: Task: nhiệm vụ của đơn vị.</a:t>
            </a:r>
          </a:p>
          <a:p>
            <a:r>
              <a:t>Workflows: ALL</a:t>
            </a:r>
          </a:p>
          <a:p>
            <a:r>
              <a:t>Screens: </a:t>
            </a:r>
          </a:p>
          <a:p/>
          <a:p>
            <a:r>
              <a:t>APP-SYS-007: Personal status: lời khai/trạng thái có nguồn, không phải suy luận an toàn tuyệt đối.</a:t>
            </a:r>
          </a:p>
          <a:p>
            <a:r>
              <a:t>Workflows: ALL</a:t>
            </a:r>
          </a:p>
          <a:p>
            <a:r>
              <a:t>Screens: </a:t>
            </a:r>
          </a:p>
          <a:p/>
          <a:p>
            <a:r>
              <a:t>APP-SYS-008: Command: lệnh đến thiết bị, tách khỏi event.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APP-SYS-009: Signal — received → validated → correlated / quarantined / rejected — Gateway xác thực schema/source/tenant; invalid không vào live workflow</a:t>
            </a:r>
          </a:p>
          <a:p>
            <a:r>
              <a:t>Workflows: ALL</a:t>
            </a:r>
          </a:p>
          <a:p>
            <a:r>
              <a:t>Screens: </a:t>
            </a:r>
          </a:p>
          <a:p/>
          <a:p>
            <a:r>
              <a:t>APP-SYS-010: Incident — new → triaging → active → contained → resolved → closed — Operator triage; supervisor đóng khi checklist hoàn tất; có reopen với reason</a:t>
            </a:r>
          </a:p>
          <a:p>
            <a:r>
              <a:t>Workflows: ALL</a:t>
            </a:r>
          </a:p>
          <a:p>
            <a:r>
              <a:t>Screens: </a:t>
            </a:r>
          </a:p>
          <a:p/>
          <a:p>
            <a:r>
              <a:t>APP-SYS-011: Incident exception — new/triaging → dismissed; bất kỳ incident chưa closed → linked — Dismiss phải có reason; linking không xóa ID hoặc evidence</a:t>
            </a:r>
          </a:p>
          <a:p>
            <a:r>
              <a:t>Workflows: ALL</a:t>
            </a:r>
          </a:p>
          <a:p>
            <a:r>
              <a:t>Screens: </a:t>
            </a:r>
          </a:p>
          <a:p/>
          <a:p>
            <a:r>
              <a:t>APP-SYS-012: SOS — submitted → acknowledged → assigned → assisting → resolved — Server receipt khác operator ACK; responder chỉ cập nhật task được giao</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APP-SYS-013: SOS cancel — submitted/acknowledged/assigned → cancellation_requested → canceled hoặc tiếp tục — Sau dispatch cần operator quyết định; citizen không xóa hồ sơ</a:t>
            </a:r>
          </a:p>
          <a:p>
            <a:r>
              <a:t>Workflows: ALL</a:t>
            </a:r>
          </a:p>
          <a:p>
            <a:r>
              <a:t>Screens: </a:t>
            </a:r>
          </a:p>
          <a:p/>
          <a:p>
            <a:r>
              <a:t>APP-SYS-014: Person status — unknown, in_danger, help_requested, self_reported_safe, responder_confirmed_assisted — Append observation với timestamp/source; có thể đổi lại danger; safe không đóng incident</a:t>
            </a:r>
          </a:p>
          <a:p>
            <a:r>
              <a:t>Workflows: ALL</a:t>
            </a:r>
          </a:p>
          <a:p>
            <a:r>
              <a:t>Screens: </a:t>
            </a:r>
          </a:p>
          <a:p/>
          <a:p>
            <a:r>
              <a:t>APP-SYS-015: Warning — draft → review → approved → sending → active → expired / canceled — Version mới cần duyệt lại; tác giả không duyệt chính mình khi policy yêu cầu</a:t>
            </a:r>
          </a:p>
          <a:p>
            <a:r>
              <a:t>Workflows: ALL</a:t>
            </a:r>
          </a:p>
          <a:p>
            <a:r>
              <a:t>Screens: </a:t>
            </a:r>
          </a:p>
          <a:p/>
          <a:p>
            <a:r>
              <a:t>APP-SYS-016: Task — offered → accepted → en_route → on_scene → completed — Hết hạn offer → expired → reassign; decline có reason; task có một owner hiện hành</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APP-SYS-017: Command — requested → approved → dispatched → accepted → executing → succeeded / failed / unknown / expired — Device acceptance không đủ chứng minh success; timeout không tự coi failed vật lý</a:t>
            </a:r>
          </a:p>
          <a:p>
            <a:r>
              <a:t>Workflows: ALL</a:t>
            </a:r>
          </a:p>
          <a:p>
            <a:r>
              <a:t>Screens: </a:t>
            </a:r>
          </a:p>
          <a:p/>
          <a:p>
            <a:r>
              <a:t>APP-SYS-018: Tài sản vật lý: controller, bơm, van, hệ xả hoặc thiết bị cứu hộ đang lắp, ràng buộc cấu hình.</a:t>
            </a:r>
          </a:p>
          <a:p>
            <a:r>
              <a:t>Workflows: ALL</a:t>
            </a:r>
          </a:p>
          <a:p>
            <a:r>
              <a:t>Screens: </a:t>
            </a:r>
          </a:p>
          <a:p/>
          <a:p>
            <a:r>
              <a:t>APP-SYS-019: Capability: quyền quan sát/điều khiển được duyệt riêng cho thao tác chính xác.</a:t>
            </a:r>
          </a:p>
          <a:p>
            <a:r>
              <a:t>Workflows: ALL</a:t>
            </a:r>
          </a:p>
          <a:p>
            <a:r>
              <a:t>Screens: </a:t>
            </a:r>
          </a:p>
          <a:p/>
          <a:p>
            <a:r>
              <a:t>APP-SYS-020: Phản hồi vật lý: bằng chứng quan sát, khác acknowledgment truyền tải/thiết bị.</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APP-SYS-021: Impairment: giảm bảo vệ có thẩm quyền, cần biện pháp bù và khôi phục xác minh.</a:t>
            </a:r>
          </a:p>
          <a:p>
            <a:r>
              <a:t>Workflows: ALL</a:t>
            </a:r>
          </a:p>
          <a:p>
            <a:r>
              <a:t>Screens: </a:t>
            </a:r>
          </a:p>
          <a:p/>
          <a:p>
            <a:r>
              <a:t>APP-SYS-022: Mission: vận hành thiết bị có giám sát, quyền tại chỗ và bàn giao.</a:t>
            </a:r>
          </a:p>
          <a:p>
            <a:r>
              <a:t>Workflows: ALL</a:t>
            </a:r>
          </a:p>
          <a:p>
            <a:r>
              <a:t>Screens: </a:t>
            </a:r>
          </a:p>
          <a:p/>
          <a:p>
            <a:r>
              <a:t>APP-SYS-023: Nhãn UI UNKNOWN ánh xạ trạng thái máy unknown hiện có, không phải trạng thái kết thúc thành công/thất bại mới.</a:t>
            </a:r>
          </a:p>
          <a:p>
            <a:r>
              <a:t>Workflows: ALL</a:t>
            </a:r>
          </a:p>
          <a:p>
            <a:r>
              <a:t>Screens: </a:t>
            </a:r>
          </a:p>
          <a:p/>
          <a:p>
            <a:r>
              <a:t>APP-SYS-024: Vòng đời impairment: requested → approved → active → restoration_pending → verified_closed; hết hạn chưa khôi phục giữ restoration_pending và escalation.</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APP-SYS-025: Vòng đời mission: draft → review → approved → locally_accepted → executing → completed / aborted / unknown; hoàn tất cần bằng chứng kết quả.</a:t>
            </a:r>
          </a:p>
          <a:p>
            <a:r>
              <a:t>Workflows: ALL</a:t>
            </a:r>
          </a:p>
          <a:p>
            <a:r>
              <a:t>Screens: </a:t>
            </a:r>
          </a:p>
          <a:p/>
          <a:p>
            <a:r>
              <a:t>APP-SYS-026: Mọi endpoint kiểm tra principal, tenant membership, region, site scope, object ownership và action permission ở server.</a:t>
            </a:r>
          </a:p>
          <a:p>
            <a:r>
              <a:t>Workflows: ALL</a:t>
            </a:r>
          </a:p>
          <a:p>
            <a:r>
              <a:t>Screens: </a:t>
            </a:r>
          </a:p>
          <a:p/>
          <a:p>
            <a:r>
              <a:t>APP-SYS-027: Frontend ẩn nút không phải kiểm soát bảo mật.</a:t>
            </a:r>
          </a:p>
          <a:p>
            <a:r>
              <a:t>Workflows: ALL</a:t>
            </a:r>
          </a:p>
          <a:p>
            <a:r>
              <a:t>Screens: </a:t>
            </a:r>
          </a:p>
          <a:p/>
          <a:p>
            <a:r>
              <a:t>APP-SYS-028: Người thân chỉ thấy trường được chia sẻ; operator xem thông tin phục vụ incident; platform admin không mặc nhiên đọc data.</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APP-SYS-029: Warning approver và command approver có quyền riêng.</a:t>
            </a:r>
          </a:p>
          <a:p>
            <a:r>
              <a:t>Workflows: ALL</a:t>
            </a:r>
          </a:p>
          <a:p>
            <a:r>
              <a:t>Screens: </a:t>
            </a:r>
          </a:p>
          <a:p/>
          <a:p>
            <a:r>
              <a:t>APP-SYS-030: Break-glass yêu cầu lý do, thời hạn, audit và thông báo người giám sát; không bỏ tenant boundary.</a:t>
            </a:r>
          </a:p>
          <a:p>
            <a:r>
              <a:t>Workflows: ALL</a:t>
            </a:r>
          </a:p>
          <a:p>
            <a:r>
              <a:t>Screens: </a:t>
            </a:r>
          </a:p>
          <a:p/>
          <a:p>
            <a:r>
              <a:t>APP-SYS-031: Từ chối truy cập object ngoài scope trả 404 hoặc lỗi không tiết lộ tồn tại.</a:t>
            </a:r>
          </a:p>
          <a:p>
            <a:r>
              <a:t>Workflows: ALL</a:t>
            </a:r>
          </a:p>
          <a:p>
            <a:r>
              <a:t>Screens: </a:t>
            </a:r>
          </a:p>
          <a:p/>
          <a:p>
            <a:r>
              <a:t>APP-SYS-032: Danh sách phân trang cursor, sort ổn định (created_at,id), tối đa 100 bản ghi/trang.</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APP-SYS-033: Tất cả mutation có validation, idempotency khi tạo tác động và optimistic concurrency khi cập nhật.</a:t>
            </a:r>
          </a:p>
          <a:p>
            <a:r>
              <a:t>Workflows: ALL</a:t>
            </a:r>
          </a:p>
          <a:p>
            <a:r>
              <a:t>Screens: </a:t>
            </a:r>
          </a:p>
          <a:p/>
          <a:p>
            <a:r>
              <a:t>APP-SYS-034: Các màn list có search/filter theo trường phù hợp, trạng thái loading/empty/error/denied; form có required/invalid/conflict/unsaved; detail có stale/not-found.</a:t>
            </a:r>
          </a:p>
          <a:p>
            <a:r>
              <a:t>Workflows: ALL</a:t>
            </a:r>
          </a:p>
          <a:p>
            <a:r>
              <a:t>Screens: </a:t>
            </a:r>
          </a:p>
          <a:p/>
          <a:p>
            <a:r>
              <a:t>APP-SYS-035: Dữ liệu prototype không phải telemetry thật.</a:t>
            </a:r>
          </a:p>
          <a:p>
            <a:r>
              <a:t>Workflows: ALL</a:t>
            </a:r>
          </a:p>
          <a:p>
            <a:r>
              <a:t>Screens: </a:t>
            </a:r>
          </a:p>
          <a:p/>
          <a:p>
            <a:r>
              <a:t>APP-SYS-036: Điều khiển vật lý kiểm tra thêm capability site/controller, quyền hãng, policy truy cập OT, impairment/lockout hiện tại, thẩm quyền tại chỗ và phê duyệt theo thao tác.</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APP-SYS-037: UI phân biệt chỉ giám sát, đủ điều kiện điều khiển, bị khóa, cũ và UNKNOWN.</a:t>
            </a:r>
          </a:p>
          <a:p>
            <a:r>
              <a:t>Workflows: ALL</a:t>
            </a:r>
          </a:p>
          <a:p>
            <a:r>
              <a:t>Screens: </a:t>
            </a:r>
          </a:p>
          <a:p/>
          <a:p>
            <a:r>
              <a:t>APP-SYS-038: Quyền kỹ thuật không mặc nhiên là quyền chỉ huy sự cố.</a:t>
            </a:r>
          </a:p>
          <a:p>
            <a:r>
              <a:t>Workflows: ALL</a:t>
            </a:r>
          </a:p>
          <a:p>
            <a:r>
              <a:t>Screens: </a:t>
            </a:r>
          </a:p>
          <a:p/>
          <a:p>
            <a:r>
              <a:t>APP-SYS-039: Phân đoạn OT khỏi mạng công cộng; allowlist endpoint/thao tác hỗ trợ, kiểm soát truy cập bảo trì, giữ audit credential/thay đổi.</a:t>
            </a:r>
          </a:p>
          <a:p>
            <a:r>
              <a:t>Workflows: ALL</a:t>
            </a:r>
          </a:p>
          <a:p>
            <a:r>
              <a:t>Screens: </a:t>
            </a:r>
          </a:p>
          <a:p/>
          <a:p>
            <a:r>
              <a:t>APP-SYS-040: Phát hiện, khởi động bơm và bảo vệ xả tự động cục bộ không phụ thuộc duyệt/kết nối cloud.</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APP-SYS-041: Actor admin tạo tenant với immutable home_region; chọn locale/timezone, thiết lập SSO/MFA, mời membership theo site.</a:t>
            </a:r>
          </a:p>
          <a:p>
            <a:r>
              <a:t>Workflows: WF-01</a:t>
            </a:r>
          </a:p>
          <a:p>
            <a:r>
              <a:t>Screens: A01, A02, A03, A04, A05, A06, A07, A08, A09, A10, T03, T04, X04, X08</a:t>
            </a:r>
          </a:p>
          <a:p/>
          <a:p>
            <a:r>
              <a:t>APP-SYS-042: User chọn workspace trước khi vào console.</a:t>
            </a:r>
          </a:p>
          <a:p>
            <a:r>
              <a:t>Workflows: WF-01</a:t>
            </a:r>
          </a:p>
          <a:p>
            <a:r>
              <a:t>Screens: A01, A02, A03, A04, A05, A06, A07, A08, A09, A10, T03, T04, X04, X08</a:t>
            </a:r>
          </a:p>
          <a:p/>
          <a:p>
            <a:r>
              <a:t>APP-SYS-043: Email chưa tồn tại và tồn tại trả cùng thông điệp recovery để giảm enumeration.</a:t>
            </a:r>
          </a:p>
          <a:p>
            <a:r>
              <a:t>Workflows: WF-01</a:t>
            </a:r>
          </a:p>
          <a:p>
            <a:r>
              <a:t>Screens: A01, A02, A03, A04, A05, A06, A07, A08, A09, A10, T03, T04, X04, X08</a:t>
            </a:r>
          </a:p>
          <a:p/>
          <a:p>
            <a:r>
              <a:t>APP-SYS-044: Invite dùng một lần, TTL, đúng email/domain policy.</a:t>
            </a:r>
          </a:p>
          <a:p>
            <a:r>
              <a:t>Workflows: WF-01</a:t>
            </a:r>
          </a:p>
          <a:p>
            <a:r>
              <a:t>Screens: A01, A02, A03, A04, A05, A06, A07, A08, A09, A10, T03, T04, X04, X08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APP-SYS-045: SSO không khả dụng có break-glass account được kiểm soát ở tenant phù hợp; không tự bypass MFA.</a:t>
            </a:r>
          </a:p>
          <a:p>
            <a:r>
              <a:t>Workflows: WF-01</a:t>
            </a:r>
          </a:p>
          <a:p>
            <a:r>
              <a:t>Screens: A01, A02, A03, A04, A05, A06, A07, A08, A09, A10, T03, T04, X04, X08</a:t>
            </a:r>
          </a:p>
          <a:p/>
          <a:p>
            <a:r>
              <a:t>APP-SYS-046: AC: invite hết hạn bị từ chối; role đã revoke không được dùng token cũ sau hạn revocation propagation 60 s đề xuất; switch workspace không hiển thị cache tenant cũ.</a:t>
            </a:r>
          </a:p>
          <a:p>
            <a:r>
              <a:t>Workflows: WF-01</a:t>
            </a:r>
          </a:p>
          <a:p>
            <a:r>
              <a:t>Screens: A01, A02, A03, A04, A05, A06, A07, A08, A09, A10, T03, T04, X04, X08</a:t>
            </a:r>
          </a:p>
          <a:p/>
          <a:p>
            <a:r>
              <a:t>APP-SYS-047: Site admin tạo graph country/region/site/building/floor/zone/road-segment/geofence.</a:t>
            </a:r>
          </a:p>
          <a:p>
            <a:r>
              <a:t>Workflows: WF-02</a:t>
            </a:r>
          </a:p>
          <a:p>
            <a:r>
              <a:t>Screens: S01, S02, S03, S04, S05, X06</a:t>
            </a:r>
          </a:p>
          <a:p/>
          <a:p>
            <a:r>
              <a:t>APP-SYS-048: Không bắt buộc mọi site có tầng.</a:t>
            </a:r>
          </a:p>
          <a:p>
            <a:r>
              <a:t>Workflows: WF-02</a:t>
            </a:r>
          </a:p>
          <a:p>
            <a:r>
              <a:t>Screens: S01, S02, S03, S04, S05, X06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APP-SYS-049: Device binding kiểm tra thuộc cùng tenant.</a:t>
            </a:r>
          </a:p>
          <a:p>
            <a:r>
              <a:t>Workflows: WF-02</a:t>
            </a:r>
          </a:p>
          <a:p>
            <a:r>
              <a:t>Screens: S01, S02, S03, S04, S05, X06</a:t>
            </a:r>
          </a:p>
          <a:p/>
          <a:p>
            <a:r>
              <a:t>APP-SYS-050: Floor plan có revision, scale, exits, accessibility và người duyệt.</a:t>
            </a:r>
          </a:p>
          <a:p>
            <a:r>
              <a:t>Workflows: WF-02</a:t>
            </a:r>
          </a:p>
          <a:p>
            <a:r>
              <a:t>Screens: S01, S02, S03, S04, S05, X06</a:t>
            </a:r>
          </a:p>
          <a:p/>
          <a:p>
            <a:r>
              <a:t>APP-SYS-051: Mỗi incident lưu plan revision đã sử dụng.</a:t>
            </a:r>
          </a:p>
          <a:p>
            <a:r>
              <a:t>Workflows: WF-02</a:t>
            </a:r>
          </a:p>
          <a:p>
            <a:r>
              <a:t>Screens: S01, S02, S03, S04, S05, X06</a:t>
            </a:r>
          </a:p>
          <a:p/>
          <a:p>
            <a:r>
              <a:t>APP-SYS-052: Vị trí mang method, accuracy, age; GPS không tự suy ra tầng.</a:t>
            </a:r>
          </a:p>
          <a:p>
            <a:r>
              <a:t>Workflows: WF-02</a:t>
            </a:r>
          </a:p>
          <a:p>
            <a:r>
              <a:t>Screens: S01, S02, S03, S04, S05, X06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APP-SYS-053: Không có định vị thì user nhập vị trí thủ công và gửi SOS.</a:t>
            </a:r>
          </a:p>
          <a:p>
            <a:r>
              <a:t>Workflows: WF-02</a:t>
            </a:r>
          </a:p>
          <a:p>
            <a:r>
              <a:t>Screens: S01, S02, S03, S04, S05, X06</a:t>
            </a:r>
          </a:p>
          <a:p/>
          <a:p>
            <a:r>
              <a:t>APP-SYS-054: AC: không publish plan thiếu reviewer; zone có incident active không hard-delete; route thiếu freshness hiện “not verified”, không hiển thị là tuyến chắc chắn an toàn.</a:t>
            </a:r>
          </a:p>
          <a:p>
            <a:r>
              <a:t>Workflows: WF-02</a:t>
            </a:r>
          </a:p>
          <a:p>
            <a:r>
              <a:t>Screens: S01, S02, S03, S04, S05, X06</a:t>
            </a:r>
          </a:p>
          <a:p/>
          <a:p>
            <a:r>
              <a:t>APP-SYS-055: Adapter kiểm tra credential, tenant binding, schema, clock skew, payload limit rồi ghi event bền vững trước receipt.</a:t>
            </a:r>
          </a:p>
          <a:p>
            <a:r>
              <a:t>Workflows: WF-03</a:t>
            </a:r>
          </a:p>
          <a:p>
            <a:r>
              <a:t>Screens: O03, I03, D02, D03, D04</a:t>
            </a:r>
          </a:p>
          <a:p/>
          <a:p>
            <a:r>
              <a:t>APP-SYS-056: Duplicate key (tenant,source,event_id) trả receipt cũ.</a:t>
            </a:r>
          </a:p>
          <a:p>
            <a:r>
              <a:t>Workflows: WF-03</a:t>
            </a:r>
          </a:p>
          <a:p>
            <a:r>
              <a:t>Screens: O03, I03, D02, D03, D04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APP-SYS-057: Event trễ vẫn lưu để audit nhưng rule live xét TTL theo hazard.</a:t>
            </a:r>
          </a:p>
          <a:p>
            <a:r>
              <a:t>Workflows: WF-03</a:t>
            </a:r>
          </a:p>
          <a:p>
            <a:r>
              <a:t>Screens: O03, I03, D02, D03, D04</a:t>
            </a:r>
          </a:p>
          <a:p/>
          <a:p>
            <a:r>
              <a:t>APP-SYS-058: Unknown source/quyền/unit/location bị quarantine.</a:t>
            </a:r>
          </a:p>
          <a:p>
            <a:r>
              <a:t>Workflows: WF-03</a:t>
            </a:r>
          </a:p>
          <a:p>
            <a:r>
              <a:t>Screens: O03, I03, D02, D03, D04</a:t>
            </a:r>
          </a:p>
          <a:p/>
          <a:p>
            <a:r>
              <a:t>APP-SYS-059: Input hỗ trợ HTTPS/CloudEvents, MQTT adapter, CAP, camera metadata, wearable, telematics và manual.</a:t>
            </a:r>
          </a:p>
          <a:p>
            <a:r>
              <a:t>Workflows: WF-03</a:t>
            </a:r>
          </a:p>
          <a:p>
            <a:r>
              <a:t>Screens: O03, I03, D02, D03, D04</a:t>
            </a:r>
          </a:p>
          <a:p/>
          <a:p>
            <a:r>
              <a:t>APP-SYS-060: AC: replay 100 lần cùng ID tạo một event; hai tenant cùng event ID không collision; source có tenant spoof bị chặn; event stale không khởi động command.</a:t>
            </a:r>
          </a:p>
          <a:p>
            <a:r>
              <a:t>Workflows: WF-03</a:t>
            </a:r>
          </a:p>
          <a:p>
            <a:r>
              <a:t>Screens: O03, I03, D02, D03, D04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APP-SYS-061: Rule versioned cung cấp candidate incident theo khoảng thời gian, zone, hazard và source.</a:t>
            </a:r>
          </a:p>
          <a:p>
            <a:r>
              <a:t>Workflows: WF-04</a:t>
            </a:r>
          </a:p>
          <a:p>
            <a:r>
              <a:t>Screens: O05, O06, O07, S11, S12, S13, S14</a:t>
            </a:r>
          </a:p>
          <a:p/>
          <a:p>
            <a:r>
              <a:t>APP-SYS-062: Operator xem evidence và confidence, tạo hoặc liên kết; split giữ audit và liên kết nguồn.</a:t>
            </a:r>
          </a:p>
          <a:p>
            <a:r>
              <a:t>Workflows: WF-04</a:t>
            </a:r>
          </a:p>
          <a:p>
            <a:r>
              <a:t>Screens: O05, O06, O07, S11, S12, S13, S14</a:t>
            </a:r>
          </a:p>
          <a:p/>
          <a:p>
            <a:r>
              <a:t>APP-SYS-063: Không gom khác hazard chỉ vì gần nhau; cross-hazard relationship có type (caused_by/nearby/possible_duplicate).</a:t>
            </a:r>
          </a:p>
          <a:p>
            <a:r>
              <a:t>Workflows: WF-04</a:t>
            </a:r>
          </a:p>
          <a:p>
            <a:r>
              <a:t>Screens: O05, O06, O07, S11, S12, S13, S14</a:t>
            </a:r>
          </a:p>
          <a:p/>
          <a:p>
            <a:r>
              <a:t>APP-SYS-064: Camera detection được gọi “possible fire”; fire panel policy có thể lập tức mở response theo site-approved workflow, không phải đợi AI.</a:t>
            </a:r>
          </a:p>
          <a:p>
            <a:r>
              <a:t>Workflows: WF-04</a:t>
            </a:r>
          </a:p>
          <a:p>
            <a:r>
              <a:t>Screens: O05, O06, O07, S11, S12, S13, S14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APP-SYS-065: AC: merge không mất SOS/task; split không nhân dispatch; rule thay đổi không sửa lịch sử; có reason khi dismiss.</a:t>
            </a:r>
          </a:p>
          <a:p>
            <a:r>
              <a:t>Workflows: WF-04</a:t>
            </a:r>
          </a:p>
          <a:p>
            <a:r>
              <a:t>Screens: O05, O06, O07, S11, S12, S13, S14</a:t>
            </a:r>
          </a:p>
          <a:p/>
          <a:p>
            <a:r>
              <a:t>APP-SYS-066: User chọn category hoặc Other/Unknown; nhập/cập nhật vị trí, ghi chú và số người.</a:t>
            </a:r>
          </a:p>
          <a:p>
            <a:r>
              <a:t>Workflows: WF-05</a:t>
            </a:r>
          </a:p>
          <a:p>
            <a:r>
              <a:t>Screens: C05, C06, C07, C08, C09, C10, C27, C28, X01, X02</a:t>
            </a:r>
          </a:p>
          <a:p/>
          <a:p>
            <a:r>
              <a:t>APP-SYS-067: Emergency flow không buộc điền hết profile.</a:t>
            </a:r>
          </a:p>
          <a:p>
            <a:r>
              <a:t>Workflows: WF-05</a:t>
            </a:r>
          </a:p>
          <a:p>
            <a:r>
              <a:t>Screens: C05, C06, C07, C08, C09, C10, C27, C28, X01, X02</a:t>
            </a:r>
          </a:p>
          <a:p/>
          <a:p>
            <a:r>
              <a:t>APP-SYS-068: Server trả SOS ID và received_at sau commit.</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APP-SYS-069: Client hiển thị pending khi chỉ lưu local.</a:t>
            </a:r>
          </a:p>
          <a:p>
            <a:r>
              <a:t>Workflows: WF-05</a:t>
            </a:r>
          </a:p>
          <a:p>
            <a:r>
              <a:t>Screens: C05, C06, C07, C08, C09, C10, C27, C28, X01, X02</a:t>
            </a:r>
          </a:p>
          <a:p/>
          <a:p>
            <a:r>
              <a:t>APP-SYS-070: Lệnh gửi lại dùng client_request_id, TTL và trạng thái đã reconcile.</a:t>
            </a:r>
          </a:p>
          <a:p>
            <a:r>
              <a:t>Workflows: WF-05</a:t>
            </a:r>
          </a:p>
          <a:p>
            <a:r>
              <a:t>Screens: C05, C06, C07, C08, C09, C10, C27, C28, X01, X02</a:t>
            </a:r>
          </a:p>
          <a:p/>
          <a:p>
            <a:r>
              <a:t>APP-SYS-071: Với threat/discreet, mặc định không âm thanh và không fan-out nhóm; với hỗ trợ thông thường severity theo rule, không coi mọi SOS là P1.</a:t>
            </a:r>
          </a:p>
          <a:p>
            <a:r>
              <a:t>Workflows: WF-05</a:t>
            </a:r>
          </a:p>
          <a:p>
            <a:r>
              <a:t>Screens: C05, C06, C07, C08, C09, C10, C27, C28, X01, X02</a:t>
            </a:r>
          </a:p>
          <a:p/>
          <a:p>
            <a:r>
              <a:t>APP-SYS-072: AC: mất mạng không hiện “đã nhận”; gửi lại không tạo SOS thứ hai; người không cấp GPS vẫn gửi vị trí bằng tay; đổi category không mất ID.</a:t>
            </a:r>
          </a:p>
          <a:p>
            <a:r>
              <a:t>Workflows: WF-05</a:t>
            </a:r>
          </a:p>
          <a:p>
            <a:r>
              <a:t>Screens: C05, C06, C07, C08, C09, C10, C27, C28, X01, X02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APP-SYS-073: Detector được phê duyệt phát possible_fall; app hiện check-in 30 s đề xuất, có “I'm OK” và “Get help now”.</a:t>
            </a:r>
          </a:p>
          <a:p>
            <a:r>
              <a:t>Workflows: WF-06</a:t>
            </a:r>
          </a:p>
          <a:p>
            <a:r>
              <a:t>Screens: C24, C25</a:t>
            </a:r>
          </a:p>
          <a:p/>
          <a:p>
            <a:r>
              <a:t>APP-SYS-074: Nếu không có phản hồi, server timer tiếp tục kể cả app bị đóng; tạo yêu cầu operator/caregiver theo consent.</a:t>
            </a:r>
          </a:p>
          <a:p>
            <a:r>
              <a:t>Workflows: WF-06</a:t>
            </a:r>
          </a:p>
          <a:p>
            <a:r>
              <a:t>Screens: C24, C25</a:t>
            </a:r>
          </a:p>
          <a:p/>
          <a:p>
            <a:r>
              <a:t>APP-SYS-075: Thiết bị offline tạo trạng thái unknown, không kết luận người đã té.</a:t>
            </a:r>
          </a:p>
          <a:p>
            <a:r>
              <a:t>Workflows: WF-06</a:t>
            </a:r>
          </a:p>
          <a:p>
            <a:r>
              <a:t>Screens: C24, C25</a:t>
            </a:r>
          </a:p>
          <a:p/>
          <a:p>
            <a:r>
              <a:t>APP-SYS-076: Thời gian check-in được cấu hình theo dịch vụ/nhóm, có accessibility alternative; không tự dùng làm chẩn đoán.</a:t>
            </a:r>
          </a:p>
          <a:p>
            <a:r>
              <a:t>Workflows: WF-06</a:t>
            </a:r>
          </a:p>
          <a:p>
            <a:r>
              <a:t>Screens: C24, C25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APP-SYS-077: AC: app bị kill vẫn escalation; late “I'm OK” cập nhật chứ không rút task đang xử lý âm thầm; false positive lưu review reason.</a:t>
            </a:r>
          </a:p>
          <a:p>
            <a:r>
              <a:t>Workflows: WF-06</a:t>
            </a:r>
          </a:p>
          <a:p>
            <a:r>
              <a:t>Screens: C24, C25</a:t>
            </a:r>
          </a:p>
          <a:p/>
          <a:p>
            <a:r>
              <a:t>APP-SYS-078: Report/telematics cung cấp position, heading nếu có, road segment, vehicle count và injuries=unknown.</a:t>
            </a:r>
          </a:p>
          <a:p>
            <a:r>
              <a:t>Workflows: WF-07</a:t>
            </a:r>
          </a:p>
          <a:p>
            <a:r>
              <a:t>Screens: C26</a:t>
            </a:r>
          </a:p>
          <a:p/>
          <a:p>
            <a:r>
              <a:t>APP-SYS-079: Correlation phân biệt hai chiều đường hoặc tầng cầu.</a:t>
            </a:r>
          </a:p>
          <a:p>
            <a:r>
              <a:t>Workflows: WF-07</a:t>
            </a:r>
          </a:p>
          <a:p>
            <a:r>
              <a:t>Screens: C26</a:t>
            </a:r>
          </a:p>
          <a:p/>
          <a:p>
            <a:r>
              <a:t>APP-SYS-080: User có thể gửi nhanh tối thiểu, bổ sung sau.</a:t>
            </a:r>
          </a:p>
          <a:p>
            <a:r>
              <a:t>Workflows: WF-07</a:t>
            </a:r>
          </a:p>
          <a:p>
            <a:r>
              <a:t>Screens: C26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APP-SYS-081: Điều phối tới đơn vị được cấu hình; chưa có hợp đồng không tự gọi emergency public endpoint.</a:t>
            </a:r>
          </a:p>
          <a:p>
            <a:r>
              <a:t>Workflows: WF-07</a:t>
            </a:r>
          </a:p>
          <a:p>
            <a:r>
              <a:t>Screens: C26</a:t>
            </a:r>
          </a:p>
          <a:p/>
          <a:p>
            <a:r>
              <a:t>APP-SYS-082: AC: thiếu injury data được chấp nhận dưới dạng unknown; không auto-confirm collision từ một mẫu gia tốc; dữ liệu nhạy cảm chỉ vào assigned team.</a:t>
            </a:r>
          </a:p>
          <a:p>
            <a:r>
              <a:t>Workflows: WF-07</a:t>
            </a:r>
          </a:p>
          <a:p>
            <a:r>
              <a:t>Screens: C26</a:t>
            </a:r>
          </a:p>
          <a:p/>
          <a:p>
            <a:r>
              <a:t>APP-SYS-083: Connector allowlist issuer, kiểm tra XML/schema, identifiers, sent, status, scope, info/area và expiry.</a:t>
            </a:r>
          </a:p>
          <a:p>
            <a:r>
              <a:t>Workflows: WF-08</a:t>
            </a:r>
          </a:p>
          <a:p>
            <a:r>
              <a:t>Screens: C14, C15, O28, O29</a:t>
            </a:r>
          </a:p>
          <a:p/>
          <a:p>
            <a:r>
              <a:t>APP-SYS-084: Dedupe sender+identifier; Update/Cancel tham chiếu bản trước và phải giữ lineage.</a:t>
            </a:r>
          </a:p>
          <a:p>
            <a:r>
              <a:t>Workflows: WF-08</a:t>
            </a:r>
          </a:p>
          <a:p>
            <a:r>
              <a:t>Screens: C14, C15, O28, O29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APP-SYS-085: Official warning và local response là hai object.</a:t>
            </a:r>
          </a:p>
          <a:p>
            <a:r>
              <a:t>Workflows: WF-08</a:t>
            </a:r>
          </a:p>
          <a:p>
            <a:r>
              <a:t>Screens: C14, C15, O28, O29</a:t>
            </a:r>
          </a:p>
          <a:p/>
          <a:p>
            <a:r>
              <a:t>APP-SYS-086: Warning hết hạn không tiếp tục live broadcast; cancel không xóa bản đã gửi.</a:t>
            </a:r>
          </a:p>
          <a:p>
            <a:r>
              <a:t>Workflows: WF-08</a:t>
            </a:r>
          </a:p>
          <a:p>
            <a:r>
              <a:t>Screens: C14, C15, O28, O29</a:t>
            </a:r>
          </a:p>
          <a:p/>
          <a:p>
            <a:r>
              <a:t>APP-SYS-087: Polygon dùng đúng thứ tự tọa độ của CAP, chuyển explicit sang GeoJSON; không đảo lat/lon ngầm.</a:t>
            </a:r>
          </a:p>
          <a:p>
            <a:r>
              <a:t>Workflows: WF-08</a:t>
            </a:r>
          </a:p>
          <a:p>
            <a:r>
              <a:t>Screens: C14, C15, O28, O29</a:t>
            </a:r>
          </a:p>
          <a:p/>
          <a:p>
            <a:r>
              <a:t>APP-SYS-088: AC: Test/Exercise không vào luồng Actual; issuer không cho phép bị quarantine; Update thay active version nhưng lưu trước; user ngoài polygon không bị chọn do lỗi tọa độ.</a:t>
            </a:r>
          </a:p>
          <a:p>
            <a:r>
              <a:t>Workflows: WF-08</a:t>
            </a:r>
          </a:p>
          <a:p>
            <a:r>
              <a:t>Screens: C14, C15, O28, O29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APP-SYS-089: Author chọn incident, vùng/site/group, severity, ngôn ngữ, nội dung và expiry.</a:t>
            </a:r>
          </a:p>
          <a:p>
            <a:r>
              <a:t>Workflows: WF-09</a:t>
            </a:r>
          </a:p>
          <a:p>
            <a:r>
              <a:t>Screens: O13, O14, O15, T06</a:t>
            </a:r>
          </a:p>
          <a:p/>
          <a:p>
            <a:r>
              <a:t>APP-SYS-090: Preview audience là snapshot gồm recipients đủ điều kiện và lý do loại trừ; approver độc lập ký version.</a:t>
            </a:r>
          </a:p>
          <a:p>
            <a:r>
              <a:t>Workflows: WF-09</a:t>
            </a:r>
          </a:p>
          <a:p>
            <a:r>
              <a:t>Screens: O13, O14, O15, T06</a:t>
            </a:r>
          </a:p>
          <a:p/>
          <a:p>
            <a:r>
              <a:t>APP-SYS-091: Thay nội dung/audience sau approval bắt buộc duyệt lại.</a:t>
            </a:r>
          </a:p>
          <a:p>
            <a:r>
              <a:t>Workflows: WF-09</a:t>
            </a:r>
          </a:p>
          <a:p>
            <a:r>
              <a:t>Screens: O13, O14, O15, T06</a:t>
            </a:r>
          </a:p>
          <a:p/>
          <a:p>
            <a:r>
              <a:t>APP-SYS-092: Break-glass phát nhanh chỉ theo quyền đặc biệt và audit; không yêu cầu mọi P1 phải chờ duyệt nếu site playbook cho phép template preapproved.</a:t>
            </a:r>
          </a:p>
          <a:p>
            <a:r>
              <a:t>Workflows: WF-09</a:t>
            </a:r>
          </a:p>
          <a:p>
            <a:r>
              <a:t>Screens: O13, O14, O15, T06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APP-SYS-093: Translation máy chỉ draft, nội dung an toàn phải reviewed.</a:t>
            </a:r>
          </a:p>
          <a:p>
            <a:r>
              <a:t>Workflows: WF-09</a:t>
            </a:r>
          </a:p>
          <a:p>
            <a:r>
              <a:t>Screens: O13, O14, O15, T06</a:t>
            </a:r>
          </a:p>
          <a:p/>
          <a:p>
            <a:r>
              <a:t>APP-SYS-094: AC: approve v3 không cho send v4; gửi nhầm tenant bằng audience ID bị chặn; scheduled warning tái kiểm tra expiry và permission lúc phát.</a:t>
            </a:r>
          </a:p>
          <a:p>
            <a:r>
              <a:t>Workflows: WF-09</a:t>
            </a:r>
          </a:p>
          <a:p>
            <a:r>
              <a:t>Screens: O13, O14, O15, T06</a:t>
            </a:r>
          </a:p>
          <a:p/>
          <a:p>
            <a:r>
              <a:t>APP-SYS-095: Notification tạo từng delivery attempt theo recipient/channel/version; trạng thái queued/submitted/provider_accepted/delivered/read/human_ack/failed/unknown không bị gộp.</a:t>
            </a:r>
          </a:p>
          <a:p>
            <a:r>
              <a:t>Workflows: WF-10</a:t>
            </a:r>
          </a:p>
          <a:p>
            <a:r>
              <a:t>Screens: C13, O16, O17, T05, D07, C34</a:t>
            </a:r>
          </a:p>
          <a:p/>
          <a:p>
            <a:r>
              <a:t>APP-SYS-096: Provider callback xác thực và chống replay.</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APP-SYS-097: Deadline không ACK kích hoạt escalation bền vững, có owner và max steps.</a:t>
            </a:r>
          </a:p>
          <a:p>
            <a:r>
              <a:t>Workflows: WF-10</a:t>
            </a:r>
          </a:p>
          <a:p>
            <a:r>
              <a:t>Screens: C13, O16, O17, T05, D07, C34</a:t>
            </a:r>
          </a:p>
          <a:p/>
          <a:p>
            <a:r>
              <a:t>APP-SYS-098: Channel fallback không tự gửi nội dung riêng tư qua SMS; template SMS tối thiểu, link xác thực khi cần.</a:t>
            </a:r>
          </a:p>
          <a:p>
            <a:r>
              <a:t>Workflows: WF-10</a:t>
            </a:r>
          </a:p>
          <a:p>
            <a:r>
              <a:t>Screens: C13, O16, O17, T05, D07, C34</a:t>
            </a:r>
          </a:p>
          <a:p/>
          <a:p>
            <a:r>
              <a:t>APP-SYS-099: Push không bảo đảm vượt chế độ im lặng của hệ điều hành.</a:t>
            </a:r>
          </a:p>
          <a:p>
            <a:r>
              <a:t>Workflows: WF-10</a:t>
            </a:r>
          </a:p>
          <a:p>
            <a:r>
              <a:t>Screens: C13, O16, O17, T05, D07, C34</a:t>
            </a:r>
          </a:p>
          <a:p/>
          <a:p>
            <a:r>
              <a:t>APP-SYS-100: AC: provider accepted không tăng human ACK count; callback trùng không nhân escalation; provider lỗi có retry bounded và alternate provider, 429 tôn trọng retry_after.</a:t>
            </a:r>
          </a:p>
          <a:p>
            <a:r>
              <a:t>Workflows: WF-10</a:t>
            </a:r>
          </a:p>
          <a:p>
            <a:r>
              <a:t>Screens: C13, O16, O17, T05, D07, C34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APP-SYS-101: Dispatcher lọc unit theo capability, availability, site authorization và vị trí mới nhất.</a:t>
            </a:r>
          </a:p>
          <a:p>
            <a:r>
              <a:t>Workflows: WF-11</a:t>
            </a:r>
          </a:p>
          <a:p>
            <a:r>
              <a:t>Screens: R01, R02, R03, R04, R05, R06, R07, R08, R09, R10, R11, R12, O08, O09, O10, X10, O34</a:t>
            </a:r>
          </a:p>
          <a:p/>
          <a:p>
            <a:r>
              <a:t>APP-SYS-102: ETA chỉ là ước tính có timestamp.</a:t>
            </a:r>
          </a:p>
          <a:p>
            <a:r>
              <a:t>Workflows: WF-11</a:t>
            </a:r>
          </a:p>
          <a:p>
            <a:r>
              <a:t>Screens: R01, R02, R03, R04, R05, R06, R07, R08, R09, R10, R11, R12, O08, O09, O10, X10, O34</a:t>
            </a:r>
          </a:p>
          <a:p/>
          <a:p>
            <a:r>
              <a:t>APP-SYS-103: Offer có deadline; unit accept atomically bằng version.</a:t>
            </a:r>
          </a:p>
          <a:p>
            <a:r>
              <a:t>Workflows: WF-11</a:t>
            </a:r>
          </a:p>
          <a:p>
            <a:r>
              <a:t>Screens: R01, R02, R03, R04, R05, R06, R07, R08, R09, R10, R11, R12, O08, O09, O10, X10, O34</a:t>
            </a:r>
          </a:p>
          <a:p/>
          <a:p>
            <a:r>
              <a:t>APP-SYS-104: Không ai nhận thì escalate; không tự đánh dấu dispatched hoàn thành.</a:t>
            </a:r>
          </a:p>
          <a:p>
            <a:r>
              <a:t>Workflows: WF-11</a:t>
            </a:r>
          </a:p>
          <a:p>
            <a:r>
              <a:t>Screens: R01, R02, R03, R04, R05, R06, R07, R08, R09, R10, R11, R12, O08, O09, O10, X10, O34</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APP-SYS-105: Responder chuyển en_route/on_scene, ghi observations, handover, task complete; task completion không đóng incident.</a:t>
            </a:r>
          </a:p>
          <a:p>
            <a:r>
              <a:t>Workflows: WF-11</a:t>
            </a:r>
          </a:p>
          <a:p>
            <a:r>
              <a:t>Screens: R01, R02, R03, R04, R05, R06, R07, R08, R09, R10, R11, R12, O08, O09, O10, X10, O34</a:t>
            </a:r>
          </a:p>
          <a:p/>
          <a:p>
            <a:r>
              <a:t>APP-SYS-106: AC: hai dispatcher không gán hai owner cho một task; offline acceptance chưa server confirm phải ghi pending; reassignment giữ note của responder cũ dưới observation.</a:t>
            </a:r>
          </a:p>
          <a:p>
            <a:r>
              <a:t>Workflows: WF-11</a:t>
            </a:r>
          </a:p>
          <a:p>
            <a:r>
              <a:t>Screens: R01, R02, R03, R04, R05, R06, R07, R08, R09, R10, R11, R12, O08, O09, O10, X10, O34</a:t>
            </a:r>
          </a:p>
          <a:p/>
          <a:p>
            <a:r>
              <a:t>APP-SYS-107: Safety report lưu status, person, incident scope, observed_at, reporter và location precision.</a:t>
            </a:r>
          </a:p>
          <a:p>
            <a:r>
              <a:t>Workflows: WF-12</a:t>
            </a:r>
          </a:p>
          <a:p>
            <a:r>
              <a:t>Screens: C11, C12, C19, C20, C21, C22, C23, O11, O12, C31, C32, C33</a:t>
            </a:r>
          </a:p>
          <a:p/>
          <a:p>
            <a:r>
              <a:t>APP-SYS-108: Fan-out đến tất cả nhóm đăng ký đủ điều kiện tại thời điểm báo, cộng contacts đã xác minh; mỗi recipient được dedupe.</a:t>
            </a:r>
          </a:p>
          <a:p>
            <a:r>
              <a:t>Workflows: WF-12</a:t>
            </a:r>
          </a:p>
          <a:p>
            <a:r>
              <a:t>Screens: C11, C12, C19, C20, C21, C22, C23, O11, O12, C31, C32, C33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APP-SYS-109: Mỗi nhóm nhận status, vị trí chi tiết chỉ khi consent cụ thể.</a:t>
            </a:r>
          </a:p>
          <a:p>
            <a:r>
              <a:t>Workflows: WF-12</a:t>
            </a:r>
          </a:p>
          <a:p>
            <a:r>
              <a:t>Screens: C11, C12, C19, C20, C21, C22, C23, O11, O12, C31, C32, C33</a:t>
            </a:r>
          </a:p>
          <a:p/>
          <a:p>
            <a:r>
              <a:t>APP-SYS-110: Revoked membership/consent được kiểm tra lại trước delivery.</a:t>
            </a:r>
          </a:p>
          <a:p>
            <a:r>
              <a:t>Workflows: WF-12</a:t>
            </a:r>
          </a:p>
          <a:p>
            <a:r>
              <a:t>Screens: C11, C12, C19, C20, C21, C22, C23, O11, O12, C31, C32, C33</a:t>
            </a:r>
          </a:p>
          <a:p/>
          <a:p>
            <a:r>
              <a:t>APP-SYS-111: Group chat có membership, report abuse, block cá nhân cho social; block không được tắt mandatory site warning theo policy đã công bố.</a:t>
            </a:r>
          </a:p>
          <a:p>
            <a:r>
              <a:t>Workflows: WF-12</a:t>
            </a:r>
          </a:p>
          <a:p>
            <a:r>
              <a:t>Screens: C11, C12, C19, C20, C21, C22, C23, O11, O12, C31, C32, C33</a:t>
            </a:r>
          </a:p>
          <a:p/>
          <a:p>
            <a:r>
              <a:t>APP-SYS-112: AC: 3 nhóm cùng một contact không gửi 3 SMS giống nhau; consent location off không rò tọa độ; safe report không đóng building incident; unknown không đếm safe.</a:t>
            </a:r>
          </a:p>
          <a:p>
            <a:r>
              <a:t>Workflows: WF-12</a:t>
            </a:r>
          </a:p>
          <a:p>
            <a:r>
              <a:t>Screens: C11, C12, C19, C20, C21, C22, C23, O11, O12, C31, C32, C33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APP-SYS-113: Operator duy trì shelter status, capacity estimate, timestamp, accessibility và valid_until.</a:t>
            </a:r>
          </a:p>
          <a:p>
            <a:r>
              <a:t>Workflows: WF-13</a:t>
            </a:r>
          </a:p>
          <a:p>
            <a:r>
              <a:t>Screens: C01, C02, C03, C04, C16, C17, C18, O26, O27</a:t>
            </a:r>
          </a:p>
          <a:p/>
          <a:p>
            <a:r>
              <a:t>APP-SYS-114: Offline pack lưu plan/guidance/contact có version và expiry, không đảm bảo live route.</a:t>
            </a:r>
          </a:p>
          <a:p>
            <a:r>
              <a:t>Workflows: WF-13</a:t>
            </a:r>
          </a:p>
          <a:p>
            <a:r>
              <a:t>Screens: C01, C02, C03, C04, C16, C17, C18, O26, O27</a:t>
            </a:r>
          </a:p>
          <a:p/>
          <a:p>
            <a:r>
              <a:t>APP-SYS-115: Voice dùng cùng approved text với transcript, có pause/replay; không autoplay gây lộ discreet mode.</a:t>
            </a:r>
          </a:p>
          <a:p>
            <a:r>
              <a:t>Workflows: WF-13</a:t>
            </a:r>
          </a:p>
          <a:p>
            <a:r>
              <a:t>Screens: C01, C02, C03, C04, C16, C17, C18, O26, O27</a:t>
            </a:r>
          </a:p>
          <a:p/>
          <a:p>
            <a:r>
              <a:t>APP-SYS-116: Không có route verified thì chỉ trình bày plan và hướng dẫn được phê duyệt, không tự vẽ tuyến tối ưu tránh cháy.</a:t>
            </a:r>
          </a:p>
          <a:p>
            <a:r>
              <a:t>Workflows: WF-13</a:t>
            </a:r>
          </a:p>
          <a:p>
            <a:r>
              <a:t>Screens: C01, C02, C03, C04, C16, C17, C18, O26, O27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APP-SYS-117: AC: shelter hết valid_until thành unknown; capacity không có dữ liệu không hiện 0; offline plan hiển thị age.</a:t>
            </a:r>
          </a:p>
          <a:p>
            <a:r>
              <a:t>Workflows: WF-13</a:t>
            </a:r>
          </a:p>
          <a:p>
            <a:r>
              <a:t>Screens: C01, C02, C03, C04, C16, C17, C18, O26, O27</a:t>
            </a:r>
          </a:p>
          <a:p/>
          <a:p>
            <a:r>
              <a:t>APP-SYS-118: Enrollment token một lần; device certificate có rotate/revoke.</a:t>
            </a:r>
          </a:p>
          <a:p>
            <a:r>
              <a:t>Workflows: WF-14</a:t>
            </a:r>
          </a:p>
          <a:p>
            <a:r>
              <a:t>Screens: S06, S07, S08, S09, S10</a:t>
            </a:r>
          </a:p>
          <a:p/>
          <a:p>
            <a:r>
              <a:t>APP-SYS-119: Heartbeat thresholds theo device class; stale/disconnected khác trạng thái an toàn của khu vực.</a:t>
            </a:r>
          </a:p>
          <a:p>
            <a:r>
              <a:t>Workflows: WF-14</a:t>
            </a:r>
          </a:p>
          <a:p>
            <a:r>
              <a:t>Screens: S06, S07, S08, S09, S10</a:t>
            </a:r>
          </a:p>
          <a:p/>
          <a:p>
            <a:r>
              <a:t>APP-SYS-120: Maintenance suppression có start/end, reason, approver và coverage thay thế; luôn hiển thị khoảng mù.</a:t>
            </a:r>
          </a:p>
          <a:p>
            <a:r>
              <a:t>Workflows: WF-14</a:t>
            </a:r>
          </a:p>
          <a:p>
            <a:r>
              <a:t>Screens: S06, S07, S08, S09, S10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APP-SYS-121: Hết maintenance tự phục hồi monitoring và log.</a:t>
            </a:r>
          </a:p>
          <a:p>
            <a:r>
              <a:t>Workflows: WF-14</a:t>
            </a:r>
          </a:p>
          <a:p>
            <a:r>
              <a:t>Screens: S06, S07, S08, S09, S10</a:t>
            </a:r>
          </a:p>
          <a:p/>
          <a:p>
            <a:r>
              <a:t>APP-SYS-122: AC: cert revoked không ingest; hết maintenance không tiếp tục suppress; firmware upgrade không tự động đồng loạt trong active incident.</a:t>
            </a:r>
          </a:p>
          <a:p>
            <a:r>
              <a:t>Workflows: WF-14</a:t>
            </a:r>
          </a:p>
          <a:p>
            <a:r>
              <a:t>Screens: S06, S07, S08, S09, S10</a:t>
            </a:r>
          </a:p>
          <a:p/>
          <a:p>
            <a:r>
              <a:t>APP-SYS-123: Bảo trì vật lý áp dụng thêm WF-31: hết cửa sổ suppress phần mềm không chứng minh bảo vệ vật lý đã khôi phục; vẫn bắt buộc kiểm tra tại chỗ và acknowledgment cần thiết.</a:t>
            </a:r>
          </a:p>
          <a:p>
            <a:r>
              <a:t>Workflows: WF-14</a:t>
            </a:r>
          </a:p>
          <a:p>
            <a:r>
              <a:t>Screens: S06, S07, S08, S09, S10</a:t>
            </a:r>
          </a:p>
          <a:p/>
          <a:p>
            <a:r>
              <a:t>APP-SYS-124: Command chỉ cho capability đã khai báo; parameter schema, zone, expiry, interlock, authorized approver và local controller policy đều bắt buộc.</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APP-SYS-125: Không gửi raw arbitrary command từ web.</a:t>
            </a:r>
          </a:p>
          <a:p>
            <a:r>
              <a:t>Workflows: WF-15</a:t>
            </a:r>
          </a:p>
          <a:p>
            <a:r>
              <a:t>Screens: O18, O19</a:t>
            </a:r>
          </a:p>
          <a:p/>
          <a:p>
            <a:r>
              <a:t>APP-SYS-126: Gateway receipt, device accepted, executing và verified result riêng.</a:t>
            </a:r>
          </a:p>
          <a:p>
            <a:r>
              <a:t>Workflows: WF-15</a:t>
            </a:r>
          </a:p>
          <a:p>
            <a:r>
              <a:t>Screens: O18, O19</a:t>
            </a:r>
          </a:p>
          <a:p/>
          <a:p>
            <a:r>
              <a:t>APP-SYS-127: Timeout unknown không blind retry lệnh không idempotent.</a:t>
            </a:r>
          </a:p>
          <a:p>
            <a:r>
              <a:t>Workflows: WF-15</a:t>
            </a:r>
          </a:p>
          <a:p>
            <a:r>
              <a:t>Screens: O18, O19</a:t>
            </a:r>
          </a:p>
          <a:p/>
          <a:p>
            <a:r>
              <a:t>APP-SYS-128: Actuation cloud không thay vòng bảo vệ cục bộ được chứng nhận.</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APP-SYS-129: Sprinkler đầu kín thường hoạt động nhiệt; prototype không giả định phần mềm mở từng đầu phun.</a:t>
            </a:r>
          </a:p>
          <a:p>
            <a:r>
              <a:t>Workflows: WF-15</a:t>
            </a:r>
          </a:p>
          <a:p>
            <a:r>
              <a:t>Screens: O18, O19</a:t>
            </a:r>
          </a:p>
          <a:p/>
          <a:p>
            <a:r>
              <a:t>APP-SYS-130: AC: command hết TTL không execute sau reconnect; zone mismatch reject; accepted mà không feedback giữ unknown/awaiting confirmation; simulator không có credential live.</a:t>
            </a:r>
          </a:p>
          <a:p>
            <a:r>
              <a:t>Workflows: WF-15</a:t>
            </a:r>
          </a:p>
          <a:p>
            <a:r>
              <a:t>Screens: O18, O19</a:t>
            </a:r>
          </a:p>
          <a:p/>
          <a:p>
            <a:r>
              <a:t>APP-SYS-131: WF-30 chi tiết hóa workflow lệnh này cho thiết bị chữa cháy/cứu hộ đang lắp.</a:t>
            </a:r>
          </a:p>
          <a:p>
            <a:r>
              <a:t>Workflows: WF-15</a:t>
            </a:r>
          </a:p>
          <a:p>
            <a:r>
              <a:t>Screens: O18, O19</a:t>
            </a:r>
          </a:p>
          <a:p/>
          <a:p>
            <a:r>
              <a:t>APP-SYS-132: Giám sát wet-pipe, yêu cầu tủ xả, yêu cầu bơm và tác động thiết bị di động là capability riêng; dùng ràng buộc WF-28 và nghiệm thu WF-32 trước khi bật điều khiển.</a:t>
            </a:r>
          </a:p>
          <a:p>
            <a:r>
              <a:t>Workflows: WF-15</a:t>
            </a:r>
          </a:p>
          <a:p>
            <a:r>
              <a:t>Screens: O18, O19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APP-SYS-133: Fleet adapter trước hết cung cấp telemetry/media và health.</a:t>
            </a:r>
          </a:p>
          <a:p>
            <a:r>
              <a:t>Workflows: WF-16</a:t>
            </a:r>
          </a:p>
          <a:p>
            <a:r>
              <a:t>Screens: I11, I12, I13, I14, I15</a:t>
            </a:r>
          </a:p>
          <a:p/>
          <a:p>
            <a:r>
              <a:t>APP-SYS-134: Mission draft có purpose, incident, route/geofence, altitude reference, pilot, clearance, weather check và lost-link policy.</a:t>
            </a:r>
          </a:p>
          <a:p>
            <a:r>
              <a:t>Workflows: WF-16</a:t>
            </a:r>
          </a:p>
          <a:p>
            <a:r>
              <a:t>Screens: I11, I12, I13, I14, I15</a:t>
            </a:r>
          </a:p>
          <a:p/>
          <a:p>
            <a:r>
              <a:t>APP-SYS-135: Local pilot quyết định triển khai theo năng lực hệ thống được tích hợp.</a:t>
            </a:r>
          </a:p>
          <a:p>
            <a:r>
              <a:t>Workflows: WF-16</a:t>
            </a:r>
          </a:p>
          <a:p>
            <a:r>
              <a:t>Screens: I11, I12, I13, I14, I15</a:t>
            </a:r>
          </a:p>
          <a:p/>
          <a:p>
            <a:r>
              <a:t>APP-SYS-136: Approval không đồng nghĩa đã cất cánh.</a:t>
            </a:r>
          </a:p>
          <a:p>
            <a:r>
              <a:t>Workflows: WF-16</a:t>
            </a:r>
          </a:p>
          <a:p>
            <a:r>
              <a:t>Screens: I11, I12, I13, I14, I15</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APP-SYS-137: Không tự động phát TAKEOFF dựa trên AI detector.</a:t>
            </a:r>
          </a:p>
          <a:p>
            <a:r>
              <a:t>Workflows: WF-16</a:t>
            </a:r>
          </a:p>
          <a:p>
            <a:r>
              <a:t>Screens: I11, I12, I13, I14, I15</a:t>
            </a:r>
          </a:p>
          <a:p/>
          <a:p>
            <a:r>
              <a:t>APP-SYS-138: Lệnh abort/return phải có capability và xác nhận của flight stack; UI không hứa cancel phổ quát.</a:t>
            </a:r>
          </a:p>
          <a:p>
            <a:r>
              <a:t>Workflows: WF-16</a:t>
            </a:r>
          </a:p>
          <a:p>
            <a:r>
              <a:t>Screens: I11, I12, I13, I14, I15</a:t>
            </a:r>
          </a:p>
          <a:p/>
          <a:p>
            <a:r>
              <a:t>APP-SYS-139: AC: thiếu pilot/clearance không approve; stale telemetry vô hiệu command phụ thuộc vị trí; mất link hiện unknown và local policy tiếp tục; mission evidence có hash/provenance.</a:t>
            </a:r>
          </a:p>
          <a:p>
            <a:r>
              <a:t>Workflows: WF-16</a:t>
            </a:r>
          </a:p>
          <a:p>
            <a:r>
              <a:t>Screens: I11, I12, I13, I14, I15</a:t>
            </a:r>
          </a:p>
          <a:p/>
          <a:p>
            <a:r>
              <a:t>APP-SYS-140: Install manifest → configure secret reference → map → sandbox test → approve → activate → monitor → rotate/deprecate.</a:t>
            </a:r>
          </a:p>
          <a:p>
            <a:r>
              <a:t>Workflows: WF-17</a:t>
            </a:r>
          </a:p>
          <a:p>
            <a:r>
              <a:t>Screens: I01, I02, I04, I05, I06, I07, I08, I09, I10, D01, D05, D06, D08, O33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APP-SYS-141: Connector chạy quyền tối thiểu, allowlist outbound, quota/backpressure và kill switch.</a:t>
            </a:r>
          </a:p>
          <a:p>
            <a:r>
              <a:t>Workflows: WF-17</a:t>
            </a:r>
          </a:p>
          <a:p>
            <a:r>
              <a:t>Screens: I01, I02, I04, I05, I06, I07, I08, I09, I10, D01, D05, D06, D08, O33</a:t>
            </a:r>
          </a:p>
          <a:p/>
          <a:p>
            <a:r>
              <a:t>APP-SYS-142: Replay DLQ cần reason, schema đúng và giữ original ID; replay command bị chặn mặc định.</a:t>
            </a:r>
          </a:p>
          <a:p>
            <a:r>
              <a:t>Workflows: WF-17</a:t>
            </a:r>
          </a:p>
          <a:p>
            <a:r>
              <a:t>Screens: I01, I02, I04, I05, I06, I07, I08, I09, I10, D01, D05, D06, D08, O33</a:t>
            </a:r>
          </a:p>
          <a:p/>
          <a:p>
            <a:r>
              <a:t>APP-SYS-143: Cross-tenant exchange chỉ qua agreement và payload allowlist.</a:t>
            </a:r>
          </a:p>
          <a:p>
            <a:r>
              <a:t>Workflows: WF-17</a:t>
            </a:r>
          </a:p>
          <a:p>
            <a:r>
              <a:t>Screens: I01, I02, I04, I05, I06, I07, I08, I09, I10, D01, D05, D06, D08, O33</a:t>
            </a:r>
          </a:p>
          <a:p/>
          <a:p>
            <a:r>
              <a:t>APP-SYS-144: AC: adapter lỗi không ngăn SOS trực tiếp; payload quá lớn reject 413; incompatible major schema quarantine; secret không lộ trong logs/export.</a:t>
            </a:r>
          </a:p>
          <a:p>
            <a:r>
              <a:t>Workflows: WF-17</a:t>
            </a:r>
          </a:p>
          <a:p>
            <a:r>
              <a:t>Screens: I01, I02, I04, I05, I06, I07, I08, I09, I10, D01, D05, D06, D08, O33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APP-SYS-145: UTC cho lưu trữ, IANA timezone cho hiển thị/lịch, BCP47 locale, Unicode, E.164 cho số điện thoại theo quốc gia.</a:t>
            </a:r>
          </a:p>
          <a:p>
            <a:r>
              <a:t>Workflows: WF-18</a:t>
            </a:r>
          </a:p>
          <a:p>
            <a:r>
              <a:t>Screens: T02, G05, G06, L01, L02, L03, L04, L05, L06</a:t>
            </a:r>
          </a:p>
          <a:p/>
          <a:p>
            <a:r>
              <a:t>APP-SYS-146: UI có RTL layout test, pluralization và pseudo-localization.</a:t>
            </a:r>
          </a:p>
          <a:p>
            <a:r>
              <a:t>Workflows: WF-18</a:t>
            </a:r>
          </a:p>
          <a:p>
            <a:r>
              <a:t>Screens: T02, G05, G06, L01, L02, L03, L04, L05, L06</a:t>
            </a:r>
          </a:p>
          <a:p/>
          <a:p>
            <a:r>
              <a:t>APP-SYS-147: Không hardcode số emergency toàn cầu; emergency contact registry được xác minh theo quốc gia/site.</a:t>
            </a:r>
          </a:p>
          <a:p>
            <a:r>
              <a:t>Workflows: WF-18</a:t>
            </a:r>
          </a:p>
          <a:p>
            <a:r>
              <a:t>Screens: T02, G05, G06, L01, L02, L03, L04, L05, L06</a:t>
            </a:r>
          </a:p>
          <a:p/>
          <a:p>
            <a:r>
              <a:t>APP-SYS-148: Residency áp dụng DB, object store, backup, logs, support và export; global routing không mang raw SOS.</a:t>
            </a:r>
          </a:p>
          <a:p>
            <a:r>
              <a:t>Workflows: WF-18</a:t>
            </a:r>
          </a:p>
          <a:p>
            <a:r>
              <a:t>Screens: T02, G05, G06, L01, L02, L03, L04, L05, L06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APP-SYS-149: AC: lịch qua DST không gửi hai lần nhờ schedule occurrence ID; locale dài không che CTA; changing region là migration có review, không chỉ sửa dropdown.</a:t>
            </a:r>
          </a:p>
          <a:p>
            <a:r>
              <a:t>Workflows: WF-18</a:t>
            </a:r>
          </a:p>
          <a:p>
            <a:r>
              <a:t>Screens: T02, G05, G06, L01, L02, L03, L04, L05, L06</a:t>
            </a:r>
          </a:p>
          <a:p/>
          <a:p>
            <a:r>
              <a:t>APP-SYS-150: Data class có retention policy, legal hold và delete job có report.</a:t>
            </a:r>
          </a:p>
          <a:p>
            <a:r>
              <a:t>Workflows: WF-19</a:t>
            </a:r>
          </a:p>
          <a:p>
            <a:r>
              <a:t>Screens: C29, C30, O30, T09, T10, T11, G07, G08, G11, G12, H11</a:t>
            </a:r>
          </a:p>
          <a:p/>
          <a:p>
            <a:r>
              <a:t>APP-SYS-151: Export/deletion phải xác minh requester, scope và ngoại lệ; không xóa evidence có hold.</a:t>
            </a:r>
          </a:p>
          <a:p>
            <a:r>
              <a:t>Workflows: WF-19</a:t>
            </a:r>
          </a:p>
          <a:p>
            <a:r>
              <a:t>Screens: C29, C30, O30, T09, T10, T11, G07, G08, G11, G12, H11</a:t>
            </a:r>
          </a:p>
          <a:p/>
          <a:p>
            <a:r>
              <a:t>APP-SYS-152: Audit append-only với actor, action, object/version, reason, time, correlation, before/after digest.</a:t>
            </a:r>
          </a:p>
          <a:p>
            <a:r>
              <a:t>Workflows: WF-19</a:t>
            </a:r>
          </a:p>
          <a:p>
            <a:r>
              <a:t>Screens: C29, C30, O30, T09, T10, T11, G07, G08, G11, G12, H11</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APP-SYS-153: Không nhúng token, raw secret hoặc toàn bộ medical note vào audit.</a:t>
            </a:r>
          </a:p>
          <a:p>
            <a:r>
              <a:t>Workflows: WF-19</a:t>
            </a:r>
          </a:p>
          <a:p>
            <a:r>
              <a:t>Screens: C29, C30, O30, T09, T10, T11, G07, G08, G11, G12, H11</a:t>
            </a:r>
          </a:p>
          <a:p/>
          <a:p>
            <a:r>
              <a:t>APP-SYS-154: AC: truy cập precise location được log; delete không xóa record held; export không chứa tenant khác; break-glass hết TTL tự revoke.</a:t>
            </a:r>
          </a:p>
          <a:p>
            <a:r>
              <a:t>Workflows: WF-19</a:t>
            </a:r>
          </a:p>
          <a:p>
            <a:r>
              <a:t>Screens: C29, C30, O30, T09, T10, T11, G07, G08, G11, G12, H11</a:t>
            </a:r>
          </a:p>
          <a:p/>
          <a:p>
            <a:r>
              <a:t>APP-SYS-155: Closure cần open SOS/task check, unknown-person disposition, partner handover, reason và supervisor.</a:t>
            </a:r>
          </a:p>
          <a:p>
            <a:r>
              <a:t>Workflows: WF-20</a:t>
            </a:r>
          </a:p>
          <a:p>
            <a:r>
              <a:t>Screens: O01, O02, O04, O20, O21, O22, O23, O24, O25, T01, T07, T08, T12, T13, T14, T15, T16, T17, X03, X05, X07, X09, G01, G02, G03, G04, G09, G10, O31, O32</a:t>
            </a:r>
          </a:p>
          <a:p/>
          <a:p>
            <a:r>
              <a:t>APP-SYS-156: “All clear” warning là hành động riêng.</a:t>
            </a:r>
          </a:p>
          <a:p>
            <a:r>
              <a:t>Workflows: WF-20</a:t>
            </a:r>
          </a:p>
          <a:p>
            <a:r>
              <a:t>Screens: O01, O02, O04, O20, O21, O22, O23, O24, O25, T01, T07, T08, T12, T13, T14, T15, T16, T17, X03, X05, X07, X09, G01, G02, G03, G04, G09, G10, O31, O32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APP-SYS-157: Drill có environment+mode isolation ở broker, credentials và recipient directory; banner alone không đủ.</a:t>
            </a:r>
          </a:p>
          <a:p>
            <a:r>
              <a:t>Workflows: WF-20</a:t>
            </a:r>
          </a:p>
          <a:p>
            <a:r>
              <a:t>Screens: O01, O02, O04, O20, O21, O22, O23, O24, O25, T01, T07, T08, T12, T13, T14, T15, T16, T17, X03, X05, X07, X09, G01, G02, G03, G04, G09, G10, O31, O32</a:t>
            </a:r>
          </a:p>
          <a:p/>
          <a:p>
            <a:r>
              <a:t>APP-SYS-158: Báo cáo tách transport latency, operator latency và response latency; mẫu thiếu dữ liệu ghi denominator rõ.</a:t>
            </a:r>
          </a:p>
          <a:p>
            <a:r>
              <a:t>Workflows: WF-20</a:t>
            </a:r>
          </a:p>
          <a:p>
            <a:r>
              <a:t>Screens: O01, O02, O04, O20, O21, O22, O23, O24, O25, T01, T07, T08, T12, T13, T14, T15, T16, T17, X03, X05, X07, X09, G01, G02, G03, G04, G09, G10, O31, O32</a:t>
            </a:r>
          </a:p>
          <a:p/>
          <a:p>
            <a:r>
              <a:t>APP-SYS-159: AC: safety check-in không close; drill không gọi live webhook/actuator; shift handover có incoming acknowledgment; report chỉ deidentified nếu user không có quyền PII.</a:t>
            </a:r>
          </a:p>
          <a:p>
            <a:r>
              <a:t>Workflows: WF-20</a:t>
            </a:r>
          </a:p>
          <a:p>
            <a:r>
              <a:t>Screens: O01, O02, O04, O20, O21, O22, O23, O24, O25, T01, T07, T08, T12, T13, T14, T15, T16, T17, X03, X05, X07, X09, G01, G02, G03, G04, G09, G10, O31, O32</a:t>
            </a:r>
          </a:p>
          <a:p/>
          <a:p>
            <a:r>
              <a:t>APP-SYS-160: Ràng buộc model khu vực đang lắp, serial, firmware, gateway, license, quyền hãng và hồ sơ tương thích trước khi bật adapter.</a:t>
            </a:r>
          </a:p>
          <a:p>
            <a:r>
              <a:t>Workflows: WF-28</a:t>
            </a:r>
          </a:p>
          <a:p>
            <a:r>
              <a:t>Screens: F02, F03, F04, F05, F06,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APP-SYS-161: Nhập và review độc lập địa chỉ điểm, trạng thái ngữ nghĩa, đơn vị/scaling, site/zone và revision cause-and-effect.</a:t>
            </a:r>
          </a:p>
          <a:p>
            <a:r>
              <a:t>Workflows: WF-28</a:t>
            </a:r>
          </a:p>
          <a:p>
            <a:r>
              <a:t>Screens: F02, F03, F04, F05, F06, F20</a:t>
            </a:r>
          </a:p>
          <a:p/>
          <a:p>
            <a:r>
              <a:t>APP-SYS-162: Phân biệt tài sản wet-pipe, pre-action/deluge, bơm và cứu hộ di động.</a:t>
            </a:r>
          </a:p>
          <a:p>
            <a:r>
              <a:t>Workflows: WF-28</a:t>
            </a:r>
          </a:p>
          <a:p>
            <a:r>
              <a:t>Screens: F02, F03, F04, F05, F06, F20</a:t>
            </a:r>
          </a:p>
          <a:p/>
          <a:p>
            <a:r>
              <a:t>APP-SYS-163: Capability chưa biết mặc định chỉ giám sát; onboarding không tạo quyền điều khiển.</a:t>
            </a:r>
          </a:p>
          <a:p>
            <a:r>
              <a:t>Workflows: WF-28</a:t>
            </a:r>
          </a:p>
          <a:p>
            <a:r>
              <a:t>Screens: F02, F03, F04, F05, F06, F20</a:t>
            </a:r>
          </a:p>
          <a:p/>
          <a:p>
            <a:r>
              <a:t>FR-PHY-01: FR-PHY-01: giữ định danh thiết bị/giao diện chính xác và revision bằng chứng được duyệt.</a:t>
            </a:r>
          </a:p>
          <a:p>
            <a:r>
              <a:t>Workflows: WF-28</a:t>
            </a:r>
          </a:p>
          <a:p>
            <a:r>
              <a:t>Screens: F02, F03, F04, F05, F06, F20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FR-PHY-02: FR-PHY-02: xác thực mapping điểm/zone với nhãn vật lý, từ chối khác tenant, trùng hoặc chưa giải quyết.</a:t>
            </a:r>
          </a:p>
          <a:p>
            <a:r>
              <a:t>Workflows: WF-28</a:t>
            </a:r>
          </a:p>
          <a:p>
            <a:r>
              <a:t>Screens: F02, F03, F04, F05, F06, F20</a:t>
            </a:r>
          </a:p>
          <a:p/>
          <a:p>
            <a:r>
              <a:t>FR-PHY-03: FR-PHY-03: version cause-and-effect và hợp đồng capability đọc/điều khiển; thay đổi phải review tác động và nghiệm thu lại phần ảnh hưởng.</a:t>
            </a:r>
          </a:p>
          <a:p>
            <a:r>
              <a:t>Workflows: WF-28</a:t>
            </a:r>
          </a:p>
          <a:p>
            <a:r>
              <a:t>Screens: F02, F03, F04, F05, F06, F20</a:t>
            </a:r>
          </a:p>
          <a:p/>
          <a:p>
            <a:r>
              <a:t>APP-SYS-167: AC: thay firmware/license chưa ràng buộc đình chỉ điều khiển phụ thuộc; mapping sai zone không được bật; đầu wet-pipe không được đưa ra như output điều khiển riêng.</a:t>
            </a:r>
          </a:p>
          <a:p>
            <a:r>
              <a:t>Workflows: WF-28</a:t>
            </a:r>
          </a:p>
          <a:p>
            <a:r>
              <a:t>Screens: F02, F03, F04, F05, F06, F20</a:t>
            </a:r>
          </a:p>
          <a:p/>
          <a:p>
            <a:r>
              <a:t>APP-SYS-168: Nhận trạng thái tủ, bơm, van, xả, waterflow, nguồn và link được hãng hỗ trợ, có provenance/chất lượng.</a:t>
            </a:r>
          </a:p>
          <a:p>
            <a:r>
              <a:t>Workflows: WF-29</a:t>
            </a:r>
          </a:p>
          <a:p>
            <a:r>
              <a:t>Screens: F01, F07, F08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APP-SYS-169: Giữ ưu tiên cảnh báo controller và bảo vệ cục bộ khi cloud/edge không hoạt động.</a:t>
            </a:r>
          </a:p>
          <a:p>
            <a:r>
              <a:t>Workflows: WF-29</a:t>
            </a:r>
          </a:p>
          <a:p>
            <a:r>
              <a:t>Screens: F01, F07, F08</a:t>
            </a:r>
          </a:p>
          <a:p/>
          <a:p>
            <a:r>
              <a:t>APP-SYS-170: Tách nhu cầu, motor chạy, output xả, vị trí van, waterflow và quan sát hiện trường đã xác nhận.</a:t>
            </a:r>
          </a:p>
          <a:p>
            <a:r>
              <a:t>Workflows: WF-29</a:t>
            </a:r>
          </a:p>
          <a:p>
            <a:r>
              <a:t>Screens: F01, F07, F08</a:t>
            </a:r>
          </a:p>
          <a:p/>
          <a:p>
            <a:r>
              <a:t>APP-SYS-171: Giá trị thiếu/cũ giữ unknown; không biến lỗi link thành chỉ thị an toàn.</a:t>
            </a:r>
          </a:p>
          <a:p>
            <a:r>
              <a:t>Workflows: WF-29</a:t>
            </a:r>
          </a:p>
          <a:p>
            <a:r>
              <a:t>Screens: F01, F07, F08</a:t>
            </a:r>
          </a:p>
          <a:p/>
          <a:p>
            <a:r>
              <a:t>FR-PHY-04: FR-PHY-04: lưu thời gian nguồn/nhận, địa chỉ nguồn, đơn vị, chất lượng, revision mapping và tham chiếu bằng chứng gốc cho mỗi quan sát.</a:t>
            </a:r>
          </a:p>
          <a:p>
            <a:r>
              <a:t>Workflows: WF-29</a:t>
            </a:r>
          </a:p>
          <a:p>
            <a:r>
              <a:t>Screens: F01, F07, F08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FR-PHY-05: FR-PHY-05: giám sát freshness/sức khỏe link bằng ngưỡng thiết bị/site được duyệt, hiển thị khoảng trống bảo vệ và biện pháp bù.</a:t>
            </a:r>
          </a:p>
          <a:p>
            <a:r>
              <a:t>Workflows: WF-29</a:t>
            </a:r>
          </a:p>
          <a:p>
            <a:r>
              <a:t>Screens: F01, F07, F08</a:t>
            </a:r>
          </a:p>
          <a:p/>
          <a:p>
            <a:r>
              <a:t>FR-PHY-06: FR-PHY-06: tương quan không ngăn bảo vệ cục bộ; dedupe replay truyền tải nhưng giữ chuyển trạng thái và bằng chứng phục hồi.</a:t>
            </a:r>
          </a:p>
          <a:p>
            <a:r>
              <a:t>Workflows: WF-29</a:t>
            </a:r>
          </a:p>
          <a:p>
            <a:r>
              <a:t>Screens: F01, F07, F08</a:t>
            </a:r>
          </a:p>
          <a:p/>
          <a:p>
            <a:r>
              <a:t>APP-SYS-175: AC: dữ liệu bơm chạy cũ hiện chưa chắc chắn; áp suất riêng lẻ không xác nhận xả; mất cloud vẫn có bảo vệ tự động tại chỗ; telemetry trùng không tạo incident trùng.</a:t>
            </a:r>
          </a:p>
          <a:p>
            <a:r>
              <a:t>Workflows: WF-29</a:t>
            </a:r>
          </a:p>
          <a:p>
            <a:r>
              <a:t>Screens: F01, F07, F08</a:t>
            </a:r>
          </a:p>
          <a:p/>
          <a:p>
            <a:r>
              <a:t>APP-SYS-176: Chỉ thao tác đã nghiệm thu site, được xác định rõ có quyền điều khiển mới tạo yêu cầu vật lý.</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APP-SYS-177: Kiểm tra thẩm quyền actor, incident/site/zone, giới hạn tham số được duyệt, mức sẵn sàng vật lý hiện tại, interlock cục bộ, expiry lệnh và yêu cầu phê duyệt độc lập theo policy.</a:t>
            </a:r>
          </a:p>
          <a:p>
            <a:r>
              <a:t>Workflows: WF-30</a:t>
            </a:r>
          </a:p>
          <a:p>
            <a:r>
              <a:t>Screens: F09, F10, F11, F12, F13</a:t>
            </a:r>
          </a:p>
          <a:p/>
          <a:p>
            <a:r>
              <a:t>APP-SYS-178: Thẩm quyền site/controller ưu tiên.</a:t>
            </a:r>
          </a:p>
          <a:p>
            <a:r>
              <a:t>Workflows: WF-30</a:t>
            </a:r>
          </a:p>
          <a:p>
            <a:r>
              <a:t>Screens: F09, F10, F11, F12, F13</a:t>
            </a:r>
          </a:p>
          <a:p/>
          <a:p>
            <a:r>
              <a:t>APP-SYS-179: Không giả định ghi BACnet/Modbus, relay hay ACK mạng cấp quyền hoặc chứng minh chữa cháy.</a:t>
            </a:r>
          </a:p>
          <a:p>
            <a:r>
              <a:t>Workflows: WF-30</a:t>
            </a:r>
          </a:p>
          <a:p>
            <a:r>
              <a:t>Screens: F09, F10, F11, F12, F13</a:t>
            </a:r>
          </a:p>
          <a:p/>
          <a:p>
            <a:r>
              <a:t>APP-SYS-180: AI không tự khởi tạo tác động xả/khởi động/chuyển động.</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FR-PHY-07: FR-PHY-07: từ chối thao tác chỉ giám sát hoặc thiếu tài liệu ở server và edge; giữ yêu cầu đã duyệt và version policy lệnh.</a:t>
            </a:r>
          </a:p>
          <a:p>
            <a:r>
              <a:t>Workflows: WF-30</a:t>
            </a:r>
          </a:p>
          <a:p>
            <a:r>
              <a:t>Screens: F09, F10, F11, F12, F13</a:t>
            </a:r>
          </a:p>
          <a:p/>
          <a:p>
            <a:r>
              <a:t>FR-PHY-08: FR-PHY-08: thực thi TTL, request ID duy nhất, chống tác động trùng và truyền có giới hạn; không replay yêu cầu hết hạn sau reconnect hoặc blind retry thao tác không idempotent.</a:t>
            </a:r>
          </a:p>
          <a:p>
            <a:r>
              <a:t>Workflows: WF-30</a:t>
            </a:r>
          </a:p>
          <a:p>
            <a:r>
              <a:t>Screens: F09, F10, F11, F12, F13</a:t>
            </a:r>
          </a:p>
          <a:p/>
          <a:p>
            <a:r>
              <a:t>FR-PHY-09: FR-PHY-09: tách receipt truyền tải, thiết bị chấp nhận, thực thi và phản hồi vật lý; chỉ đánh giá thành công theo bằng chứng được duyệt riêng cho thao tác.</a:t>
            </a:r>
          </a:p>
          <a:p>
            <a:r>
              <a:t>Workflows: WF-30</a:t>
            </a:r>
          </a:p>
          <a:p>
            <a:r>
              <a:t>Screens: F09, F10, F11, F12, F13</a:t>
            </a:r>
          </a:p>
          <a:p/>
          <a:p>
            <a:r>
              <a:t>FR-PHY-10: FR-PHY-10: hiện UNKNOWN khi kết quả thiếu/mâu thuẫn; giao đối soát cho người có tên, hỗ trợ ưu tiên cục bộ và bàn giao thủ công có acknowledgment, không xóa lịch sử.</a:t>
            </a:r>
          </a:p>
          <a:p>
            <a:r>
              <a:t>Workflows: WF-30</a:t>
            </a:r>
          </a:p>
          <a:p>
            <a:r>
              <a:t>Screens: F09, F10, F11, F12, F13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APP-SYS-185: AC: ACK thiếu phản hồi bắt buộc không thành succeeded; yêu cầu trùng/hết hạn không tạo tác động mới; mất phản hồi mở đối soát; local override chặn điều khiển từ xa xung đột.</a:t>
            </a:r>
          </a:p>
          <a:p>
            <a:r>
              <a:t>Workflows: WF-30</a:t>
            </a:r>
          </a:p>
          <a:p>
            <a:r>
              <a:t>Screens: F09, F10, F11, F12, F13</a:t>
            </a:r>
          </a:p>
          <a:p/>
          <a:p>
            <a:r>
              <a:t>APP-SYS-186: Impairment được phép xác định thiết bị, zone ảnh hưởng, cửa sổ thời gian, lý do, chủ sở hữu, bảo vệ bù và bố trí test/lockout tại chỗ.</a:t>
            </a:r>
          </a:p>
          <a:p>
            <a:r>
              <a:t>Workflows: WF-31</a:t>
            </a:r>
          </a:p>
          <a:p>
            <a:r>
              <a:t>Screens: F14, F18</a:t>
            </a:r>
          </a:p>
          <a:p/>
          <a:p>
            <a:r>
              <a:t>APP-SYS-187: Tách credential, route và output test/production; banner UI không đủ.</a:t>
            </a:r>
          </a:p>
          <a:p>
            <a:r>
              <a:t>Workflows: WF-31</a:t>
            </a:r>
          </a:p>
          <a:p>
            <a:r>
              <a:t>Screens: F14, F18</a:t>
            </a:r>
          </a:p>
          <a:p/>
          <a:p>
            <a:r>
              <a:t>APP-SYS-188: Hết hạn yêu cầu xác minh khôi phục và escalation, không tự tuyên bố bảo vệ đã trở lại.</a:t>
            </a:r>
          </a:p>
          <a:p>
            <a:r>
              <a:t>Workflows: WF-31</a:t>
            </a:r>
          </a:p>
          <a:p>
            <a:r>
              <a:t>Screens: F14, F18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APP-SYS-189: Trách nhiệm an toàn tại chỗ luôn rõ khi bàn giao ca.</a:t>
            </a:r>
          </a:p>
          <a:p>
            <a:r>
              <a:t>Workflows: WF-31</a:t>
            </a:r>
          </a:p>
          <a:p>
            <a:r>
              <a:t>Screens: F14, F18</a:t>
            </a:r>
          </a:p>
          <a:p/>
          <a:p>
            <a:r>
              <a:t>FR-PHY-11: FR-PHY-11: yêu cầu impairment được duyệt và bằng chứng cách ly/lockout vật lý trước thử liên quan; chặn lệnh production không được phép, giữ bố trí bảo vệ cục bộ đã thỏa thuận.</a:t>
            </a:r>
          </a:p>
          <a:p>
            <a:r>
              <a:t>Workflows: WF-31</a:t>
            </a:r>
          </a:p>
          <a:p>
            <a:r>
              <a:t>Screens: F14, F18</a:t>
            </a:r>
          </a:p>
          <a:p/>
          <a:p>
            <a:r>
              <a:t>FR-PHY-12: FR-PHY-12: chỉ đóng impairment sau kiểm tra trạng thái vật lý, bằng chứng khôi phục và xác nhận người chịu trách nhiệm; theo dõi khôi phục quá hạn/khoảng trống còn lại.</a:t>
            </a:r>
          </a:p>
          <a:p>
            <a:r>
              <a:t>Workflows: WF-31</a:t>
            </a:r>
          </a:p>
          <a:p>
            <a:r>
              <a:t>Screens: F14, F18</a:t>
            </a:r>
          </a:p>
          <a:p/>
          <a:p>
            <a:r>
              <a:t>APP-SYS-192: AC: thử mô phỏng không tới output thật; hết hạn chưa xác minh vẫn impaired/awaiting restoration; bàn giao bảo trì có người nhận trách nhiệm.</a:t>
            </a:r>
          </a:p>
          <a:p>
            <a:r>
              <a:t>Workflows: WF-31</a:t>
            </a:r>
          </a:p>
          <a:p>
            <a:r>
              <a:t>Screens: F14, F18</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APP-SYS-193: Duy trì hồ sơ theo cấu hình gồm tài liệu hãng, quyền giao diện, listing/giới hạn khu vực, point map, phụ thuộc điện/thủy lực, cause-and-effect được duyệt, FAT, SAT, commissioning, hiệu chuẩn và đào tạo.</a:t>
            </a:r>
          </a:p>
          <a:p>
            <a:r>
              <a:t>Workflows: WF-32</a:t>
            </a:r>
          </a:p>
          <a:p>
            <a:r>
              <a:t>Screens: F15, F16, F17</a:t>
            </a:r>
          </a:p>
          <a:p/>
          <a:p>
            <a:r>
              <a:t>APP-SYS-194: Nghiên cứu hãng/kết quả simulator không phải nghiệm thu hiện trường.</a:t>
            </a:r>
          </a:p>
          <a:p>
            <a:r>
              <a:t>Workflows: WF-32</a:t>
            </a:r>
          </a:p>
          <a:p>
            <a:r>
              <a:t>Screens: F15, F16, F17</a:t>
            </a:r>
          </a:p>
          <a:p/>
          <a:p>
            <a:r>
              <a:t>APP-SYS-195: Không suy chứng nhận toàn hệ từ listing thành phần.</a:t>
            </a:r>
          </a:p>
          <a:p>
            <a:r>
              <a:t>Workflows: WF-32</a:t>
            </a:r>
          </a:p>
          <a:p>
            <a:r>
              <a:t>Screens: F15, F16, F17</a:t>
            </a:r>
          </a:p>
          <a:p/>
          <a:p>
            <a:r>
              <a:t>FR-PHY-13: FR-PHY-13: theo dõi revision tài liệu, provenance, reviewer, expiry khi áp dụng và phạm vi nghiệm thu theo model/firmware/site/capability.</a:t>
            </a:r>
          </a:p>
          <a:p>
            <a:r>
              <a:t>Workflows: WF-32</a:t>
            </a:r>
          </a:p>
          <a:p>
            <a:r>
              <a:t>Screens: F15, F16, F17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FR-PHY-14: FR-PHY-14: chặn bật capability production tới khi có kiểm thử/phê duyệt bắt buộc ký duyệt; thay thiết bị, firmware, mapping hoặc policy kích hoạt đánh giá tác động, làm mất hiệu lực nghiệm thu phần ảnh hưởng tới khi kiểm chứng lại.</a:t>
            </a:r>
          </a:p>
          <a:p>
            <a:r>
              <a:t>Workflows: WF-32</a:t>
            </a:r>
          </a:p>
          <a:p>
            <a:r>
              <a:t>Screens: F15, F16, F17</a:t>
            </a:r>
          </a:p>
          <a:p/>
          <a:p>
            <a:r>
              <a:t>APP-SYS-198: AC: thiếu SAT chặn điều khiển production dù simulator PASS; chứng nhận site khác không vượt cổng; firmware thay đổi chỉ giữ capability đọc không ảnh hưởng nếu hợp đồng còn hợp lệ.</a:t>
            </a:r>
          </a:p>
          <a:p>
            <a:r>
              <a:t>Workflows: WF-32</a:t>
            </a:r>
          </a:p>
          <a:p>
            <a:r>
              <a:t>Screens: F15, F16, F17</a:t>
            </a:r>
          </a:p>
          <a:p/>
          <a:p>
            <a:r>
              <a:t>APP-SYS-199: Nhiệm vụ ràng buộc giao diện robot/water-monitor được hỗ trợ thực tế, mục đích, incident, người điều khiển đủ năng lực, vùng vận hành, tuyến/vùng cấm, nguồn nước/năng lượng, freshness telemetry và policy mất link/khẩn cấp cục bộ.</a:t>
            </a:r>
          </a:p>
          <a:p>
            <a:r>
              <a:t>Workflows: WF-33</a:t>
            </a:r>
          </a:p>
          <a:p>
            <a:r>
              <a:t>Screens: F19</a:t>
            </a:r>
          </a:p>
          <a:p/>
          <a:p>
            <a:r>
              <a:t>APP-SYS-200: Thiết bị chỉ quan sát vẫn chỉ quan sát.</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APP-SYS-201: Phê duyệt không phải đã chuyển động/xả.</a:t>
            </a:r>
          </a:p>
          <a:p>
            <a:r>
              <a:t>Workflows: WF-33</a:t>
            </a:r>
          </a:p>
          <a:p>
            <a:r>
              <a:t>Screens: F19</a:t>
            </a:r>
          </a:p>
          <a:p/>
          <a:p>
            <a:r>
              <a:t>APP-SYS-202: Người tại chỗ quyết định triển khai và tiếp quản theo thiết kế được hãng hỗ trợ; không hứa chức năng stop/return phổ quát.</a:t>
            </a:r>
          </a:p>
          <a:p>
            <a:r>
              <a:t>Workflows: WF-33</a:t>
            </a:r>
          </a:p>
          <a:p>
            <a:r>
              <a:t>Screens: F19</a:t>
            </a:r>
          </a:p>
          <a:p/>
          <a:p>
            <a:r>
              <a:t>FR-PHY-15: FR-PHY-15: yêu cầu thẩm quyền theo nhiệm vụ, bằng chứng capability, giới hạn vận hành và kiểm tra sẵn sàng; tách quyền chuyển động, ngắm và xả nước.</a:t>
            </a:r>
          </a:p>
          <a:p>
            <a:r>
              <a:t>Workflows: WF-33</a:t>
            </a:r>
          </a:p>
          <a:p>
            <a:r>
              <a:t>Screens: F19</a:t>
            </a:r>
          </a:p>
          <a:p/>
          <a:p>
            <a:r>
              <a:t>FR-PHY-16: FR-PHY-16: ghi telemetry/phản hồi tác động, thực thi hành vi mất link đã duyệt tại chỗ, có bàn giao thủ công được xác nhận và bằng chứng kết quả; không suy hoàn tất cứu hộ từ lệnh được nhận.</a:t>
            </a:r>
          </a:p>
          <a:p>
            <a:r>
              <a:t>Workflows: WF-33</a:t>
            </a:r>
          </a:p>
          <a:p>
            <a:r>
              <a:t>Screens: F19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APP-SYS-205: AC: thiếu điều khiển được hãng hỗ trợ hoặc người điều khiển chặn phát tác động vật lý; vị trí cũ chặn ngắm/chuyển động phụ thuộc; mất link hiện UNKNOWN và policy cục bộ đã duyệt; bàn giao giữ trách nhiệm/bằng chứng.</a:t>
            </a:r>
          </a:p>
          <a:p>
            <a:r>
              <a:t>Workflows: WF-33</a:t>
            </a:r>
          </a:p>
          <a:p>
            <a:r>
              <a:t>Screens: F19</a:t>
            </a:r>
          </a:p>
          <a:p/>
          <a:p>
            <a:r>
              <a:t>NFR-01: NFR-01 — Production regional core 99.95% tháng — Synthetic + server metrics; tính cả lỗi dependency ảnh hưởng người dùng</a:t>
            </a:r>
          </a:p>
          <a:p>
            <a:r>
              <a:t>Workflows: ALL</a:t>
            </a:r>
          </a:p>
          <a:p>
            <a:r>
              <a:t>Screens: </a:t>
            </a:r>
          </a:p>
          <a:p/>
          <a:p>
            <a:r>
              <a:t>NFR-02: NFR-02 — Ingest p95 ≤ 2 s; fan-out enqueue p95 ≤ 5 s — Tải 100 event/s steady, 1,000 event/s trong 60 s; 10,000 recipients/incident; payload metadata ≤ 64 KB</a:t>
            </a:r>
          </a:p>
          <a:p>
            <a:r>
              <a:t>Workflows: ALL</a:t>
            </a:r>
          </a:p>
          <a:p>
            <a:r>
              <a:t>Screens: </a:t>
            </a:r>
          </a:p>
          <a:p/>
          <a:p>
            <a:r>
              <a:t>NFR-03: NFR-03 — Priority fairness — P1 reserved queues; tenant noisy-neighbor test; không để telemetry bulk chặn SOS</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NFR-04: NFR-04 — Multi-AZ RPO mục tiêu 0 cho committed records, RTO ≤ 15 phút — Kill primary, verify durable commit và failover; chỉ cam kết sau test</a:t>
            </a:r>
          </a:p>
          <a:p>
            <a:r>
              <a:t>Workflows: ALL</a:t>
            </a:r>
          </a:p>
          <a:p>
            <a:r>
              <a:t>Screens: </a:t>
            </a:r>
          </a:p>
          <a:p/>
          <a:p>
            <a:r>
              <a:t>NFR-05: NFR-05 — Regional disaster RPO ≤ 5 phút, RTO ≤ 60 phút — Restore/cold-region drill trong residency policy; immutable backup restore</a:t>
            </a:r>
          </a:p>
          <a:p>
            <a:r>
              <a:t>Workflows: ALL</a:t>
            </a:r>
          </a:p>
          <a:p>
            <a:r>
              <a:t>Screens: </a:t>
            </a:r>
          </a:p>
          <a:p/>
          <a:p>
            <a:r>
              <a:t>NFR-06: NFR-06 — WCAG 2.2 AA target — Keyboard, screen reader, zoom, contrast và error announcements; chưa claim certified</a:t>
            </a:r>
          </a:p>
          <a:p>
            <a:r>
              <a:t>Workflows: ALL</a:t>
            </a:r>
          </a:p>
          <a:p>
            <a:r>
              <a:t>Screens: </a:t>
            </a:r>
          </a:p>
          <a:p/>
          <a:p>
            <a:r>
              <a:t>NFR-07: NFR-07 — Web interactive p95 ≤ 3 s ở mạng tham chiếu — 4G simulation, representative low-end device; map loads tách core content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NFR-08: NFR-08 — Offline durable outbox và stale visibility — Airplane mode, app kill, reconnect, clock skew và reassignment conflict</a:t>
            </a:r>
          </a:p>
          <a:p>
            <a:r>
              <a:t>Workflows: ALL</a:t>
            </a:r>
          </a:p>
          <a:p>
            <a:r>
              <a:t>Screens: </a:t>
            </a:r>
          </a:p>
          <a:p/>
          <a:p>
            <a:r>
              <a:t>NFR-09: NFR-09 — Security isolation — Tenant/object permission tests, upload validation, credential revocation, audit coverage</a:t>
            </a:r>
          </a:p>
          <a:p>
            <a:r>
              <a:t>Workflows: ALL</a:t>
            </a:r>
          </a:p>
          <a:p>
            <a:r>
              <a:t>Screens: </a:t>
            </a:r>
          </a:p>
          <a:p/>
          <a:p>
            <a:r>
              <a:t>NFR-10: NFR-10 — Backward compatibility — API/event contract tests; additive minor changes; major versions song song có sunset</a:t>
            </a:r>
          </a:p>
          <a:p>
            <a:r>
              <a:t>Workflows: ALL</a:t>
            </a:r>
          </a:p>
          <a:p>
            <a:r>
              <a:t>Screens: </a:t>
            </a:r>
          </a:p>
          <a:p/>
          <a:p>
            <a:r>
              <a:t>APP-SYS-216: Tải tham chiếu là mục tiêu engineering, không phải đo benchmark.</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APP-SYS-217: Media upload qua object store tách khỏi critical event pipeline.</a:t>
            </a:r>
          </a:p>
          <a:p>
            <a:r>
              <a:t>Workflows: ALL</a:t>
            </a:r>
          </a:p>
          <a:p>
            <a:r>
              <a:t>Screens: </a:t>
            </a:r>
          </a:p>
          <a:p/>
          <a:p>
            <a:r>
              <a:t>APP-SYS-218: Các mục NFR áp dụng sản phẩm cần xây, prototype tĩnh không chứng minh đạt các mục này.</a:t>
            </a:r>
          </a:p>
          <a:p>
            <a:r>
              <a:t>Workflows: ALL</a:t>
            </a:r>
          </a:p>
          <a:p>
            <a:r>
              <a:t>Screens: </a:t>
            </a:r>
          </a:p>
          <a:p/>
          <a:p>
            <a:r>
              <a:t>NFR-11: NFR-11 — Bảo vệ tự động cục bộ độc lập cloud/edge — Chứng kiến mất cloud/link/adapter không ngăn trình tự bảo vệ cục bộ được duyệt</a:t>
            </a:r>
          </a:p>
          <a:p>
            <a:r>
              <a:t>Workflows: ALL</a:t>
            </a:r>
          </a:p>
          <a:p>
            <a:r>
              <a:t>Screens: </a:t>
            </a:r>
          </a:p>
          <a:p/>
          <a:p>
            <a:r>
              <a:t>NFR-12: NFR-12 — Thời gian/chất lượng telemetry và phản hồi theo cấu hình — Ký ngưỡng freshness, truyền và phản hồi theo thiết bị/site; đo riêng; UNKNOWN khi quá hạn</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NFR-13: NFR-13 — Cách ly OT và lệnh — Chứng minh chỉ giám sát, từ chối ghi, quyền tối thiểu, truy cập bảo trì kiểm soát và không có đường test-to-live</a:t>
            </a:r>
          </a:p>
          <a:p>
            <a:r>
              <a:t>Workflows: ALL</a:t>
            </a:r>
          </a:p>
          <a:p>
            <a:r>
              <a:t>Screens: </a:t>
            </a:r>
          </a:p>
          <a:p/>
          <a:p>
            <a:r>
              <a:t>NFR-14: NFR-14 — Bảo đảm vật lý theo cấu hình — Đủ provenance và FAT/SAT bắt buộc ký duyệt; thay đổi làm hết hiệu lực nghiệm thu capability bị ảnh hưởng</a:t>
            </a:r>
          </a:p>
          <a:p>
            <a:r>
              <a:t>Workflows: ALL</a:t>
            </a:r>
          </a:p>
          <a:p>
            <a:r>
              <a:t>Screens: </a:t>
            </a:r>
          </a:p>
          <a:p/>
          <a:p>
            <a:r>
              <a:t>APP-SYS-223: NFR vật lý không dùng mục tiêu độ trễ phần mềm thay hiệu năng phản ứng vật lý/thủy lực.</a:t>
            </a:r>
          </a:p>
          <a:p>
            <a:r>
              <a:t>Workflows: ALL</a:t>
            </a:r>
          </a:p>
          <a:p>
            <a:r>
              <a:t>Screens: </a:t>
            </a:r>
          </a:p>
          <a:p/>
          <a:p>
            <a:r>
              <a:t>APP-SYS-224: Thời gian và tiêu chí đạt theo thiết bị/site phải duyệt trước thử, kết quả ghi firmware, phần cứng và điều kiện vận hành.</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APP-SYS-225: Phải chạy đủ flow Fire, Disaster, Fall, Road, discreet SOS và generic assistance; test duplicate, late data, out-of-order, expiry, network partition, unauthorized tenant, quota saturation, provider failure và restore.</a:t>
            </a:r>
          </a:p>
          <a:p>
            <a:r>
              <a:t>Workflows: ALL</a:t>
            </a:r>
          </a:p>
          <a:p>
            <a:r>
              <a:t>Screens: </a:t>
            </a:r>
          </a:p>
          <a:p/>
          <a:p>
            <a:r>
              <a:t>APP-SYS-226: Với physical/drone, simulator PASS không thay acceptance hiện trường.</a:t>
            </a:r>
          </a:p>
          <a:p>
            <a:r>
              <a:t>Workflows: ALL</a:t>
            </a:r>
          </a:p>
          <a:p>
            <a:r>
              <a:t>Screens: </a:t>
            </a:r>
          </a:p>
          <a:p/>
          <a:p>
            <a:r>
              <a:t>APP-SYS-227: Ma trận chi tiết trong Acceptance-Matrix.csv.</a:t>
            </a:r>
          </a:p>
          <a:p>
            <a:r>
              <a:t>Workflows: ALL</a:t>
            </a:r>
          </a:p>
          <a:p>
            <a:r>
              <a:t>Screens: </a:t>
            </a:r>
          </a:p>
          <a:p/>
          <a:p>
            <a:r>
              <a:t>APP-SYS-228: Screen-level acceptance nằm trong Screen-Specifications.md và gắn từng mockup ID.</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APP-SYS-229: Cổng vật lý thực thi thêm PHY-01–PHY-16 và AC-F01–AC-F20, kiểm đủ FR-PHY-01–FR-PHY-16, cần bố trí thử vật lý được duyệt và đội site được ủy quyền.</a:t>
            </a:r>
          </a:p>
          <a:p>
            <a:r>
              <a:t>Workflows: ALL</a:t>
            </a:r>
          </a:p>
          <a:p>
            <a:r>
              <a:t>Screens: </a:t>
            </a:r>
          </a:p>
          <a:p/>
          <a:p>
            <a:r>
              <a:t>APP-SYS-230: Acceptance-Matrix.csv có 65 ca xuyên hệ thống và 233 ca màn hình (tổng 298).</a:t>
            </a:r>
          </a:p>
          <a:p>
            <a:r>
              <a:t>Workflows: ALL</a:t>
            </a:r>
          </a:p>
          <a:p>
            <a:r>
              <a:t>Screens: </a:t>
            </a:r>
          </a:p>
          <a:p/>
          <a:p>
            <a:r>
              <a:t>APP-SYS-231: Ca thiết kế không phải bằng chứng thực thi.</a:t>
            </a:r>
          </a:p>
          <a:p>
            <a:r>
              <a:t>Workflows: ALL</a:t>
            </a:r>
          </a:p>
          <a:p>
            <a:r>
              <a:t>Screens: </a:t>
            </a:r>
          </a:p>
          <a:p/>
          <a:p>
            <a:r>
              <a:t>APP-SYS-232: Hỗ trợ hãng, giấy phép vật lý, người tại chỗ sẵn sàng và FAT/SAT ký duyệt là phụ thuộc để bật điều khiển production; thiếu bằng chứng giữ capability liên quan không khả dụng hoặc chỉ giám sát.</a:t>
            </a:r>
          </a:p>
          <a:p>
            <a:r>
              <a:t>Workflows: ALL</a:t>
            </a:r>
          </a:p>
          <a:p>
            <a:r>
              <a:t>Screens: </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APP-SUP-01: Điều phối PA theo exact message/zone digest, priority, repeat và expiry; giữ lease tránh phát chồng.</a:t>
            </a:r>
          </a:p>
          <a:p>
            <a:r>
              <a:t>Workflows: WF-21</a:t>
            </a:r>
          </a:p>
          <a:p>
            <a:r>
              <a:t>Screens: P01, P02, P03, P04, P05, P06, P07, P08, P09</a:t>
            </a:r>
          </a:p>
          <a:p/>
          <a:p>
            <a:r>
              <a:t>APP-SUP-02: Tách controller ACK, buffering/playing/completed và acoustic evidence; lỗi sinh coverage gap/fallback.</a:t>
            </a:r>
          </a:p>
          <a:p>
            <a:r>
              <a:t>Workflows: WF-21</a:t>
            </a:r>
          </a:p>
          <a:p>
            <a:r>
              <a:t>Screens: P01, P02, P03, P04, P05, P06, P07, P08, P09</a:t>
            </a:r>
          </a:p>
          <a:p/>
          <a:p>
            <a:r>
              <a:t>APP-SUP-03: Live mic cần thao tác rõ, zone approval, token ngắn hạn, chỉ báo, heartbeat và timeout dừng.</a:t>
            </a:r>
          </a:p>
          <a:p>
            <a:r>
              <a:t>Workflows: WF-21</a:t>
            </a:r>
          </a:p>
          <a:p>
            <a:r>
              <a:t>Screens: P01, P02, P03, P04, P05, P06, P07, P08, P09</a:t>
            </a:r>
          </a:p>
          <a:p/>
          <a:p>
            <a:r>
              <a:t>APP-SUP-04: Gateway media chuyển WebRTC sang giao thức hãng đã hỗ trợ; OT cách ly; cache audio có checksum/version.</a:t>
            </a:r>
          </a:p>
          <a:p>
            <a:r>
              <a:t>Workflows: WF-21</a:t>
            </a:r>
          </a:p>
          <a:p>
            <a:r>
              <a:t>Screens: P01, P02, P03, P04, P05, P06, P07, P08, P09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APP-SUP-05: Ưu tiên fire alarm cục bộ; stop chỉ đúng broadcast; reconnect không phát lại thông điệp hết hạn.</a:t>
            </a:r>
          </a:p>
          <a:p>
            <a:r>
              <a:t>Workflows: WF-21</a:t>
            </a:r>
          </a:p>
          <a:p>
            <a:r>
              <a:t>Screens: P01, P02, P03, P04, P05, P06, P07, P08, P09</a:t>
            </a:r>
          </a:p>
          <a:p/>
          <a:p>
            <a:r>
              <a:t>APP-SUP-06: Kiểm floor/heading quality; thiếu tin cậy dùng landmark/SOS, không chỉ trái/phải giả.</a:t>
            </a:r>
          </a:p>
          <a:p>
            <a:r>
              <a:t>Workflows: WF-22</a:t>
            </a:r>
          </a:p>
          <a:p>
            <a:r>
              <a:t>Screens: C35, C36, C37, C38, C39, C40, S15, S16, O35, O36</a:t>
            </a:r>
          </a:p>
          <a:p/>
          <a:p>
            <a:r>
              <a:t>APP-SUP-07: Graph loại cạnh cấm/blocked/unknown-critical và đích hết hạn; accessibility là hard constraint.</a:t>
            </a:r>
          </a:p>
          <a:p>
            <a:r>
              <a:t>Workflows: WF-22</a:t>
            </a:r>
          </a:p>
          <a:p>
            <a:r>
              <a:t>Screens: C35, C36, C37, C38, C39, C40, S15, S16, O35, O36</a:t>
            </a:r>
          </a:p>
          <a:p/>
          <a:p>
            <a:r>
              <a:t>APP-SUP-08: Dijkstra/A* chỉ chọn tuyến khả thi; penalty không vượt hard exclusion; không có đường thì assistance/refuge.</a:t>
            </a:r>
          </a:p>
          <a:p>
            <a:r>
              <a:t>Workflows: WF-22</a:t>
            </a:r>
          </a:p>
          <a:p>
            <a:r>
              <a:t>Screens: C35, C36, C37, C38, C39, C40, S15, S16, O35, O36</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APP-SUP-09: Hazard mới cắt tuyến rút ngay; replan có hysteresis, hủy TTS cũ; cache stale chỉ dùng procedure đã duyệt.</a:t>
            </a:r>
          </a:p>
          <a:p>
            <a:r>
              <a:t>Workflows: WF-22</a:t>
            </a:r>
          </a:p>
          <a:p>
            <a:r>
              <a:t>Screens: C35, C36, C37, C38, C39, C40, S15, S16, O35, O36</a:t>
            </a:r>
          </a:p>
          <a:p/>
          <a:p>
            <a:r>
              <a:t>APP-SUP-10: Đồng bộ text/voice vi/en/ja, lexicon, pronunciation, transcript và visual/haptic alternative.</a:t>
            </a:r>
          </a:p>
          <a:p>
            <a:r>
              <a:t>Workflows: WF-22</a:t>
            </a:r>
          </a:p>
          <a:p>
            <a:r>
              <a:t>Screens: C35, C36, C37, C38, C39, C40, S15, S16, O35, O36</a:t>
            </a:r>
          </a:p>
          <a:p/>
          <a:p>
            <a:r>
              <a:t>APP-SUP-11: API route trả LOCATION_UNCERTAIN/NO_VERIFIED_ROUTE khi thiếu bằng chứng; arrival không tự safe.</a:t>
            </a:r>
          </a:p>
          <a:p>
            <a:r>
              <a:t>Workflows: WF-22</a:t>
            </a:r>
          </a:p>
          <a:p>
            <a:r>
              <a:t>Screens: C35, C36, C37, C38, C39, C40, S15, S16, O35, O36</a:t>
            </a:r>
          </a:p>
          <a:p/>
          <a:p>
            <a:r>
              <a:t>APP-SUP-12: Thu GNSS/QR/NFC/BLE/UWB/Wi-Fi/manual theo capability/permission, calibration và coordinate frame.</a:t>
            </a:r>
          </a:p>
          <a:p>
            <a:r>
              <a:t>Workflows: WF-23</a:t>
            </a:r>
          </a:p>
          <a:p>
            <a:r>
              <a:t>Screens: H10, Q01, Q02, Q03</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APP-SUP-13: Fusion dùng floor hypothesis/outlier/motion/quality; không trung bình hai tầng hoặc bỏ provenance khi sửa.</a:t>
            </a:r>
          </a:p>
          <a:p>
            <a:r>
              <a:t>Workflows: WF-23</a:t>
            </a:r>
          </a:p>
          <a:p>
            <a:r>
              <a:t>Screens: H10, Q01, Q02, Q03</a:t>
            </a:r>
          </a:p>
          <a:p/>
          <a:p>
            <a:r>
              <a:t>APP-SUP-14: Presence tách registered/expected/observed/last-seen/absent/unknown; mất beacon không suy absent/safe.</a:t>
            </a:r>
          </a:p>
          <a:p>
            <a:r>
              <a:t>Workflows: WF-23</a:t>
            </a:r>
          </a:p>
          <a:p>
            <a:r>
              <a:t>Screens: H10, Q01, Q02, Q03</a:t>
            </a:r>
          </a:p>
          <a:p/>
          <a:p>
            <a:r>
              <a:t>APP-SUP-15: Lập 1 primary và tối đa2 alternatives, reason/assumption/validity; tránh chung bottleneck khi có thể.</a:t>
            </a:r>
          </a:p>
          <a:p>
            <a:r>
              <a:t>Workflows: WF-24</a:t>
            </a:r>
          </a:p>
          <a:p>
            <a:r>
              <a:t>Screens: Q04, Q05, Q10</a:t>
            </a:r>
          </a:p>
          <a:p/>
          <a:p>
            <a:r>
              <a:t>APP-SUP-16: Cân bằng cohort/capacity theo occupancy/throughput có uncertainty; đổi chiến lược vùng cần operator duyệt.</a:t>
            </a:r>
          </a:p>
          <a:p>
            <a:r>
              <a:t>Workflows: WF-24</a:t>
            </a:r>
          </a:p>
          <a:p>
            <a:r>
              <a:t>Screens: Q04, Q05, Q10</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APP-SUP-17: Simulation tách observed hazard, ghi assumptions; ETA interval/confidence, không chính xác giả.</a:t>
            </a:r>
          </a:p>
          <a:p>
            <a:r>
              <a:t>Workflows: WF-24</a:t>
            </a:r>
          </a:p>
          <a:p>
            <a:r>
              <a:t>Screens: Q04, Q05, Q10</a:t>
            </a:r>
          </a:p>
          <a:p/>
          <a:p>
            <a:r>
              <a:t>APP-SUP-18: AI retrieve SOP được duyệt, trả structured claims/evidence/cutoff/uncertainty; unsupported không thành instruction.</a:t>
            </a:r>
          </a:p>
          <a:p>
            <a:r>
              <a:t>Workflows: WF-25</a:t>
            </a:r>
          </a:p>
          <a:p>
            <a:r>
              <a:t>Screens: Q06, Q07, Q08, Q09</a:t>
            </a:r>
          </a:p>
          <a:p/>
          <a:p>
            <a:r>
              <a:t>APP-SUP-19: AI chỉ compare_routes read-only từ planner; không sửa graph, ký warning, command, chẩn đoán hoặc đóng incident.</a:t>
            </a:r>
          </a:p>
          <a:p>
            <a:r>
              <a:t>Workflows: WF-25</a:t>
            </a:r>
          </a:p>
          <a:p>
            <a:r>
              <a:t>Screens: Q06, Q07, Q08, Q09</a:t>
            </a:r>
          </a:p>
          <a:p/>
          <a:p>
            <a:r>
              <a:t>APP-SUP-20: Policy proxy chặn injection/tool vượt scope; model theo residency, health tối thiểu, log redacted không chain-of-thought.</a:t>
            </a:r>
          </a:p>
          <a:p>
            <a:r>
              <a:t>Workflows: WF-25</a:t>
            </a:r>
          </a:p>
          <a:p>
            <a:r>
              <a:t>Screens: Q06, Q07, Q08, Q09</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APP-SUP-21: Đánh giá grounding/injection/leakage/unsafe action/locale/abstention trước promotion; feedback cần review.</a:t>
            </a:r>
          </a:p>
          <a:p>
            <a:r>
              <a:t>Workflows: WF-25</a:t>
            </a:r>
          </a:p>
          <a:p>
            <a:r>
              <a:t>Screens: Q06, Q07, Q08, Q09</a:t>
            </a:r>
          </a:p>
          <a:p/>
          <a:p>
            <a:r>
              <a:t>APP-SUP-22: AI timeout không ngăn alarm/SOS/dispatch; text streaming không phát loa trước validation/approval.</a:t>
            </a:r>
          </a:p>
          <a:p>
            <a:r>
              <a:t>Workflows: WF-25</a:t>
            </a:r>
          </a:p>
          <a:p>
            <a:r>
              <a:t>Screens: Q06, Q07, Q08, Q09</a:t>
            </a:r>
          </a:p>
          <a:p/>
          <a:p>
            <a:r>
              <a:t>APP-SUP-23: Tách identity khỏi functional-needs profile; giữ source/verification/review/consent; self-report không medical verified.</a:t>
            </a:r>
          </a:p>
          <a:p>
            <a:r>
              <a:t>Workflows: WF-26</a:t>
            </a:r>
          </a:p>
          <a:p>
            <a:r>
              <a:t>Screens: H01, H02, H03, H04, H05, H06, H07</a:t>
            </a:r>
          </a:p>
          <a:p/>
          <a:p>
            <a:r>
              <a:t>APP-SUP-24: Guardian/caregiver phải verified, field-scoped/revocable; dispatcher/responder chỉ emergency subset cần thiết.</a:t>
            </a:r>
          </a:p>
          <a:p>
            <a:r>
              <a:t>Workflows: WF-26</a:t>
            </a:r>
          </a:p>
          <a:p>
            <a:r>
              <a:t>Screens: H01, H02, H03, H04, H05, H06, H07</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APP-SUP-25: Health access có audit/break-glass scope/time/reason; social group không thấy medical note/impairment.</a:t>
            </a:r>
          </a:p>
          <a:p>
            <a:r>
              <a:t>Workflows: WF-26</a:t>
            </a:r>
          </a:p>
          <a:p>
            <a:r>
              <a:t>Screens: H01, H02, H03, H04, H05, H06, H07</a:t>
            </a:r>
          </a:p>
          <a:p/>
          <a:p>
            <a:r>
              <a:t>APP-SUP-26: Candidate từ presence+impact+needs+no recent confirmation; uncertain presence tạo welfare check, không khẳng định vị trí.</a:t>
            </a:r>
          </a:p>
          <a:p>
            <a:r>
              <a:t>Workflows: WF-27</a:t>
            </a:r>
          </a:p>
          <a:p>
            <a:r>
              <a:t>Screens: H08, H09, H12</a:t>
            </a:r>
          </a:p>
          <a:p/>
          <a:p>
            <a:r>
              <a:t>APP-SUP-27: Priority có exposure/ability/isolation/route/contact/confidence; không wealth/nationality hoặc tuổi đơn lẻ.</a:t>
            </a:r>
          </a:p>
          <a:p>
            <a:r>
              <a:t>Workflows: WF-27</a:t>
            </a:r>
          </a:p>
          <a:p>
            <a:r>
              <a:t>Screens: H08, H09, H12</a:t>
            </a:r>
          </a:p>
          <a:p/>
          <a:p>
            <a:r>
              <a:t>APP-SUP-28: Dedupe ProactiveCase theo incident+person+policyVersion; SOS tới sau liên kết case, không dispatch trùng.</a:t>
            </a:r>
          </a:p>
          <a:p>
            <a:r>
              <a:t>Workflows: WF-27</a:t>
            </a:r>
          </a:p>
          <a:p>
            <a:r>
              <a:t>Screens: H08, H09,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APP-SUP-29: Không phản hồi thì escalate, không xác nhận injured; sửa vị trí giữ evidence/audit và đánh giá lại.</a:t>
            </a:r>
          </a:p>
          <a:p>
            <a:r>
              <a:t>Workflows: WF-27</a:t>
            </a:r>
          </a:p>
          <a:p>
            <a:r>
              <a:t>Screens: H08, H09, H12</a:t>
            </a:r>
          </a:p>
          <a:p/>
          <a:p>
            <a:r>
              <a:t>Nguồn: baseline 1.0, toàn bộ FRD và Screen Specifications. Đây là danh mục thiết kế; không phải chứng nhận chức năng đã triển khai.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85a721aac25a44f6"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c271899a428a4379"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0285788f6b0047a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fae273f4ef484b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9826b72ce84eb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0c7888896d30476e"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E05494-1C0B-476D-9E3A-C3352CD7901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8A7E160-5EC8-4A05-B860-8E6C9199A4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3F7C9D-B7D1-4108-9FD2-6817F0FF67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DF6B34-0702-4BAF-B49D-B42AFD9C5A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7CE441-806E-418A-809E-A89D53590F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55B152-EB53-4FB5-95C8-0ED10D64A6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B805476-7B79-46E8-9339-166DE364E7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79FB314-BB54-4612-9F56-05032A016A5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517D8C-21CB-4DC2-A6E9-2CC67D249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027827-7056-4CD3-AF94-41F4E782E3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1dae3e2a42124529" Type="http://schemas.openxmlformats.org/officeDocument/2006/relationships/slideLayout" Target="../slideLayouts/slideLayout5.xml"/><Relationship Id="R7b263ebd331f43ff" Type="http://schemas.openxmlformats.org/officeDocument/2006/relationships/theme" Target="theme/theme2.xml"/><Relationship Id="Rae14115e4f754ed2" Type="http://schemas.openxmlformats.org/officeDocument/2006/relationships/slideLayout" Target="../slideLayouts/slideLayout3.xml"/><Relationship Id="Rbbd3e123316c4d48" Type="http://schemas.openxmlformats.org/officeDocument/2006/relationships/slideLayout" Target="../slideLayouts/slideLayout1.xml"/><Relationship Id="Rbe2e0ec8d53b43b1" Type="http://schemas.openxmlformats.org/officeDocument/2006/relationships/slideLayout" Target="../slideLayouts/slideLayout2.xml"/><Relationship Id="Rc4fb2a4a87d24be2" Type="http://schemas.openxmlformats.org/officeDocument/2006/relationships/slideLayout" Target="../slideLayouts/slideLayout6.xml"/><Relationship Id="Rcf97c354fa0a49fd" Type="http://schemas.openxmlformats.org/officeDocument/2006/relationships/slideLayout" Target="../slideLayouts/slideLayout4.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d3e123316c4d48"/>
    <p:sldLayoutId xmlns:r="http://schemas.openxmlformats.org/officeDocument/2006/relationships" id="2147483650" r:id="Rbe2e0ec8d53b43b1"/>
    <p:sldLayoutId xmlns:r="http://schemas.openxmlformats.org/officeDocument/2006/relationships" id="2147483651" r:id="Rae14115e4f754ed2"/>
    <p:sldLayoutId xmlns:r="http://schemas.openxmlformats.org/officeDocument/2006/relationships" id="2147483652" r:id="Rcf97c354fa0a49fd"/>
    <p:sldLayoutId xmlns:r="http://schemas.openxmlformats.org/officeDocument/2006/relationships" id="2147483653" r:id="R1dae3e2a42124529"/>
    <p:sldLayoutId xmlns:r="http://schemas.openxmlformats.org/officeDocument/2006/relationships" id="2147483654" r:id="Rc4fb2a4a87d24b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028dcda62e524534" Type="http://schemas.openxmlformats.org/officeDocument/2006/relationships/image" Target="../media/image.png"/><Relationship Id="R3ff440cf32e94963" Type="http://schemas.openxmlformats.org/officeDocument/2006/relationships/image" Target="../media/image2.png"/><Relationship Id="R419ca447eefe4f0f" Type="http://schemas.openxmlformats.org/officeDocument/2006/relationships/notesSlide" Target="../notesSlides/notesSlide1.xml"/><Relationship Id="R7f04fcd57962492f"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12cc7492e99c44a2" Type="http://schemas.openxmlformats.org/officeDocument/2006/relationships/image" Target="../media/image.jpeg"/><Relationship Id="R12d0158fc3744958" Type="http://schemas.openxmlformats.org/officeDocument/2006/relationships/notesSlide" Target="../notesSlides/notesSlide2.xml"/><Relationship Id="R633c9e01eb7c4c95" Type="http://schemas.openxmlformats.org/officeDocument/2006/relationships/slideLayout" Target="../slideLayouts/slideLayout6.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5eb0cc5cdf6f4b67" Type="http://schemas.openxmlformats.org/officeDocument/2006/relationships/slideLayout" Target="../slideLayouts/slideLayout6.xml"/><Relationship Id="Rc3be148348a74d96"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445f903e1c4c4086" Type="http://schemas.openxmlformats.org/officeDocument/2006/relationships/notesSlide" Target="../notesSlides/notesSlide4.xml"/><Relationship Id="Raee0ed41ba504d88"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070c280c0d2244f4" Type="http://schemas.openxmlformats.org/officeDocument/2006/relationships/slideLayout" Target="../slideLayouts/slideLayout6.xml"/><Relationship Id="Rfde1e3982a8a492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c5b2923becb4ac6" Type="http://schemas.openxmlformats.org/officeDocument/2006/relationships/notesSlide" Target="../notesSlides/notesSlide6.xml"/><Relationship Id="Ra27cb7c1a7b2441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78472cff334649e6" Type="http://schemas.openxmlformats.org/officeDocument/2006/relationships/notesSlide" Target="../notesSlides/notesSlide7.xml"/><Relationship Id="R79b834daf5d64bec" Type="http://schemas.openxmlformats.org/officeDocument/2006/relationships/image" Target="../media/image3.png"/><Relationship Id="Rab04f389d282411c" Type="http://schemas.openxmlformats.org/officeDocument/2006/relationships/slideLayout" Target="../slideLayouts/slideLayout6.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2dfa57a2fe7f4a7b" Type="http://schemas.openxmlformats.org/officeDocument/2006/relationships/image" Target="../media/image2.jpeg"/><Relationship Id="R761a5d31a2fe457b" Type="http://schemas.openxmlformats.org/officeDocument/2006/relationships/image" Target="../media/image3.jpeg"/><Relationship Id="R82b519563a8f48c3" Type="http://schemas.openxmlformats.org/officeDocument/2006/relationships/slideLayout" Target="../slideLayouts/slideLayout6.xml"/><Relationship Id="Rcc0de3a62e634461" Type="http://schemas.openxmlformats.org/officeDocument/2006/relationships/image" Target="../media/image4.png"/><Relationship Id="Ref01b3f6317149a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133e606c54084592" Type="http://schemas.openxmlformats.org/officeDocument/2006/relationships/slideLayout" Target="../slideLayouts/slideLayout6.xml"/><Relationship Id="R64bdf12d27334d77"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c0d925719445491a" Type="http://schemas.openxmlformats.org/officeDocument/2006/relationships/notesSlide" Target="../notesSlides/notesSlide10.xml"/><Relationship Id="Rd40595e976a2470e"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4b8623e49c6f4f51" Type="http://schemas.openxmlformats.org/officeDocument/2006/relationships/slideLayout" Target="../slideLayouts/slideLayout6.xml"/><Relationship Id="Rb7232516b1f2438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c1788da3b18340d3" Type="http://schemas.openxmlformats.org/officeDocument/2006/relationships/slideLayout" Target="../slideLayouts/slideLayout6.xml"/><Relationship Id="Rfc60ab6e3e8f4e7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d6e2680bffe4f71" Type="http://schemas.openxmlformats.org/officeDocument/2006/relationships/image" Target="../media/image5.png"/><Relationship Id="Rbe8dea8cfa204117" Type="http://schemas.openxmlformats.org/officeDocument/2006/relationships/slideLayout" Target="../slideLayouts/slideLayout6.xml"/><Relationship Id="Re3d105cf1ee045a6" Type="http://schemas.openxmlformats.org/officeDocument/2006/relationships/image" Target="../media/image6.png"/><Relationship Id="Rebe0be28887e4816" Type="http://schemas.openxmlformats.org/officeDocument/2006/relationships/notesSlide" Target="../notesSlides/notesSlide13.xml"/><Relationship Id="Rfafdc05e718f4cde" Type="http://schemas.openxmlformats.org/officeDocument/2006/relationships/image" Target="../media/image7.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14.xml.rels><?xml version='1.0' encoding='UTF-8' standalone='yes'?>
<Relationships xmlns="http://schemas.openxmlformats.org/package/2006/relationships"><Relationship Id="Ra1f407333f5b4574" Type="http://schemas.openxmlformats.org/officeDocument/2006/relationships/slideLayout" Target="../slideLayouts/slideLayout6.xml"/><Relationship Id="Rd2f3a5557cb54613"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b4ddd0cc0a744a2b" Type="http://schemas.openxmlformats.org/officeDocument/2006/relationships/slideLayout" Target="../slideLayouts/slideLayout6.xml"/><Relationship Id="Rcfc1a5a6e251469d"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6ca01b197af14b59" Type="http://schemas.openxmlformats.org/officeDocument/2006/relationships/notesSlide" Target="../notesSlides/notesSlide16.xml"/><Relationship Id="R80826d20afcd4d19"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8401940f2bf4579" Type="http://schemas.openxmlformats.org/officeDocument/2006/relationships/notesSlide" Target="../notesSlides/notesSlide17.xml"/><Relationship Id="R5e0c28fe369a4c2a"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87ba16905b004111" Type="http://schemas.openxmlformats.org/officeDocument/2006/relationships/slideLayout" Target="../slideLayouts/slideLayout6.xml"/><Relationship Id="Rb2f6c897a1b24de9" Type="http://schemas.openxmlformats.org/officeDocument/2006/relationships/notesSlide" Target="../notesSlides/notesSlide18.xml"/><Relationship Id="rId3" Type="http://schemas.openxmlformats.org/officeDocument/2006/relationships/image" Target="../media/image20.png"/></Relationships>
</file>

<file path=ppt/slides/_rels/slide19.xml.rels><?xml version='1.0' encoding='UTF-8' standalone='yes'?>
<Relationships xmlns="http://schemas.openxmlformats.org/package/2006/relationships"><Relationship Id="R6af68d55a53d4230" Type="http://schemas.openxmlformats.org/officeDocument/2006/relationships/notesSlide" Target="../notesSlides/notesSlide19.xml"/><Relationship Id="Rb421ba781fc948de" Type="http://schemas.openxmlformats.org/officeDocument/2006/relationships/slideLayout" Target="../slideLayouts/slideLayout6.xml"/><Relationship Id="rId3" Type="http://schemas.openxmlformats.org/officeDocument/2006/relationships/image" Target="../media/image21.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680fd610f37f4adf" Type="http://schemas.openxmlformats.org/officeDocument/2006/relationships/notesSlide" Target="../notesSlides/notesSlide20.xml"/><Relationship Id="R9bad13d44a734c42" Type="http://schemas.openxmlformats.org/officeDocument/2006/relationships/slideLayout" Target="../slideLayouts/slideLayout6.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f7f1a3dba5474f0b" Type="http://schemas.openxmlformats.org/officeDocument/2006/relationships/notesSlide" Target="../notesSlides/notesSlide21.xml"/><Relationship Id="Rf8ed0b1ef1634a4a"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0fd3378deaa44c6f" Type="http://schemas.openxmlformats.org/officeDocument/2006/relationships/slideLayout" Target="../slideLayouts/slideLayout6.xml"/><Relationship Id="Rdc16601e6a9f4f1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b90055118a25446a" Type="http://schemas.openxmlformats.org/officeDocument/2006/relationships/notesSlide" Target="../notesSlides/notesSlide23.xml"/><Relationship Id="Rf75c854a6149447e"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b272956fdb2a4e67" Type="http://schemas.openxmlformats.org/officeDocument/2006/relationships/slideLayout" Target="../slideLayouts/slideLayout6.xml"/><Relationship Id="Rd8e00ead954c4aba"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9acde39312f8459e" Type="http://schemas.openxmlformats.org/officeDocument/2006/relationships/slideLayout" Target="../slideLayouts/slideLayout6.xml"/><Relationship Id="Ra460b937bf2048b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32.xml.rels><?xml version='1.0' encoding='UTF-8' standalone='yes'?>
<Relationships xmlns="http://schemas.openxmlformats.org/package/2006/relationships"><Relationship Id="R5ac500607e8942ff" Type="http://schemas.openxmlformats.org/officeDocument/2006/relationships/notesSlide" Target="../notesSlides/notesSlide26.xml"/><Relationship Id="R71f1bc80736b488e"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9a9c12842adb4284" Type="http://schemas.openxmlformats.org/officeDocument/2006/relationships/slideLayout" Target="../slideLayouts/slideLayout6.xml"/><Relationship Id="Rc0781783346f4821"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63e7a8d8346f4bba" Type="http://schemas.openxmlformats.org/officeDocument/2006/relationships/slideLayout" Target="../slideLayouts/slideLayout6.xml"/><Relationship Id="Rbdbc010fee574f4c" Type="http://schemas.openxmlformats.org/officeDocument/2006/relationships/notesSlide" Target="../notesSlides/notesSlide28.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0f94573359ef4ad6" Type="http://schemas.openxmlformats.org/officeDocument/2006/relationships/slideLayout" Target="../slideLayouts/slideLayout6.xml"/><Relationship Id="R61929512985649d0" Type="http://schemas.openxmlformats.org/officeDocument/2006/relationships/notesSlide" Target="../notesSlides/notesSlide2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bedbda0911824037" Type="http://schemas.openxmlformats.org/officeDocument/2006/relationships/notesSlide" Target="../notesSlides/notesSlide30.xml"/><Relationship Id="Rd9ea0b00dfa548e0"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b033fa4c72bb4b91" Type="http://schemas.openxmlformats.org/officeDocument/2006/relationships/slideLayout" Target="../slideLayouts/slideLayout6.xml"/><Relationship Id="Rb6139769461248ea" Type="http://schemas.openxmlformats.org/officeDocument/2006/relationships/notesSlide" Target="../notesSlides/notesSlide31.xml"/><Relationship Id="Re6d437d3b88f45d9" Type="http://schemas.openxmlformats.org/officeDocument/2006/relationships/image" Target="../media/image4.jpeg"/></Relationships>
</file>

<file path=ppt/slides/_rels/slide38.xml.rels><?xml version='1.0' encoding='UTF-8' standalone='yes'?>
<Relationships xmlns="http://schemas.openxmlformats.org/package/2006/relationships"><Relationship Id="R1f86563787ad44d5" Type="http://schemas.openxmlformats.org/officeDocument/2006/relationships/image" Target="../media/image8.png"/><Relationship Id="Ra312e035ac844190" Type="http://schemas.openxmlformats.org/officeDocument/2006/relationships/slideLayout" Target="../slideLayouts/slideLayout6.xml"/><Relationship Id="Re8d76540114a4cd4"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d1eb4e1575fd4622" Type="http://schemas.openxmlformats.org/officeDocument/2006/relationships/notesSlide" Target="../notesSlides/notesSlide33.xml"/><Relationship Id="Rdb37e0bdfaca409b" Type="http://schemas.openxmlformats.org/officeDocument/2006/relationships/slideLayout" Target="../slideLayouts/slideLayout6.xml"/><Relationship Id="rIdSource1" Type="http://schemas.openxmlformats.org/officeDocument/2006/relationships/hyperlink" Target="https://www.nfpa.org/news-blogs-and-articles/blogs/2021/06/22/the-basics-of-sprinkler-thermal-characteristics" TargetMode="External"/><Relationship Id="rIdSource2" Type="http://schemas.openxmlformats.org/officeDocument/2006/relationships/hyperlink" Target="https://hbtmkto.honeywell.com/rs/127-UCB-316/images/Connected%20Services%20Brochure.pdf" TargetMode="External"/><Relationship Id="rId5" Type="http://schemas.openxmlformats.org/officeDocument/2006/relationships/image" Target="../media/image3.png"/></Relationships>
</file>

<file path=ppt/slides/_rels/slide40.xml.rels><?xml version='1.0' encoding='UTF-8' standalone='yes'?>
<Relationships xmlns="http://schemas.openxmlformats.org/package/2006/relationships"><Relationship Id="R40c2b6c48d3a4af3" Type="http://schemas.openxmlformats.org/officeDocument/2006/relationships/notesSlide" Target="../notesSlides/notesSlide34.xml"/><Relationship Id="R59dad77ac6934457" Type="http://schemas.openxmlformats.org/officeDocument/2006/relationships/image" Target="../media/image9.png"/><Relationship Id="Rcf03028583f74600" Type="http://schemas.openxmlformats.org/officeDocument/2006/relationships/slideLayout" Target="../slideLayouts/slideLayout6.xml"/><Relationship Id="rId4" Type="http://schemas.openxmlformats.org/officeDocument/2006/relationships/image" Target="../media/image.png"/></Relationships>
</file>

<file path=ppt/slides/_rels/slide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9acde39312f8459e" Type="http://schemas.openxmlformats.org/officeDocument/2006/relationships/slideLayout" Target="../slideLayouts/slideLayout6.xml"/><Relationship Id="rId2" Type="http://schemas.openxmlformats.org/officeDocument/2006/relationships/notesSlide" Target="../notesSlides/notesSlide16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70F6BD0-11EA-4C12-A2E9-17CA117919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B14A621-9954-4293-95A7-D2A8222B704E}"/>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BD85357-6978-47CB-B2D3-BD4C9586EFCB}"/>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SOLUTION PROPOSAL / ĐỀ ÁN GIẢI PHÁP</a:t>
            </a:r>
          </a:p>
        </p:txBody>
      </p:sp>
      <p:sp>
        <p:nvSpPr>
          <p:cNvPr id="4" name="">
            <a:extLst xmlns:a="http://schemas.openxmlformats.org/drawingml/2006/main">
              <a:ext uri="{FF2B5EF4-FFF2-40B4-BE49-F238E27FC236}">
                <a16:creationId xmlns:a16="http://schemas.microsoft.com/office/drawing/2014/main" id="{416EFEF2-C670-4C43-9A01-974A541AA15E}"/>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A2D13E5F-E70A-4494-A07A-FA3DE70FFAE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CC75192C-107E-48DF-97C5-5E8437AA1C3C}"/>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25E1D78F-E6CF-4030-8BF2-EA7E8E223D5B}"/>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8" name="">
            <a:extLst xmlns:a="http://schemas.openxmlformats.org/drawingml/2006/main">
              <a:ext uri="{FF2B5EF4-FFF2-40B4-BE49-F238E27FC236}">
                <a16:creationId xmlns:a16="http://schemas.microsoft.com/office/drawing/2014/main" id="{D3994FAD-589F-4BE4-9B66-BD3A8A2EFA8D}"/>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a:t>
            </a:r>
          </a:p>
        </p:txBody>
      </p:sp>
      <p:pic>
        <p:nvPicPr>
          <p:cNvPr id="9" name="">
            <a:extLst xmlns:a="http://schemas.openxmlformats.org/drawingml/2006/main">
              <a:ext uri="{FF2B5EF4-FFF2-40B4-BE49-F238E27FC236}">
                <a16:creationId xmlns:a16="http://schemas.microsoft.com/office/drawing/2014/main" id="{D8BA6FD2-E90E-4AA3-8D73-EBA51D1DA61C}"/>
              </a:ext>
            </a:extLst>
          </p:cNvPr>
          <p:cNvPicPr>
            <a:picLocks xmlns:a="http://schemas.openxmlformats.org/drawingml/2006/main" noChangeAspect="1"/>
          </p:cNvPicPr>
          <p:nvPr/>
        </p:nvPicPr>
        <p:blipFill>
          <a:blip xmlns:r="http://schemas.openxmlformats.org/officeDocument/2006/relationships" xmlns:a="http://schemas.openxmlformats.org/drawingml/2006/main" r:embed="R028dcda62e524534"/>
          <a:stretch xmlns:a="http://schemas.openxmlformats.org/drawingml/2006/main"/>
        </p:blipFill>
        <p:spPr>
          <a:xfrm xmlns:a="http://schemas.openxmlformats.org/drawingml/2006/main">
            <a:off x="616489" y="685800"/>
            <a:ext cx="2148396" cy="9144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36A2859-FFA0-4306-811C-0866BCD973B5}"/>
              </a:ext>
            </a:extLst>
          </p:cNvPr>
          <p:cNvSpPr>
            <a:spLocks xmlns:a="http://schemas.openxmlformats.org/drawingml/2006/main" noGrp="1"/>
          </p:cNvSpPr>
          <p:nvPr/>
        </p:nvSpPr>
        <p:spPr>
          <a:xfrm xmlns:a="http://schemas.openxmlformats.org/drawingml/2006/main">
            <a:off x="600075" y="20193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1">
                <a:solidFill>
                  <a:srgbClr val="C8102E"/>
                </a:solidFill>
                <a:latin typeface="Arial"/>
                <a:ea typeface="Arial"/>
                <a:cs typeface="Arial"/>
              </a:defRPr>
            </a:defPPr>
          </a:lstStyle>
          <a:p xmlns:a="http://schemas.openxmlformats.org/drawingml/2006/main">
            <a:pPr>
              <a:defRPr sz="1275" b="1">
                <a:solidFill>
                  <a:srgbClr val="C8102E"/>
                </a:solidFill>
                <a:latin typeface="Arial"/>
                <a:ea typeface="Arial"/>
                <a:cs typeface="Arial"/>
              </a:defRPr>
            </a:pPr>
            <a:r>
              <a:rPr sz="1275" b="1">
                <a:solidFill>
                  <a:srgbClr val="C8102E"/>
                </a:solidFill>
                <a:latin typeface="Arial"/>
                <a:ea typeface="Arial"/>
                <a:cs typeface="Arial"/>
              </a:rPr>
              <a:t>CONNECTED SAFETY &amp; RESCUE PLATFORM</a:t>
            </a:r>
          </a:p>
        </p:txBody>
      </p:sp>
      <p:sp>
        <p:nvSpPr>
          <p:cNvPr id="11" name="">
            <a:extLst xmlns:a="http://schemas.openxmlformats.org/drawingml/2006/main">
              <a:ext uri="{FF2B5EF4-FFF2-40B4-BE49-F238E27FC236}">
                <a16:creationId xmlns:a16="http://schemas.microsoft.com/office/drawing/2014/main" id="{21FB27C0-EBA5-478F-9629-964E19DAD45B}"/>
              </a:ext>
            </a:extLst>
          </p:cNvPr>
          <p:cNvSpPr>
            <a:spLocks xmlns:a="http://schemas.openxmlformats.org/drawingml/2006/main" noGrp="1"/>
          </p:cNvSpPr>
          <p:nvPr/>
        </p:nvSpPr>
        <p:spPr>
          <a:xfrm xmlns:a="http://schemas.openxmlformats.org/drawingml/2006/main">
            <a:off x="571500" y="251460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5175" b="1">
                <a:solidFill>
                  <a:srgbClr val="C8102E"/>
                </a:solidFill>
                <a:latin typeface="Arial"/>
                <a:ea typeface="Arial"/>
                <a:cs typeface="Arial"/>
              </a:defRPr>
            </a:defPPr>
          </a:lstStyle>
          <a:p xmlns:a="http://schemas.openxmlformats.org/drawingml/2006/main">
            <a:pPr>
              <a:defRPr sz="5175" b="1">
                <a:solidFill>
                  <a:srgbClr val="C8102E"/>
                </a:solidFill>
                <a:latin typeface="Arial"/>
                <a:ea typeface="Arial"/>
                <a:cs typeface="Arial"/>
              </a:defRPr>
            </a:pPr>
            <a:r>
              <a:rPr sz="5175" b="1">
                <a:solidFill>
                  <a:srgbClr val="C8102E"/>
                </a:solidFill>
                <a:latin typeface="Arial"/>
                <a:ea typeface="Arial"/>
                <a:cs typeface="Arial"/>
              </a:rPr>
              <a:t>SmartAlarm</a:t>
            </a:r>
          </a:p>
        </p:txBody>
      </p:sp>
      <p:sp>
        <p:nvSpPr>
          <p:cNvPr id="12" name="">
            <a:extLst xmlns:a="http://schemas.openxmlformats.org/drawingml/2006/main">
              <a:ext uri="{FF2B5EF4-FFF2-40B4-BE49-F238E27FC236}">
                <a16:creationId xmlns:a16="http://schemas.microsoft.com/office/drawing/2014/main" id="{852E1304-8BD6-4A93-A3DB-4CC6012401F2}"/>
              </a:ext>
            </a:extLst>
          </p:cNvPr>
          <p:cNvSpPr>
            <a:spLocks xmlns:a="http://schemas.openxmlformats.org/drawingml/2006/main" noGrp="1"/>
          </p:cNvSpPr>
          <p:nvPr/>
        </p:nvSpPr>
        <p:spPr>
          <a:xfrm xmlns:a="http://schemas.openxmlformats.org/drawingml/2006/main">
            <a:off x="590550" y="3533775"/>
            <a:ext cx="66484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262626"/>
                </a:solidFill>
                <a:latin typeface="Arial"/>
                <a:ea typeface="Arial"/>
                <a:cs typeface="Arial"/>
              </a:defRPr>
            </a:defPPr>
          </a:lstStyle>
          <a:p xmlns:a="http://schemas.openxmlformats.org/drawingml/2006/main">
            <a:pPr>
              <a:defRPr sz="3225" b="1">
                <a:solidFill>
                  <a:srgbClr val="262626"/>
                </a:solidFill>
                <a:latin typeface="Arial"/>
                <a:ea typeface="Arial"/>
                <a:cs typeface="Arial"/>
              </a:defRPr>
            </a:pPr>
            <a:r>
              <a:rPr sz="3225" b="1">
                <a:solidFill>
                  <a:srgbClr val="262626"/>
                </a:solidFill>
                <a:latin typeface="Arial"/>
                <a:ea typeface="Arial"/>
                <a:cs typeface="Arial"/>
              </a:rPr>
              <a:t>Từ cảnh báo đến
hành động cứu hộ</a:t>
            </a:r>
          </a:p>
        </p:txBody>
      </p:sp>
      <p:sp>
        <p:nvSpPr>
          <p:cNvPr id="13" name="">
            <a:extLst xmlns:a="http://schemas.openxmlformats.org/drawingml/2006/main">
              <a:ext uri="{FF2B5EF4-FFF2-40B4-BE49-F238E27FC236}">
                <a16:creationId xmlns:a16="http://schemas.microsoft.com/office/drawing/2014/main" id="{FB974C2A-521E-437D-8285-A325EB0AF37B}"/>
              </a:ext>
            </a:extLst>
          </p:cNvPr>
          <p:cNvSpPr>
            <a:spLocks xmlns:a="http://schemas.openxmlformats.org/drawingml/2006/main" noGrp="1"/>
          </p:cNvSpPr>
          <p:nvPr/>
        </p:nvSpPr>
        <p:spPr>
          <a:xfrm xmlns:a="http://schemas.openxmlformats.org/drawingml/2006/main">
            <a:off x="609600" y="5048250"/>
            <a:ext cx="6572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4D4D4D"/>
                </a:solidFill>
                <a:latin typeface="Arial"/>
                <a:ea typeface="Arial"/>
                <a:cs typeface="Arial"/>
              </a:defRPr>
            </a:defPPr>
          </a:lstStyle>
          <a:p xmlns:a="http://schemas.openxmlformats.org/drawingml/2006/main">
            <a:pPr>
              <a:defRPr sz="1725" b="0">
                <a:solidFill>
                  <a:srgbClr val="4D4D4D"/>
                </a:solidFill>
                <a:latin typeface="Arial"/>
                <a:ea typeface="Arial"/>
                <a:cs typeface="Arial"/>
              </a:defRPr>
            </a:pPr>
            <a:r>
              <a:rPr sz="1725" b="0">
                <a:solidFill>
                  <a:srgbClr val="4D4D4D"/>
                </a:solidFill>
                <a:latin typeface="Arial"/>
                <a:ea typeface="Arial"/>
                <a:cs typeface="Arial"/>
              </a:rPr>
              <a:t>Một nền tảng cho con người, thiết bị
và lực lượng ứng cứu — đa ngành, toàn cầu.</a:t>
            </a:r>
          </a:p>
        </p:txBody>
      </p:sp>
      <p:pic>
        <p:nvPicPr>
          <p:cNvPr id="14" name="">
            <a:extLst xmlns:a="http://schemas.openxmlformats.org/drawingml/2006/main">
              <a:ext uri="{FF2B5EF4-FFF2-40B4-BE49-F238E27FC236}">
                <a16:creationId xmlns:a16="http://schemas.microsoft.com/office/drawing/2014/main" id="{D8443E58-BD5C-4F39-8562-28DAD855AA4C}"/>
              </a:ext>
            </a:extLst>
          </p:cNvPr>
          <p:cNvPicPr>
            <a:picLocks xmlns:a="http://schemas.openxmlformats.org/drawingml/2006/main" noChangeAspect="1"/>
          </p:cNvPicPr>
          <p:nvPr/>
        </p:nvPicPr>
        <p:blipFill>
          <a:blip xmlns:r="http://schemas.openxmlformats.org/officeDocument/2006/relationships" xmlns:a="http://schemas.openxmlformats.org/drawingml/2006/main" r:embed="R3ff440cf32e94963"/>
          <a:srcRect xmlns:a="http://schemas.openxmlformats.org/drawingml/2006/main" l="27255" t="0" r="27255" b="0"/>
          <a:stretch xmlns:a="http://schemas.openxmlformats.org/drawingml/2006/main">
            <a:fillRect l="0" t="0" r="0" b="0"/>
          </a:stretch>
        </p:blipFill>
        <p:spPr>
          <a:xfrm xmlns:a="http://schemas.openxmlformats.org/drawingml/2006/main">
            <a:off x="7524750" y="981075"/>
            <a:ext cx="4095750" cy="50673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FB594C1-98B3-4FC1-B330-5EE27E36071B}"/>
              </a:ext>
            </a:extLst>
          </p:cNvPr>
          <p:cNvSpPr>
            <a:spLocks xmlns:a="http://schemas.openxmlformats.org/drawingml/2006/main" noGrp="1"/>
          </p:cNvSpPr>
          <p:nvPr/>
        </p:nvSpPr>
        <p:spPr>
          <a:xfrm xmlns:a="http://schemas.openxmlformats.org/drawingml/2006/main">
            <a:off x="7524750" y="5638800"/>
            <a:ext cx="4095750" cy="409575"/>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16" name="">
            <a:extLst xmlns:a="http://schemas.openxmlformats.org/drawingml/2006/main">
              <a:ext uri="{FF2B5EF4-FFF2-40B4-BE49-F238E27FC236}">
                <a16:creationId xmlns:a16="http://schemas.microsoft.com/office/drawing/2014/main" id="{A1C5414C-3057-48A7-A696-0E74244F6C10}"/>
              </a:ext>
            </a:extLst>
          </p:cNvPr>
          <p:cNvSpPr>
            <a:spLocks xmlns:a="http://schemas.openxmlformats.org/drawingml/2006/main" noGrp="1"/>
          </p:cNvSpPr>
          <p:nvPr/>
        </p:nvSpPr>
        <p:spPr>
          <a:xfrm xmlns:a="http://schemas.openxmlformats.org/drawingml/2006/main">
            <a:off x="7753350" y="5753100"/>
            <a:ext cx="3695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1">
                <a:solidFill>
                  <a:srgbClr val="FFFFFF"/>
                </a:solidFill>
                <a:latin typeface="Arial"/>
                <a:ea typeface="Arial"/>
                <a:cs typeface="Arial"/>
              </a:defRPr>
            </a:def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TRƯỚC  •  TRONG  •  SAU SỰ CỐ</a:t>
            </a:r>
          </a:p>
        </p:txBody>
      </p:sp>
    </p:spTree>
    <p:extLst>
      <p:ext uri="{BB962C8B-B14F-4D97-AF65-F5344CB8AC3E}">
        <p14:creationId xmlns:p14="http://schemas.microsoft.com/office/powerpoint/2010/main" val="1022066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TẦM NHÌN GIẢI PHÁP</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Nhìn thấy nguy cơ. Nhìn thấy người cần giúp.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Một cảnh báo chỉ có giá trị khi dẫn đến hành động phù hợp, đúng người và đúng nơi.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4"/>
          <a:stretch>
            <a:fillRect/>
          </a:stretch>
        </p:blipFill>
        <p:spPr>
          <a:xfrm>
            <a:off x="566928" y="2399854"/>
            <a:ext cx="4892040" cy="2753235"/>
          </a:xfrm>
          <a:prstGeom prst="rect">
            <a:avLst/>
          </a:prstGeom>
        </p:spPr>
      </p:pic>
      <p:sp xmlns:a="http://schemas.openxmlformats.org/drawingml/2006/main">
        <p:nvSpPr>
          <p:cNvPr id="36" name="Rectangle 35"/>
          <p:cNvSpPr/>
          <p:nvPr/>
        </p:nvSpPr>
        <p:spPr>
          <a:xfrm>
            <a:off x="5705856" y="2011680"/>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5843016" y="213055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Người trong vùng nguy hiểm</a:t>
            </a:r>
          </a:p>
        </p:txBody>
      </p:sp>
      <p:sp xmlns:a="http://schemas.openxmlformats.org/drawingml/2006/main">
        <p:nvSpPr>
          <p:cNvPr id="38" name="TextBox 37"/>
          <p:cNvSpPr txBox="1"/>
          <p:nvPr/>
        </p:nvSpPr>
        <p:spPr>
          <a:xfrm>
            <a:off x="7950525" y="212140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 đâu? Cần ai hỗ trợ?</a:t>
            </a:r>
          </a:p>
        </p:txBody>
      </p:sp>
      <p:sp xmlns:a="http://schemas.openxmlformats.org/drawingml/2006/main">
        <p:nvSpPr>
          <p:cNvPr id="39" name="Rectangle 38"/>
          <p:cNvSpPr/>
          <p:nvPr/>
        </p:nvSpPr>
        <p:spPr>
          <a:xfrm>
            <a:off x="5705856" y="288036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843016" y="299923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Trung tâm điều hành</a:t>
            </a:r>
          </a:p>
        </p:txBody>
      </p:sp>
      <p:sp xmlns:a="http://schemas.openxmlformats.org/drawingml/2006/main">
        <p:nvSpPr>
          <p:cNvPr id="41" name="TextBox 40"/>
          <p:cNvSpPr txBox="1"/>
          <p:nvPr/>
        </p:nvSpPr>
        <p:spPr>
          <a:xfrm>
            <a:off x="7950525" y="299008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Chuyện gì đang xảy ra, ai chưa an toàn?</a:t>
            </a:r>
          </a:p>
        </p:txBody>
      </p:sp>
      <p:sp xmlns:a="http://schemas.openxmlformats.org/drawingml/2006/main">
        <p:nvSpPr>
          <p:cNvPr id="42" name="Rectangle 41"/>
          <p:cNvSpPr/>
          <p:nvPr/>
        </p:nvSpPr>
        <p:spPr>
          <a:xfrm>
            <a:off x="5705856" y="3749039"/>
            <a:ext cx="5907024" cy="78638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5843016" y="3867911"/>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Đội cứu hộ</a:t>
            </a:r>
          </a:p>
        </p:txBody>
      </p:sp>
      <p:sp xmlns:a="http://schemas.openxmlformats.org/drawingml/2006/main">
        <p:nvSpPr>
          <p:cNvPr id="44" name="TextBox 43"/>
          <p:cNvSpPr txBox="1"/>
          <p:nvPr/>
        </p:nvSpPr>
        <p:spPr>
          <a:xfrm>
            <a:off x="7950525" y="385876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Đến vị trí nào, với năng lực gì?</a:t>
            </a:r>
          </a:p>
        </p:txBody>
      </p:sp>
      <p:sp xmlns:a="http://schemas.openxmlformats.org/drawingml/2006/main">
        <p:nvSpPr>
          <p:cNvPr id="45" name="Rectangle 44"/>
          <p:cNvSpPr/>
          <p:nvPr/>
        </p:nvSpPr>
        <p:spPr>
          <a:xfrm>
            <a:off x="5705856" y="4617720"/>
            <a:ext cx="5907024" cy="7863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5843016" y="4736592"/>
            <a:ext cx="2067458" cy="66751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Gia đình &amp; người chăm sóc</a:t>
            </a:r>
          </a:p>
        </p:txBody>
      </p:sp>
      <p:sp xmlns:a="http://schemas.openxmlformats.org/drawingml/2006/main">
        <p:nvSpPr>
          <p:cNvPr id="47" name="TextBox 46"/>
          <p:cNvSpPr txBox="1"/>
          <p:nvPr/>
        </p:nvSpPr>
        <p:spPr>
          <a:xfrm>
            <a:off x="7950525" y="4727448"/>
            <a:ext cx="3485144" cy="69494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thân đã được tiếp cận chưa?</a:t>
            </a:r>
          </a:p>
        </p:txBody>
      </p:sp>
      <p:sp xmlns:a="http://schemas.openxmlformats.org/drawingml/2006/main">
        <p:nvSpPr>
          <p:cNvPr id="48" name="TextBox 47"/>
          <p:cNvSpPr txBox="1"/>
          <p:nvPr/>
        </p:nvSpPr>
        <p:spPr>
          <a:xfrm>
            <a:off x="731520" y="5687568"/>
            <a:ext cx="10789920" cy="320040"/>
          </a:xfrm>
          <a:prstGeom prst="rect">
            <a:avLst/>
          </a:prstGeom>
          <a:noFill/>
        </p:spPr>
        <p:txBody>
          <a:bodyPr wrap="square" lIns="0" rIns="0" tIns="0" bIns="0">
            <a:spAutoFit/>
          </a:bodyPr>
          <a:lstStyle/>
          <a:p>
            <a:pPr>
              <a:spcBef>
                <a:spcPts val="0"/>
              </a:spcBef>
              <a:spcAft>
                <a:spcPts val="500"/>
              </a:spcAft>
              <a:defRPr sz="2200" b="1">
                <a:solidFill>
                  <a:srgbClr val="C8102E"/>
                </a:solidFill>
                <a:latin typeface="Arial"/>
              </a:defRPr>
            </a:pPr>
            <a:r>
              <a:t>Không có SOS ≠ Không cần cứu hộ</a:t>
            </a:r>
          </a:p>
        </p:txBody>
      </p:sp>
    </p:spTree>
    <p:extLst>
      <p:ext uri="{BB962C8B-B14F-4D97-AF65-F5344CB8AC3E}">
        <p14:creationId xmlns:p14="http://schemas.microsoft.com/office/powerpoint/2010/main" val="18513043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overview.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TOÀN BỘ GIẢI PHÁP • Phát hiện → Hiểu tình huống → Hướng dẫn → Tiếp cận → Cứu hộ → Phối hợp → Xác nhận</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3</a:t>
            </a:r>
          </a:p>
        </p:txBody>
      </p:sp>
    </p:spTree>
    <p:extLst>
      <p:ext uri="{BB962C8B-B14F-4D97-AF65-F5344CB8AC3E}">
        <p14:creationId xmlns:p14="http://schemas.microsoft.com/office/powerpoint/2010/main" val="16482517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LUỒNG GIÁ TRỊ</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luồng phối hợp, bảy điểm kiểm soát.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Mỗi bước trả lời một câu hỏi để thông tin không bị đứt đoạn giữa các hệ thống.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4</a:t>
            </a:r>
          </a:p>
        </p:txBody>
      </p:sp>
      <p:sp xmlns:a="http://schemas.openxmlformats.org/drawingml/2006/main">
        <p:nvSpPr>
          <p:cNvPr id="35" name="Rounded Rectangle 34"/>
          <p:cNvSpPr/>
          <p:nvPr/>
        </p:nvSpPr>
        <p:spPr>
          <a:xfrm>
            <a:off x="621792" y="194767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0664" y="2029967"/>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1</a:t>
            </a:r>
          </a:p>
        </p:txBody>
      </p:sp>
      <p:sp xmlns:a="http://schemas.openxmlformats.org/drawingml/2006/main">
        <p:nvSpPr>
          <p:cNvPr id="37" name="TextBox 36"/>
          <p:cNvSpPr txBox="1"/>
          <p:nvPr/>
        </p:nvSpPr>
        <p:spPr>
          <a:xfrm>
            <a:off x="1197864" y="2002536"/>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PHÁT HIỆN</a:t>
            </a:r>
          </a:p>
        </p:txBody>
      </p:sp>
      <p:sp xmlns:a="http://schemas.openxmlformats.org/drawingml/2006/main">
        <p:nvSpPr>
          <p:cNvPr id="38" name="TextBox 37"/>
          <p:cNvSpPr txBox="1"/>
          <p:nvPr/>
        </p:nvSpPr>
        <p:spPr>
          <a:xfrm>
            <a:off x="3657600" y="1984248"/>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Có tín hiệu gì?</a:t>
            </a:r>
          </a:p>
        </p:txBody>
      </p:sp>
      <p:sp xmlns:a="http://schemas.openxmlformats.org/drawingml/2006/main">
        <p:nvSpPr>
          <p:cNvPr id="39" name="TextBox 38"/>
          <p:cNvSpPr txBox="1"/>
          <p:nvPr/>
        </p:nvSpPr>
        <p:spPr>
          <a:xfrm>
            <a:off x="6903720" y="1993391"/>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Camera • IoT • wearable • SOS</a:t>
            </a:r>
          </a:p>
        </p:txBody>
      </p:sp>
      <p:sp xmlns:a="http://schemas.openxmlformats.org/drawingml/2006/main">
        <p:nvSpPr>
          <p:cNvPr id="40" name="Rounded Rectangle 39"/>
          <p:cNvSpPr/>
          <p:nvPr/>
        </p:nvSpPr>
        <p:spPr>
          <a:xfrm>
            <a:off x="621792" y="251460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740664" y="259689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2</a:t>
            </a:r>
          </a:p>
        </p:txBody>
      </p:sp>
      <p:sp xmlns:a="http://schemas.openxmlformats.org/drawingml/2006/main">
        <p:nvSpPr>
          <p:cNvPr id="42" name="TextBox 41"/>
          <p:cNvSpPr txBox="1"/>
          <p:nvPr/>
        </p:nvSpPr>
        <p:spPr>
          <a:xfrm>
            <a:off x="1197864" y="2569464"/>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HIỂU TÌNH HUỐNG</a:t>
            </a:r>
          </a:p>
        </p:txBody>
      </p:sp>
      <p:sp xmlns:a="http://schemas.openxmlformats.org/drawingml/2006/main">
        <p:nvSpPr>
          <p:cNvPr id="43" name="TextBox 42"/>
          <p:cNvSpPr txBox="1"/>
          <p:nvPr/>
        </p:nvSpPr>
        <p:spPr>
          <a:xfrm>
            <a:off x="3657600" y="2551176"/>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ở đâu, mức nào?</a:t>
            </a:r>
          </a:p>
        </p:txBody>
      </p:sp>
      <p:sp xmlns:a="http://schemas.openxmlformats.org/drawingml/2006/main">
        <p:nvSpPr>
          <p:cNvPr id="44" name="TextBox 43"/>
          <p:cNvSpPr txBox="1"/>
          <p:nvPr/>
        </p:nvSpPr>
        <p:spPr>
          <a:xfrm>
            <a:off x="6903720" y="2560320"/>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Bằng chứng • vị trí • thời điểm</a:t>
            </a:r>
          </a:p>
        </p:txBody>
      </p:sp>
      <p:sp xmlns:a="http://schemas.openxmlformats.org/drawingml/2006/main">
        <p:nvSpPr>
          <p:cNvPr id="45" name="Rounded Rectangle 44"/>
          <p:cNvSpPr/>
          <p:nvPr/>
        </p:nvSpPr>
        <p:spPr>
          <a:xfrm>
            <a:off x="621792" y="3081528"/>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740664" y="3163824"/>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3</a:t>
            </a:r>
          </a:p>
        </p:txBody>
      </p:sp>
      <p:sp xmlns:a="http://schemas.openxmlformats.org/drawingml/2006/main">
        <p:nvSpPr>
          <p:cNvPr id="47" name="TextBox 46"/>
          <p:cNvSpPr txBox="1"/>
          <p:nvPr/>
        </p:nvSpPr>
        <p:spPr>
          <a:xfrm>
            <a:off x="1197864" y="3136392"/>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HƯỚNG DẪN</a:t>
            </a:r>
          </a:p>
        </p:txBody>
      </p:sp>
      <p:sp xmlns:a="http://schemas.openxmlformats.org/drawingml/2006/main">
        <p:nvSpPr>
          <p:cNvPr id="48" name="TextBox 47"/>
          <p:cNvSpPr txBox="1"/>
          <p:nvPr/>
        </p:nvSpPr>
        <p:spPr>
          <a:xfrm>
            <a:off x="3657600" y="3118104"/>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Đi đâu, làm gì?</a:t>
            </a:r>
          </a:p>
        </p:txBody>
      </p:sp>
      <p:sp xmlns:a="http://schemas.openxmlformats.org/drawingml/2006/main">
        <p:nvSpPr>
          <p:cNvPr id="49" name="TextBox 48"/>
          <p:cNvSpPr txBox="1"/>
          <p:nvPr/>
        </p:nvSpPr>
        <p:spPr>
          <a:xfrm>
            <a:off x="6903720" y="3127248"/>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Bản đồ • voice • tiếp cận phù hợp</a:t>
            </a:r>
          </a:p>
        </p:txBody>
      </p:sp>
      <p:sp xmlns:a="http://schemas.openxmlformats.org/drawingml/2006/main">
        <p:nvSpPr>
          <p:cNvPr id="50" name="Rounded Rectangle 49"/>
          <p:cNvSpPr/>
          <p:nvPr/>
        </p:nvSpPr>
        <p:spPr>
          <a:xfrm>
            <a:off x="621792" y="3648456"/>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40664" y="3730752"/>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4</a:t>
            </a:r>
          </a:p>
        </p:txBody>
      </p:sp>
      <p:sp xmlns:a="http://schemas.openxmlformats.org/drawingml/2006/main">
        <p:nvSpPr>
          <p:cNvPr id="52" name="TextBox 51"/>
          <p:cNvSpPr txBox="1"/>
          <p:nvPr/>
        </p:nvSpPr>
        <p:spPr>
          <a:xfrm>
            <a:off x="1197864" y="3703320"/>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TIẾP CẬN</a:t>
            </a:r>
          </a:p>
        </p:txBody>
      </p:sp>
      <p:sp xmlns:a="http://schemas.openxmlformats.org/drawingml/2006/main">
        <p:nvSpPr>
          <p:cNvPr id="53" name="TextBox 52"/>
          <p:cNvSpPr txBox="1"/>
          <p:nvPr/>
        </p:nvSpPr>
        <p:spPr>
          <a:xfrm>
            <a:off x="3657600" y="3685031"/>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chưa nhận được?</a:t>
            </a:r>
          </a:p>
        </p:txBody>
      </p:sp>
      <p:sp xmlns:a="http://schemas.openxmlformats.org/drawingml/2006/main">
        <p:nvSpPr>
          <p:cNvPr id="54" name="TextBox 53"/>
          <p:cNvSpPr txBox="1"/>
          <p:nvPr/>
        </p:nvSpPr>
        <p:spPr>
          <a:xfrm>
            <a:off x="6903720" y="3694176"/>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App • loa • SMS • phương tiện</a:t>
            </a:r>
          </a:p>
        </p:txBody>
      </p:sp>
      <p:sp xmlns:a="http://schemas.openxmlformats.org/drawingml/2006/main">
        <p:nvSpPr>
          <p:cNvPr id="55" name="Rounded Rectangle 54"/>
          <p:cNvSpPr/>
          <p:nvPr/>
        </p:nvSpPr>
        <p:spPr>
          <a:xfrm>
            <a:off x="621792" y="4215383"/>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740664" y="4297679"/>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5</a:t>
            </a:r>
          </a:p>
        </p:txBody>
      </p:sp>
      <p:sp xmlns:a="http://schemas.openxmlformats.org/drawingml/2006/main">
        <p:nvSpPr>
          <p:cNvPr id="57" name="TextBox 56"/>
          <p:cNvSpPr txBox="1"/>
          <p:nvPr/>
        </p:nvSpPr>
        <p:spPr>
          <a:xfrm>
            <a:off x="1197864" y="4270247"/>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CỨU HỘ CHỦ ĐỘNG</a:t>
            </a:r>
          </a:p>
        </p:txBody>
      </p:sp>
      <p:sp xmlns:a="http://schemas.openxmlformats.org/drawingml/2006/main">
        <p:nvSpPr>
          <p:cNvPr id="58" name="TextBox 57"/>
          <p:cNvSpPr txBox="1"/>
          <p:nvPr/>
        </p:nvSpPr>
        <p:spPr>
          <a:xfrm>
            <a:off x="3657600" y="4251959"/>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khó tự thoát?</a:t>
            </a:r>
          </a:p>
        </p:txBody>
      </p:sp>
      <p:sp xmlns:a="http://schemas.openxmlformats.org/drawingml/2006/main">
        <p:nvSpPr>
          <p:cNvPr id="59" name="TextBox 58"/>
          <p:cNvSpPr txBox="1"/>
          <p:nvPr/>
        </p:nvSpPr>
        <p:spPr>
          <a:xfrm>
            <a:off x="6903720" y="4261103"/>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Hiện diện • nhu cầu hỗ trợ</a:t>
            </a:r>
          </a:p>
        </p:txBody>
      </p:sp>
      <p:sp xmlns:a="http://schemas.openxmlformats.org/drawingml/2006/main">
        <p:nvSpPr>
          <p:cNvPr id="60" name="Rounded Rectangle 59"/>
          <p:cNvSpPr/>
          <p:nvPr/>
        </p:nvSpPr>
        <p:spPr>
          <a:xfrm>
            <a:off x="621792" y="4782312"/>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1" name="TextBox 60"/>
          <p:cNvSpPr txBox="1"/>
          <p:nvPr/>
        </p:nvSpPr>
        <p:spPr>
          <a:xfrm>
            <a:off x="740664" y="4864608"/>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6</a:t>
            </a:r>
          </a:p>
        </p:txBody>
      </p:sp>
      <p:sp xmlns:a="http://schemas.openxmlformats.org/drawingml/2006/main">
        <p:nvSpPr>
          <p:cNvPr id="62" name="TextBox 61"/>
          <p:cNvSpPr txBox="1"/>
          <p:nvPr/>
        </p:nvSpPr>
        <p:spPr>
          <a:xfrm>
            <a:off x="1197864" y="4837176"/>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ĐIỀU PHỐI</a:t>
            </a:r>
          </a:p>
        </p:txBody>
      </p:sp>
      <p:sp xmlns:a="http://schemas.openxmlformats.org/drawingml/2006/main">
        <p:nvSpPr>
          <p:cNvPr id="63" name="TextBox 62"/>
          <p:cNvSpPr txBox="1"/>
          <p:nvPr/>
        </p:nvSpPr>
        <p:spPr>
          <a:xfrm>
            <a:off x="3657600" y="4818888"/>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chịu trách nhiệm?</a:t>
            </a:r>
          </a:p>
        </p:txBody>
      </p:sp>
      <p:sp xmlns:a="http://schemas.openxmlformats.org/drawingml/2006/main">
        <p:nvSpPr>
          <p:cNvPr id="64" name="TextBox 63"/>
          <p:cNvSpPr txBox="1"/>
          <p:nvPr/>
        </p:nvSpPr>
        <p:spPr>
          <a:xfrm>
            <a:off x="6903720" y="4828032"/>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Phân công • tiếp nhận • bàn giao</a:t>
            </a:r>
          </a:p>
        </p:txBody>
      </p:sp>
      <p:sp xmlns:a="http://schemas.openxmlformats.org/drawingml/2006/main">
        <p:nvSpPr>
          <p:cNvPr id="65" name="Rounded Rectangle 64"/>
          <p:cNvSpPr/>
          <p:nvPr/>
        </p:nvSpPr>
        <p:spPr>
          <a:xfrm>
            <a:off x="621792" y="5349240"/>
            <a:ext cx="393192" cy="393192"/>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6" name="TextBox 65"/>
          <p:cNvSpPr txBox="1"/>
          <p:nvPr/>
        </p:nvSpPr>
        <p:spPr>
          <a:xfrm>
            <a:off x="740664" y="5431536"/>
            <a:ext cx="164592" cy="210312"/>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7</a:t>
            </a:r>
          </a:p>
        </p:txBody>
      </p:sp>
      <p:sp xmlns:a="http://schemas.openxmlformats.org/drawingml/2006/main">
        <p:nvSpPr>
          <p:cNvPr id="67" name="TextBox 66"/>
          <p:cNvSpPr txBox="1"/>
          <p:nvPr/>
        </p:nvSpPr>
        <p:spPr>
          <a:xfrm>
            <a:off x="1197864" y="5404103"/>
            <a:ext cx="2286000" cy="274320"/>
          </a:xfrm>
          <a:prstGeom prst="rect">
            <a:avLst/>
          </a:prstGeom>
          <a:noFill/>
        </p:spPr>
        <p:txBody>
          <a:bodyPr wrap="square" lIns="0" rIns="0" tIns="0" bIns="0">
            <a:spAutoFit/>
          </a:bodyPr>
          <a:lstStyle/>
          <a:p>
            <a:pPr>
              <a:spcBef>
                <a:spcPts val="0"/>
              </a:spcBef>
              <a:spcAft>
                <a:spcPts val="500"/>
              </a:spcAft>
              <a:defRPr sz="1500" b="1">
                <a:solidFill>
                  <a:srgbClr val="C8102E"/>
                </a:solidFill>
                <a:latin typeface="Arial"/>
              </a:defRPr>
            </a:pPr>
            <a:r>
              <a:t>XÁC NHẬN</a:t>
            </a:r>
          </a:p>
        </p:txBody>
      </p:sp>
      <p:sp xmlns:a="http://schemas.openxmlformats.org/drawingml/2006/main">
        <p:nvSpPr>
          <p:cNvPr id="68" name="TextBox 67"/>
          <p:cNvSpPr txBox="1"/>
          <p:nvPr/>
        </p:nvSpPr>
        <p:spPr>
          <a:xfrm>
            <a:off x="3657600" y="5385816"/>
            <a:ext cx="2971800" cy="3657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Ai thực sự an toàn?</a:t>
            </a:r>
          </a:p>
        </p:txBody>
      </p:sp>
      <p:sp xmlns:a="http://schemas.openxmlformats.org/drawingml/2006/main">
        <p:nvSpPr>
          <p:cNvPr id="69" name="TextBox 68"/>
          <p:cNvSpPr txBox="1"/>
          <p:nvPr/>
        </p:nvSpPr>
        <p:spPr>
          <a:xfrm>
            <a:off x="6903720" y="5394959"/>
            <a:ext cx="4617720" cy="338328"/>
          </a:xfrm>
          <a:prstGeom prst="rect">
            <a:avLst/>
          </a:prstGeom>
          <a:noFill/>
        </p:spPr>
        <p:txBody>
          <a:bodyPr wrap="square" lIns="0" rIns="0" tIns="0" bIns="0">
            <a:spAutoFit/>
          </a:bodyPr>
          <a:lstStyle/>
          <a:p>
            <a:pPr>
              <a:spcBef>
                <a:spcPts val="0"/>
              </a:spcBef>
              <a:spcAft>
                <a:spcPts val="500"/>
              </a:spcAft>
              <a:defRPr sz="1500" b="0">
                <a:solidFill>
                  <a:srgbClr val="52616B"/>
                </a:solidFill>
                <a:latin typeface="Arial"/>
              </a:defRPr>
            </a:pPr>
            <a:r>
              <a:t>Tự báo • đội xác nhận • người thân</a:t>
            </a:r>
          </a:p>
        </p:txBody>
      </p:sp>
    </p:spTree>
    <p:extLst>
      <p:ext uri="{BB962C8B-B14F-4D97-AF65-F5344CB8AC3E}">
        <p14:creationId xmlns:p14="http://schemas.microsoft.com/office/powerpoint/2010/main" val="11493907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QUỐC TẾ • ĐA NGÀNH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lõi an toàn. Nhiều bối cảnh vận hành.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Tổ chức và địa điểm dùng chung nền tảng; mỗi ngành có dữ liệu, quy trình và tích hợp riêng.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5</a:t>
            </a:r>
          </a:p>
        </p:txBody>
      </p:sp>
      <p:sp xmlns:a="http://schemas.openxmlformats.org/drawingml/2006/main">
        <p:nvSpPr>
          <p:cNvPr id="35" name="Rectangle 34"/>
          <p:cNvSpPr/>
          <p:nvPr/>
        </p:nvSpPr>
        <p:spPr>
          <a:xfrm>
            <a:off x="6126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680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01</a:t>
            </a:r>
          </a:p>
        </p:txBody>
      </p:sp>
      <p:sp xmlns:a="http://schemas.openxmlformats.org/drawingml/2006/main">
        <p:nvSpPr>
          <p:cNvPr id="37" name="TextBox 36"/>
          <p:cNvSpPr txBox="1"/>
          <p:nvPr/>
        </p:nvSpPr>
        <p:spPr>
          <a:xfrm>
            <a:off x="14173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Tòa nhà &amp; khu đô thị</a:t>
            </a:r>
          </a:p>
        </p:txBody>
      </p:sp>
      <p:sp xmlns:a="http://schemas.openxmlformats.org/drawingml/2006/main">
        <p:nvSpPr>
          <p:cNvPr id="38" name="TextBox 37"/>
          <p:cNvSpPr txBox="1"/>
          <p:nvPr/>
        </p:nvSpPr>
        <p:spPr>
          <a:xfrm>
            <a:off x="7772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Cháy, thoát hiểm, kiểm đếm người.</a:t>
            </a:r>
          </a:p>
        </p:txBody>
      </p:sp>
      <p:sp xmlns:a="http://schemas.openxmlformats.org/drawingml/2006/main">
        <p:nvSpPr>
          <p:cNvPr id="39" name="Rectangle 38"/>
          <p:cNvSpPr/>
          <p:nvPr/>
        </p:nvSpPr>
        <p:spPr>
          <a:xfrm>
            <a:off x="44988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6542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02</a:t>
            </a:r>
          </a:p>
        </p:txBody>
      </p:sp>
      <p:sp xmlns:a="http://schemas.openxmlformats.org/drawingml/2006/main">
        <p:nvSpPr>
          <p:cNvPr id="41" name="TextBox 40"/>
          <p:cNvSpPr txBox="1"/>
          <p:nvPr/>
        </p:nvSpPr>
        <p:spPr>
          <a:xfrm>
            <a:off x="53035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Nhà máy &amp; logistics</a:t>
            </a:r>
          </a:p>
        </p:txBody>
      </p:sp>
      <p:sp xmlns:a="http://schemas.openxmlformats.org/drawingml/2006/main">
        <p:nvSpPr>
          <p:cNvPr id="42" name="TextBox 41"/>
          <p:cNvSpPr txBox="1"/>
          <p:nvPr/>
        </p:nvSpPr>
        <p:spPr>
          <a:xfrm>
            <a:off x="46634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Vùng nguy hiểm, người làm việc đơn lẻ.</a:t>
            </a:r>
          </a:p>
        </p:txBody>
      </p:sp>
      <p:sp xmlns:a="http://schemas.openxmlformats.org/drawingml/2006/main">
        <p:nvSpPr>
          <p:cNvPr id="43" name="Rectangle 42"/>
          <p:cNvSpPr/>
          <p:nvPr/>
        </p:nvSpPr>
        <p:spPr>
          <a:xfrm>
            <a:off x="8385048" y="1993392"/>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540496" y="2121408"/>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03</a:t>
            </a:r>
          </a:p>
        </p:txBody>
      </p:sp>
      <p:sp xmlns:a="http://schemas.openxmlformats.org/drawingml/2006/main">
        <p:nvSpPr>
          <p:cNvPr id="45" name="TextBox 44"/>
          <p:cNvSpPr txBox="1"/>
          <p:nvPr/>
        </p:nvSpPr>
        <p:spPr>
          <a:xfrm>
            <a:off x="9189720" y="2157984"/>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Chăm sóc &amp; cộng đồng</a:t>
            </a:r>
          </a:p>
        </p:txBody>
      </p:sp>
      <p:sp xmlns:a="http://schemas.openxmlformats.org/drawingml/2006/main">
        <p:nvSpPr>
          <p:cNvPr id="46" name="TextBox 45"/>
          <p:cNvSpPr txBox="1"/>
          <p:nvPr/>
        </p:nvSpPr>
        <p:spPr>
          <a:xfrm>
            <a:off x="8549640" y="2907792"/>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Té ngã, người cần hỗ trợ, caregiver.</a:t>
            </a:r>
          </a:p>
        </p:txBody>
      </p:sp>
      <p:sp xmlns:a="http://schemas.openxmlformats.org/drawingml/2006/main">
        <p:nvSpPr>
          <p:cNvPr id="47" name="Rectangle 46"/>
          <p:cNvSpPr/>
          <p:nvPr/>
        </p:nvSpPr>
        <p:spPr>
          <a:xfrm>
            <a:off x="6126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680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04</a:t>
            </a:r>
          </a:p>
        </p:txBody>
      </p:sp>
      <p:sp xmlns:a="http://schemas.openxmlformats.org/drawingml/2006/main">
        <p:nvSpPr>
          <p:cNvPr id="49" name="TextBox 48"/>
          <p:cNvSpPr txBox="1"/>
          <p:nvPr/>
        </p:nvSpPr>
        <p:spPr>
          <a:xfrm>
            <a:off x="14173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Giao thông &amp; đội xe</a:t>
            </a:r>
          </a:p>
        </p:txBody>
      </p:sp>
      <p:sp xmlns:a="http://schemas.openxmlformats.org/drawingml/2006/main">
        <p:nvSpPr>
          <p:cNvPr id="50" name="TextBox 49"/>
          <p:cNvSpPr txBox="1"/>
          <p:nvPr/>
        </p:nvSpPr>
        <p:spPr>
          <a:xfrm>
            <a:off x="7772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Va chạm, vị trí tuyến đường, phối hợp.</a:t>
            </a:r>
          </a:p>
        </p:txBody>
      </p:sp>
      <p:sp xmlns:a="http://schemas.openxmlformats.org/drawingml/2006/main">
        <p:nvSpPr>
          <p:cNvPr id="51" name="Rectangle 50"/>
          <p:cNvSpPr/>
          <p:nvPr/>
        </p:nvSpPr>
        <p:spPr>
          <a:xfrm>
            <a:off x="44988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6542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05</a:t>
            </a:r>
          </a:p>
        </p:txBody>
      </p:sp>
      <p:sp xmlns:a="http://schemas.openxmlformats.org/drawingml/2006/main">
        <p:nvSpPr>
          <p:cNvPr id="53" name="TextBox 52"/>
          <p:cNvSpPr txBox="1"/>
          <p:nvPr/>
        </p:nvSpPr>
        <p:spPr>
          <a:xfrm>
            <a:off x="53035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Trường học &amp; sự kiện</a:t>
            </a:r>
          </a:p>
        </p:txBody>
      </p:sp>
      <p:sp xmlns:a="http://schemas.openxmlformats.org/drawingml/2006/main">
        <p:nvSpPr>
          <p:cNvPr id="54" name="TextBox 53"/>
          <p:cNvSpPr txBox="1"/>
          <p:nvPr/>
        </p:nvSpPr>
        <p:spPr>
          <a:xfrm>
            <a:off x="46634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Nhóm người, tập kết, người giám hộ.</a:t>
            </a:r>
          </a:p>
        </p:txBody>
      </p:sp>
      <p:sp xmlns:a="http://schemas.openxmlformats.org/drawingml/2006/main">
        <p:nvSpPr>
          <p:cNvPr id="55" name="Rectangle 54"/>
          <p:cNvSpPr/>
          <p:nvPr/>
        </p:nvSpPr>
        <p:spPr>
          <a:xfrm>
            <a:off x="8385048" y="3858768"/>
            <a:ext cx="3639312" cy="160020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8540496" y="3986784"/>
            <a:ext cx="502920" cy="365760"/>
          </a:xfrm>
          <a:prstGeom prst="rect">
            <a:avLst/>
          </a:prstGeom>
          <a:noFill/>
        </p:spPr>
        <p:txBody>
          <a:bodyPr wrap="square" lIns="0" rIns="0" tIns="0" bIns="0">
            <a:spAutoFit/>
          </a:bodyPr>
          <a:lstStyle/>
          <a:p>
            <a:pPr>
              <a:spcBef>
                <a:spcPts val="0"/>
              </a:spcBef>
              <a:spcAft>
                <a:spcPts val="500"/>
              </a:spcAft>
              <a:defRPr sz="2300" b="0">
                <a:solidFill>
                  <a:srgbClr val="C8102E"/>
                </a:solidFill>
                <a:latin typeface="Arial"/>
              </a:defRPr>
            </a:pPr>
            <a:r>
              <a:t>06</a:t>
            </a:r>
          </a:p>
        </p:txBody>
      </p:sp>
      <p:sp xmlns:a="http://schemas.openxmlformats.org/drawingml/2006/main">
        <p:nvSpPr>
          <p:cNvPr id="57" name="TextBox 56"/>
          <p:cNvSpPr txBox="1"/>
          <p:nvPr/>
        </p:nvSpPr>
        <p:spPr>
          <a:xfrm>
            <a:off x="9189720" y="4023360"/>
            <a:ext cx="2651760" cy="484632"/>
          </a:xfrm>
          <a:prstGeom prst="rect">
            <a:avLst/>
          </a:prstGeom>
          <a:noFill/>
        </p:spPr>
        <p:txBody>
          <a:bodyPr wrap="square" lIns="0" rIns="0" tIns="0" bIns="0">
            <a:spAutoFit/>
          </a:bodyPr>
          <a:lstStyle/>
          <a:p>
            <a:pPr>
              <a:spcBef>
                <a:spcPts val="0"/>
              </a:spcBef>
              <a:spcAft>
                <a:spcPts val="500"/>
              </a:spcAft>
              <a:defRPr sz="1800" b="1">
                <a:solidFill>
                  <a:srgbClr val="20252B"/>
                </a:solidFill>
                <a:latin typeface="Arial"/>
              </a:defRPr>
            </a:pPr>
            <a:r>
              <a:t>Đô thị &amp; thiên tai</a:t>
            </a:r>
          </a:p>
        </p:txBody>
      </p:sp>
      <p:sp xmlns:a="http://schemas.openxmlformats.org/drawingml/2006/main">
        <p:nvSpPr>
          <p:cNvPr id="58" name="TextBox 57"/>
          <p:cNvSpPr txBox="1"/>
          <p:nvPr/>
        </p:nvSpPr>
        <p:spPr>
          <a:xfrm>
            <a:off x="8549640" y="4773168"/>
            <a:ext cx="3291840" cy="484632"/>
          </a:xfrm>
          <a:prstGeom prst="rect">
            <a:avLst/>
          </a:prstGeom>
          <a:noFill/>
        </p:spPr>
        <p:txBody>
          <a:bodyPr wrap="square" lIns="0" rIns="0" tIns="0" bIns="0">
            <a:spAutoFit/>
          </a:bodyPr>
          <a:lstStyle/>
          <a:p>
            <a:pPr>
              <a:spcBef>
                <a:spcPts val="0"/>
              </a:spcBef>
              <a:spcAft>
                <a:spcPts val="500"/>
              </a:spcAft>
              <a:defRPr sz="1600" b="0">
                <a:solidFill>
                  <a:srgbClr val="52616B"/>
                </a:solidFill>
                <a:latin typeface="Arial"/>
              </a:defRPr>
            </a:pPr>
            <a:r>
              <a:t>Vùng ảnh hưởng, trú ẩn, nhiều đơn vị.</a:t>
            </a:r>
          </a:p>
        </p:txBody>
      </p:sp>
    </p:spTree>
    <p:extLst>
      <p:ext uri="{BB962C8B-B14F-4D97-AF65-F5344CB8AC3E}">
        <p14:creationId xmlns:p14="http://schemas.microsoft.com/office/powerpoint/2010/main" val="169916531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MÔ HÌNH VẬN HÀNH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Chuẩn bị trước. Phối hợp trong. Xác nhận sau.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Một vòng đời liên tục, từ khảo sát địa điểm đến diễn tập và cải tiến.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6</a:t>
            </a:r>
          </a:p>
        </p:txBody>
      </p:sp>
      <p:sp xmlns:a="http://schemas.openxmlformats.org/drawingml/2006/main">
        <p:nvSpPr>
          <p:cNvPr id="35" name="Rectangle 34"/>
          <p:cNvSpPr/>
          <p:nvPr/>
        </p:nvSpPr>
        <p:spPr>
          <a:xfrm>
            <a:off x="621792"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13232"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TRƯỚC</a:t>
            </a:r>
          </a:p>
        </p:txBody>
      </p:sp>
      <p:sp xmlns:a="http://schemas.openxmlformats.org/drawingml/2006/main">
        <p:nvSpPr>
          <p:cNvPr id="37" name="TextBox 36"/>
          <p:cNvSpPr txBox="1"/>
          <p:nvPr/>
        </p:nvSpPr>
        <p:spPr>
          <a:xfrm>
            <a:off x="658368"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Bản đồ &amp; thiết bị</a:t>
            </a:r>
          </a:p>
          <a:p>
            <a:pPr>
              <a:spcBef>
                <a:spcPts val="0"/>
              </a:spcBef>
              <a:spcAft>
                <a:spcPts val="500"/>
              </a:spcAft>
              <a:defRPr sz="1600" b="0">
                <a:solidFill>
                  <a:srgbClr val="20252B"/>
                </a:solidFill>
                <a:latin typeface="Arial"/>
              </a:defRPr>
            </a:pPr>
            <a:r>
              <a:t>Hồ sơ hỗ trợ</a:t>
            </a:r>
          </a:p>
          <a:p>
            <a:pPr>
              <a:spcBef>
                <a:spcPts val="0"/>
              </a:spcBef>
              <a:spcAft>
                <a:spcPts val="500"/>
              </a:spcAft>
              <a:defRPr sz="1600" b="0">
                <a:solidFill>
                  <a:srgbClr val="20252B"/>
                </a:solidFill>
                <a:latin typeface="Arial"/>
              </a:defRPr>
            </a:pPr>
            <a:r>
              <a:t>Người trực &amp; diễn tập</a:t>
            </a:r>
          </a:p>
        </p:txBody>
      </p:sp>
      <p:sp xmlns:a="http://schemas.openxmlformats.org/drawingml/2006/main">
        <p:nvSpPr>
          <p:cNvPr id="38" name="Chevron 37"/>
          <p:cNvSpPr/>
          <p:nvPr/>
        </p:nvSpPr>
        <p:spPr>
          <a:xfrm>
            <a:off x="4168140"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4346448" y="2148840"/>
            <a:ext cx="3523488"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437887"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TRONG</a:t>
            </a:r>
          </a:p>
        </p:txBody>
      </p:sp>
      <p:sp xmlns:a="http://schemas.openxmlformats.org/drawingml/2006/main">
        <p:nvSpPr>
          <p:cNvPr id="41" name="TextBox 40"/>
          <p:cNvSpPr txBox="1"/>
          <p:nvPr/>
        </p:nvSpPr>
        <p:spPr>
          <a:xfrm>
            <a:off x="4383024"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Xác minh &amp; cảnh báo</a:t>
            </a:r>
          </a:p>
          <a:p>
            <a:pPr>
              <a:spcBef>
                <a:spcPts val="0"/>
              </a:spcBef>
              <a:spcAft>
                <a:spcPts val="500"/>
              </a:spcAft>
              <a:defRPr sz="1600" b="0">
                <a:solidFill>
                  <a:srgbClr val="20252B"/>
                </a:solidFill>
                <a:latin typeface="Arial"/>
              </a:defRPr>
            </a:pPr>
            <a:r>
              <a:t>Dẫn đường &amp; cứu hộ</a:t>
            </a:r>
          </a:p>
          <a:p>
            <a:pPr>
              <a:spcBef>
                <a:spcPts val="0"/>
              </a:spcBef>
              <a:spcAft>
                <a:spcPts val="500"/>
              </a:spcAft>
              <a:defRPr sz="1600" b="0">
                <a:solidFill>
                  <a:srgbClr val="20252B"/>
                </a:solidFill>
                <a:latin typeface="Arial"/>
              </a:defRPr>
            </a:pPr>
            <a:r>
              <a:t>Theo dõi từng nhiệm vụ</a:t>
            </a:r>
          </a:p>
        </p:txBody>
      </p:sp>
      <p:sp xmlns:a="http://schemas.openxmlformats.org/drawingml/2006/main">
        <p:nvSpPr>
          <p:cNvPr id="42" name="Chevron 41"/>
          <p:cNvSpPr/>
          <p:nvPr/>
        </p:nvSpPr>
        <p:spPr>
          <a:xfrm>
            <a:off x="7892795"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8071104" y="2148840"/>
            <a:ext cx="3523488"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162543" y="2240280"/>
            <a:ext cx="3340608"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SAU</a:t>
            </a:r>
          </a:p>
        </p:txBody>
      </p:sp>
      <p:sp xmlns:a="http://schemas.openxmlformats.org/drawingml/2006/main">
        <p:nvSpPr>
          <p:cNvPr id="45" name="TextBox 44"/>
          <p:cNvSpPr txBox="1"/>
          <p:nvPr/>
        </p:nvSpPr>
        <p:spPr>
          <a:xfrm>
            <a:off x="8107679" y="2788920"/>
            <a:ext cx="3450336"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Xác nhận từng người</a:t>
            </a:r>
          </a:p>
          <a:p>
            <a:pPr>
              <a:spcBef>
                <a:spcPts val="0"/>
              </a:spcBef>
              <a:spcAft>
                <a:spcPts val="500"/>
              </a:spcAft>
              <a:defRPr sz="1600" b="0">
                <a:solidFill>
                  <a:srgbClr val="20252B"/>
                </a:solidFill>
                <a:latin typeface="Arial"/>
              </a:defRPr>
            </a:pPr>
            <a:r>
              <a:t>Bàn giao &amp; kết thúc</a:t>
            </a:r>
          </a:p>
          <a:p>
            <a:pPr>
              <a:spcBef>
                <a:spcPts val="0"/>
              </a:spcBef>
              <a:spcAft>
                <a:spcPts val="500"/>
              </a:spcAft>
              <a:defRPr sz="1600" b="0">
                <a:solidFill>
                  <a:srgbClr val="20252B"/>
                </a:solidFill>
                <a:latin typeface="Arial"/>
              </a:defRPr>
            </a:pPr>
            <a:r>
              <a:t>Rút kinh nghiệm</a:t>
            </a:r>
          </a:p>
        </p:txBody>
      </p:sp>
      <p:sp xmlns:a="http://schemas.openxmlformats.org/drawingml/2006/main">
        <p:nvSpPr>
          <p:cNvPr id="46" name="Rectangle 45"/>
          <p:cNvSpPr/>
          <p:nvPr/>
        </p:nvSpPr>
        <p:spPr>
          <a:xfrm>
            <a:off x="621792" y="4892040"/>
            <a:ext cx="10972800" cy="7498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68680" y="5102352"/>
            <a:ext cx="10515600" cy="320040"/>
          </a:xfrm>
          <a:prstGeom prst="rect">
            <a:avLst/>
          </a:prstGeom>
          <a:noFill/>
        </p:spPr>
        <p:txBody>
          <a:bodyPr wrap="square" lIns="0" rIns="0" tIns="0" bIns="0">
            <a:spAutoFit/>
          </a:bodyPr>
          <a:lstStyle/>
          <a:p>
            <a:pPr>
              <a:spcBef>
                <a:spcPts val="0"/>
              </a:spcBef>
              <a:spcAft>
                <a:spcPts val="500"/>
              </a:spcAft>
              <a:defRPr sz="1900" b="1">
                <a:solidFill>
                  <a:srgbClr val="FFFFFF"/>
                </a:solidFill>
                <a:latin typeface="Arial"/>
              </a:defRPr>
            </a:pPr>
            <a:r>
              <a:t>Mọi trạng thái đều có người chịu trách nhiệm, thời điểm và nguồn xác nhận.</a:t>
            </a:r>
          </a:p>
        </p:txBody>
      </p:sp>
    </p:spTree>
    <p:extLst>
      <p:ext uri="{BB962C8B-B14F-4D97-AF65-F5344CB8AC3E}">
        <p14:creationId xmlns:p14="http://schemas.microsoft.com/office/powerpoint/2010/main" val="3578671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evacuation.png"/>
          <p:cNvPicPr>
            <a:picLocks noChangeAspect="1"/>
          </p:cNvPicPr>
          <p:nvPr/>
        </p:nvPicPr>
        <p:blipFill>
          <a:blip r:embed="rId4"/>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MÔ PHỎNG CHÁY • Tuyến tránh vùng nguy hiểm • Voice theo chặng • Hỗ trợ người khó tự thoát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7</a:t>
            </a:r>
          </a:p>
        </p:txBody>
      </p:sp>
      <p:sp xmlns:a="http://schemas.openxmlformats.org/drawingml/2006/main">
        <p:nvSpPr>
          <p:cNvPr id="6" name="TextBox 5"/>
          <p:cNvSpPr txBox="1"/>
          <p:nvPr/>
        </p:nvSpPr>
        <p:spPr>
          <a:xfrm>
            <a:off x="274320" y="210312"/>
            <a:ext cx="11521440" cy="457200"/>
          </a:xfrm>
          <a:prstGeom prst="rect">
            <a:avLst/>
          </a:prstGeom>
          <a:noFill/>
        </p:spPr>
        <p:txBody>
          <a:bodyPr wrap="square" lIns="0" rIns="0" tIns="0" bIns="0">
            <a:spAutoFit/>
          </a:bodyPr>
          <a:lstStyle/>
          <a:p>
            <a:pPr>
              <a:spcBef>
                <a:spcPts val="0"/>
              </a:spcBef>
              <a:spcAft>
                <a:spcPts val="500"/>
              </a:spcAft>
              <a:defRPr sz="2900" b="1">
                <a:solidFill>
                  <a:srgbClr val="FFFFFF"/>
                </a:solidFill>
                <a:latin typeface="Arial"/>
              </a:defRPr>
            </a:pPr>
            <a:r>
              <a:t>THOÁT HIỂM CÓ HƯỚNG DẪN</a:t>
            </a:r>
          </a:p>
        </p:txBody>
      </p:sp>
    </p:spTree>
    <p:extLst>
      <p:ext uri="{BB962C8B-B14F-4D97-AF65-F5344CB8AC3E}">
        <p14:creationId xmlns:p14="http://schemas.microsoft.com/office/powerpoint/2010/main" val="18938488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01 • THEO TỪNG HÀNH ĐỘNG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Cháy tầng 5: từ tín hiệu đến người được tiếp cận.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Dòng thời gian minh họa — mỗi hành động gắn với cùng một sự cố.</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8</a:t>
            </a:r>
          </a:p>
        </p:txBody>
      </p:sp>
      <p:sp xmlns:a="http://schemas.openxmlformats.org/drawingml/2006/main">
        <p:nvSpPr>
          <p:cNvPr id="35" name="Rectangle 34"/>
          <p:cNvSpPr/>
          <p:nvPr/>
        </p:nvSpPr>
        <p:spPr>
          <a:xfrm>
            <a:off x="640080" y="2011680"/>
            <a:ext cx="5760720" cy="3456432"/>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1323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1323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15341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15341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593591"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593591"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033772" y="2103120"/>
            <a:ext cx="1293876" cy="1175186"/>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033772" y="4223796"/>
            <a:ext cx="1293876" cy="967800"/>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40664" y="3532510"/>
            <a:ext cx="5559552" cy="414771"/>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4903012" y="2103120"/>
            <a:ext cx="1324965" cy="1175186"/>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331366" y="3739896"/>
            <a:ext cx="2592324"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331366" y="3739896"/>
            <a:ext cx="0" cy="1209751"/>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541117" y="368045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271930" y="436205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3808476" y="3601638"/>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158544" y="4776825"/>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960620" y="2194560"/>
            <a:ext cx="1209751" cy="347472"/>
          </a:xfrm>
          <a:prstGeom prst="rect">
            <a:avLst/>
          </a:prstGeom>
          <a:noFill/>
        </p:spPr>
        <p:txBody>
          <a:bodyPr wrap="square" lIns="0" rIns="0" tIns="0" bIns="0">
            <a:spAutoFit/>
          </a:bodyPr>
          <a:lstStyle/>
          <a:p>
            <a:pPr>
              <a:spcBef>
                <a:spcPts val="0"/>
              </a:spcBef>
              <a:spcAft>
                <a:spcPts val="500"/>
              </a:spcAft>
              <a:defRPr sz="1000" b="1">
                <a:solidFill>
                  <a:srgbClr val="C8102E"/>
                </a:solidFill>
                <a:latin typeface="Arial"/>
              </a:defRPr>
            </a:pPr>
            <a:r>
              <a:t>VÙNG NGUY HIỂM</a:t>
            </a:r>
          </a:p>
        </p:txBody>
      </p:sp>
      <p:sp xmlns:a="http://schemas.openxmlformats.org/drawingml/2006/main">
        <p:nvSpPr>
          <p:cNvPr id="53" name="TextBox 52"/>
          <p:cNvSpPr txBox="1"/>
          <p:nvPr/>
        </p:nvSpPr>
        <p:spPr>
          <a:xfrm>
            <a:off x="3808476" y="3947281"/>
            <a:ext cx="502920" cy="182880"/>
          </a:xfrm>
          <a:prstGeom prst="rect">
            <a:avLst/>
          </a:prstGeom>
          <a:noFill/>
        </p:spPr>
        <p:txBody>
          <a:bodyPr wrap="square" lIns="0" rIns="0" tIns="0" bIns="0">
            <a:spAutoFit/>
          </a:bodyPr>
          <a:lstStyle/>
          <a:p>
            <a:pPr>
              <a:spcBef>
                <a:spcPts val="0"/>
              </a:spcBef>
              <a:spcAft>
                <a:spcPts val="500"/>
              </a:spcAft>
              <a:defRPr sz="1000" b="1">
                <a:solidFill>
                  <a:srgbClr val="06283F"/>
                </a:solidFill>
                <a:latin typeface="Arial"/>
              </a:defRPr>
            </a:pPr>
            <a:r>
              <a:t>BẠN</a:t>
            </a:r>
          </a:p>
        </p:txBody>
      </p:sp>
      <p:sp xmlns:a="http://schemas.openxmlformats.org/drawingml/2006/main">
        <p:nvSpPr>
          <p:cNvPr id="54" name="TextBox 53"/>
          <p:cNvSpPr txBox="1"/>
          <p:nvPr/>
        </p:nvSpPr>
        <p:spPr>
          <a:xfrm>
            <a:off x="713231" y="4534875"/>
            <a:ext cx="1152144" cy="219456"/>
          </a:xfrm>
          <a:prstGeom prst="rect">
            <a:avLst/>
          </a:prstGeom>
          <a:noFill/>
        </p:spPr>
        <p:txBody>
          <a:bodyPr wrap="square" lIns="0" rIns="0" tIns="0" bIns="0">
            <a:spAutoFit/>
          </a:bodyPr>
          <a:lstStyle/>
          <a:p>
            <a:pPr>
              <a:spcBef>
                <a:spcPts val="0"/>
              </a:spcBef>
              <a:spcAft>
                <a:spcPts val="500"/>
              </a:spcAft>
              <a:defRPr sz="1000" b="1">
                <a:solidFill>
                  <a:srgbClr val="147D62"/>
                </a:solidFill>
                <a:latin typeface="Arial"/>
              </a:defRPr>
            </a:pPr>
            <a:r>
              <a:t>LỐI A</a:t>
            </a:r>
          </a:p>
        </p:txBody>
      </p:sp>
      <p:sp xmlns:a="http://schemas.openxmlformats.org/drawingml/2006/main">
        <p:nvSpPr>
          <p:cNvPr id="55" name="TextBox 54"/>
          <p:cNvSpPr txBox="1"/>
          <p:nvPr/>
        </p:nvSpPr>
        <p:spPr>
          <a:xfrm>
            <a:off x="2368296" y="4500311"/>
            <a:ext cx="1209751" cy="365760"/>
          </a:xfrm>
          <a:prstGeom prst="rect">
            <a:avLst/>
          </a:prstGeom>
          <a:noFill/>
        </p:spPr>
        <p:txBody>
          <a:bodyPr wrap="square" lIns="0" rIns="0" tIns="0" bIns="0">
            <a:spAutoFit/>
          </a:bodyPr>
          <a:lstStyle/>
          <a:p>
            <a:pPr>
              <a:spcBef>
                <a:spcPts val="0"/>
              </a:spcBef>
              <a:spcAft>
                <a:spcPts val="500"/>
              </a:spcAft>
              <a:defRPr sz="900" b="1">
                <a:solidFill>
                  <a:srgbClr val="A56A00"/>
                </a:solidFill>
                <a:latin typeface="Arial"/>
              </a:defRPr>
            </a:pPr>
            <a:r>
              <a:t>ĐIỂM CHỜ HỖ TRỢ</a:t>
            </a:r>
          </a:p>
        </p:txBody>
      </p:sp>
      <p:sp xmlns:a="http://schemas.openxmlformats.org/drawingml/2006/main">
        <p:nvSpPr>
          <p:cNvPr id="56" name="TextBox 55"/>
          <p:cNvSpPr txBox="1"/>
          <p:nvPr/>
        </p:nvSpPr>
        <p:spPr>
          <a:xfrm>
            <a:off x="6766560" y="2048256"/>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01 / XÁC MINH</a:t>
            </a:r>
          </a:p>
        </p:txBody>
      </p:sp>
      <p:sp xmlns:a="http://schemas.openxmlformats.org/drawingml/2006/main">
        <p:nvSpPr>
          <p:cNvPr id="57" name="TextBox 56"/>
          <p:cNvSpPr txBox="1"/>
          <p:nvPr/>
        </p:nvSpPr>
        <p:spPr>
          <a:xfrm>
            <a:off x="6766560" y="2414016"/>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Camera và cảm biến gắn tầng–khu vực.</a:t>
            </a:r>
          </a:p>
        </p:txBody>
      </p:sp>
      <p:sp xmlns:a="http://schemas.openxmlformats.org/drawingml/2006/main">
        <p:nvSpPr>
          <p:cNvPr id="58" name="TextBox 57"/>
          <p:cNvSpPr txBox="1"/>
          <p:nvPr/>
        </p:nvSpPr>
        <p:spPr>
          <a:xfrm>
            <a:off x="6766560" y="2980944"/>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02 / HƯỚNG DẪN</a:t>
            </a:r>
          </a:p>
        </p:txBody>
      </p:sp>
      <p:sp xmlns:a="http://schemas.openxmlformats.org/drawingml/2006/main">
        <p:nvSpPr>
          <p:cNvPr id="59" name="TextBox 58"/>
          <p:cNvSpPr txBox="1"/>
          <p:nvPr/>
        </p:nvSpPr>
        <p:spPr>
          <a:xfrm>
            <a:off x="6766560" y="3346704"/>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Khóa tuyến qua nguy cơ; phát app và loa.</a:t>
            </a:r>
          </a:p>
        </p:txBody>
      </p:sp>
      <p:sp xmlns:a="http://schemas.openxmlformats.org/drawingml/2006/main">
        <p:nvSpPr>
          <p:cNvPr id="60" name="TextBox 59"/>
          <p:cNvSpPr txBox="1"/>
          <p:nvPr/>
        </p:nvSpPr>
        <p:spPr>
          <a:xfrm>
            <a:off x="6766560" y="3913632"/>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03 / TÌM NGƯỜI</a:t>
            </a:r>
          </a:p>
        </p:txBody>
      </p:sp>
      <p:sp xmlns:a="http://schemas.openxmlformats.org/drawingml/2006/main">
        <p:nvSpPr>
          <p:cNvPr id="61" name="TextBox 60"/>
          <p:cNvSpPr txBox="1"/>
          <p:nvPr/>
        </p:nvSpPr>
        <p:spPr>
          <a:xfrm>
            <a:off x="6766560" y="4279392"/>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SOS + danh sách cần kiểm tra chủ động.</a:t>
            </a:r>
          </a:p>
        </p:txBody>
      </p:sp>
      <p:sp xmlns:a="http://schemas.openxmlformats.org/drawingml/2006/main">
        <p:nvSpPr>
          <p:cNvPr id="62" name="TextBox 61"/>
          <p:cNvSpPr txBox="1"/>
          <p:nvPr/>
        </p:nvSpPr>
        <p:spPr>
          <a:xfrm>
            <a:off x="6766560" y="4846320"/>
            <a:ext cx="4572000" cy="274320"/>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04 / CỨU HỘ</a:t>
            </a:r>
          </a:p>
        </p:txBody>
      </p:sp>
      <p:sp xmlns:a="http://schemas.openxmlformats.org/drawingml/2006/main">
        <p:nvSpPr>
          <p:cNvPr id="63" name="TextBox 62"/>
          <p:cNvSpPr txBox="1"/>
          <p:nvPr/>
        </p:nvSpPr>
        <p:spPr>
          <a:xfrm>
            <a:off x="6766560" y="5212080"/>
            <a:ext cx="4572000" cy="484632"/>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Đội nhận việc, cập nhật và bàn giao.</a:t>
            </a:r>
          </a:p>
        </p:txBody>
      </p:sp>
      <p:sp xmlns:a="http://schemas.openxmlformats.org/drawingml/2006/main">
        <p:nvSpPr>
          <p:cNvPr id="64" name="TextBox 63"/>
          <p:cNvSpPr txBox="1"/>
          <p:nvPr/>
        </p:nvSpPr>
        <p:spPr>
          <a:xfrm>
            <a:off x="685800" y="5650992"/>
            <a:ext cx="10789920" cy="2286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Sơ đồ nguyên lý minh họa • không phải sơ đồ thoát hiểm của công trình</a:t>
            </a:r>
          </a:p>
        </p:txBody>
      </p:sp>
    </p:spTree>
    <p:extLst>
      <p:ext uri="{BB962C8B-B14F-4D97-AF65-F5344CB8AC3E}">
        <p14:creationId xmlns:p14="http://schemas.microsoft.com/office/powerpoint/2010/main" val="9642216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roactiv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CỨU HỘ CHỦ ĐỘNG • Nhu cầu hỗ trợ + Vùng ảnh hưởng + Hiện diện + Đánh giá của người điều hành</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9</a:t>
            </a:r>
          </a:p>
        </p:txBody>
      </p:sp>
    </p:spTree>
    <p:extLst>
      <p:ext uri="{BB962C8B-B14F-4D97-AF65-F5344CB8AC3E}">
        <p14:creationId xmlns:p14="http://schemas.microsoft.com/office/powerpoint/2010/main" val="19424892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HỒ SƠ CON NGƯỜI • ƯU TIÊN HỖ TRỢ</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Biết nhu cầu hỗ trợ, không chỉ biết tên người dùng.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Hồ sơ được cập nhật có nguồn, có quyền chia sẻ và được sử dụng đúng mục đích cứu hộ.</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10</a:t>
            </a:r>
          </a:p>
        </p:txBody>
      </p:sp>
      <p:sp xmlns:a="http://schemas.openxmlformats.org/drawingml/2006/main">
        <p:nvSpPr>
          <p:cNvPr id="35" name="Rounded Rectangle 34"/>
          <p:cNvSpPr/>
          <p:nvPr/>
        </p:nvSpPr>
        <p:spPr>
          <a:xfrm>
            <a:off x="640080" y="1993392"/>
            <a:ext cx="3794760" cy="363016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240280"/>
            <a:ext cx="3291840" cy="320040"/>
          </a:xfrm>
          <a:prstGeom prst="rect">
            <a:avLst/>
          </a:prstGeom>
          <a:noFill/>
        </p:spPr>
        <p:txBody>
          <a:bodyPr wrap="square" lIns="0" rIns="0" tIns="0" bIns="0">
            <a:spAutoFit/>
          </a:bodyPr>
          <a:lstStyle/>
          <a:p>
            <a:pPr>
              <a:spcBef>
                <a:spcPts val="0"/>
              </a:spcBef>
              <a:spcAft>
                <a:spcPts val="500"/>
              </a:spcAft>
              <a:defRPr sz="1600" b="1">
                <a:solidFill>
                  <a:srgbClr val="05CDE0"/>
                </a:solidFill>
                <a:latin typeface="Arial"/>
              </a:defRPr>
            </a:pPr>
            <a:r>
              <a:t>HỒ SƠ HỖ TRỢ</a:t>
            </a:r>
          </a:p>
        </p:txBody>
      </p:sp>
      <p:sp xmlns:a="http://schemas.openxmlformats.org/drawingml/2006/main">
        <p:nvSpPr>
          <p:cNvPr id="37" name="TextBox 36"/>
          <p:cNvSpPr txBox="1"/>
          <p:nvPr/>
        </p:nvSpPr>
        <p:spPr>
          <a:xfrm>
            <a:off x="868680" y="2788920"/>
            <a:ext cx="3291840" cy="457200"/>
          </a:xfrm>
          <a:prstGeom prst="rect">
            <a:avLst/>
          </a:prstGeom>
          <a:noFill/>
        </p:spPr>
        <p:txBody>
          <a:bodyPr wrap="square" lIns="0" rIns="0" tIns="0" bIns="0">
            <a:spAutoFit/>
          </a:bodyPr>
          <a:lstStyle/>
          <a:p>
            <a:pPr>
              <a:spcBef>
                <a:spcPts val="0"/>
              </a:spcBef>
              <a:spcAft>
                <a:spcPts val="500"/>
              </a:spcAft>
              <a:defRPr sz="2700" b="1">
                <a:solidFill>
                  <a:srgbClr val="FFFFFF"/>
                </a:solidFill>
                <a:latin typeface="Arial"/>
              </a:defRPr>
            </a:pPr>
            <a:r>
              <a:t>Minh Anh</a:t>
            </a:r>
          </a:p>
        </p:txBody>
      </p:sp>
      <p:sp xmlns:a="http://schemas.openxmlformats.org/drawingml/2006/main">
        <p:nvSpPr>
          <p:cNvPr id="38" name="TextBox 37"/>
          <p:cNvSpPr txBox="1"/>
          <p:nvPr/>
        </p:nvSpPr>
        <p:spPr>
          <a:xfrm>
            <a:off x="868680" y="3520440"/>
            <a:ext cx="3246120" cy="1737360"/>
          </a:xfrm>
          <a:prstGeom prst="rect">
            <a:avLst/>
          </a:prstGeom>
          <a:noFill/>
        </p:spPr>
        <p:txBody>
          <a:bodyPr wrap="square" lIns="0" rIns="0" tIns="0" bIns="0">
            <a:spAutoFit/>
          </a:bodyPr>
          <a:lstStyle/>
          <a:p>
            <a:pPr>
              <a:spcBef>
                <a:spcPts val="0"/>
              </a:spcBef>
              <a:spcAft>
                <a:spcPts val="500"/>
              </a:spcAft>
              <a:defRPr sz="1600" b="0">
                <a:solidFill>
                  <a:srgbClr val="FFFFFF"/>
                </a:solidFill>
                <a:latin typeface="Arial"/>
              </a:defRPr>
            </a:pPr>
            <a:r>
              <a:t>Cần hỗ trợ di chuyển</a:t>
            </a:r>
          </a:p>
          <a:p>
            <a:pPr>
              <a:spcBef>
                <a:spcPts val="0"/>
              </a:spcBef>
              <a:spcAft>
                <a:spcPts val="500"/>
              </a:spcAft>
              <a:defRPr sz="1600" b="0">
                <a:solidFill>
                  <a:srgbClr val="FFFFFF"/>
                </a:solidFill>
                <a:latin typeface="Arial"/>
              </a:defRPr>
            </a:pPr>
            <a:r>
              <a:t>Ưu tiên hướng dẫn bằng âm thanh</a:t>
            </a:r>
          </a:p>
          <a:p>
            <a:pPr>
              <a:spcBef>
                <a:spcPts val="0"/>
              </a:spcBef>
              <a:spcAft>
                <a:spcPts val="500"/>
              </a:spcAft>
              <a:defRPr sz="1600" b="0">
                <a:solidFill>
                  <a:srgbClr val="FFFFFF"/>
                </a:solidFill>
                <a:latin typeface="Arial"/>
              </a:defRPr>
            </a:pPr>
            <a:r>
              <a:t>Liên hệ khẩn cấp: đã xác nhận</a:t>
            </a:r>
          </a:p>
          <a:p>
            <a:pPr>
              <a:spcBef>
                <a:spcPts val="0"/>
              </a:spcBef>
              <a:spcAft>
                <a:spcPts val="500"/>
              </a:spcAft>
              <a:defRPr sz="1600" b="0">
                <a:solidFill>
                  <a:srgbClr val="FFFFFF"/>
                </a:solidFill>
                <a:latin typeface="Arial"/>
              </a:defRPr>
            </a:pPr>
            <a:r>
              <a:t>Vị trí gần nhất: tầng 5</a:t>
            </a:r>
          </a:p>
          <a:p>
            <a:pPr>
              <a:spcBef>
                <a:spcPts val="0"/>
              </a:spcBef>
              <a:spcAft>
                <a:spcPts val="500"/>
              </a:spcAft>
              <a:defRPr sz="1600" b="0">
                <a:solidFill>
                  <a:srgbClr val="FFFFFF"/>
                </a:solidFill>
                <a:latin typeface="Arial"/>
              </a:defRPr>
            </a:pPr>
            <a:r>
              <a:t>Độ mới dữ liệu: cần kiểm tra</a:t>
            </a:r>
          </a:p>
        </p:txBody>
      </p:sp>
      <p:sp xmlns:a="http://schemas.openxmlformats.org/drawingml/2006/main">
        <p:nvSpPr>
          <p:cNvPr id="39" name="Rectangle 38"/>
          <p:cNvSpPr/>
          <p:nvPr/>
        </p:nvSpPr>
        <p:spPr>
          <a:xfrm>
            <a:off x="4709160" y="2011680"/>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4846320" y="2130552"/>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Dữ liệu có mục đích</a:t>
            </a:r>
          </a:p>
        </p:txBody>
      </p:sp>
      <p:sp xmlns:a="http://schemas.openxmlformats.org/drawingml/2006/main">
        <p:nvSpPr>
          <p:cNvPr id="41" name="TextBox 40"/>
          <p:cNvSpPr txBox="1"/>
          <p:nvPr/>
        </p:nvSpPr>
        <p:spPr>
          <a:xfrm>
            <a:off x="7315200" y="2121408"/>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Tuổi, khả năng vận động, nghe/nhìn, bệnh liên quan cứu hộ.</a:t>
            </a:r>
          </a:p>
        </p:txBody>
      </p:sp>
      <p:sp xmlns:a="http://schemas.openxmlformats.org/drawingml/2006/main">
        <p:nvSpPr>
          <p:cNvPr id="42" name="Rectangle 41"/>
          <p:cNvSpPr/>
          <p:nvPr/>
        </p:nvSpPr>
        <p:spPr>
          <a:xfrm>
            <a:off x="4709160" y="2907792"/>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846320" y="3026664"/>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Ưu tiên có lý do</a:t>
            </a:r>
          </a:p>
        </p:txBody>
      </p:sp>
      <p:sp xmlns:a="http://schemas.openxmlformats.org/drawingml/2006/main">
        <p:nvSpPr>
          <p:cNvPr id="44" name="TextBox 43"/>
          <p:cNvSpPr txBox="1"/>
          <p:nvPr/>
        </p:nvSpPr>
        <p:spPr>
          <a:xfrm>
            <a:off x="7315200" y="3017520"/>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ảnh hưởng + hiện diện + khả năng tự thoát + tình trạng.</a:t>
            </a:r>
          </a:p>
        </p:txBody>
      </p:sp>
      <p:sp xmlns:a="http://schemas.openxmlformats.org/drawingml/2006/main">
        <p:nvSpPr>
          <p:cNvPr id="45" name="Rectangle 44"/>
          <p:cNvSpPr/>
          <p:nvPr/>
        </p:nvSpPr>
        <p:spPr>
          <a:xfrm>
            <a:off x="4709160" y="3803904"/>
            <a:ext cx="6858000" cy="81381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TextBox 45"/>
          <p:cNvSpPr txBox="1"/>
          <p:nvPr/>
        </p:nvSpPr>
        <p:spPr>
          <a:xfrm>
            <a:off x="4846320" y="3922776"/>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Không chờ thao tác</a:t>
            </a:r>
          </a:p>
        </p:txBody>
      </p:sp>
      <p:sp xmlns:a="http://schemas.openxmlformats.org/drawingml/2006/main">
        <p:nvSpPr>
          <p:cNvPr id="47" name="TextBox 46"/>
          <p:cNvSpPr txBox="1"/>
          <p:nvPr/>
        </p:nvSpPr>
        <p:spPr>
          <a:xfrm>
            <a:off x="7315200" y="3913632"/>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Gọi kiểm tra, nhờ caregiver hoặc giao đội tiếp cận.</a:t>
            </a:r>
          </a:p>
        </p:txBody>
      </p:sp>
      <p:sp xmlns:a="http://schemas.openxmlformats.org/drawingml/2006/main">
        <p:nvSpPr>
          <p:cNvPr id="48" name="Rectangle 47"/>
          <p:cNvSpPr/>
          <p:nvPr/>
        </p:nvSpPr>
        <p:spPr>
          <a:xfrm>
            <a:off x="4709160" y="4700016"/>
            <a:ext cx="6858000" cy="8138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4846320" y="4818888"/>
            <a:ext cx="2400300" cy="69494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Hạn chế tiết lộ</a:t>
            </a:r>
          </a:p>
        </p:txBody>
      </p:sp>
      <p:sp xmlns:a="http://schemas.openxmlformats.org/drawingml/2006/main">
        <p:nvSpPr>
          <p:cNvPr id="50" name="TextBox 49"/>
          <p:cNvSpPr txBox="1"/>
          <p:nvPr/>
        </p:nvSpPr>
        <p:spPr>
          <a:xfrm>
            <a:off x="7315200" y="4809744"/>
            <a:ext cx="4046220" cy="7223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Đội nhận thông tin cần thiết; người thân theo quyền.</a:t>
            </a:r>
          </a:p>
        </p:txBody>
      </p:sp>
    </p:spTree>
    <p:extLst>
      <p:ext uri="{BB962C8B-B14F-4D97-AF65-F5344CB8AC3E}">
        <p14:creationId xmlns:p14="http://schemas.microsoft.com/office/powerpoint/2010/main" val="87013502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ĐỊNH VỊ ĐA NGUỒN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Vị trí đáng tin cậy là nền móng của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Chọn công nghệ theo môi trường và hạ tầng; luôn hiển thị thời điểm, tầng và độ tin cậy.</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11</a:t>
            </a:r>
          </a:p>
        </p:txBody>
      </p:sp>
      <p:sp xmlns:a="http://schemas.openxmlformats.org/drawingml/2006/main">
        <p:nvSpPr>
          <p:cNvPr id="35" name="Rounded Rectangle 34"/>
          <p:cNvSpPr/>
          <p:nvPr/>
        </p:nvSpPr>
        <p:spPr>
          <a:xfrm>
            <a:off x="640080"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12848"/>
            <a:ext cx="296265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NGOÀI TRỜI</a:t>
            </a:r>
          </a:p>
        </p:txBody>
      </p:sp>
      <p:sp xmlns:a="http://schemas.openxmlformats.org/drawingml/2006/main">
        <p:nvSpPr>
          <p:cNvPr id="38" name="TextBox 37"/>
          <p:cNvSpPr txBox="1"/>
          <p:nvPr/>
        </p:nvSpPr>
        <p:spPr>
          <a:xfrm>
            <a:off x="804671" y="2852928"/>
            <a:ext cx="2962656"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GNSS / vị trí thiết bị</a:t>
            </a:r>
          </a:p>
          <a:p>
            <a:pPr>
              <a:spcBef>
                <a:spcPts val="0"/>
              </a:spcBef>
              <a:spcAft>
                <a:spcPts val="500"/>
              </a:spcAft>
              <a:defRPr sz="1600" b="0">
                <a:solidFill>
                  <a:srgbClr val="20252B"/>
                </a:solidFill>
                <a:latin typeface="Arial"/>
              </a:defRPr>
            </a:pPr>
            <a:r>
              <a:t>Địa chỉ, đường, chiều di chuyển</a:t>
            </a:r>
          </a:p>
          <a:p>
            <a:pPr>
              <a:spcBef>
                <a:spcPts val="0"/>
              </a:spcBef>
              <a:spcAft>
                <a:spcPts val="500"/>
              </a:spcAft>
              <a:defRPr sz="1600" b="0">
                <a:solidFill>
                  <a:srgbClr val="20252B"/>
                </a:solidFill>
                <a:latin typeface="Arial"/>
              </a:defRPr>
            </a:pPr>
            <a:r>
              <a:t>Vùng thiên tai và điểm tập kết</a:t>
            </a:r>
          </a:p>
        </p:txBody>
      </p:sp>
      <p:sp xmlns:a="http://schemas.openxmlformats.org/drawingml/2006/main">
        <p:nvSpPr>
          <p:cNvPr id="39" name="Rounded Rectangle 38"/>
          <p:cNvSpPr/>
          <p:nvPr/>
        </p:nvSpPr>
        <p:spPr>
          <a:xfrm>
            <a:off x="4187952" y="2057400"/>
            <a:ext cx="3291840"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87952" y="2057400"/>
            <a:ext cx="50292" cy="256032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52544" y="2212848"/>
            <a:ext cx="296265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TRONG NHÀ</a:t>
            </a:r>
          </a:p>
        </p:txBody>
      </p:sp>
      <p:sp xmlns:a="http://schemas.openxmlformats.org/drawingml/2006/main">
        <p:nvSpPr>
          <p:cNvPr id="42" name="TextBox 41"/>
          <p:cNvSpPr txBox="1"/>
          <p:nvPr/>
        </p:nvSpPr>
        <p:spPr>
          <a:xfrm>
            <a:off x="4352544" y="2852928"/>
            <a:ext cx="2962656"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QR / BLE / UWB / Wi-Fi</a:t>
            </a:r>
          </a:p>
          <a:p>
            <a:pPr>
              <a:spcBef>
                <a:spcPts val="0"/>
              </a:spcBef>
              <a:spcAft>
                <a:spcPts val="500"/>
              </a:spcAft>
              <a:defRPr sz="1600" b="0">
                <a:solidFill>
                  <a:srgbClr val="20252B"/>
                </a:solidFill>
                <a:latin typeface="Arial"/>
              </a:defRPr>
            </a:pPr>
            <a:r>
              <a:t>Tòa nhà → tầng → zone</a:t>
            </a:r>
          </a:p>
          <a:p>
            <a:pPr>
              <a:spcBef>
                <a:spcPts val="0"/>
              </a:spcBef>
              <a:spcAft>
                <a:spcPts val="500"/>
              </a:spcAft>
              <a:defRPr sz="1600" b="0">
                <a:solidFill>
                  <a:srgbClr val="20252B"/>
                </a:solidFill>
                <a:latin typeface="Arial"/>
              </a:defRPr>
            </a:pPr>
            <a:r>
              <a:t>Khảo sát và hiệu chỉnh tại chỗ</a:t>
            </a:r>
          </a:p>
        </p:txBody>
      </p:sp>
      <p:sp xmlns:a="http://schemas.openxmlformats.org/drawingml/2006/main">
        <p:nvSpPr>
          <p:cNvPr id="43" name="Rounded Rectangle 42"/>
          <p:cNvSpPr/>
          <p:nvPr/>
        </p:nvSpPr>
        <p:spPr>
          <a:xfrm>
            <a:off x="7735824" y="2057400"/>
            <a:ext cx="3803904" cy="2560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735824" y="2057400"/>
            <a:ext cx="50292" cy="2560320"/>
          </a:xfrm>
          <a:prstGeom prst="rect">
            <a:avLst/>
          </a:prstGeom>
          <a:solidFill>
            <a:srgbClr val="A56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00416" y="2212848"/>
            <a:ext cx="3474720" cy="484632"/>
          </a:xfrm>
          <a:prstGeom prst="rect">
            <a:avLst/>
          </a:prstGeom>
          <a:noFill/>
        </p:spPr>
        <p:txBody>
          <a:bodyPr wrap="square" lIns="0" rIns="0" tIns="0" bIns="0">
            <a:spAutoFit/>
          </a:bodyPr>
          <a:lstStyle/>
          <a:p>
            <a:pPr>
              <a:spcBef>
                <a:spcPts val="0"/>
              </a:spcBef>
              <a:spcAft>
                <a:spcPts val="500"/>
              </a:spcAft>
              <a:defRPr sz="1800" b="1">
                <a:solidFill>
                  <a:srgbClr val="A56A00"/>
                </a:solidFill>
                <a:latin typeface="Arial"/>
              </a:defRPr>
            </a:pPr>
            <a:r>
              <a:t>KHI KHÔNG CHẮC</a:t>
            </a:r>
          </a:p>
        </p:txBody>
      </p:sp>
      <p:sp xmlns:a="http://schemas.openxmlformats.org/drawingml/2006/main">
        <p:nvSpPr>
          <p:cNvPr id="46" name="TextBox 45"/>
          <p:cNvSpPr txBox="1"/>
          <p:nvPr/>
        </p:nvSpPr>
        <p:spPr>
          <a:xfrm>
            <a:off x="7900416" y="2852928"/>
            <a:ext cx="3474720" cy="1664207"/>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Chọn mốc địa điểm</a:t>
            </a:r>
          </a:p>
          <a:p>
            <a:pPr>
              <a:spcBef>
                <a:spcPts val="0"/>
              </a:spcBef>
              <a:spcAft>
                <a:spcPts val="500"/>
              </a:spcAft>
              <a:defRPr sz="1600" b="0">
                <a:solidFill>
                  <a:srgbClr val="20252B"/>
                </a:solidFill>
                <a:latin typeface="Arial"/>
              </a:defRPr>
            </a:pPr>
            <a:r>
              <a:t>Xác nhận tầng / vị trí thủ công</a:t>
            </a:r>
          </a:p>
          <a:p>
            <a:pPr>
              <a:spcBef>
                <a:spcPts val="0"/>
              </a:spcBef>
              <a:spcAft>
                <a:spcPts val="500"/>
              </a:spcAft>
              <a:defRPr sz="1600" b="0">
                <a:solidFill>
                  <a:srgbClr val="20252B"/>
                </a:solidFill>
                <a:latin typeface="Arial"/>
              </a:defRPr>
            </a:pPr>
            <a:r>
              <a:t>Giao nhiệm vụ kiểm tra</a:t>
            </a:r>
          </a:p>
        </p:txBody>
      </p:sp>
      <p:cxnSp xmlns:a="http://schemas.openxmlformats.org/drawingml/2006/main">
        <p:nvCxnSpPr>
          <p:cNvPr id="47" name="Connector 46"/>
          <p:cNvCxnSpPr/>
          <p:nvPr/>
        </p:nvCxnSpPr>
        <p:spPr>
          <a:xfrm>
            <a:off x="2286000" y="4754880"/>
            <a:ext cx="731520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ounded Rectangle 47"/>
          <p:cNvSpPr/>
          <p:nvPr/>
        </p:nvSpPr>
        <p:spPr>
          <a:xfrm>
            <a:off x="2926080" y="5074920"/>
            <a:ext cx="6309360" cy="676656"/>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182112" y="5257800"/>
            <a:ext cx="5852160" cy="365760"/>
          </a:xfrm>
          <a:prstGeom prst="rect">
            <a:avLst/>
          </a:prstGeom>
          <a:noFill/>
        </p:spPr>
        <p:txBody>
          <a:bodyPr wrap="square" lIns="0" rIns="0" tIns="0" bIns="0">
            <a:spAutoFit/>
          </a:bodyPr>
          <a:lstStyle/>
          <a:p>
            <a:pPr>
              <a:spcBef>
                <a:spcPts val="0"/>
              </a:spcBef>
              <a:spcAft>
                <a:spcPts val="500"/>
              </a:spcAft>
              <a:defRPr sz="2000" b="1">
                <a:solidFill>
                  <a:srgbClr val="FFFFFF"/>
                </a:solidFill>
                <a:latin typeface="Arial"/>
              </a:defRPr>
            </a:pPr>
            <a:r>
              <a:t>VỊ TRÍ + NGUỒN + SAI SỐ + ĐỘ MỚI</a:t>
            </a:r>
          </a:p>
        </p:txBody>
      </p:sp>
    </p:spTree>
    <p:extLst>
      <p:ext uri="{BB962C8B-B14F-4D97-AF65-F5344CB8AC3E}">
        <p14:creationId xmlns:p14="http://schemas.microsoft.com/office/powerpoint/2010/main" val="197340989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TỐI ƯU ĐƯỜNG THOÁT HIỂM</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Tuyến hiệu quả nhất phải là tuyến khả thi và phù hợp.</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Loại vùng nguy hiểm trước, sau đó mới tối ưu thời gian, ùn tắc và nhu cầu tiếp cận.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12</a:t>
            </a:r>
          </a:p>
        </p:txBody>
      </p:sp>
      <p:sp xmlns:a="http://schemas.openxmlformats.org/drawingml/2006/main">
        <p:nvSpPr>
          <p:cNvPr id="35" name="Rectangle 34"/>
          <p:cNvSpPr/>
          <p:nvPr/>
        </p:nvSpPr>
        <p:spPr>
          <a:xfrm>
            <a:off x="658368" y="2011680"/>
            <a:ext cx="6492240" cy="3520440"/>
          </a:xfrm>
          <a:prstGeom prst="rect">
            <a:avLst/>
          </a:prstGeom>
          <a:solidFill>
            <a:srgbClr val="EDF3F5"/>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73151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Rectangle 36"/>
          <p:cNvSpPr/>
          <p:nvPr/>
        </p:nvSpPr>
        <p:spPr>
          <a:xfrm>
            <a:off x="73151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235457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235457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397763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97763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5600699" y="2103120"/>
            <a:ext cx="1476756" cy="1196949"/>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5600699" y="4264761"/>
            <a:ext cx="1476756" cy="985723"/>
          </a:xfrm>
          <a:prstGeom prst="rect">
            <a:avLst/>
          </a:prstGeom>
          <a:solidFill>
            <a:srgbClr val="FFFFFF"/>
          </a:solidFill>
          <a:ln w="8890">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758952" y="3560673"/>
            <a:ext cx="6291072" cy="422452"/>
          </a:xfrm>
          <a:prstGeom prst="rect">
            <a:avLst/>
          </a:prstGeom>
          <a:solidFill>
            <a:srgbClr val="E0E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ectangle 44"/>
          <p:cNvSpPr/>
          <p:nvPr/>
        </p:nvSpPr>
        <p:spPr>
          <a:xfrm>
            <a:off x="5462625" y="2103120"/>
            <a:ext cx="1493215" cy="1196949"/>
          </a:xfrm>
          <a:prstGeom prst="rect">
            <a:avLst/>
          </a:prstGeom>
          <a:solidFill>
            <a:srgbClr val="FDEBED"/>
          </a:solidFill>
          <a:ln w="889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46" name="Connector 45"/>
          <p:cNvCxnSpPr/>
          <p:nvPr/>
        </p:nvCxnSpPr>
        <p:spPr>
          <a:xfrm flipH="1">
            <a:off x="1437436" y="3771900"/>
            <a:ext cx="2921508"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1437436" y="3771900"/>
            <a:ext cx="0" cy="1232154"/>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Chevron 47"/>
          <p:cNvSpPr/>
          <p:nvPr/>
        </p:nvSpPr>
        <p:spPr>
          <a:xfrm rot="10800000">
            <a:off x="2800807" y="3712463"/>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Chevron 48"/>
          <p:cNvSpPr/>
          <p:nvPr/>
        </p:nvSpPr>
        <p:spPr>
          <a:xfrm rot="5400000">
            <a:off x="1378000" y="4405579"/>
            <a:ext cx="128016" cy="118872"/>
          </a:xfrm>
          <a:prstGeom prst="chevron">
            <a:avLst/>
          </a:prstGeom>
          <a:solidFill>
            <a:srgbClr val="05CD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Oval 49"/>
          <p:cNvSpPr/>
          <p:nvPr/>
        </p:nvSpPr>
        <p:spPr>
          <a:xfrm>
            <a:off x="4229100" y="3631082"/>
            <a:ext cx="118872" cy="118872"/>
          </a:xfrm>
          <a:prstGeom prst="ellipse">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Oval 50"/>
          <p:cNvSpPr/>
          <p:nvPr/>
        </p:nvSpPr>
        <p:spPr>
          <a:xfrm>
            <a:off x="1242669" y="4828032"/>
            <a:ext cx="201168" cy="201168"/>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5527547" y="2194560"/>
            <a:ext cx="1363370" cy="347472"/>
          </a:xfrm>
          <a:prstGeom prst="rect">
            <a:avLst/>
          </a:prstGeom>
          <a:noFill/>
        </p:spPr>
        <p:txBody>
          <a:bodyPr wrap="square" lIns="0" rIns="0" tIns="0" bIns="0">
            <a:spAutoFit/>
          </a:bodyPr>
          <a:lstStyle/>
          <a:p>
            <a:pPr>
              <a:spcBef>
                <a:spcPts val="0"/>
              </a:spcBef>
              <a:spcAft>
                <a:spcPts val="500"/>
              </a:spcAft>
              <a:defRPr sz="1000" b="1">
                <a:solidFill>
                  <a:srgbClr val="C8102E"/>
                </a:solidFill>
                <a:latin typeface="Arial"/>
              </a:defRPr>
            </a:pPr>
            <a:r>
              <a:t>VÙNG NGUY HIỂM</a:t>
            </a:r>
          </a:p>
        </p:txBody>
      </p:sp>
      <p:sp xmlns:a="http://schemas.openxmlformats.org/drawingml/2006/main">
        <p:nvSpPr>
          <p:cNvPr id="53" name="TextBox 52"/>
          <p:cNvSpPr txBox="1"/>
          <p:nvPr/>
        </p:nvSpPr>
        <p:spPr>
          <a:xfrm>
            <a:off x="4229100" y="3983126"/>
            <a:ext cx="502920" cy="182880"/>
          </a:xfrm>
          <a:prstGeom prst="rect">
            <a:avLst/>
          </a:prstGeom>
          <a:noFill/>
        </p:spPr>
        <p:txBody>
          <a:bodyPr wrap="square" lIns="0" rIns="0" tIns="0" bIns="0">
            <a:spAutoFit/>
          </a:bodyPr>
          <a:lstStyle/>
          <a:p>
            <a:pPr>
              <a:spcBef>
                <a:spcPts val="0"/>
              </a:spcBef>
              <a:spcAft>
                <a:spcPts val="500"/>
              </a:spcAft>
              <a:defRPr sz="1000" b="1">
                <a:solidFill>
                  <a:srgbClr val="06283F"/>
                </a:solidFill>
                <a:latin typeface="Arial"/>
              </a:defRPr>
            </a:pPr>
            <a:r>
              <a:t>BẠN</a:t>
            </a:r>
          </a:p>
        </p:txBody>
      </p:sp>
      <p:sp xmlns:a="http://schemas.openxmlformats.org/drawingml/2006/main">
        <p:nvSpPr>
          <p:cNvPr id="54" name="TextBox 53"/>
          <p:cNvSpPr txBox="1"/>
          <p:nvPr/>
        </p:nvSpPr>
        <p:spPr>
          <a:xfrm>
            <a:off x="731519" y="4581601"/>
            <a:ext cx="1298448" cy="219456"/>
          </a:xfrm>
          <a:prstGeom prst="rect">
            <a:avLst/>
          </a:prstGeom>
          <a:noFill/>
        </p:spPr>
        <p:txBody>
          <a:bodyPr wrap="square" lIns="0" rIns="0" tIns="0" bIns="0">
            <a:spAutoFit/>
          </a:bodyPr>
          <a:lstStyle/>
          <a:p>
            <a:pPr>
              <a:spcBef>
                <a:spcPts val="0"/>
              </a:spcBef>
              <a:spcAft>
                <a:spcPts val="500"/>
              </a:spcAft>
              <a:defRPr sz="1000" b="1">
                <a:solidFill>
                  <a:srgbClr val="147D62"/>
                </a:solidFill>
                <a:latin typeface="Arial"/>
              </a:defRPr>
            </a:pPr>
            <a:r>
              <a:t>LỐI A</a:t>
            </a:r>
          </a:p>
        </p:txBody>
      </p:sp>
      <p:sp xmlns:a="http://schemas.openxmlformats.org/drawingml/2006/main">
        <p:nvSpPr>
          <p:cNvPr id="55" name="TextBox 54"/>
          <p:cNvSpPr txBox="1"/>
          <p:nvPr/>
        </p:nvSpPr>
        <p:spPr>
          <a:xfrm>
            <a:off x="2606039" y="4546396"/>
            <a:ext cx="1363370" cy="365760"/>
          </a:xfrm>
          <a:prstGeom prst="rect">
            <a:avLst/>
          </a:prstGeom>
          <a:noFill/>
        </p:spPr>
        <p:txBody>
          <a:bodyPr wrap="square" lIns="0" rIns="0" tIns="0" bIns="0">
            <a:spAutoFit/>
          </a:bodyPr>
          <a:lstStyle/>
          <a:p>
            <a:pPr>
              <a:spcBef>
                <a:spcPts val="0"/>
              </a:spcBef>
              <a:spcAft>
                <a:spcPts val="500"/>
              </a:spcAft>
              <a:defRPr sz="900" b="1">
                <a:solidFill>
                  <a:srgbClr val="A56A00"/>
                </a:solidFill>
                <a:latin typeface="Arial"/>
              </a:defRPr>
            </a:pPr>
            <a:r>
              <a:t>ĐIỂM CHỜ HỖ TRỢ</a:t>
            </a:r>
          </a:p>
        </p:txBody>
      </p:sp>
      <p:sp xmlns:a="http://schemas.openxmlformats.org/drawingml/2006/main">
        <p:nvSpPr>
          <p:cNvPr id="56" name="Rounded Rectangle 55"/>
          <p:cNvSpPr/>
          <p:nvPr/>
        </p:nvSpPr>
        <p:spPr>
          <a:xfrm>
            <a:off x="7498079" y="2057400"/>
            <a:ext cx="3749039"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7571231" y="2107692"/>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01  LOẠI TUYẾN KHÔNG AN TOÀN</a:t>
            </a:r>
          </a:p>
        </p:txBody>
      </p:sp>
      <p:sp xmlns:a="http://schemas.openxmlformats.org/drawingml/2006/main">
        <p:nvSpPr>
          <p:cNvPr id="58" name="TextBox 57"/>
          <p:cNvSpPr txBox="1"/>
          <p:nvPr/>
        </p:nvSpPr>
        <p:spPr>
          <a:xfrm>
            <a:off x="7498079" y="2542032"/>
            <a:ext cx="3794760" cy="685800"/>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Cháy, khói, cửa khóa, lối bị chặn và dữ liệu đã hết hiệu lực.</a:t>
            </a:r>
          </a:p>
        </p:txBody>
      </p:sp>
      <p:sp xmlns:a="http://schemas.openxmlformats.org/drawingml/2006/main">
        <p:nvSpPr>
          <p:cNvPr id="59" name="Rounded Rectangle 58"/>
          <p:cNvSpPr/>
          <p:nvPr/>
        </p:nvSpPr>
        <p:spPr>
          <a:xfrm>
            <a:off x="7498079" y="3337560"/>
            <a:ext cx="3749039"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0" name="TextBox 59"/>
          <p:cNvSpPr txBox="1"/>
          <p:nvPr/>
        </p:nvSpPr>
        <p:spPr>
          <a:xfrm>
            <a:off x="7571231" y="3387852"/>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02  CHỌN TUYẾN PHÙ HỢP</a:t>
            </a:r>
          </a:p>
        </p:txBody>
      </p:sp>
      <p:sp xmlns:a="http://schemas.openxmlformats.org/drawingml/2006/main">
        <p:nvSpPr>
          <p:cNvPr id="61" name="TextBox 60"/>
          <p:cNvSpPr txBox="1"/>
          <p:nvPr/>
        </p:nvSpPr>
        <p:spPr>
          <a:xfrm>
            <a:off x="7498079" y="3813048"/>
            <a:ext cx="3794760" cy="731520"/>
          </a:xfrm>
          <a:prstGeom prst="rect">
            <a:avLst/>
          </a:prstGeom>
          <a:noFill/>
        </p:spPr>
        <p:txBody>
          <a:bodyPr wrap="square" lIns="0" rIns="0" tIns="0" bIns="0">
            <a:spAutoFit/>
          </a:bodyPr>
          <a:lstStyle/>
          <a:p>
            <a:pPr>
              <a:spcBef>
                <a:spcPts val="0"/>
              </a:spcBef>
              <a:spcAft>
                <a:spcPts val="500"/>
              </a:spcAft>
              <a:defRPr sz="1700" b="0">
                <a:solidFill>
                  <a:srgbClr val="20252B"/>
                </a:solidFill>
                <a:latin typeface="Arial"/>
              </a:defRPr>
            </a:pPr>
            <a:r>
              <a:t>Khả năng vận động, năng lực lối đi, độ tin cậy và thời gian dự kiến.</a:t>
            </a:r>
          </a:p>
        </p:txBody>
      </p:sp>
      <p:sp xmlns:a="http://schemas.openxmlformats.org/drawingml/2006/main">
        <p:nvSpPr>
          <p:cNvPr id="62" name="Rounded Rectangle 61"/>
          <p:cNvSpPr/>
          <p:nvPr/>
        </p:nvSpPr>
        <p:spPr>
          <a:xfrm>
            <a:off x="7498079" y="4645152"/>
            <a:ext cx="3749039"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3" name="TextBox 62"/>
          <p:cNvSpPr txBox="1"/>
          <p:nvPr/>
        </p:nvSpPr>
        <p:spPr>
          <a:xfrm>
            <a:off x="7571231" y="4695444"/>
            <a:ext cx="360273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03  CẬP NHẬT KHI THAY ĐỔI</a:t>
            </a:r>
          </a:p>
        </p:txBody>
      </p:sp>
      <p:sp xmlns:a="http://schemas.openxmlformats.org/drawingml/2006/main">
        <p:nvSpPr>
          <p:cNvPr id="64" name="TextBox 63"/>
          <p:cNvSpPr txBox="1"/>
          <p:nvPr/>
        </p:nvSpPr>
        <p:spPr>
          <a:xfrm>
            <a:off x="7498079" y="5102352"/>
            <a:ext cx="3794760"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Thu hồi tuyến cũ và dừng voice cũ; chuyển hỗ trợ nếu không còn tuyến.</a:t>
            </a:r>
          </a:p>
        </p:txBody>
      </p:sp>
    </p:spTree>
    <p:extLst>
      <p:ext uri="{BB962C8B-B14F-4D97-AF65-F5344CB8AC3E}">
        <p14:creationId xmlns:p14="http://schemas.microsoft.com/office/powerpoint/2010/main" val="167660602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SMARTPHONE • VOICE • TIẾP CẬN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Nhìn thấy việc cần làm. Nghe hướng dẫn khi cần.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Hướng dẫn bằng hình • mốc dễ nhận biết • luôn có lối yêu cầu hỗ trợ</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13</a:t>
            </a:r>
          </a:p>
        </p:txBody>
      </p:sp>
      <p:pic xmlns:a="http://schemas.openxmlformats.org/drawingml/2006/main" xmlns:r="http://schemas.openxmlformats.org/officeDocument/2006/relationships">
        <p:nvPicPr>
          <p:cNvPr id="35" name="Picture 34" descr="C05-vi.png"/>
          <p:cNvPicPr>
            <a:picLocks noChangeAspect="1"/>
          </p:cNvPicPr>
          <p:nvPr/>
        </p:nvPicPr>
        <p:blipFill>
          <a:blip r:embed="rId6"/>
          <a:stretch>
            <a:fillRect/>
          </a:stretch>
        </p:blipFill>
        <p:spPr>
          <a:xfrm>
            <a:off x="782743" y="1938528"/>
            <a:ext cx="1772073" cy="4160520"/>
          </a:xfrm>
          <a:prstGeom prst="rect">
            <a:avLst/>
          </a:prstGeom>
        </p:spPr>
      </p:pic>
      <p:pic xmlns:a="http://schemas.openxmlformats.org/drawingml/2006/main" xmlns:r="http://schemas.openxmlformats.org/officeDocument/2006/relationships">
        <p:nvPicPr>
          <p:cNvPr id="36" name="Picture 35" descr="C35-vi.png"/>
          <p:cNvPicPr>
            <a:picLocks noChangeAspect="1"/>
          </p:cNvPicPr>
          <p:nvPr/>
        </p:nvPicPr>
        <p:blipFill>
          <a:blip r:embed="rId7"/>
          <a:stretch>
            <a:fillRect/>
          </a:stretch>
        </p:blipFill>
        <p:spPr>
          <a:xfrm>
            <a:off x="3343063" y="1938528"/>
            <a:ext cx="1772073" cy="4160520"/>
          </a:xfrm>
          <a:prstGeom prst="rect">
            <a:avLst/>
          </a:prstGeom>
        </p:spPr>
      </p:pic>
      <p:pic xmlns:a="http://schemas.openxmlformats.org/drawingml/2006/main" xmlns:r="http://schemas.openxmlformats.org/officeDocument/2006/relationships">
        <p:nvPicPr>
          <p:cNvPr id="37" name="Picture 36" descr="C38-vi.png"/>
          <p:cNvPicPr>
            <a:picLocks noChangeAspect="1"/>
          </p:cNvPicPr>
          <p:nvPr/>
        </p:nvPicPr>
        <p:blipFill>
          <a:blip r:embed="rId8"/>
          <a:stretch>
            <a:fillRect/>
          </a:stretch>
        </p:blipFill>
        <p:spPr>
          <a:xfrm>
            <a:off x="5903383" y="1938528"/>
            <a:ext cx="1772073" cy="4160520"/>
          </a:xfrm>
          <a:prstGeom prst="rect">
            <a:avLst/>
          </a:prstGeom>
        </p:spPr>
      </p:pic>
      <p:sp xmlns:a="http://schemas.openxmlformats.org/drawingml/2006/main">
        <p:nvSpPr>
          <p:cNvPr id="38" name="TextBox 37"/>
          <p:cNvSpPr txBox="1"/>
          <p:nvPr/>
        </p:nvSpPr>
        <p:spPr>
          <a:xfrm>
            <a:off x="8229600" y="2148840"/>
            <a:ext cx="3383280" cy="3794760"/>
          </a:xfrm>
          <a:prstGeom prst="rect">
            <a:avLst/>
          </a:prstGeom>
          <a:noFill/>
        </p:spPr>
        <p:txBody>
          <a:bodyPr wrap="square" lIns="0" rIns="0" tIns="0" bIns="0">
            <a:spAutoFit/>
          </a:bodyPr>
          <a:lstStyle/>
          <a:p>
            <a:pPr>
              <a:defRPr sz="1700" b="0">
                <a:solidFill>
                  <a:srgbClr val="142B35"/>
                </a:solidFill>
                <a:latin typeface="Segoe UI"/>
              </a:defRPr>
            </a:pPr>
            <a:r>
              <a:t>SOS BẰNG HÌNH</a:t>
            </a:r>
          </a:p>
          <a:p>
            <a:pPr>
              <a:defRPr sz="1700" b="0">
                <a:solidFill>
                  <a:srgbClr val="142B35"/>
                </a:solidFill>
                <a:latin typeface="Segoe UI"/>
              </a:defRPr>
            </a:pPr>
            <a:r>
              <a:t>Chọn tình huống, giảm bước nhập.</a:t>
            </a:r>
          </a:p>
          <a:p>
            <a:pPr>
              <a:defRPr sz="1700" b="0">
                <a:solidFill>
                  <a:srgbClr val="142B35"/>
                </a:solidFill>
                <a:latin typeface="Segoe UI"/>
              </a:defRPr>
            </a:pPr>
          </a:p>
          <a:p>
            <a:pPr>
              <a:defRPr sz="1700" b="0">
                <a:solidFill>
                  <a:srgbClr val="142B35"/>
                </a:solidFill>
                <a:latin typeface="Segoe UI"/>
              </a:defRPr>
            </a:pPr>
            <a:r>
              <a:t>DẪN ĐƯỜNG THEO MỐC</a:t>
            </a:r>
          </a:p>
          <a:p>
            <a:pPr>
              <a:defRPr sz="1700" b="0">
                <a:solidFill>
                  <a:srgbClr val="142B35"/>
                </a:solidFill>
                <a:latin typeface="Segoe UI"/>
              </a:defRPr>
            </a:pPr>
            <a:r>
              <a:t>Bản đồ gắn với hành động kế tiếp.</a:t>
            </a:r>
          </a:p>
          <a:p>
            <a:pPr>
              <a:defRPr sz="1700" b="0">
                <a:solidFill>
                  <a:srgbClr val="142B35"/>
                </a:solidFill>
                <a:latin typeface="Segoe UI"/>
              </a:defRPr>
            </a:pPr>
          </a:p>
          <a:p>
            <a:pPr>
              <a:defRPr sz="1700" b="0">
                <a:solidFill>
                  <a:srgbClr val="142B35"/>
                </a:solidFill>
                <a:latin typeface="Segoe UI"/>
              </a:defRPr>
            </a:pPr>
            <a:r>
              <a:t>CHƯA CÓ TUYẾN TIN CẬY</a:t>
            </a:r>
          </a:p>
          <a:p>
            <a:pPr>
              <a:defRPr sz="1700" b="0">
                <a:solidFill>
                  <a:srgbClr val="142B35"/>
                </a:solidFill>
                <a:latin typeface="Segoe UI"/>
              </a:defRPr>
            </a:pPr>
            <a:r>
              <a:t>Ẩn mũi tên; mở phương án trợ giúp.</a:t>
            </a:r>
          </a:p>
        </p:txBody>
      </p:sp>
    </p:spTree>
    <p:extLst>
      <p:ext uri="{BB962C8B-B14F-4D97-AF65-F5344CB8AC3E}">
        <p14:creationId xmlns:p14="http://schemas.microsoft.com/office/powerpoint/2010/main" val="87764358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voice.png"/>
          <p:cNvPicPr>
            <a:picLocks noChangeAspect="1"/>
          </p:cNvPicPr>
          <p:nvPr/>
        </p:nvPicPr>
        <p:blipFill>
          <a:blip r:embed="rId3"/>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LOA CỨU HỘ • Loa tòa nhà + Voice smartphone + Loa drone + Loa phương tiện — cùng một thông điệp được duyệt</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14</a:t>
            </a:r>
          </a:p>
        </p:txBody>
      </p:sp>
    </p:spTree>
    <p:extLst>
      <p:ext uri="{BB962C8B-B14F-4D97-AF65-F5344CB8AC3E}">
        <p14:creationId xmlns:p14="http://schemas.microsoft.com/office/powerpoint/2010/main" val="121588972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ĐIỀU PHỐI CẢNH BÁO ĐA KÊNH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nội dung. Đúng vùng. Đúng phiên bản.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Cảnh báo được theo dõi đến từng kênh, có chuyển cấp khi kênh chính thất bại.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15</a:t>
            </a:r>
          </a:p>
        </p:txBody>
      </p:sp>
      <p:sp xmlns:a="http://schemas.openxmlformats.org/drawingml/2006/main">
        <p:nvSpPr>
          <p:cNvPr id="35" name="Rounded Rectangle 34"/>
          <p:cNvSpPr/>
          <p:nvPr/>
        </p:nvSpPr>
        <p:spPr>
          <a:xfrm>
            <a:off x="64008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48840"/>
            <a:ext cx="50292" cy="260604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304288"/>
            <a:ext cx="305409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01 / SOẠN &amp; DUYỆT</a:t>
            </a:r>
          </a:p>
        </p:txBody>
      </p:sp>
      <p:sp xmlns:a="http://schemas.openxmlformats.org/drawingml/2006/main">
        <p:nvSpPr>
          <p:cNvPr id="38" name="TextBox 37"/>
          <p:cNvSpPr txBox="1"/>
          <p:nvPr/>
        </p:nvSpPr>
        <p:spPr>
          <a:xfrm>
            <a:off x="804671"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Chọn vùng, mức độ, ngôn ngữ</a:t>
            </a:r>
          </a:p>
          <a:p>
            <a:pPr>
              <a:spcBef>
                <a:spcPts val="0"/>
              </a:spcBef>
              <a:spcAft>
                <a:spcPts val="500"/>
              </a:spcAft>
              <a:defRPr sz="1600" b="0">
                <a:solidFill>
                  <a:srgbClr val="20252B"/>
                </a:solidFill>
                <a:latin typeface="Arial"/>
              </a:defRPr>
            </a:pPr>
            <a:r>
              <a:t>Mẫu khẩn cấp đã thẩm định</a:t>
            </a:r>
          </a:p>
          <a:p>
            <a:pPr>
              <a:spcBef>
                <a:spcPts val="0"/>
              </a:spcBef>
              <a:spcAft>
                <a:spcPts val="500"/>
              </a:spcAft>
              <a:defRPr sz="1600" b="0">
                <a:solidFill>
                  <a:srgbClr val="20252B"/>
                </a:solidFill>
                <a:latin typeface="Arial"/>
              </a:defRPr>
            </a:pPr>
            <a:r>
              <a:t>Quyền duyệt theo loại hành động</a:t>
            </a:r>
          </a:p>
        </p:txBody>
      </p:sp>
      <p:sp xmlns:a="http://schemas.openxmlformats.org/drawingml/2006/main">
        <p:nvSpPr>
          <p:cNvPr id="39" name="Rounded Rectangle 38"/>
          <p:cNvSpPr/>
          <p:nvPr/>
        </p:nvSpPr>
        <p:spPr>
          <a:xfrm>
            <a:off x="438912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26060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05409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02 / PHÂN PHỐI</a:t>
            </a:r>
          </a:p>
        </p:txBody>
      </p:sp>
      <p:sp xmlns:a="http://schemas.openxmlformats.org/drawingml/2006/main">
        <p:nvSpPr>
          <p:cNvPr id="42" name="TextBox 41"/>
          <p:cNvSpPr txBox="1"/>
          <p:nvPr/>
        </p:nvSpPr>
        <p:spPr>
          <a:xfrm>
            <a:off x="4553712"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App / push / SMS / liên lạc</a:t>
            </a:r>
          </a:p>
          <a:p>
            <a:pPr>
              <a:spcBef>
                <a:spcPts val="0"/>
              </a:spcBef>
              <a:spcAft>
                <a:spcPts val="500"/>
              </a:spcAft>
              <a:defRPr sz="1600" b="0">
                <a:solidFill>
                  <a:srgbClr val="20252B"/>
                </a:solidFill>
                <a:latin typeface="Arial"/>
              </a:defRPr>
            </a:pPr>
            <a:r>
              <a:t>Loa tòa nhà / phương tiện</a:t>
            </a:r>
          </a:p>
          <a:p>
            <a:pPr>
              <a:spcBef>
                <a:spcPts val="0"/>
              </a:spcBef>
              <a:spcAft>
                <a:spcPts val="500"/>
              </a:spcAft>
              <a:defRPr sz="1600" b="0">
                <a:solidFill>
                  <a:srgbClr val="20252B"/>
                </a:solidFill>
                <a:latin typeface="Arial"/>
              </a:defRPr>
            </a:pPr>
            <a:r>
              <a:t>Drone theo capability</a:t>
            </a:r>
          </a:p>
        </p:txBody>
      </p:sp>
      <p:sp xmlns:a="http://schemas.openxmlformats.org/drawingml/2006/main">
        <p:nvSpPr>
          <p:cNvPr id="43" name="Rounded Rectangle 42"/>
          <p:cNvSpPr/>
          <p:nvPr/>
        </p:nvSpPr>
        <p:spPr>
          <a:xfrm>
            <a:off x="8138160" y="2148840"/>
            <a:ext cx="3383280" cy="260604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138160" y="2148840"/>
            <a:ext cx="50292" cy="2606040"/>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02752" y="2304288"/>
            <a:ext cx="305409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03 / THEO DÕI</a:t>
            </a:r>
          </a:p>
        </p:txBody>
      </p:sp>
      <p:sp xmlns:a="http://schemas.openxmlformats.org/drawingml/2006/main">
        <p:nvSpPr>
          <p:cNvPr id="46" name="TextBox 45"/>
          <p:cNvSpPr txBox="1"/>
          <p:nvPr/>
        </p:nvSpPr>
        <p:spPr>
          <a:xfrm>
            <a:off x="8302752" y="2944368"/>
            <a:ext cx="3054096" cy="170992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Đã gửi / lỗi / chưa rõ</a:t>
            </a:r>
          </a:p>
          <a:p>
            <a:pPr>
              <a:spcBef>
                <a:spcPts val="0"/>
              </a:spcBef>
              <a:spcAft>
                <a:spcPts val="500"/>
              </a:spcAft>
              <a:defRPr sz="1600" b="0">
                <a:solidFill>
                  <a:srgbClr val="20252B"/>
                </a:solidFill>
                <a:latin typeface="Arial"/>
              </a:defRPr>
            </a:pPr>
            <a:r>
              <a:t>Đã phát / bị gián đoạn</a:t>
            </a:r>
          </a:p>
          <a:p>
            <a:pPr>
              <a:spcBef>
                <a:spcPts val="0"/>
              </a:spcBef>
              <a:spcAft>
                <a:spcPts val="500"/>
              </a:spcAft>
              <a:defRPr sz="1600" b="0">
                <a:solidFill>
                  <a:srgbClr val="20252B"/>
                </a:solidFill>
                <a:latin typeface="Arial"/>
              </a:defRPr>
            </a:pPr>
            <a:r>
              <a:t>Người xác nhận / chuyển cấp</a:t>
            </a:r>
          </a:p>
        </p:txBody>
      </p:sp>
      <p:sp xmlns:a="http://schemas.openxmlformats.org/drawingml/2006/main">
        <p:nvSpPr>
          <p:cNvPr id="47" name="Chevron 46"/>
          <p:cNvSpPr/>
          <p:nvPr/>
        </p:nvSpPr>
        <p:spPr>
          <a:xfrm>
            <a:off x="409651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45552" y="3291840"/>
            <a:ext cx="219456"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694944" y="5294376"/>
            <a:ext cx="10881360" cy="530352"/>
          </a:xfrm>
          <a:prstGeom prst="rect">
            <a:avLst/>
          </a:prstGeom>
          <a:noFill/>
        </p:spPr>
        <p:txBody>
          <a:bodyPr wrap="square" lIns="0" rIns="0" tIns="0" bIns="0">
            <a:spAutoFit/>
          </a:bodyPr>
          <a:lstStyle/>
          <a:p>
            <a:pPr>
              <a:spcBef>
                <a:spcPts val="0"/>
              </a:spcBef>
              <a:spcAft>
                <a:spcPts val="500"/>
              </a:spcAft>
              <a:defRPr sz="2200" b="1">
                <a:solidFill>
                  <a:srgbClr val="C8102E"/>
                </a:solidFill>
                <a:latin typeface="Arial"/>
              </a:defRPr>
            </a:pPr>
            <a:r>
              <a:t>Cập nhật hoặc hủy thông điệp phải đến cả app và thiết bị phát liên quan.</a:t>
            </a:r>
          </a:p>
        </p:txBody>
      </p:sp>
    </p:spTree>
    <p:extLst>
      <p:ext uri="{BB962C8B-B14F-4D97-AF65-F5344CB8AC3E}">
        <p14:creationId xmlns:p14="http://schemas.microsoft.com/office/powerpoint/2010/main" val="14723638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02 • THIÊN TAI</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Cảnh báo theo vùng, dẫn đến hành động tại địa phương.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Bão, lũ hoặc nguy cơ diện rộng kết nối nguồn cảnh báo, nơi trú ẩn và lực lượng ứng cứu.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16</a:t>
            </a:r>
          </a:p>
        </p:txBody>
      </p:sp>
      <p:sp xmlns:a="http://schemas.openxmlformats.org/drawingml/2006/main">
        <p:nvSpPr>
          <p:cNvPr id="35" name="Rounded Rectangle 34"/>
          <p:cNvSpPr/>
          <p:nvPr/>
        </p:nvSpPr>
        <p:spPr>
          <a:xfrm>
            <a:off x="640080" y="2011680"/>
            <a:ext cx="6537960" cy="361188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xmlns:a="http://schemas.openxmlformats.org/drawingml/2006/main">
        <p:nvCxnSpPr>
          <p:cNvPr id="36" name="Connector 35"/>
          <p:cNvCxnSpPr/>
          <p:nvPr/>
        </p:nvCxnSpPr>
        <p:spPr>
          <a:xfrm>
            <a:off x="822960" y="237744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7" name="Connector 36"/>
          <p:cNvCxnSpPr/>
          <p:nvPr/>
        </p:nvCxnSpPr>
        <p:spPr>
          <a:xfrm>
            <a:off x="822960" y="279806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8" name="Connector 37"/>
          <p:cNvCxnSpPr/>
          <p:nvPr/>
        </p:nvCxnSpPr>
        <p:spPr>
          <a:xfrm>
            <a:off x="822960" y="3218688"/>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9" name="Connector 38"/>
          <p:cNvCxnSpPr/>
          <p:nvPr/>
        </p:nvCxnSpPr>
        <p:spPr>
          <a:xfrm>
            <a:off x="822960" y="3639312"/>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0" name="Connector 39"/>
          <p:cNvCxnSpPr/>
          <p:nvPr/>
        </p:nvCxnSpPr>
        <p:spPr>
          <a:xfrm>
            <a:off x="822960" y="4059936"/>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1" name="Connector 40"/>
          <p:cNvCxnSpPr/>
          <p:nvPr/>
        </p:nvCxnSpPr>
        <p:spPr>
          <a:xfrm>
            <a:off x="822960" y="4480560"/>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2" name="Connector 41"/>
          <p:cNvCxnSpPr/>
          <p:nvPr/>
        </p:nvCxnSpPr>
        <p:spPr>
          <a:xfrm>
            <a:off x="822960" y="4901184"/>
            <a:ext cx="6035040" cy="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3" name="Connector 42"/>
          <p:cNvCxnSpPr/>
          <p:nvPr/>
        </p:nvCxnSpPr>
        <p:spPr>
          <a:xfrm>
            <a:off x="10972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4" name="Connector 43"/>
          <p:cNvCxnSpPr/>
          <p:nvPr/>
        </p:nvCxnSpPr>
        <p:spPr>
          <a:xfrm>
            <a:off x="1874519"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5" name="Connector 44"/>
          <p:cNvCxnSpPr/>
          <p:nvPr/>
        </p:nvCxnSpPr>
        <p:spPr>
          <a:xfrm>
            <a:off x="26517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6" name="Connector 45"/>
          <p:cNvCxnSpPr/>
          <p:nvPr/>
        </p:nvCxnSpPr>
        <p:spPr>
          <a:xfrm>
            <a:off x="342900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7" name="Connector 46"/>
          <p:cNvCxnSpPr/>
          <p:nvPr/>
        </p:nvCxnSpPr>
        <p:spPr>
          <a:xfrm>
            <a:off x="420624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8" name="Connector 47"/>
          <p:cNvCxnSpPr/>
          <p:nvPr/>
        </p:nvCxnSpPr>
        <p:spPr>
          <a:xfrm>
            <a:off x="498348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49" name="Connector 48"/>
          <p:cNvCxnSpPr/>
          <p:nvPr/>
        </p:nvCxnSpPr>
        <p:spPr>
          <a:xfrm>
            <a:off x="576072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0" name="Connector 49"/>
          <p:cNvCxnSpPr/>
          <p:nvPr/>
        </p:nvCxnSpPr>
        <p:spPr>
          <a:xfrm>
            <a:off x="6537960" y="2194560"/>
            <a:ext cx="0" cy="3246120"/>
          </a:xfrm>
          <a:prstGeom prst="line">
            <a:avLst/>
          </a:prstGeom>
          <a:ln w="12700">
            <a:solidFill>
              <a:srgbClr val="19475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1" name="Rounded Rectangle 50"/>
          <p:cNvSpPr/>
          <p:nvPr/>
        </p:nvSpPr>
        <p:spPr>
          <a:xfrm>
            <a:off x="4389120" y="2423160"/>
            <a:ext cx="2194560" cy="1828800"/>
          </a:xfrm>
          <a:prstGeom prst="roundRect">
            <a:avLst>
              <a:gd name="adj" fmla="val 6000"/>
            </a:avLst>
          </a:prstGeom>
          <a:solidFill>
            <a:srgbClr val="8A27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4572000" y="2880360"/>
            <a:ext cx="1828800" cy="1005840"/>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VÙNG CẢNH BÁO</a:t>
            </a:r>
          </a:p>
          <a:p>
            <a:pPr>
              <a:spcBef>
                <a:spcPts val="0"/>
              </a:spcBef>
              <a:spcAft>
                <a:spcPts val="500"/>
              </a:spcAft>
              <a:defRPr sz="1600" b="1">
                <a:solidFill>
                  <a:srgbClr val="FFFFFF"/>
                </a:solidFill>
                <a:latin typeface="Arial"/>
              </a:defRPr>
            </a:pPr>
            <a:r>
              <a:t>Nguồn • thời hạn</a:t>
            </a:r>
          </a:p>
        </p:txBody>
      </p:sp>
      <p:cxnSp xmlns:a="http://schemas.openxmlformats.org/drawingml/2006/main">
        <p:nvCxnSpPr>
          <p:cNvPr id="53" name="Connector 52"/>
          <p:cNvCxnSpPr/>
          <p:nvPr/>
        </p:nvCxnSpPr>
        <p:spPr>
          <a:xfrm flipH="1">
            <a:off x="1920240" y="4114800"/>
            <a:ext cx="2103120" cy="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54" name="Connector 53"/>
          <p:cNvCxnSpPr/>
          <p:nvPr/>
        </p:nvCxnSpPr>
        <p:spPr>
          <a:xfrm flipV="1">
            <a:off x="1920240" y="2971800"/>
            <a:ext cx="0" cy="1143000"/>
          </a:xfrm>
          <a:prstGeom prst="line">
            <a:avLst/>
          </a:prstGeom>
          <a:ln w="635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Oval 54"/>
          <p:cNvSpPr/>
          <p:nvPr/>
        </p:nvSpPr>
        <p:spPr>
          <a:xfrm>
            <a:off x="1691640" y="2743200"/>
            <a:ext cx="457200" cy="45720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1051560" y="2359152"/>
            <a:ext cx="2103120" cy="246888"/>
          </a:xfrm>
          <a:prstGeom prst="rect">
            <a:avLst/>
          </a:prstGeom>
          <a:noFill/>
        </p:spPr>
        <p:txBody>
          <a:bodyPr wrap="square" lIns="0" rIns="0" tIns="0" bIns="0">
            <a:spAutoFit/>
          </a:bodyPr>
          <a:lstStyle/>
          <a:p>
            <a:pPr>
              <a:spcBef>
                <a:spcPts val="0"/>
              </a:spcBef>
              <a:spcAft>
                <a:spcPts val="500"/>
              </a:spcAft>
              <a:defRPr sz="1300" b="1">
                <a:solidFill>
                  <a:srgbClr val="FFFFFF"/>
                </a:solidFill>
                <a:latin typeface="Arial"/>
              </a:defRPr>
            </a:pPr>
            <a:r>
              <a:t>ĐIỂM TRÚ ẨN</a:t>
            </a:r>
          </a:p>
        </p:txBody>
      </p:sp>
      <p:sp xmlns:a="http://schemas.openxmlformats.org/drawingml/2006/main">
        <p:nvSpPr>
          <p:cNvPr id="57" name="TextBox 56"/>
          <p:cNvSpPr txBox="1"/>
          <p:nvPr/>
        </p:nvSpPr>
        <p:spPr>
          <a:xfrm>
            <a:off x="914400" y="5230368"/>
            <a:ext cx="5577840" cy="228600"/>
          </a:xfrm>
          <a:prstGeom prst="rect">
            <a:avLst/>
          </a:prstGeom>
          <a:noFill/>
        </p:spPr>
        <p:txBody>
          <a:bodyPr wrap="square" lIns="0" rIns="0" tIns="0" bIns="0">
            <a:spAutoFit/>
          </a:bodyPr>
          <a:lstStyle/>
          <a:p>
            <a:pPr>
              <a:spcBef>
                <a:spcPts val="0"/>
              </a:spcBef>
              <a:spcAft>
                <a:spcPts val="500"/>
              </a:spcAft>
              <a:defRPr sz="1000" b="0">
                <a:solidFill>
                  <a:srgbClr val="FFFFFF"/>
                </a:solidFill>
                <a:latin typeface="Arial"/>
              </a:defRPr>
            </a:pPr>
            <a:r>
              <a:t>Sơ đồ vùng minh họa</a:t>
            </a:r>
          </a:p>
        </p:txBody>
      </p:sp>
      <p:sp xmlns:a="http://schemas.openxmlformats.org/drawingml/2006/main">
        <p:nvSpPr>
          <p:cNvPr id="58" name="Rectangle 57"/>
          <p:cNvSpPr/>
          <p:nvPr/>
        </p:nvSpPr>
        <p:spPr>
          <a:xfrm>
            <a:off x="7424927" y="2048256"/>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9" name="TextBox 58"/>
          <p:cNvSpPr txBox="1"/>
          <p:nvPr/>
        </p:nvSpPr>
        <p:spPr>
          <a:xfrm>
            <a:off x="7562088" y="2167128"/>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Tiếp nhận</a:t>
            </a:r>
          </a:p>
        </p:txBody>
      </p:sp>
      <p:sp xmlns:a="http://schemas.openxmlformats.org/drawingml/2006/main">
        <p:nvSpPr>
          <p:cNvPr id="60" name="TextBox 59"/>
          <p:cNvSpPr txBox="1"/>
          <p:nvPr/>
        </p:nvSpPr>
        <p:spPr>
          <a:xfrm>
            <a:off x="8988551" y="2157984"/>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có thẩm quyền; bản gốc, Update/Cancel.</a:t>
            </a:r>
          </a:p>
        </p:txBody>
      </p:sp>
      <p:sp xmlns:a="http://schemas.openxmlformats.org/drawingml/2006/main">
        <p:nvSpPr>
          <p:cNvPr id="61" name="Rectangle 60"/>
          <p:cNvSpPr/>
          <p:nvPr/>
        </p:nvSpPr>
        <p:spPr>
          <a:xfrm>
            <a:off x="7424927" y="2935224"/>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2" name="TextBox 61"/>
          <p:cNvSpPr txBox="1"/>
          <p:nvPr/>
        </p:nvSpPr>
        <p:spPr>
          <a:xfrm>
            <a:off x="7562088" y="3054096"/>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Đánh giá</a:t>
            </a:r>
          </a:p>
        </p:txBody>
      </p:sp>
      <p:sp xmlns:a="http://schemas.openxmlformats.org/drawingml/2006/main">
        <p:nvSpPr>
          <p:cNvPr id="63" name="TextBox 62"/>
          <p:cNvSpPr txBox="1"/>
          <p:nvPr/>
        </p:nvSpPr>
        <p:spPr>
          <a:xfrm>
            <a:off x="8988551" y="3044952"/>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tác động, người hiện diện, nhu cầu hỗ trợ.</a:t>
            </a:r>
          </a:p>
        </p:txBody>
      </p:sp>
      <p:sp xmlns:a="http://schemas.openxmlformats.org/drawingml/2006/main">
        <p:nvSpPr>
          <p:cNvPr id="64" name="Rectangle 63"/>
          <p:cNvSpPr/>
          <p:nvPr/>
        </p:nvSpPr>
        <p:spPr>
          <a:xfrm>
            <a:off x="7424927" y="3822191"/>
            <a:ext cx="4114800" cy="80467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5" name="TextBox 64"/>
          <p:cNvSpPr txBox="1"/>
          <p:nvPr/>
        </p:nvSpPr>
        <p:spPr>
          <a:xfrm>
            <a:off x="7562088" y="3941063"/>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Hành động</a:t>
            </a:r>
          </a:p>
        </p:txBody>
      </p:sp>
      <p:sp xmlns:a="http://schemas.openxmlformats.org/drawingml/2006/main">
        <p:nvSpPr>
          <p:cNvPr id="66" name="TextBox 65"/>
          <p:cNvSpPr txBox="1"/>
          <p:nvPr/>
        </p:nvSpPr>
        <p:spPr>
          <a:xfrm>
            <a:off x="8988551" y="3931920"/>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nơi trú, loa, nhiệm vụ.</a:t>
            </a:r>
          </a:p>
        </p:txBody>
      </p:sp>
      <p:sp xmlns:a="http://schemas.openxmlformats.org/drawingml/2006/main">
        <p:nvSpPr>
          <p:cNvPr id="67" name="Rectangle 66"/>
          <p:cNvSpPr/>
          <p:nvPr/>
        </p:nvSpPr>
        <p:spPr>
          <a:xfrm>
            <a:off x="7424927" y="4709160"/>
            <a:ext cx="4114800" cy="8046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8" name="TextBox 67"/>
          <p:cNvSpPr txBox="1"/>
          <p:nvPr/>
        </p:nvSpPr>
        <p:spPr>
          <a:xfrm>
            <a:off x="7562088" y="4828032"/>
            <a:ext cx="1440180" cy="68580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Theo dõi</a:t>
            </a:r>
          </a:p>
        </p:txBody>
      </p:sp>
      <p:sp xmlns:a="http://schemas.openxmlformats.org/drawingml/2006/main">
        <p:nvSpPr>
          <p:cNvPr id="69" name="TextBox 68"/>
          <p:cNvSpPr txBox="1"/>
          <p:nvPr/>
        </p:nvSpPr>
        <p:spPr>
          <a:xfrm>
            <a:off x="8988551" y="4818888"/>
            <a:ext cx="2427732" cy="71323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tiếp cận, cập nhật hết hiệu lực.</a:t>
            </a:r>
          </a:p>
        </p:txBody>
      </p:sp>
    </p:spTree>
    <p:extLst>
      <p:ext uri="{BB962C8B-B14F-4D97-AF65-F5344CB8AC3E}">
        <p14:creationId xmlns:p14="http://schemas.microsoft.com/office/powerpoint/2010/main" val="65421101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TÌNH HUỐNG 03–05 • SOS ĐA NGHĨA</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Mỗi tình huống cần một cách tiếp cận riêng.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SOS, phát hiện tự động và yêu cầu trợ giúp được định tuyến bằng ngữ cảnh.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17</a:t>
            </a:r>
          </a:p>
        </p:txBody>
      </p:sp>
      <p:sp xmlns:a="http://schemas.openxmlformats.org/drawingml/2006/main">
        <p:nvSpPr>
          <p:cNvPr id="35" name="Rounded Rectangle 34"/>
          <p:cNvSpPr/>
          <p:nvPr/>
        </p:nvSpPr>
        <p:spPr>
          <a:xfrm>
            <a:off x="640080"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ounded Rectangle 35"/>
          <p:cNvSpPr/>
          <p:nvPr/>
        </p:nvSpPr>
        <p:spPr>
          <a:xfrm>
            <a:off x="804671"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77823"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TÉ NGÃ</a:t>
            </a:r>
          </a:p>
        </p:txBody>
      </p:sp>
      <p:sp xmlns:a="http://schemas.openxmlformats.org/drawingml/2006/main">
        <p:nvSpPr>
          <p:cNvPr id="38" name="TextBox 37"/>
          <p:cNvSpPr txBox="1"/>
          <p:nvPr/>
        </p:nvSpPr>
        <p:spPr>
          <a:xfrm>
            <a:off x="804671"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Wearable / cảm biến / tự báo</a:t>
            </a:r>
          </a:p>
        </p:txBody>
      </p:sp>
      <p:sp xmlns:a="http://schemas.openxmlformats.org/drawingml/2006/main">
        <p:nvSpPr>
          <p:cNvPr id="39" name="Chevron 38"/>
          <p:cNvSpPr/>
          <p:nvPr/>
        </p:nvSpPr>
        <p:spPr>
          <a:xfrm>
            <a:off x="822959"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804671"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Hỏi xác nhận → caregiver</a:t>
            </a:r>
          </a:p>
          <a:p>
            <a:pPr>
              <a:spcBef>
                <a:spcPts val="0"/>
              </a:spcBef>
              <a:spcAft>
                <a:spcPts val="500"/>
              </a:spcAft>
              <a:defRPr sz="1900" b="1">
                <a:solidFill>
                  <a:srgbClr val="06283F"/>
                </a:solidFill>
                <a:latin typeface="Arial"/>
              </a:defRPr>
            </a:pPr>
            <a:r>
              <a:t>→ đội hỗ trợ nếu cần</a:t>
            </a:r>
          </a:p>
        </p:txBody>
      </p:sp>
      <p:sp xmlns:a="http://schemas.openxmlformats.org/drawingml/2006/main">
        <p:nvSpPr>
          <p:cNvPr id="41" name="TextBox 40"/>
          <p:cNvSpPr txBox="1"/>
          <p:nvPr/>
        </p:nvSpPr>
        <p:spPr>
          <a:xfrm>
            <a:off x="804671"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Không phản hồi là lý do kiểm tra, chưa phải chẩn đoán.</a:t>
            </a:r>
          </a:p>
        </p:txBody>
      </p:sp>
      <p:sp xmlns:a="http://schemas.openxmlformats.org/drawingml/2006/main">
        <p:nvSpPr>
          <p:cNvPr id="42" name="Rounded Rectangle 41"/>
          <p:cNvSpPr/>
          <p:nvPr/>
        </p:nvSpPr>
        <p:spPr>
          <a:xfrm>
            <a:off x="4507992"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ounded Rectangle 42"/>
          <p:cNvSpPr/>
          <p:nvPr/>
        </p:nvSpPr>
        <p:spPr>
          <a:xfrm>
            <a:off x="4672584"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4745736"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TAI NẠN GIAO THÔNG</a:t>
            </a:r>
          </a:p>
        </p:txBody>
      </p:sp>
      <p:sp xmlns:a="http://schemas.openxmlformats.org/drawingml/2006/main">
        <p:nvSpPr>
          <p:cNvPr id="45" name="TextBox 44"/>
          <p:cNvSpPr txBox="1"/>
          <p:nvPr/>
        </p:nvSpPr>
        <p:spPr>
          <a:xfrm>
            <a:off x="4672584"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App / telematics / nguồn ngoài</a:t>
            </a:r>
          </a:p>
        </p:txBody>
      </p:sp>
      <p:sp xmlns:a="http://schemas.openxmlformats.org/drawingml/2006/main">
        <p:nvSpPr>
          <p:cNvPr id="46" name="Chevron 45"/>
          <p:cNvSpPr/>
          <p:nvPr/>
        </p:nvSpPr>
        <p:spPr>
          <a:xfrm>
            <a:off x="4690872"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4672584"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Vị trí &amp; chiều đường</a:t>
            </a:r>
          </a:p>
          <a:p>
            <a:pPr>
              <a:spcBef>
                <a:spcPts val="0"/>
              </a:spcBef>
              <a:spcAft>
                <a:spcPts val="500"/>
              </a:spcAft>
              <a:defRPr sz="1900" b="1">
                <a:solidFill>
                  <a:srgbClr val="06283F"/>
                </a:solidFill>
                <a:latin typeface="Arial"/>
              </a:defRPr>
            </a:pPr>
            <a:r>
              <a:t>→ lực lượng phù hợp</a:t>
            </a:r>
          </a:p>
        </p:txBody>
      </p:sp>
      <p:sp xmlns:a="http://schemas.openxmlformats.org/drawingml/2006/main">
        <p:nvSpPr>
          <p:cNvPr id="48" name="TextBox 47"/>
          <p:cNvSpPr txBox="1"/>
          <p:nvPr/>
        </p:nvSpPr>
        <p:spPr>
          <a:xfrm>
            <a:off x="4672584"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Dữ liệu người bị nạn và thương tích có thể chưa rõ.</a:t>
            </a:r>
          </a:p>
        </p:txBody>
      </p:sp>
      <p:sp xmlns:a="http://schemas.openxmlformats.org/drawingml/2006/main">
        <p:nvSpPr>
          <p:cNvPr id="49" name="Rounded Rectangle 48"/>
          <p:cNvSpPr/>
          <p:nvPr/>
        </p:nvSpPr>
        <p:spPr>
          <a:xfrm>
            <a:off x="8375904" y="2011680"/>
            <a:ext cx="3611880" cy="37033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540496" y="2212848"/>
            <a:ext cx="3282696" cy="292608"/>
          </a:xfrm>
          <a:prstGeom prst="roundRect">
            <a:avLst>
              <a:gd name="adj" fmla="val 6000"/>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613648" y="2263140"/>
            <a:ext cx="3136391"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SOS KÍN / TRỢ GIÚP</a:t>
            </a:r>
          </a:p>
        </p:txBody>
      </p:sp>
      <p:sp xmlns:a="http://schemas.openxmlformats.org/drawingml/2006/main">
        <p:nvSpPr>
          <p:cNvPr id="52" name="TextBox 51"/>
          <p:cNvSpPr txBox="1"/>
          <p:nvPr/>
        </p:nvSpPr>
        <p:spPr>
          <a:xfrm>
            <a:off x="8540496" y="2788920"/>
            <a:ext cx="3246120" cy="59436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Nút SOS / thao tác kín</a:t>
            </a:r>
          </a:p>
        </p:txBody>
      </p:sp>
      <p:sp xmlns:a="http://schemas.openxmlformats.org/drawingml/2006/main">
        <p:nvSpPr>
          <p:cNvPr id="53" name="Chevron 52"/>
          <p:cNvSpPr/>
          <p:nvPr/>
        </p:nvSpPr>
        <p:spPr>
          <a:xfrm>
            <a:off x="8558784" y="3547872"/>
            <a:ext cx="27432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540496" y="4069080"/>
            <a:ext cx="3246120" cy="777240"/>
          </a:xfrm>
          <a:prstGeom prst="rect">
            <a:avLst/>
          </a:prstGeom>
          <a:noFill/>
        </p:spPr>
        <p:txBody>
          <a:bodyPr wrap="square" lIns="0" rIns="0" tIns="0" bIns="0">
            <a:spAutoFit/>
          </a:bodyPr>
          <a:lstStyle/>
          <a:p>
            <a:pPr>
              <a:spcBef>
                <a:spcPts val="0"/>
              </a:spcBef>
              <a:spcAft>
                <a:spcPts val="500"/>
              </a:spcAft>
              <a:defRPr sz="1900" b="1">
                <a:solidFill>
                  <a:srgbClr val="06283F"/>
                </a:solidFill>
                <a:latin typeface="Arial"/>
              </a:defRPr>
            </a:pPr>
            <a:r>
              <a:t>Phân loại nhu cầu</a:t>
            </a:r>
          </a:p>
          <a:p>
            <a:pPr>
              <a:spcBef>
                <a:spcPts val="0"/>
              </a:spcBef>
              <a:spcAft>
                <a:spcPts val="500"/>
              </a:spcAft>
              <a:defRPr sz="1900" b="1">
                <a:solidFill>
                  <a:srgbClr val="06283F"/>
                </a:solidFill>
                <a:latin typeface="Arial"/>
              </a:defRPr>
            </a:pPr>
            <a:r>
              <a:t>→ quy trình phù hợp</a:t>
            </a:r>
          </a:p>
        </p:txBody>
      </p:sp>
      <p:sp xmlns:a="http://schemas.openxmlformats.org/drawingml/2006/main">
        <p:nvSpPr>
          <p:cNvPr id="55" name="TextBox 54"/>
          <p:cNvSpPr txBox="1"/>
          <p:nvPr/>
        </p:nvSpPr>
        <p:spPr>
          <a:xfrm>
            <a:off x="8540496" y="5074920"/>
            <a:ext cx="3246120"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Nội dung và âm thanh phải phù hợp mức nhạy cảm.</a:t>
            </a:r>
          </a:p>
        </p:txBody>
      </p:sp>
    </p:spTree>
    <p:extLst>
      <p:ext uri="{BB962C8B-B14F-4D97-AF65-F5344CB8AC3E}">
        <p14:creationId xmlns:p14="http://schemas.microsoft.com/office/powerpoint/2010/main" val="4825071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TRUNG TÂM ĐIỀU HÀNH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Một bức tranh điều hành có bằng chứng và hành động.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Lớp nguy hiểm • người cần hỗ trợ • điều phối • loa • thông tin chưa rõ</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18</a:t>
            </a:r>
          </a:p>
        </p:txBody>
      </p:sp>
      <p:pic xmlns:a="http://schemas.openxmlformats.org/drawingml/2006/main" xmlns:r="http://schemas.openxmlformats.org/officeDocument/2006/relationships">
        <p:nvPicPr>
          <p:cNvPr id="35" name="Picture 34" descr="O04-vi.png"/>
          <p:cNvPicPr>
            <a:picLocks noChangeAspect="1"/>
          </p:cNvPicPr>
          <p:nvPr/>
        </p:nvPicPr>
        <p:blipFill>
          <a:blip r:embed="rId3"/>
          <a:stretch>
            <a:fillRect/>
          </a:stretch>
        </p:blipFill>
        <p:spPr>
          <a:xfrm>
            <a:off x="961841" y="1901952"/>
            <a:ext cx="7311757" cy="4315968"/>
          </a:xfrm>
          <a:prstGeom prst="rect">
            <a:avLst/>
          </a:prstGeom>
        </p:spPr>
      </p:pic>
      <p:sp xmlns:a="http://schemas.openxmlformats.org/drawingml/2006/main">
        <p:nvSpPr>
          <p:cNvPr id="36" name="TextBox 35"/>
          <p:cNvSpPr txBox="1"/>
          <p:nvPr/>
        </p:nvSpPr>
        <p:spPr>
          <a:xfrm>
            <a:off x="8961120" y="2057400"/>
            <a:ext cx="2697480" cy="4023360"/>
          </a:xfrm>
          <a:prstGeom prst="rect">
            <a:avLst/>
          </a:prstGeom>
          <a:noFill/>
        </p:spPr>
        <p:txBody>
          <a:bodyPr wrap="square" lIns="0" rIns="0" tIns="0" bIns="0">
            <a:spAutoFit/>
          </a:bodyPr>
          <a:lstStyle/>
          <a:p>
            <a:pPr>
              <a:defRPr sz="1700" b="0">
                <a:solidFill>
                  <a:srgbClr val="142B35"/>
                </a:solidFill>
                <a:latin typeface="Segoe UI"/>
              </a:defRPr>
            </a:pPr>
            <a:r>
              <a:t>01  ĐỊNH VỊ</a:t>
            </a:r>
          </a:p>
          <a:p>
            <a:pPr>
              <a:defRPr sz="1700" b="0">
                <a:solidFill>
                  <a:srgbClr val="142B35"/>
                </a:solidFill>
                <a:latin typeface="Segoe UI"/>
              </a:defRPr>
            </a:pPr>
            <a:r>
              <a:t>Nguy hiểm, con người và nơi chờ hỗ trợ.</a:t>
            </a:r>
          </a:p>
          <a:p>
            <a:pPr>
              <a:defRPr sz="1700" b="0">
                <a:solidFill>
                  <a:srgbClr val="142B35"/>
                </a:solidFill>
                <a:latin typeface="Segoe UI"/>
              </a:defRPr>
            </a:pPr>
          </a:p>
          <a:p>
            <a:pPr>
              <a:defRPr sz="1700" b="0">
                <a:solidFill>
                  <a:srgbClr val="142B35"/>
                </a:solidFill>
                <a:latin typeface="Segoe UI"/>
              </a:defRPr>
            </a:pPr>
            <a:r>
              <a:t>02  ƯU TIÊN</a:t>
            </a:r>
          </a:p>
          <a:p>
            <a:pPr>
              <a:defRPr sz="1700" b="0">
                <a:solidFill>
                  <a:srgbClr val="142B35"/>
                </a:solidFill>
                <a:latin typeface="Segoe UI"/>
              </a:defRPr>
            </a:pPr>
            <a:r>
              <a:t>Người chưa rõ trạng thái luôn hiện diện.</a:t>
            </a:r>
          </a:p>
          <a:p>
            <a:pPr>
              <a:defRPr sz="1700" b="0">
                <a:solidFill>
                  <a:srgbClr val="142B35"/>
                </a:solidFill>
                <a:latin typeface="Segoe UI"/>
              </a:defRPr>
            </a:pPr>
          </a:p>
          <a:p>
            <a:pPr>
              <a:defRPr sz="1700" b="0">
                <a:solidFill>
                  <a:srgbClr val="142B35"/>
                </a:solidFill>
                <a:latin typeface="Segoe UI"/>
              </a:defRPr>
            </a:pPr>
            <a:r>
              <a:t>03  PHỐI HỢP</a:t>
            </a:r>
          </a:p>
          <a:p>
            <a:pPr>
              <a:defRPr sz="1700" b="0">
                <a:solidFill>
                  <a:srgbClr val="142B35"/>
                </a:solidFill>
                <a:latin typeface="Segoe UI"/>
              </a:defRPr>
            </a:pPr>
            <a:r>
              <a:t>Điều phối và vùng loa gắn với bằng chứng.</a:t>
            </a:r>
          </a:p>
        </p:txBody>
      </p:sp>
    </p:spTree>
    <p:extLst>
      <p:ext uri="{BB962C8B-B14F-4D97-AF65-F5344CB8AC3E}">
        <p14:creationId xmlns:p14="http://schemas.microsoft.com/office/powerpoint/2010/main" val="18594661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ĐỘI CỨU HỘ • TỪ PHÂN CÔNG ĐẾN BÀN GIAO</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Nhiệm vụ cứu hộ có thể nhận biết ngay bằng hình.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300" b="0">
                <a:solidFill>
                  <a:srgbClr val="52666F"/>
                </a:solidFill>
                <a:latin typeface="Segoe UI"/>
                <a:ea typeface="Arial"/>
                <a:cs typeface="Arial"/>
              </a:defRPr>
            </a:pPr>
            <a:r>
              <a:t>Vị trí • hạn chế tiếp cận • đội nhận việc • xác nhận hiện trường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19</a:t>
            </a:r>
          </a:p>
        </p:txBody>
      </p:sp>
      <p:pic xmlns:a="http://schemas.openxmlformats.org/drawingml/2006/main" xmlns:r="http://schemas.openxmlformats.org/officeDocument/2006/relationships">
        <p:nvPicPr>
          <p:cNvPr id="35" name="Picture 34" descr="R03-vi.png"/>
          <p:cNvPicPr>
            <a:picLocks noChangeAspect="1"/>
          </p:cNvPicPr>
          <p:nvPr/>
        </p:nvPicPr>
        <p:blipFill>
          <a:blip r:embed="rId3"/>
          <a:stretch>
            <a:fillRect/>
          </a:stretch>
        </p:blipFill>
        <p:spPr>
          <a:xfrm>
            <a:off x="887306" y="1920240"/>
            <a:ext cx="1791546" cy="4206240"/>
          </a:xfrm>
          <a:prstGeom prst="rect">
            <a:avLst/>
          </a:prstGeom>
        </p:spPr>
      </p:pic>
      <p:pic xmlns:a="http://schemas.openxmlformats.org/drawingml/2006/main" xmlns:r="http://schemas.openxmlformats.org/officeDocument/2006/relationships">
        <p:nvPicPr>
          <p:cNvPr id="36" name="Picture 35" descr="R04-vi.png"/>
          <p:cNvPicPr>
            <a:picLocks noChangeAspect="1"/>
          </p:cNvPicPr>
          <p:nvPr/>
        </p:nvPicPr>
        <p:blipFill>
          <a:blip r:embed="rId4"/>
          <a:stretch>
            <a:fillRect/>
          </a:stretch>
        </p:blipFill>
        <p:spPr>
          <a:xfrm>
            <a:off x="3630506" y="1920240"/>
            <a:ext cx="1791546" cy="4206240"/>
          </a:xfrm>
          <a:prstGeom prst="rect">
            <a:avLst/>
          </a:prstGeom>
        </p:spPr>
      </p:pic>
      <p:sp xmlns:a="http://schemas.openxmlformats.org/drawingml/2006/main">
        <p:nvSpPr>
          <p:cNvPr id="37" name="TextBox 36"/>
          <p:cNvSpPr txBox="1"/>
          <p:nvPr/>
        </p:nvSpPr>
        <p:spPr>
          <a:xfrm>
            <a:off x="6400800" y="2148840"/>
            <a:ext cx="5120640" cy="3840480"/>
          </a:xfrm>
          <a:prstGeom prst="rect">
            <a:avLst/>
          </a:prstGeom>
          <a:noFill/>
        </p:spPr>
        <p:txBody>
          <a:bodyPr wrap="square" lIns="0" rIns="0" tIns="0" bIns="0">
            <a:spAutoFit/>
          </a:bodyPr>
          <a:lstStyle/>
          <a:p>
            <a:pPr>
              <a:defRPr sz="2000" b="0">
                <a:solidFill>
                  <a:srgbClr val="142B35"/>
                </a:solidFill>
                <a:latin typeface="Segoe UI"/>
              </a:defRPr>
            </a:pPr>
            <a:r>
              <a:t>GIAO → NHẬN → TIẾP CẬN → BÀN GIAO</a:t>
            </a:r>
          </a:p>
          <a:p>
            <a:pPr>
              <a:defRPr sz="2000" b="0">
                <a:solidFill>
                  <a:srgbClr val="142B35"/>
                </a:solidFill>
                <a:latin typeface="Segoe UI"/>
              </a:defRPr>
            </a:pPr>
          </a:p>
          <a:p>
            <a:pPr>
              <a:defRPr sz="2000" b="0">
                <a:solidFill>
                  <a:srgbClr val="142B35"/>
                </a:solidFill>
                <a:latin typeface="Segoe UI"/>
              </a:defRPr>
            </a:pPr>
            <a:r>
              <a:t>Bản đồ và tóm tắt nhiệm vụ giúp đội nhận biết nơi cần đến, điều kiện tiếp cận.</a:t>
            </a:r>
          </a:p>
          <a:p>
            <a:pPr>
              <a:defRPr sz="2000" b="0">
                <a:solidFill>
                  <a:srgbClr val="142B35"/>
                </a:solidFill>
                <a:latin typeface="Segoe UI"/>
              </a:defRPr>
            </a:pPr>
          </a:p>
          <a:p>
            <a:pPr>
              <a:defRPr sz="2000" b="0">
                <a:solidFill>
                  <a:srgbClr val="142B35"/>
                </a:solidFill>
                <a:latin typeface="Segoe UI"/>
              </a:defRPr>
            </a:pPr>
            <a:r>
              <a:t>Nhận việc khác với đã đến. Cập nhật offline còn chờ xác nhận đồng bộ.</a:t>
            </a:r>
          </a:p>
          <a:p>
            <a:pPr>
              <a:defRPr sz="2000" b="0">
                <a:solidFill>
                  <a:srgbClr val="142B35"/>
                </a:solidFill>
                <a:latin typeface="Segoe UI"/>
              </a:defRPr>
            </a:pPr>
          </a:p>
          <a:p>
            <a:pPr>
              <a:defRPr sz="2000" b="0">
                <a:solidFill>
                  <a:srgbClr val="142B35"/>
                </a:solidFill>
                <a:latin typeface="Segoe UI"/>
              </a:defRPr>
            </a:pPr>
            <a:r>
              <a:t>Nhu cầu chức năng giúp chọn hỗ trợ; không có SOS không đồng nghĩa an toàn.</a:t>
            </a:r>
          </a:p>
        </p:txBody>
      </p:sp>
    </p:spTree>
    <p:extLst>
      <p:ext uri="{BB962C8B-B14F-4D97-AF65-F5344CB8AC3E}">
        <p14:creationId xmlns:p14="http://schemas.microsoft.com/office/powerpoint/2010/main" val="1063454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GIA ĐÌNH • NHÓM • XÁC NHẬN AN TOÀN</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cập nhật an toàn, đúng người nhận được biết.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Người thân theo dõi tình trạng; dữ liệu nhạy cảm vẫn được bảo vệ.</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20</a:t>
            </a:r>
          </a:p>
        </p:txBody>
      </p:sp>
      <p:pic xmlns:a="http://schemas.openxmlformats.org/drawingml/2006/main" xmlns:r="http://schemas.openxmlformats.org/officeDocument/2006/relationships">
        <p:nvPicPr>
          <p:cNvPr id="35" name="Picture 34" descr="overview.png"/>
          <p:cNvPicPr>
            <a:picLocks noChangeAspect="1"/>
          </p:cNvPicPr>
          <p:nvPr/>
        </p:nvPicPr>
        <p:blipFill>
          <a:blip r:embed="rId3"/>
          <a:srcRect l="72700" r="500" t="53500" b="13000"/>
          <a:stretch>
            <a:fillRect/>
          </a:stretch>
        </p:blipFill>
        <p:spPr>
          <a:xfrm>
            <a:off x="667512" y="2212848"/>
            <a:ext cx="3931920" cy="2432304"/>
          </a:xfrm>
          <a:prstGeom prst="rect">
            <a:avLst/>
          </a:prstGeom>
        </p:spPr>
      </p:pic>
      <p:sp xmlns:a="http://schemas.openxmlformats.org/drawingml/2006/main">
        <p:nvSpPr>
          <p:cNvPr id="36" name="TextBox 35"/>
          <p:cNvSpPr txBox="1"/>
          <p:nvPr/>
        </p:nvSpPr>
        <p:spPr>
          <a:xfrm>
            <a:off x="749808" y="5084064"/>
            <a:ext cx="3749039" cy="658368"/>
          </a:xfrm>
          <a:prstGeom prst="rect">
            <a:avLst/>
          </a:prstGeom>
          <a:noFill/>
        </p:spPr>
        <p:txBody>
          <a:bodyPr wrap="square" lIns="0" rIns="0" tIns="0" bIns="0">
            <a:spAutoFit/>
          </a:bodyPr>
          <a:lstStyle/>
          <a:p>
            <a:pPr>
              <a:spcBef>
                <a:spcPts val="0"/>
              </a:spcBef>
              <a:spcAft>
                <a:spcPts val="500"/>
              </a:spcAft>
              <a:defRPr sz="2000" b="1">
                <a:solidFill>
                  <a:srgbClr val="C8102E"/>
                </a:solidFill>
                <a:latin typeface="Arial"/>
              </a:defRPr>
            </a:pPr>
            <a:r>
              <a:t>Người thân nhận trạng thái</a:t>
            </a:r>
          </a:p>
          <a:p>
            <a:pPr>
              <a:spcBef>
                <a:spcPts val="0"/>
              </a:spcBef>
              <a:spcAft>
                <a:spcPts val="500"/>
              </a:spcAft>
              <a:defRPr sz="2000" b="1">
                <a:solidFill>
                  <a:srgbClr val="C8102E"/>
                </a:solidFill>
                <a:latin typeface="Arial"/>
              </a:defRPr>
            </a:pPr>
            <a:r>
              <a:t>được phép chia sẻ.</a:t>
            </a:r>
          </a:p>
        </p:txBody>
      </p:sp>
      <p:sp xmlns:a="http://schemas.openxmlformats.org/drawingml/2006/main">
        <p:nvSpPr>
          <p:cNvPr id="37" name="Rounded Rectangle 36"/>
          <p:cNvSpPr/>
          <p:nvPr/>
        </p:nvSpPr>
        <p:spPr>
          <a:xfrm>
            <a:off x="4956048" y="1901952"/>
            <a:ext cx="2560320" cy="402336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ounded Rectangle 37"/>
          <p:cNvSpPr/>
          <p:nvPr/>
        </p:nvSpPr>
        <p:spPr>
          <a:xfrm>
            <a:off x="5015484" y="1961388"/>
            <a:ext cx="2441448" cy="390448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ounded Rectangle 38"/>
          <p:cNvSpPr/>
          <p:nvPr/>
        </p:nvSpPr>
        <p:spPr>
          <a:xfrm>
            <a:off x="5800953" y="1975104"/>
            <a:ext cx="870508" cy="91440"/>
          </a:xfrm>
          <a:prstGeom prst="roundRect">
            <a:avLst>
              <a:gd name="adj" fmla="val 6000"/>
            </a:avLst>
          </a:prstGeom>
          <a:solidFill>
            <a:srgbClr val="2025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5111496" y="2103120"/>
            <a:ext cx="2249424" cy="182880"/>
          </a:xfrm>
          <a:prstGeom prst="rect">
            <a:avLst/>
          </a:prstGeom>
          <a:noFill/>
        </p:spPr>
        <p:txBody>
          <a:bodyPr wrap="square" lIns="0" rIns="0" tIns="0" bIns="0">
            <a:spAutoFit/>
          </a:bodyPr>
          <a:lstStyle/>
          <a:p>
            <a:pPr>
              <a:spcBef>
                <a:spcPts val="0"/>
              </a:spcBef>
              <a:spcAft>
                <a:spcPts val="500"/>
              </a:spcAft>
              <a:defRPr sz="900" b="0">
                <a:solidFill>
                  <a:srgbClr val="52616B"/>
                </a:solidFill>
                <a:latin typeface="Arial"/>
              </a:defRPr>
            </a:pPr>
            <a:r>
              <a:t>09:42     •••</a:t>
            </a:r>
          </a:p>
        </p:txBody>
      </p:sp>
      <p:sp xmlns:a="http://schemas.openxmlformats.org/drawingml/2006/main">
        <p:nvSpPr>
          <p:cNvPr id="41" name="TextBox 40"/>
          <p:cNvSpPr txBox="1"/>
          <p:nvPr/>
        </p:nvSpPr>
        <p:spPr>
          <a:xfrm>
            <a:off x="5111496" y="2423160"/>
            <a:ext cx="2249424" cy="256032"/>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SmartAlarm</a:t>
            </a:r>
          </a:p>
        </p:txBody>
      </p:sp>
      <p:sp xmlns:a="http://schemas.openxmlformats.org/drawingml/2006/main">
        <p:nvSpPr>
          <p:cNvPr id="42" name="TextBox 41"/>
          <p:cNvSpPr txBox="1"/>
          <p:nvPr/>
        </p:nvSpPr>
        <p:spPr>
          <a:xfrm>
            <a:off x="5111496" y="2816352"/>
            <a:ext cx="2249424" cy="502920"/>
          </a:xfrm>
          <a:prstGeom prst="rect">
            <a:avLst/>
          </a:prstGeom>
          <a:noFill/>
        </p:spPr>
        <p:txBody>
          <a:bodyPr wrap="square" lIns="0" rIns="0" tIns="0" bIns="0">
            <a:spAutoFit/>
          </a:bodyPr>
          <a:lstStyle/>
          <a:p>
            <a:pPr>
              <a:spcBef>
                <a:spcPts val="0"/>
              </a:spcBef>
              <a:spcAft>
                <a:spcPts val="500"/>
              </a:spcAft>
              <a:defRPr sz="1700" b="1">
                <a:solidFill>
                  <a:srgbClr val="20252B"/>
                </a:solidFill>
                <a:latin typeface="Arial"/>
              </a:defRPr>
            </a:pPr>
            <a:r>
              <a:t>Tôi đã an toàn</a:t>
            </a:r>
          </a:p>
        </p:txBody>
      </p:sp>
      <p:sp xmlns:a="http://schemas.openxmlformats.org/drawingml/2006/main">
        <p:nvSpPr>
          <p:cNvPr id="43" name="TextBox 42"/>
          <p:cNvSpPr txBox="1"/>
          <p:nvPr/>
        </p:nvSpPr>
        <p:spPr>
          <a:xfrm>
            <a:off x="5111496" y="3392424"/>
            <a:ext cx="2249424" cy="502920"/>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Tại điểm tập kết A</a:t>
            </a:r>
          </a:p>
        </p:txBody>
      </p:sp>
      <p:sp xmlns:a="http://schemas.openxmlformats.org/drawingml/2006/main">
        <p:nvSpPr>
          <p:cNvPr id="44" name="Oval 43"/>
          <p:cNvSpPr/>
          <p:nvPr/>
        </p:nvSpPr>
        <p:spPr>
          <a:xfrm>
            <a:off x="5788152" y="3986784"/>
            <a:ext cx="822960" cy="822960"/>
          </a:xfrm>
          <a:prstGeom prst="ellipse">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5989320" y="4114800"/>
            <a:ext cx="457200" cy="457200"/>
          </a:xfrm>
          <a:prstGeom prst="rect">
            <a:avLst/>
          </a:prstGeom>
          <a:noFill/>
        </p:spPr>
        <p:txBody>
          <a:bodyPr wrap="square" lIns="0" rIns="0" tIns="0" bIns="0">
            <a:spAutoFit/>
          </a:bodyPr>
          <a:lstStyle/>
          <a:p>
            <a:pPr>
              <a:spcBef>
                <a:spcPts val="0"/>
              </a:spcBef>
              <a:spcAft>
                <a:spcPts val="500"/>
              </a:spcAft>
              <a:defRPr sz="2800" b="1">
                <a:solidFill>
                  <a:srgbClr val="FFFFFF"/>
                </a:solidFill>
                <a:latin typeface="Arial"/>
              </a:defRPr>
            </a:pPr>
            <a:r>
              <a:t>✓</a:t>
            </a:r>
          </a:p>
        </p:txBody>
      </p:sp>
      <p:sp xmlns:a="http://schemas.openxmlformats.org/drawingml/2006/main">
        <p:nvSpPr>
          <p:cNvPr id="46" name="TextBox 45"/>
          <p:cNvSpPr txBox="1"/>
          <p:nvPr/>
        </p:nvSpPr>
        <p:spPr>
          <a:xfrm>
            <a:off x="5166360" y="5239512"/>
            <a:ext cx="210312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09:48 • Tự xác nhận</a:t>
            </a:r>
          </a:p>
        </p:txBody>
      </p:sp>
      <p:sp xmlns:a="http://schemas.openxmlformats.org/drawingml/2006/main">
        <p:nvSpPr>
          <p:cNvPr id="47" name="Rectangle 46"/>
          <p:cNvSpPr/>
          <p:nvPr/>
        </p:nvSpPr>
        <p:spPr>
          <a:xfrm>
            <a:off x="7863840" y="2560320"/>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01000" y="2679191"/>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Liên hệ</a:t>
            </a:r>
          </a:p>
        </p:txBody>
      </p:sp>
      <p:sp xmlns:a="http://schemas.openxmlformats.org/drawingml/2006/main">
        <p:nvSpPr>
          <p:cNvPr id="49" name="TextBox 48"/>
          <p:cNvSpPr txBox="1"/>
          <p:nvPr/>
        </p:nvSpPr>
        <p:spPr>
          <a:xfrm>
            <a:off x="9253728" y="2670048"/>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Được phép nhận cập nhật.</a:t>
            </a:r>
          </a:p>
        </p:txBody>
      </p:sp>
      <p:sp xmlns:a="http://schemas.openxmlformats.org/drawingml/2006/main">
        <p:nvSpPr>
          <p:cNvPr id="50" name="Rectangle 49"/>
          <p:cNvSpPr/>
          <p:nvPr/>
        </p:nvSpPr>
        <p:spPr>
          <a:xfrm>
            <a:off x="7863840" y="3511296"/>
            <a:ext cx="36576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01000" y="3630168"/>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Nhóm</a:t>
            </a:r>
          </a:p>
        </p:txBody>
      </p:sp>
      <p:sp xmlns:a="http://schemas.openxmlformats.org/drawingml/2006/main">
        <p:nvSpPr>
          <p:cNvPr id="52" name="TextBox 51"/>
          <p:cNvSpPr txBox="1"/>
          <p:nvPr/>
        </p:nvSpPr>
        <p:spPr>
          <a:xfrm>
            <a:off x="9253728" y="3621024"/>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 đình / cư dân / đồng nghiệp.</a:t>
            </a:r>
          </a:p>
        </p:txBody>
      </p:sp>
      <p:sp xmlns:a="http://schemas.openxmlformats.org/drawingml/2006/main">
        <p:nvSpPr>
          <p:cNvPr id="53" name="Rectangle 52"/>
          <p:cNvSpPr/>
          <p:nvPr/>
        </p:nvSpPr>
        <p:spPr>
          <a:xfrm>
            <a:off x="7863840" y="4462272"/>
            <a:ext cx="3657600" cy="8686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01000" y="4581144"/>
            <a:ext cx="1280160" cy="7498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Điều hành</a:t>
            </a:r>
          </a:p>
        </p:txBody>
      </p:sp>
      <p:sp xmlns:a="http://schemas.openxmlformats.org/drawingml/2006/main">
        <p:nvSpPr>
          <p:cNvPr id="55" name="TextBox 54"/>
          <p:cNvSpPr txBox="1"/>
          <p:nvPr/>
        </p:nvSpPr>
        <p:spPr>
          <a:xfrm>
            <a:off x="9253728" y="4572000"/>
            <a:ext cx="2157984" cy="7772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người, không tự đóng sự cố.</a:t>
            </a:r>
          </a:p>
        </p:txBody>
      </p:sp>
    </p:spTree>
    <p:extLst>
      <p:ext uri="{BB962C8B-B14F-4D97-AF65-F5344CB8AC3E}">
        <p14:creationId xmlns:p14="http://schemas.microsoft.com/office/powerpoint/2010/main" val="161773211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AI / LLM • REALTIME COPILOT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AI giúp hiểu nhanh, quyết định dựa trên bằng chứng.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Tổng hợp diễn biến, đối chiếu quy trình và giải thích lựa chọn cho người có trách nhiệm.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21</a:t>
            </a:r>
          </a:p>
        </p:txBody>
      </p:sp>
      <p:sp xmlns:a="http://schemas.openxmlformats.org/drawingml/2006/main">
        <p:nvSpPr>
          <p:cNvPr id="35" name="Rounded Rectangle 34"/>
          <p:cNvSpPr/>
          <p:nvPr/>
        </p:nvSpPr>
        <p:spPr>
          <a:xfrm>
            <a:off x="640080" y="2103120"/>
            <a:ext cx="3072384"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40080" y="2103120"/>
            <a:ext cx="50292" cy="24963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04671" y="2258568"/>
            <a:ext cx="2743200"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BẰNG CHỨNG</a:t>
            </a:r>
          </a:p>
        </p:txBody>
      </p:sp>
      <p:sp xmlns:a="http://schemas.openxmlformats.org/drawingml/2006/main">
        <p:nvSpPr>
          <p:cNvPr id="38" name="TextBox 37"/>
          <p:cNvSpPr txBox="1"/>
          <p:nvPr/>
        </p:nvSpPr>
        <p:spPr>
          <a:xfrm>
            <a:off x="804671" y="2898648"/>
            <a:ext cx="2743200"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Sự kiện &amp; thời điểm</a:t>
            </a:r>
          </a:p>
          <a:p>
            <a:pPr>
              <a:spcBef>
                <a:spcPts val="0"/>
              </a:spcBef>
              <a:spcAft>
                <a:spcPts val="500"/>
              </a:spcAft>
              <a:defRPr sz="1600" b="0">
                <a:solidFill>
                  <a:srgbClr val="20252B"/>
                </a:solidFill>
                <a:latin typeface="Arial"/>
              </a:defRPr>
            </a:pPr>
            <a:r>
              <a:t>Vị trí &amp; độ tin cậy</a:t>
            </a:r>
          </a:p>
          <a:p>
            <a:pPr>
              <a:spcBef>
                <a:spcPts val="0"/>
              </a:spcBef>
              <a:spcAft>
                <a:spcPts val="500"/>
              </a:spcAft>
              <a:defRPr sz="1600" b="0">
                <a:solidFill>
                  <a:srgbClr val="20252B"/>
                </a:solidFill>
                <a:latin typeface="Arial"/>
              </a:defRPr>
            </a:pPr>
            <a:r>
              <a:t>SOP / bản đồ có phiên bản</a:t>
            </a:r>
          </a:p>
        </p:txBody>
      </p:sp>
      <p:sp xmlns:a="http://schemas.openxmlformats.org/drawingml/2006/main">
        <p:nvSpPr>
          <p:cNvPr id="39" name="Rounded Rectangle 38"/>
          <p:cNvSpPr/>
          <p:nvPr/>
        </p:nvSpPr>
        <p:spPr>
          <a:xfrm>
            <a:off x="4142232" y="2103120"/>
            <a:ext cx="3639312"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142232" y="2103120"/>
            <a:ext cx="50292" cy="2496312"/>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306824" y="2258568"/>
            <a:ext cx="3310128"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PHÂN TÍCH</a:t>
            </a:r>
          </a:p>
        </p:txBody>
      </p:sp>
      <p:sp xmlns:a="http://schemas.openxmlformats.org/drawingml/2006/main">
        <p:nvSpPr>
          <p:cNvPr id="42" name="TextBox 41"/>
          <p:cNvSpPr txBox="1"/>
          <p:nvPr/>
        </p:nvSpPr>
        <p:spPr>
          <a:xfrm>
            <a:off x="4306824" y="2898648"/>
            <a:ext cx="3310128"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Tóm tắt thay đổi</a:t>
            </a:r>
          </a:p>
          <a:p>
            <a:pPr>
              <a:spcBef>
                <a:spcPts val="0"/>
              </a:spcBef>
              <a:spcAft>
                <a:spcPts val="500"/>
              </a:spcAft>
              <a:defRPr sz="1600" b="0">
                <a:solidFill>
                  <a:srgbClr val="20252B"/>
                </a:solidFill>
                <a:latin typeface="Arial"/>
              </a:defRPr>
            </a:pPr>
            <a:r>
              <a:t>Chỉ ra dữ liệu thiếu</a:t>
            </a:r>
          </a:p>
          <a:p>
            <a:pPr>
              <a:spcBef>
                <a:spcPts val="0"/>
              </a:spcBef>
              <a:spcAft>
                <a:spcPts val="500"/>
              </a:spcAft>
              <a:defRPr sz="1600" b="0">
                <a:solidFill>
                  <a:srgbClr val="20252B"/>
                </a:solidFill>
                <a:latin typeface="Arial"/>
              </a:defRPr>
            </a:pPr>
            <a:r>
              <a:t>Đề xuất phương án &amp; căn cứ</a:t>
            </a:r>
          </a:p>
        </p:txBody>
      </p:sp>
      <p:sp xmlns:a="http://schemas.openxmlformats.org/drawingml/2006/main">
        <p:nvSpPr>
          <p:cNvPr id="43" name="Rounded Rectangle 42"/>
          <p:cNvSpPr/>
          <p:nvPr/>
        </p:nvSpPr>
        <p:spPr>
          <a:xfrm>
            <a:off x="8211312" y="2103120"/>
            <a:ext cx="3337560" cy="2496312"/>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211312" y="2103120"/>
            <a:ext cx="50292" cy="2496312"/>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375904" y="2258568"/>
            <a:ext cx="300837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QUYẾT ĐỊNH</a:t>
            </a:r>
          </a:p>
        </p:txBody>
      </p:sp>
      <p:sp xmlns:a="http://schemas.openxmlformats.org/drawingml/2006/main">
        <p:nvSpPr>
          <p:cNvPr id="46" name="TextBox 45"/>
          <p:cNvSpPr txBox="1"/>
          <p:nvPr/>
        </p:nvSpPr>
        <p:spPr>
          <a:xfrm>
            <a:off x="8375904" y="2898648"/>
            <a:ext cx="3008376" cy="160020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Người điều hành đánh giá</a:t>
            </a:r>
          </a:p>
          <a:p>
            <a:pPr>
              <a:spcBef>
                <a:spcPts val="0"/>
              </a:spcBef>
              <a:spcAft>
                <a:spcPts val="500"/>
              </a:spcAft>
              <a:defRPr sz="1600" b="0">
                <a:solidFill>
                  <a:srgbClr val="20252B"/>
                </a:solidFill>
                <a:latin typeface="Arial"/>
              </a:defRPr>
            </a:pPr>
            <a:r>
              <a:t>Workflow kiểm tra quyền</a:t>
            </a:r>
          </a:p>
          <a:p>
            <a:pPr>
              <a:spcBef>
                <a:spcPts val="0"/>
              </a:spcBef>
              <a:spcAft>
                <a:spcPts val="500"/>
              </a:spcAft>
              <a:defRPr sz="1600" b="0">
                <a:solidFill>
                  <a:srgbClr val="20252B"/>
                </a:solidFill>
                <a:latin typeface="Arial"/>
              </a:defRPr>
            </a:pPr>
            <a:r>
              <a:t>Engine / thiết bị thực thi</a:t>
            </a:r>
          </a:p>
        </p:txBody>
      </p:sp>
      <p:sp xmlns:a="http://schemas.openxmlformats.org/drawingml/2006/main">
        <p:nvSpPr>
          <p:cNvPr id="47" name="Chevron 46"/>
          <p:cNvSpPr/>
          <p:nvPr/>
        </p:nvSpPr>
        <p:spPr>
          <a:xfrm>
            <a:off x="3803904"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Chevron 47"/>
          <p:cNvSpPr/>
          <p:nvPr/>
        </p:nvSpPr>
        <p:spPr>
          <a:xfrm>
            <a:off x="7891272" y="3200400"/>
            <a:ext cx="228600" cy="27432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Rectangle 48"/>
          <p:cNvSpPr/>
          <p:nvPr/>
        </p:nvSpPr>
        <p:spPr>
          <a:xfrm>
            <a:off x="640080" y="4983480"/>
            <a:ext cx="10908792" cy="71323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TextBox 49"/>
          <p:cNvSpPr txBox="1"/>
          <p:nvPr/>
        </p:nvSpPr>
        <p:spPr>
          <a:xfrm>
            <a:off x="850392" y="5166360"/>
            <a:ext cx="10515600" cy="411480"/>
          </a:xfrm>
          <a:prstGeom prst="rect">
            <a:avLst/>
          </a:prstGeom>
          <a:noFill/>
        </p:spPr>
        <p:txBody>
          <a:bodyPr wrap="square" lIns="0" rIns="0" tIns="0" bIns="0">
            <a:spAutoFit/>
          </a:bodyPr>
          <a:lstStyle/>
          <a:p>
            <a:pPr>
              <a:spcBef>
                <a:spcPts val="0"/>
              </a:spcBef>
              <a:spcAft>
                <a:spcPts val="500"/>
              </a:spcAft>
              <a:defRPr sz="1800" b="1">
                <a:solidFill>
                  <a:srgbClr val="FFFFFF"/>
                </a:solidFill>
                <a:latin typeface="Arial"/>
              </a:defRPr>
            </a:pPr>
            <a:r>
              <a:t>AI gián đoạn: cảnh báo, SOS, định tuyến có kiểm thử và quy trình cứu hộ vẫn hoạt động.</a:t>
            </a:r>
          </a:p>
        </p:txBody>
      </p:sp>
    </p:spTree>
    <p:extLst>
      <p:ext uri="{BB962C8B-B14F-4D97-AF65-F5344CB8AC3E}">
        <p14:creationId xmlns:p14="http://schemas.microsoft.com/office/powerpoint/2010/main" val="79930971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CHỨC NĂNG • ALL IN ONE</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Hai hub kết nối toàn bộ năng lực của SmartAlarm.</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Kế thừa mô hình Alarm Hub + Integration Hub của FireEscape, mở rộng thành nền tảng lâu dài.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22</a:t>
            </a:r>
          </a:p>
        </p:txBody>
      </p:sp>
      <p:sp xmlns:a="http://schemas.openxmlformats.org/drawingml/2006/main">
        <p:nvSpPr>
          <p:cNvPr id="35" name="Rectangle 34"/>
          <p:cNvSpPr/>
          <p:nvPr/>
        </p:nvSpPr>
        <p:spPr>
          <a:xfrm>
            <a:off x="640080" y="1938528"/>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048256"/>
            <a:ext cx="2103120" cy="219456"/>
          </a:xfrm>
          <a:prstGeom prst="rect">
            <a:avLst/>
          </a:prstGeom>
          <a:noFill/>
        </p:spPr>
        <p:txBody>
          <a:bodyPr wrap="square" lIns="0" rIns="0" tIns="0" bIns="0">
            <a:spAutoFit/>
          </a:bodyPr>
          <a:lstStyle/>
          <a:p>
            <a:pPr>
              <a:spcBef>
                <a:spcPts val="0"/>
              </a:spcBef>
              <a:spcAft>
                <a:spcPts val="500"/>
              </a:spcAft>
              <a:defRPr sz="1200" b="1">
                <a:solidFill>
                  <a:srgbClr val="C8102E"/>
                </a:solidFill>
                <a:latin typeface="Arial"/>
              </a:defRPr>
            </a:pPr>
            <a:r>
              <a:t>CON NGƯỜI</a:t>
            </a:r>
          </a:p>
        </p:txBody>
      </p:sp>
      <p:sp xmlns:a="http://schemas.openxmlformats.org/drawingml/2006/main">
        <p:nvSpPr>
          <p:cNvPr id="37" name="TextBox 36"/>
          <p:cNvSpPr txBox="1"/>
          <p:nvPr/>
        </p:nvSpPr>
        <p:spPr>
          <a:xfrm>
            <a:off x="2880360" y="2029968"/>
            <a:ext cx="8366760" cy="26517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Cá nhân • gia đình • đội cứu hộ • chỉ huy • quản trị • đối tác</a:t>
            </a:r>
          </a:p>
        </p:txBody>
      </p:sp>
      <p:sp xmlns:a="http://schemas.openxmlformats.org/drawingml/2006/main">
        <p:nvSpPr>
          <p:cNvPr id="38" name="Rectangle 37"/>
          <p:cNvSpPr/>
          <p:nvPr/>
        </p:nvSpPr>
        <p:spPr>
          <a:xfrm>
            <a:off x="640080" y="2496312"/>
            <a:ext cx="10908792" cy="43891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606040"/>
            <a:ext cx="2103120" cy="219456"/>
          </a:xfrm>
          <a:prstGeom prst="rect">
            <a:avLst/>
          </a:prstGeom>
          <a:noFill/>
        </p:spPr>
        <p:txBody>
          <a:bodyPr wrap="square" lIns="0" rIns="0" tIns="0" bIns="0">
            <a:spAutoFit/>
          </a:bodyPr>
          <a:lstStyle/>
          <a:p>
            <a:pPr>
              <a:spcBef>
                <a:spcPts val="0"/>
              </a:spcBef>
              <a:spcAft>
                <a:spcPts val="500"/>
              </a:spcAft>
              <a:defRPr sz="1200" b="1">
                <a:solidFill>
                  <a:srgbClr val="C8102E"/>
                </a:solidFill>
                <a:latin typeface="Arial"/>
              </a:defRPr>
            </a:pPr>
            <a:r>
              <a:t>TRẢI NGHIỆM</a:t>
            </a:r>
          </a:p>
        </p:txBody>
      </p:sp>
      <p:sp xmlns:a="http://schemas.openxmlformats.org/drawingml/2006/main">
        <p:nvSpPr>
          <p:cNvPr id="40" name="TextBox 39"/>
          <p:cNvSpPr txBox="1"/>
          <p:nvPr/>
        </p:nvSpPr>
        <p:spPr>
          <a:xfrm>
            <a:off x="2880360" y="2587752"/>
            <a:ext cx="8366760" cy="26517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Smartphone • web command • field app • portal • loa &amp; voice</a:t>
            </a:r>
          </a:p>
        </p:txBody>
      </p:sp>
      <p:sp xmlns:a="http://schemas.openxmlformats.org/drawingml/2006/main">
        <p:nvSpPr>
          <p:cNvPr id="41" name="Rounded Rectangle 40"/>
          <p:cNvSpPr/>
          <p:nvPr/>
        </p:nvSpPr>
        <p:spPr>
          <a:xfrm>
            <a:off x="640080" y="3246120"/>
            <a:ext cx="6830568"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68680" y="3456432"/>
            <a:ext cx="63093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SMART ALARM HUB</a:t>
            </a:r>
          </a:p>
        </p:txBody>
      </p:sp>
      <p:sp xmlns:a="http://schemas.openxmlformats.org/drawingml/2006/main">
        <p:nvSpPr>
          <p:cNvPr id="43" name="TextBox 42"/>
          <p:cNvSpPr txBox="1"/>
          <p:nvPr/>
        </p:nvSpPr>
        <p:spPr>
          <a:xfrm>
            <a:off x="868680" y="4041648"/>
            <a:ext cx="6263640" cy="685800"/>
          </a:xfrm>
          <a:prstGeom prst="rect">
            <a:avLst/>
          </a:prstGeom>
          <a:noFill/>
        </p:spPr>
        <p:txBody>
          <a:bodyPr wrap="square" lIns="0" rIns="0" tIns="0" bIns="0">
            <a:spAutoFit/>
          </a:bodyPr>
          <a:lstStyle/>
          <a:p>
            <a:pPr>
              <a:spcBef>
                <a:spcPts val="0"/>
              </a:spcBef>
              <a:spcAft>
                <a:spcPts val="500"/>
              </a:spcAft>
              <a:defRPr sz="1700" b="0">
                <a:solidFill>
                  <a:srgbClr val="FFFFFF"/>
                </a:solidFill>
                <a:latin typeface="Arial"/>
              </a:defRPr>
            </a:pPr>
            <a:r>
              <a:t>Sự kiện → Sự cố → Cảnh báo → Nhiệm vụ → Xác nhận</a:t>
            </a:r>
          </a:p>
          <a:p>
            <a:pPr>
              <a:spcBef>
                <a:spcPts val="0"/>
              </a:spcBef>
              <a:spcAft>
                <a:spcPts val="500"/>
              </a:spcAft>
              <a:defRPr sz="1700" b="0">
                <a:solidFill>
                  <a:srgbClr val="FFFFFF"/>
                </a:solidFill>
                <a:latin typeface="Arial"/>
              </a:defRPr>
            </a:pPr>
            <a:r>
              <a:t>Định vị • Routing • Care • Proactive rescue • AI copilot</a:t>
            </a:r>
          </a:p>
        </p:txBody>
      </p:sp>
      <p:sp xmlns:a="http://schemas.openxmlformats.org/drawingml/2006/main">
        <p:nvSpPr>
          <p:cNvPr id="44" name="Rounded Rectangle 43"/>
          <p:cNvSpPr/>
          <p:nvPr/>
        </p:nvSpPr>
        <p:spPr>
          <a:xfrm>
            <a:off x="7708392" y="3246120"/>
            <a:ext cx="3840480" cy="169164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36992" y="3456432"/>
            <a:ext cx="3337560" cy="320040"/>
          </a:xfrm>
          <a:prstGeom prst="rect">
            <a:avLst/>
          </a:prstGeom>
          <a:noFill/>
        </p:spPr>
        <p:txBody>
          <a:bodyPr wrap="square" lIns="0" rIns="0" tIns="0" bIns="0">
            <a:spAutoFit/>
          </a:bodyPr>
          <a:lstStyle/>
          <a:p>
            <a:pPr>
              <a:spcBef>
                <a:spcPts val="0"/>
              </a:spcBef>
              <a:spcAft>
                <a:spcPts val="500"/>
              </a:spcAft>
              <a:defRPr sz="2100" b="1">
                <a:solidFill>
                  <a:srgbClr val="05CDE0"/>
                </a:solidFill>
                <a:latin typeface="Arial"/>
              </a:defRPr>
            </a:pPr>
            <a:r>
              <a:t>INTEGRATION HUB</a:t>
            </a:r>
          </a:p>
        </p:txBody>
      </p:sp>
      <p:sp xmlns:a="http://schemas.openxmlformats.org/drawingml/2006/main">
        <p:nvSpPr>
          <p:cNvPr id="46" name="TextBox 45"/>
          <p:cNvSpPr txBox="1"/>
          <p:nvPr/>
        </p:nvSpPr>
        <p:spPr>
          <a:xfrm>
            <a:off x="7936992" y="4041648"/>
            <a:ext cx="3291840" cy="685800"/>
          </a:xfrm>
          <a:prstGeom prst="rect">
            <a:avLst/>
          </a:prstGeom>
          <a:noFill/>
        </p:spPr>
        <p:txBody>
          <a:bodyPr wrap="square" lIns="0" rIns="0" tIns="0" bIns="0">
            <a:spAutoFit/>
          </a:bodyPr>
          <a:lstStyle/>
          <a:p>
            <a:pPr>
              <a:spcBef>
                <a:spcPts val="0"/>
              </a:spcBef>
              <a:spcAft>
                <a:spcPts val="500"/>
              </a:spcAft>
              <a:defRPr sz="1700" b="0" lang="en-US">
                <a:solidFill>
                  <a:srgbClr val="FFFFFF"/>
                </a:solidFill>
                <a:latin typeface="Arial"/>
              </a:defRPr>
            </a:pPr>
            <a:r>
              <a:t>IoT • camera • PA • drone</a:t>
            </a:r>
          </a:p>
          <a:p>
            <a:pPr>
              <a:spcBef>
                <a:spcPts val="0"/>
              </a:spcBef>
              <a:spcAft>
                <a:spcPts val="500"/>
              </a:spcAft>
              <a:defRPr sz="1700" b="0" lang="en-US">
                <a:solidFill>
                  <a:srgbClr val="FFFFFF"/>
                </a:solidFill>
                <a:latin typeface="Arial"/>
              </a:defRPr>
            </a:pPr>
            <a:r>
              <a:t>Tủ báo cháy • bơm • van • robot</a:t>
            </a:r>
          </a:p>
        </p:txBody>
      </p:sp>
      <p:cxnSp xmlns:a="http://schemas.openxmlformats.org/drawingml/2006/main">
        <p:nvCxnSpPr>
          <p:cNvPr id="47" name="Connector 46"/>
          <p:cNvCxnSpPr/>
          <p:nvPr/>
        </p:nvCxnSpPr>
        <p:spPr>
          <a:xfrm>
            <a:off x="7479792" y="4069080"/>
            <a:ext cx="219456" cy="0"/>
          </a:xfrm>
          <a:prstGeom prst="line">
            <a:avLst/>
          </a:prstGeom>
          <a:ln w="38100">
            <a:solidFill>
              <a:srgbClr val="C8102E"/>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48" name="Rectangle 47"/>
          <p:cNvSpPr/>
          <p:nvPr/>
        </p:nvSpPr>
        <p:spPr>
          <a:xfrm>
            <a:off x="640080" y="5148072"/>
            <a:ext cx="10908792" cy="612648"/>
          </a:xfrm>
          <a:prstGeom prst="rect">
            <a:avLst/>
          </a:prstGeom>
          <a:solidFill>
            <a:srgbClr val="FDEB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859536" y="5330952"/>
            <a:ext cx="104698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NỀN TẢNG CHUNG   Tenant • Quyền • Dữ liệu • Event bus • Audit • Quan sát • Vận hành đa vùng</a:t>
            </a:r>
          </a:p>
        </p:txBody>
      </p:sp>
    </p:spTree>
    <p:extLst>
      <p:ext uri="{BB962C8B-B14F-4D97-AF65-F5344CB8AC3E}">
        <p14:creationId xmlns:p14="http://schemas.microsoft.com/office/powerpoint/2010/main" val="28953951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SMART ALARM HUB • LÕI NGHIỆP VỤ</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Từ một tín hiệu thô đến một hồ sơ cứu hộ thống nhất.</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Mở rộng năng lực bằng domain rõ ràng, dữ liệu có chủ sở hữu và hợp đồng phiên bản.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23</a:t>
            </a:r>
          </a:p>
        </p:txBody>
      </p:sp>
      <p:sp xmlns:a="http://schemas.openxmlformats.org/drawingml/2006/main">
        <p:nvSpPr>
          <p:cNvPr id="35" name="Rectangle 34"/>
          <p:cNvSpPr/>
          <p:nvPr/>
        </p:nvSpPr>
        <p:spPr>
          <a:xfrm>
            <a:off x="658368"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49808"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EVENT</a:t>
            </a:r>
          </a:p>
        </p:txBody>
      </p:sp>
      <p:sp xmlns:a="http://schemas.openxmlformats.org/drawingml/2006/main">
        <p:nvSpPr>
          <p:cNvPr id="37" name="TextBox 36"/>
          <p:cNvSpPr txBox="1"/>
          <p:nvPr/>
        </p:nvSpPr>
        <p:spPr>
          <a:xfrm>
            <a:off x="694944"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Chuẩn hóa</a:t>
            </a:r>
          </a:p>
          <a:p>
            <a:pPr>
              <a:spcBef>
                <a:spcPts val="0"/>
              </a:spcBef>
              <a:spcAft>
                <a:spcPts val="500"/>
              </a:spcAft>
              <a:defRPr sz="1600" b="0">
                <a:solidFill>
                  <a:srgbClr val="20252B"/>
                </a:solidFill>
                <a:latin typeface="Arial"/>
              </a:defRPr>
            </a:pPr>
            <a:r>
              <a:t>Loại trùng</a:t>
            </a:r>
          </a:p>
          <a:p>
            <a:pPr>
              <a:spcBef>
                <a:spcPts val="0"/>
              </a:spcBef>
              <a:spcAft>
                <a:spcPts val="500"/>
              </a:spcAft>
              <a:defRPr sz="1600" b="0">
                <a:solidFill>
                  <a:srgbClr val="20252B"/>
                </a:solidFill>
                <a:latin typeface="Arial"/>
              </a:defRPr>
            </a:pPr>
            <a:r>
              <a:t>Giữ nguồn</a:t>
            </a:r>
          </a:p>
        </p:txBody>
      </p:sp>
      <p:sp xmlns:a="http://schemas.openxmlformats.org/drawingml/2006/main">
        <p:nvSpPr>
          <p:cNvPr id="38" name="Chevron 37"/>
          <p:cNvSpPr/>
          <p:nvPr/>
        </p:nvSpPr>
        <p:spPr>
          <a:xfrm>
            <a:off x="3250692"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29000"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0440"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INCIDENT</a:t>
            </a:r>
          </a:p>
        </p:txBody>
      </p:sp>
      <p:sp xmlns:a="http://schemas.openxmlformats.org/drawingml/2006/main">
        <p:nvSpPr>
          <p:cNvPr id="41" name="TextBox 40"/>
          <p:cNvSpPr txBox="1"/>
          <p:nvPr/>
        </p:nvSpPr>
        <p:spPr>
          <a:xfrm>
            <a:off x="3465576"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Tương quan</a:t>
            </a:r>
          </a:p>
          <a:p>
            <a:pPr>
              <a:spcBef>
                <a:spcPts val="0"/>
              </a:spcBef>
              <a:spcAft>
                <a:spcPts val="500"/>
              </a:spcAft>
              <a:defRPr sz="1600" b="0">
                <a:solidFill>
                  <a:srgbClr val="20252B"/>
                </a:solidFill>
                <a:latin typeface="Arial"/>
              </a:defRPr>
            </a:pPr>
            <a:r>
              <a:t>Xác minh</a:t>
            </a:r>
          </a:p>
          <a:p>
            <a:pPr>
              <a:spcBef>
                <a:spcPts val="0"/>
              </a:spcBef>
              <a:spcAft>
                <a:spcPts val="500"/>
              </a:spcAft>
              <a:defRPr sz="1600" b="0">
                <a:solidFill>
                  <a:srgbClr val="20252B"/>
                </a:solidFill>
                <a:latin typeface="Arial"/>
              </a:defRPr>
            </a:pPr>
            <a:r>
              <a:t>Vùng ảnh hưởng</a:t>
            </a:r>
          </a:p>
        </p:txBody>
      </p:sp>
      <p:sp xmlns:a="http://schemas.openxmlformats.org/drawingml/2006/main">
        <p:nvSpPr>
          <p:cNvPr id="42" name="Chevron 41"/>
          <p:cNvSpPr/>
          <p:nvPr/>
        </p:nvSpPr>
        <p:spPr>
          <a:xfrm>
            <a:off x="6021324"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199632" y="214884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291072"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RESPONSE</a:t>
            </a:r>
          </a:p>
        </p:txBody>
      </p:sp>
      <p:sp xmlns:a="http://schemas.openxmlformats.org/drawingml/2006/main">
        <p:nvSpPr>
          <p:cNvPr id="45" name="TextBox 44"/>
          <p:cNvSpPr txBox="1"/>
          <p:nvPr/>
        </p:nvSpPr>
        <p:spPr>
          <a:xfrm>
            <a:off x="6236208"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Cảnh báo</a:t>
            </a:r>
          </a:p>
          <a:p>
            <a:pPr>
              <a:spcBef>
                <a:spcPts val="0"/>
              </a:spcBef>
              <a:spcAft>
                <a:spcPts val="500"/>
              </a:spcAft>
              <a:defRPr sz="1600" b="0">
                <a:solidFill>
                  <a:srgbClr val="20252B"/>
                </a:solidFill>
                <a:latin typeface="Arial"/>
              </a:defRPr>
            </a:pPr>
            <a:r>
              <a:t>Hướng dẫn</a:t>
            </a:r>
          </a:p>
          <a:p>
            <a:pPr>
              <a:spcBef>
                <a:spcPts val="0"/>
              </a:spcBef>
              <a:spcAft>
                <a:spcPts val="500"/>
              </a:spcAft>
              <a:defRPr sz="1600" b="0">
                <a:solidFill>
                  <a:srgbClr val="20252B"/>
                </a:solidFill>
                <a:latin typeface="Arial"/>
              </a:defRPr>
            </a:pPr>
            <a:r>
              <a:t>Phân công</a:t>
            </a:r>
          </a:p>
        </p:txBody>
      </p:sp>
      <p:sp xmlns:a="http://schemas.openxmlformats.org/drawingml/2006/main">
        <p:nvSpPr>
          <p:cNvPr id="46" name="Chevron 45"/>
          <p:cNvSpPr/>
          <p:nvPr/>
        </p:nvSpPr>
        <p:spPr>
          <a:xfrm>
            <a:off x="8791956" y="370332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0264" y="214884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61704" y="224028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PERSON</a:t>
            </a:r>
          </a:p>
        </p:txBody>
      </p:sp>
      <p:sp xmlns:a="http://schemas.openxmlformats.org/drawingml/2006/main">
        <p:nvSpPr>
          <p:cNvPr id="49" name="TextBox 48"/>
          <p:cNvSpPr txBox="1"/>
          <p:nvPr/>
        </p:nvSpPr>
        <p:spPr>
          <a:xfrm>
            <a:off x="9006840" y="2788920"/>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SOS / hỗ trợ</a:t>
            </a:r>
          </a:p>
          <a:p>
            <a:pPr>
              <a:spcBef>
                <a:spcPts val="0"/>
              </a:spcBef>
              <a:spcAft>
                <a:spcPts val="500"/>
              </a:spcAft>
              <a:defRPr sz="1600" b="0">
                <a:solidFill>
                  <a:srgbClr val="20252B"/>
                </a:solidFill>
                <a:latin typeface="Arial"/>
              </a:defRPr>
            </a:pPr>
            <a:r>
              <a:t>Tiếp cận</a:t>
            </a:r>
          </a:p>
          <a:p>
            <a:pPr>
              <a:spcBef>
                <a:spcPts val="0"/>
              </a:spcBef>
              <a:spcAft>
                <a:spcPts val="500"/>
              </a:spcAft>
              <a:defRPr sz="1600" b="0">
                <a:solidFill>
                  <a:srgbClr val="20252B"/>
                </a:solidFill>
                <a:latin typeface="Arial"/>
              </a:defRPr>
            </a:pPr>
            <a:r>
              <a:t>Xác nhận</a:t>
            </a:r>
          </a:p>
        </p:txBody>
      </p:sp>
      <p:sp xmlns:a="http://schemas.openxmlformats.org/drawingml/2006/main">
        <p:nvSpPr>
          <p:cNvPr id="50" name="Rectangle 49"/>
          <p:cNvSpPr/>
          <p:nvPr/>
        </p:nvSpPr>
        <p:spPr>
          <a:xfrm>
            <a:off x="667512" y="4361688"/>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04672" y="4480559"/>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Ngữ cảnh chung</a:t>
            </a:r>
          </a:p>
        </p:txBody>
      </p:sp>
      <p:sp xmlns:a="http://schemas.openxmlformats.org/drawingml/2006/main">
        <p:nvSpPr>
          <p:cNvPr id="52" name="TextBox 51"/>
          <p:cNvSpPr txBox="1"/>
          <p:nvPr/>
        </p:nvSpPr>
        <p:spPr>
          <a:xfrm>
            <a:off x="4802428" y="4471416"/>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 site • person • vị trí • thời điểm • evidence</a:t>
            </a:r>
          </a:p>
        </p:txBody>
      </p:sp>
      <p:sp xmlns:a="http://schemas.openxmlformats.org/drawingml/2006/main">
        <p:nvSpPr>
          <p:cNvPr id="53" name="Rectangle 52"/>
          <p:cNvSpPr/>
          <p:nvPr/>
        </p:nvSpPr>
        <p:spPr>
          <a:xfrm>
            <a:off x="667512" y="4837175"/>
            <a:ext cx="10881360" cy="3931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4" name="TextBox 53"/>
          <p:cNvSpPr txBox="1"/>
          <p:nvPr/>
        </p:nvSpPr>
        <p:spPr>
          <a:xfrm>
            <a:off x="804672" y="4956047"/>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Năng lực bổ trợ</a:t>
            </a:r>
          </a:p>
        </p:txBody>
      </p:sp>
      <p:sp xmlns:a="http://schemas.openxmlformats.org/drawingml/2006/main">
        <p:nvSpPr>
          <p:cNvPr id="55" name="TextBox 54"/>
          <p:cNvSpPr txBox="1"/>
          <p:nvPr/>
        </p:nvSpPr>
        <p:spPr>
          <a:xfrm>
            <a:off x="4802428" y="4946903"/>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Route engine • care/presence • voice • collaboration • AI</a:t>
            </a:r>
          </a:p>
        </p:txBody>
      </p:sp>
      <p:sp xmlns:a="http://schemas.openxmlformats.org/drawingml/2006/main">
        <p:nvSpPr>
          <p:cNvPr id="56" name="Rectangle 55"/>
          <p:cNvSpPr/>
          <p:nvPr/>
        </p:nvSpPr>
        <p:spPr>
          <a:xfrm>
            <a:off x="667512" y="5312664"/>
            <a:ext cx="10881360" cy="393192"/>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04672" y="5431536"/>
            <a:ext cx="3808476" cy="2926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Bảo đảm vận hành</a:t>
            </a:r>
          </a:p>
        </p:txBody>
      </p:sp>
      <p:sp xmlns:a="http://schemas.openxmlformats.org/drawingml/2006/main">
        <p:nvSpPr>
          <p:cNvPr id="58" name="TextBox 57"/>
          <p:cNvSpPr txBox="1"/>
          <p:nvPr/>
        </p:nvSpPr>
        <p:spPr>
          <a:xfrm>
            <a:off x="4802428" y="5422392"/>
            <a:ext cx="6420002" cy="301752"/>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Workflow bền vững • audit • idempotency • phục hồi</a:t>
            </a:r>
          </a:p>
        </p:txBody>
      </p:sp>
    </p:spTree>
    <p:extLst>
      <p:ext uri="{BB962C8B-B14F-4D97-AF65-F5344CB8AC3E}">
        <p14:creationId xmlns:p14="http://schemas.microsoft.com/office/powerpoint/2010/main" val="10650626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INTEGRATION HUB • KẾT NỐI NHANH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Thêm giải pháp mới qua connector, không sửa lõi nghiệp vụ.</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Khai báo capability, chuyển đổi giao thức và kiểm chứng trước khi cho phép vận hành.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24</a:t>
            </a:r>
          </a:p>
        </p:txBody>
      </p:sp>
      <p:sp xmlns:a="http://schemas.openxmlformats.org/drawingml/2006/main">
        <p:nvSpPr>
          <p:cNvPr id="35" name="Rectangle 34"/>
          <p:cNvSpPr/>
          <p:nvPr/>
        </p:nvSpPr>
        <p:spPr>
          <a:xfrm>
            <a:off x="658368" y="196596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Khai báo</a:t>
            </a:r>
          </a:p>
        </p:txBody>
      </p:sp>
      <p:sp xmlns:a="http://schemas.openxmlformats.org/drawingml/2006/main">
        <p:nvSpPr>
          <p:cNvPr id="37" name="TextBox 36"/>
          <p:cNvSpPr txBox="1"/>
          <p:nvPr/>
        </p:nvSpPr>
        <p:spPr>
          <a:xfrm>
            <a:off x="3472891" y="207568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 nguồn • tenant/site • capability • schema version</a:t>
            </a:r>
          </a:p>
        </p:txBody>
      </p:sp>
      <p:sp xmlns:a="http://schemas.openxmlformats.org/drawingml/2006/main">
        <p:nvSpPr>
          <p:cNvPr id="38" name="Rectangle 37"/>
          <p:cNvSpPr/>
          <p:nvPr/>
        </p:nvSpPr>
        <p:spPr>
          <a:xfrm>
            <a:off x="658368" y="269748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1635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Kết nối</a:t>
            </a:r>
          </a:p>
        </p:txBody>
      </p:sp>
      <p:sp xmlns:a="http://schemas.openxmlformats.org/drawingml/2006/main">
        <p:nvSpPr>
          <p:cNvPr id="40" name="TextBox 39"/>
          <p:cNvSpPr txBox="1"/>
          <p:nvPr/>
        </p:nvSpPr>
        <p:spPr>
          <a:xfrm>
            <a:off x="3472891" y="280720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MQTT / HTTP / webhook / gateway • SDK hoặc adapter</a:t>
            </a:r>
          </a:p>
        </p:txBody>
      </p:sp>
      <p:sp xmlns:a="http://schemas.openxmlformats.org/drawingml/2006/main">
        <p:nvSpPr>
          <p:cNvPr id="41" name="Rectangle 40"/>
          <p:cNvSpPr/>
          <p:nvPr/>
        </p:nvSpPr>
        <p:spPr>
          <a:xfrm>
            <a:off x="658368" y="342900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4787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Chuẩn hóa</a:t>
            </a:r>
          </a:p>
        </p:txBody>
      </p:sp>
      <p:sp xmlns:a="http://schemas.openxmlformats.org/drawingml/2006/main">
        <p:nvSpPr>
          <p:cNvPr id="43" name="TextBox 42"/>
          <p:cNvSpPr txBox="1"/>
          <p:nvPr/>
        </p:nvSpPr>
        <p:spPr>
          <a:xfrm>
            <a:off x="3472891" y="353872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Identity • timestamp • quality • event và command envelope</a:t>
            </a:r>
          </a:p>
        </p:txBody>
      </p:sp>
      <p:sp xmlns:a="http://schemas.openxmlformats.org/drawingml/2006/main">
        <p:nvSpPr>
          <p:cNvPr id="44" name="Rectangle 43"/>
          <p:cNvSpPr/>
          <p:nvPr/>
        </p:nvSpPr>
        <p:spPr>
          <a:xfrm>
            <a:off x="658368" y="4160520"/>
            <a:ext cx="7406640" cy="6492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27939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Kiểm chứng</a:t>
            </a:r>
          </a:p>
        </p:txBody>
      </p:sp>
      <p:sp xmlns:a="http://schemas.openxmlformats.org/drawingml/2006/main">
        <p:nvSpPr>
          <p:cNvPr id="46" name="TextBox 45"/>
          <p:cNvSpPr txBox="1"/>
          <p:nvPr/>
        </p:nvSpPr>
        <p:spPr>
          <a:xfrm>
            <a:off x="3472891" y="427024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 mất kết nối • timeout • quyền • tương thích</a:t>
            </a:r>
          </a:p>
        </p:txBody>
      </p:sp>
      <p:sp xmlns:a="http://schemas.openxmlformats.org/drawingml/2006/main">
        <p:nvSpPr>
          <p:cNvPr id="47" name="Rectangle 46"/>
          <p:cNvSpPr/>
          <p:nvPr/>
        </p:nvSpPr>
        <p:spPr>
          <a:xfrm>
            <a:off x="658368" y="4892040"/>
            <a:ext cx="7406640" cy="649224"/>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5010912"/>
            <a:ext cx="2592323" cy="530352"/>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Vận hành</a:t>
            </a:r>
          </a:p>
        </p:txBody>
      </p:sp>
      <p:sp xmlns:a="http://schemas.openxmlformats.org/drawingml/2006/main">
        <p:nvSpPr>
          <p:cNvPr id="49" name="TextBox 48"/>
          <p:cNvSpPr txBox="1"/>
          <p:nvPr/>
        </p:nvSpPr>
        <p:spPr>
          <a:xfrm>
            <a:off x="3472891" y="5001768"/>
            <a:ext cx="4369917" cy="557784"/>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 credential rotation • replay • revoke • nâng cấp</a:t>
            </a:r>
          </a:p>
        </p:txBody>
      </p:sp>
      <p:sp xmlns:a="http://schemas.openxmlformats.org/drawingml/2006/main">
        <p:nvSpPr>
          <p:cNvPr id="50" name="Rounded Rectangle 49"/>
          <p:cNvSpPr/>
          <p:nvPr/>
        </p:nvSpPr>
        <p:spPr>
          <a:xfrm>
            <a:off x="8366760" y="1984248"/>
            <a:ext cx="3154680" cy="3657600"/>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595360" y="2258568"/>
            <a:ext cx="2697480" cy="365760"/>
          </a:xfrm>
          <a:prstGeom prst="rect">
            <a:avLst/>
          </a:prstGeom>
          <a:noFill/>
        </p:spPr>
        <p:txBody>
          <a:bodyPr wrap="square" lIns="0" rIns="0" tIns="0" bIns="0">
            <a:spAutoFit/>
          </a:bodyPr>
          <a:lstStyle/>
          <a:p>
            <a:pPr>
              <a:spcBef>
                <a:spcPts val="0"/>
              </a:spcBef>
              <a:spcAft>
                <a:spcPts val="500"/>
              </a:spcAft>
              <a:defRPr sz="2300" b="1">
                <a:solidFill>
                  <a:srgbClr val="05CDE0"/>
                </a:solidFill>
                <a:latin typeface="Arial"/>
              </a:defRPr>
            </a:pPr>
            <a:r>
              <a:t>PARTNER KIT</a:t>
            </a:r>
          </a:p>
        </p:txBody>
      </p:sp>
      <p:sp xmlns:a="http://schemas.openxmlformats.org/drawingml/2006/main">
        <p:nvSpPr>
          <p:cNvPr id="52" name="TextBox 51"/>
          <p:cNvSpPr txBox="1"/>
          <p:nvPr/>
        </p:nvSpPr>
        <p:spPr>
          <a:xfrm>
            <a:off x="8595360" y="2999232"/>
            <a:ext cx="2697480" cy="2011680"/>
          </a:xfrm>
          <a:prstGeom prst="rect">
            <a:avLst/>
          </a:prstGeom>
          <a:noFill/>
        </p:spPr>
        <p:txBody>
          <a:bodyPr wrap="square" lIns="0" rIns="0" tIns="0" bIns="0">
            <a:spAutoFit/>
          </a:bodyPr>
          <a:lstStyle/>
          <a:p>
            <a:pPr>
              <a:spcBef>
                <a:spcPts val="0"/>
              </a:spcBef>
              <a:spcAft>
                <a:spcPts val="500"/>
              </a:spcAft>
              <a:defRPr sz="1800" b="0">
                <a:solidFill>
                  <a:srgbClr val="FFFFFF"/>
                </a:solidFill>
                <a:latin typeface="Arial"/>
              </a:defRPr>
            </a:pPr>
            <a:r>
              <a:t>API / SDK</a:t>
            </a:r>
          </a:p>
          <a:p>
            <a:pPr>
              <a:spcBef>
                <a:spcPts val="0"/>
              </a:spcBef>
              <a:spcAft>
                <a:spcPts val="500"/>
              </a:spcAft>
              <a:defRPr sz="1800" b="0">
                <a:solidFill>
                  <a:srgbClr val="FFFFFF"/>
                </a:solidFill>
                <a:latin typeface="Arial"/>
              </a:defRPr>
            </a:pPr>
            <a:r>
              <a:t>Schema mẫu</a:t>
            </a:r>
          </a:p>
          <a:p>
            <a:pPr>
              <a:spcBef>
                <a:spcPts val="0"/>
              </a:spcBef>
              <a:spcAft>
                <a:spcPts val="500"/>
              </a:spcAft>
              <a:defRPr sz="1800" b="0">
                <a:solidFill>
                  <a:srgbClr val="FFFFFF"/>
                </a:solidFill>
                <a:latin typeface="Arial"/>
              </a:defRPr>
            </a:pPr>
            <a:r>
              <a:t>Môi trường kiểm thử</a:t>
            </a:r>
          </a:p>
          <a:p>
            <a:pPr>
              <a:spcBef>
                <a:spcPts val="0"/>
              </a:spcBef>
              <a:spcAft>
                <a:spcPts val="500"/>
              </a:spcAft>
              <a:defRPr sz="1800" b="0">
                <a:solidFill>
                  <a:srgbClr val="FFFFFF"/>
                </a:solidFill>
                <a:latin typeface="Arial"/>
              </a:defRPr>
            </a:pPr>
            <a:r>
              <a:t>Bộ conformance test</a:t>
            </a:r>
          </a:p>
          <a:p>
            <a:pPr>
              <a:spcBef>
                <a:spcPts val="0"/>
              </a:spcBef>
              <a:spcAft>
                <a:spcPts val="500"/>
              </a:spcAft>
              <a:defRPr sz="1800" b="0">
                <a:solidFill>
                  <a:srgbClr val="FFFFFF"/>
                </a:solidFill>
                <a:latin typeface="Arial"/>
              </a:defRPr>
            </a:pPr>
            <a:r>
              <a:t>Quản lý phiên bản</a:t>
            </a:r>
          </a:p>
        </p:txBody>
      </p:sp>
    </p:spTree>
    <p:extLst>
      <p:ext uri="{BB962C8B-B14F-4D97-AF65-F5344CB8AC3E}">
        <p14:creationId xmlns:p14="http://schemas.microsoft.com/office/powerpoint/2010/main" val="19712852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IOT • DRONE • HỆ THỐNG HIỆN HỮU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Kết nối theo năng lực thực tế của từng thiết bị.</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Đọc dữ liệu, cảnh báo và điều khiển là các quyền khác nhau, được cấp rõ ràng.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25</a:t>
            </a:r>
          </a:p>
        </p:txBody>
      </p:sp>
      <p:sp xmlns:a="http://schemas.openxmlformats.org/drawingml/2006/main">
        <p:nvSpPr>
          <p:cNvPr id="35" name="Rectangle 34"/>
          <p:cNvSpPr/>
          <p:nvPr/>
        </p:nvSpPr>
        <p:spPr>
          <a:xfrm>
            <a:off x="658368" y="1993392"/>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Camera / cảm biến</a:t>
            </a:r>
          </a:p>
        </p:txBody>
      </p:sp>
      <p:sp xmlns:a="http://schemas.openxmlformats.org/drawingml/2006/main">
        <p:nvSpPr>
          <p:cNvPr id="37" name="TextBox 36"/>
          <p:cNvSpPr txBox="1"/>
          <p:nvPr/>
        </p:nvSpPr>
        <p:spPr>
          <a:xfrm>
            <a:off x="4793284" y="2103120"/>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Sự kiện, hình ảnh, sức khỏe kết nối, zone.</a:t>
            </a:r>
          </a:p>
        </p:txBody>
      </p:sp>
      <p:sp xmlns:a="http://schemas.openxmlformats.org/drawingml/2006/main">
        <p:nvSpPr>
          <p:cNvPr id="38" name="Rectangle 37"/>
          <p:cNvSpPr/>
          <p:nvPr/>
        </p:nvSpPr>
        <p:spPr>
          <a:xfrm>
            <a:off x="658368" y="2688336"/>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07208"/>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Wearable / thiết bị cá nhân</a:t>
            </a:r>
          </a:p>
        </p:txBody>
      </p:sp>
      <p:sp xmlns:a="http://schemas.openxmlformats.org/drawingml/2006/main">
        <p:nvSpPr>
          <p:cNvPr id="40" name="TextBox 39"/>
          <p:cNvSpPr txBox="1"/>
          <p:nvPr/>
        </p:nvSpPr>
        <p:spPr>
          <a:xfrm>
            <a:off x="4793284" y="2798064"/>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Possible fall, SOS, vị trí; theo quyền chia sẻ.</a:t>
            </a:r>
          </a:p>
        </p:txBody>
      </p:sp>
      <p:sp xmlns:a="http://schemas.openxmlformats.org/drawingml/2006/main">
        <p:nvSpPr>
          <p:cNvPr id="41" name="Rectangle 40"/>
          <p:cNvSpPr/>
          <p:nvPr/>
        </p:nvSpPr>
        <p:spPr>
          <a:xfrm>
            <a:off x="658368" y="3383280"/>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02152"/>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PA / báo cháy</a:t>
            </a:r>
          </a:p>
        </p:txBody>
      </p:sp>
      <p:sp xmlns:a="http://schemas.openxmlformats.org/drawingml/2006/main">
        <p:nvSpPr>
          <p:cNvPr id="43" name="TextBox 42"/>
          <p:cNvSpPr txBox="1"/>
          <p:nvPr/>
        </p:nvSpPr>
        <p:spPr>
          <a:xfrm>
            <a:off x="4793284" y="3493008"/>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và phát nội dung theo controller/site.</a:t>
            </a:r>
          </a:p>
        </p:txBody>
      </p:sp>
      <p:sp xmlns:a="http://schemas.openxmlformats.org/drawingml/2006/main">
        <p:nvSpPr>
          <p:cNvPr id="44" name="Rectangle 43"/>
          <p:cNvSpPr/>
          <p:nvPr/>
        </p:nvSpPr>
        <p:spPr>
          <a:xfrm>
            <a:off x="658368" y="4078224"/>
            <a:ext cx="10881360"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4197096"/>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Drone / phương tiện</a:t>
            </a:r>
          </a:p>
        </p:txBody>
      </p:sp>
      <p:sp xmlns:a="http://schemas.openxmlformats.org/drawingml/2006/main">
        <p:nvSpPr>
          <p:cNvPr id="46" name="TextBox 45"/>
          <p:cNvSpPr txBox="1"/>
          <p:nvPr/>
        </p:nvSpPr>
        <p:spPr>
          <a:xfrm>
            <a:off x="4793284" y="4187952"/>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Video, telemetry, loa; phi công và nhiệm vụ được duyệt.</a:t>
            </a:r>
          </a:p>
        </p:txBody>
      </p:sp>
      <p:sp xmlns:a="http://schemas.openxmlformats.org/drawingml/2006/main">
        <p:nvSpPr>
          <p:cNvPr id="47" name="Rectangle 46"/>
          <p:cNvSpPr/>
          <p:nvPr/>
        </p:nvSpPr>
        <p:spPr>
          <a:xfrm>
            <a:off x="658368" y="4773168"/>
            <a:ext cx="10881360" cy="612648"/>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892040"/>
            <a:ext cx="3808476" cy="493776"/>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IOC / đối tác</a:t>
            </a:r>
          </a:p>
        </p:txBody>
      </p:sp>
      <p:sp xmlns:a="http://schemas.openxmlformats.org/drawingml/2006/main">
        <p:nvSpPr>
          <p:cNvPr id="49" name="TextBox 48"/>
          <p:cNvSpPr txBox="1"/>
          <p:nvPr/>
        </p:nvSpPr>
        <p:spPr>
          <a:xfrm>
            <a:off x="4793284" y="4882896"/>
            <a:ext cx="6420002" cy="521208"/>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sự cố, nhiệm vụ, trạng thái và bàn giao.</a:t>
            </a:r>
          </a:p>
        </p:txBody>
      </p:sp>
      <p:sp xmlns:a="http://schemas.openxmlformats.org/drawingml/2006/main">
        <p:nvSpPr>
          <p:cNvPr id="50" name="Rounded Rectangle 49"/>
          <p:cNvSpPr/>
          <p:nvPr/>
        </p:nvSpPr>
        <p:spPr>
          <a:xfrm>
            <a:off x="758952" y="5614416"/>
            <a:ext cx="1856231"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32103" y="5664707"/>
            <a:ext cx="1709928"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CAPABILITY</a:t>
            </a:r>
          </a:p>
        </p:txBody>
      </p:sp>
      <p:sp xmlns:a="http://schemas.openxmlformats.org/drawingml/2006/main">
        <p:nvSpPr>
          <p:cNvPr id="52" name="Rounded Rectangle 51"/>
          <p:cNvSpPr/>
          <p:nvPr/>
        </p:nvSpPr>
        <p:spPr>
          <a:xfrm>
            <a:off x="3136392" y="5614416"/>
            <a:ext cx="219456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3209544" y="5664707"/>
            <a:ext cx="2048255"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AUTHORIZATION</a:t>
            </a:r>
          </a:p>
        </p:txBody>
      </p:sp>
      <p:sp xmlns:a="http://schemas.openxmlformats.org/drawingml/2006/main">
        <p:nvSpPr>
          <p:cNvPr id="54" name="Rounded Rectangle 53"/>
          <p:cNvSpPr/>
          <p:nvPr/>
        </p:nvSpPr>
        <p:spPr>
          <a:xfrm>
            <a:off x="5870448" y="5614416"/>
            <a:ext cx="2011680" cy="292608"/>
          </a:xfrm>
          <a:prstGeom prst="roundRect">
            <a:avLst>
              <a:gd name="adj" fmla="val 6000"/>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5943600" y="5664707"/>
            <a:ext cx="1865376"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EXECUTION</a:t>
            </a:r>
          </a:p>
        </p:txBody>
      </p:sp>
      <p:sp xmlns:a="http://schemas.openxmlformats.org/drawingml/2006/main">
        <p:nvSpPr>
          <p:cNvPr id="56" name="Rounded Rectangle 55"/>
          <p:cNvSpPr/>
          <p:nvPr/>
        </p:nvSpPr>
        <p:spPr>
          <a:xfrm>
            <a:off x="8412480" y="5614416"/>
            <a:ext cx="2487168" cy="292608"/>
          </a:xfrm>
          <a:prstGeom prst="roundRect">
            <a:avLst>
              <a:gd name="adj" fmla="val 6000"/>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8485632" y="5664707"/>
            <a:ext cx="2340864" cy="201168"/>
          </a:xfrm>
          <a:prstGeom prst="rect">
            <a:avLst/>
          </a:prstGeom>
          <a:noFill/>
        </p:spPr>
        <p:txBody>
          <a:bodyPr wrap="square" lIns="0" rIns="0" tIns="0" bIns="0">
            <a:spAutoFit/>
          </a:bodyPr>
          <a:lstStyle/>
          <a:p>
            <a:pPr>
              <a:spcBef>
                <a:spcPts val="0"/>
              </a:spcBef>
              <a:spcAft>
                <a:spcPts val="500"/>
              </a:spcAft>
              <a:defRPr sz="1000" b="1">
                <a:solidFill>
                  <a:srgbClr val="FFFFFF"/>
                </a:solidFill>
                <a:latin typeface="Arial"/>
              </a:defRPr>
            </a:pPr>
            <a:r>
              <a:t>VERIFICATION</a:t>
            </a:r>
          </a:p>
        </p:txBody>
      </p:sp>
    </p:spTree>
    <p:extLst>
      <p:ext uri="{BB962C8B-B14F-4D97-AF65-F5344CB8AC3E}">
        <p14:creationId xmlns:p14="http://schemas.microsoft.com/office/powerpoint/2010/main" val="19899536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Picture 1" descr="physical.png"/>
          <p:cNvPicPr>
            <a:picLocks noChangeAspect="1"/>
          </p:cNvPicPr>
          <p:nvPr/>
        </p:nvPicPr>
        <p:blipFill>
          <a:blip r:embed="rId2"/>
          <a:srcRect t="27" b="27"/>
          <a:stretch>
            <a:fillRect/>
          </a:stretch>
        </p:blipFill>
        <p:spPr>
          <a:xfrm>
            <a:off x="0" y="0"/>
            <a:ext cx="12191999" cy="6858000"/>
          </a:xfrm>
          <a:prstGeom prst="rect">
            <a:avLst/>
          </a:prstGeom>
        </p:spPr>
      </p:pic>
      <p:sp xmlns:a="http://schemas.openxmlformats.org/drawingml/2006/main">
        <p:nvSpPr>
          <p:cNvPr id="3" name="Rectangle 2"/>
          <p:cNvSpPr/>
          <p:nvPr/>
        </p:nvSpPr>
        <p:spPr>
          <a:xfrm>
            <a:off x="0" y="6419088"/>
            <a:ext cx="12191999" cy="438912"/>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TextBox 3"/>
          <p:cNvSpPr txBox="1"/>
          <p:nvPr/>
        </p:nvSpPr>
        <p:spPr>
          <a:xfrm>
            <a:off x="274320" y="6519672"/>
            <a:ext cx="11384280"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CHỮA CHÁY &amp; CỨU HỘ VẬT LÝ • Tủ báo cháy • Bơm–van–phun nước • Hút khói • Thiết bị cứu hộ</a:t>
            </a:r>
          </a:p>
        </p:txBody>
      </p:sp>
      <p:sp xmlns:a="http://schemas.openxmlformats.org/drawingml/2006/main">
        <p:nvSpPr>
          <p:cNvPr id="5" name="TextBox 4"/>
          <p:cNvSpPr txBox="1"/>
          <p:nvPr/>
        </p:nvSpPr>
        <p:spPr>
          <a:xfrm>
            <a:off x="11740896" y="6519672"/>
            <a:ext cx="201168" cy="201168"/>
          </a:xfrm>
          <a:prstGeom prst="rect">
            <a:avLst/>
          </a:prstGeom>
          <a:noFill/>
        </p:spPr>
        <p:txBody>
          <a:bodyPr wrap="square" lIns="0" rIns="0" tIns="0" bIns="0">
            <a:spAutoFit/>
          </a:bodyPr>
          <a:lstStyle/>
          <a:p>
            <a:pPr>
              <a:spcBef>
                <a:spcPts val="0"/>
              </a:spcBef>
              <a:spcAft>
                <a:spcPts val="500"/>
              </a:spcAft>
              <a:defRPr sz="1000" b="0" lang="en-US">
                <a:solidFill>
                  <a:srgbClr val="FFFFFF"/>
                </a:solidFill>
                <a:latin typeface="Arial"/>
              </a:defRPr>
            </a:pPr>
            <a:r>
              <a:t>26</a:t>
            </a:r>
          </a:p>
        </p:txBody>
      </p:sp>
    </p:spTree>
    <p:extLst>
      <p:ext uri="{BB962C8B-B14F-4D97-AF65-F5344CB8AC3E}">
        <p14:creationId xmlns:p14="http://schemas.microsoft.com/office/powerpoint/2010/main" val="19899536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THIẾT BỊ VẬT LÝ • PHẠM VI TÍCH HỢP</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Kết nối đầy đủ từ nguồn nước đến hành động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Mỗi thiết bị có danh tính, vùng bảo vệ, tín hiệu giám sát và quyền điều khiển riêng.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27</a:t>
            </a:r>
          </a:p>
        </p:txBody>
      </p:sp>
      <p:sp xmlns:a="http://schemas.openxmlformats.org/drawingml/2006/main">
        <p:nvSpPr>
          <p:cNvPr id="35" name="Rounded Rectangle 34"/>
          <p:cNvSpPr/>
          <p:nvPr/>
        </p:nvSpPr>
        <p:spPr>
          <a:xfrm>
            <a:off x="65836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NƯỚC &amp; CHỮA CHÁY</a:t>
            </a:r>
          </a:p>
        </p:txBody>
      </p:sp>
      <p:sp xmlns:a="http://schemas.openxmlformats.org/drawingml/2006/main">
        <p:nvSpPr>
          <p:cNvPr id="38" name="TextBox 37"/>
          <p:cNvSpPr txBox="1"/>
          <p:nvPr/>
        </p:nvSpPr>
        <p:spPr>
          <a:xfrm>
            <a:off x="82295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Bồn nước • tủ bơm • bơm</a:t>
            </a:r>
          </a:p>
          <a:p>
            <a:pPr>
              <a:spcBef>
                <a:spcPts val="0"/>
              </a:spcBef>
              <a:spcAft>
                <a:spcPts val="500"/>
              </a:spcAft>
              <a:defRPr sz="1600" b="0">
                <a:solidFill>
                  <a:srgbClr val="20252B"/>
                </a:solidFill>
                <a:latin typeface="Arial"/>
              </a:defRPr>
            </a:pPr>
            <a:r>
              <a:t>Van / waterflow / áp suất</a:t>
            </a:r>
          </a:p>
          <a:p>
            <a:pPr>
              <a:spcBef>
                <a:spcPts val="0"/>
              </a:spcBef>
              <a:spcAft>
                <a:spcPts val="500"/>
              </a:spcAft>
              <a:defRPr sz="1600" b="0">
                <a:solidFill>
                  <a:srgbClr val="20252B"/>
                </a:solidFill>
                <a:latin typeface="Arial"/>
              </a:defRPr>
            </a:pPr>
            <a:r>
              <a:t>Sprinkler • deluge / pre-action</a:t>
            </a:r>
          </a:p>
        </p:txBody>
      </p:sp>
      <p:sp xmlns:a="http://schemas.openxmlformats.org/drawingml/2006/main">
        <p:nvSpPr>
          <p:cNvPr id="39" name="Rounded Rectangle 38"/>
          <p:cNvSpPr/>
          <p:nvPr/>
        </p:nvSpPr>
        <p:spPr>
          <a:xfrm>
            <a:off x="436168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HỖ TRỢ THOÁT HIỂM</a:t>
            </a:r>
          </a:p>
        </p:txBody>
      </p:sp>
      <p:sp xmlns:a="http://schemas.openxmlformats.org/drawingml/2006/main">
        <p:nvSpPr>
          <p:cNvPr id="42" name="TextBox 41"/>
          <p:cNvSpPr txBox="1"/>
          <p:nvPr/>
        </p:nvSpPr>
        <p:spPr>
          <a:xfrm>
            <a:off x="4526279"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Tủ báo cháy • PA khẩn cấp</a:t>
            </a:r>
          </a:p>
          <a:p>
            <a:pPr>
              <a:spcBef>
                <a:spcPts val="0"/>
              </a:spcBef>
              <a:spcAft>
                <a:spcPts val="500"/>
              </a:spcAft>
              <a:defRPr sz="1600" b="0">
                <a:solidFill>
                  <a:srgbClr val="20252B"/>
                </a:solidFill>
                <a:latin typeface="Arial"/>
              </a:defRPr>
            </a:pPr>
            <a:r>
              <a:t>Hút khói / damper / cửa</a:t>
            </a:r>
          </a:p>
          <a:p>
            <a:pPr>
              <a:spcBef>
                <a:spcPts val="0"/>
              </a:spcBef>
              <a:spcAft>
                <a:spcPts val="500"/>
              </a:spcAft>
              <a:defRPr sz="1600" b="0">
                <a:solidFill>
                  <a:srgbClr val="20252B"/>
                </a:solidFill>
                <a:latin typeface="Arial"/>
              </a:defRPr>
            </a:pPr>
            <a:r>
              <a:t>Chiếu sáng và chỉ dẫn lối ra</a:t>
            </a:r>
          </a:p>
        </p:txBody>
      </p:sp>
      <p:sp xmlns:a="http://schemas.openxmlformats.org/drawingml/2006/main">
        <p:nvSpPr>
          <p:cNvPr id="43" name="Rounded Rectangle 42"/>
          <p:cNvSpPr/>
          <p:nvPr/>
        </p:nvSpPr>
        <p:spPr>
          <a:xfrm>
            <a:off x="8065008" y="2103120"/>
            <a:ext cx="3474720" cy="265176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6517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THIẾT BỊ CỨU HỘ</a:t>
            </a:r>
          </a:p>
        </p:txBody>
      </p:sp>
      <p:sp xmlns:a="http://schemas.openxmlformats.org/drawingml/2006/main">
        <p:nvSpPr>
          <p:cNvPr id="46" name="TextBox 45"/>
          <p:cNvSpPr txBox="1"/>
          <p:nvPr/>
        </p:nvSpPr>
        <p:spPr>
          <a:xfrm>
            <a:off x="8229600" y="2898648"/>
            <a:ext cx="3145536" cy="175564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Robot / vòi phun điều khiển</a:t>
            </a:r>
          </a:p>
          <a:p>
            <a:pPr>
              <a:spcBef>
                <a:spcPts val="0"/>
              </a:spcBef>
              <a:spcAft>
                <a:spcPts val="500"/>
              </a:spcAft>
              <a:defRPr sz="1600" b="0">
                <a:solidFill>
                  <a:srgbClr val="20252B"/>
                </a:solidFill>
                <a:latin typeface="Arial"/>
              </a:defRPr>
            </a:pPr>
            <a:r>
              <a:t>Drone / phương tiện / loa</a:t>
            </a:r>
          </a:p>
          <a:p>
            <a:pPr>
              <a:spcBef>
                <a:spcPts val="0"/>
              </a:spcBef>
              <a:spcAft>
                <a:spcPts val="500"/>
              </a:spcAft>
              <a:defRPr sz="1600" b="0">
                <a:solidFill>
                  <a:srgbClr val="20252B"/>
                </a:solidFill>
                <a:latin typeface="Arial"/>
              </a:defRPr>
            </a:pPr>
            <a:r>
              <a:t>Nhiệm vụ, người điều khiển, phản hồi</a:t>
            </a:r>
          </a:p>
        </p:txBody>
      </p:sp>
      <p:sp xmlns:a="http://schemas.openxmlformats.org/drawingml/2006/main">
        <p:nvSpPr>
          <p:cNvPr id="47" name="TextBox 46"/>
          <p:cNvSpPr txBox="1"/>
          <p:nvPr/>
        </p:nvSpPr>
        <p:spPr>
          <a:xfrm>
            <a:off x="731520" y="5193792"/>
            <a:ext cx="10789920" cy="612648"/>
          </a:xfrm>
          <a:prstGeom prst="rect">
            <a:avLst/>
          </a:prstGeom>
          <a:noFill/>
        </p:spPr>
        <p:txBody>
          <a:bodyPr wrap="square" lIns="0" rIns="0" tIns="0" bIns="0">
            <a:spAutoFit/>
          </a:bodyPr>
          <a:lstStyle/>
          <a:p>
            <a:pPr>
              <a:spcBef>
                <a:spcPts val="0"/>
              </a:spcBef>
              <a:spcAft>
                <a:spcPts val="500"/>
              </a:spcAft>
              <a:defRPr sz="2100" b="1">
                <a:solidFill>
                  <a:srgbClr val="C8102E"/>
                </a:solidFill>
                <a:latin typeface="Arial"/>
              </a:defRPr>
            </a:pPr>
            <a:r>
              <a:t>Đọc trạng thái ≠ Có quyền điều khiển. Lệnh được nhận ≠ Thiết bị đã hoạt động.</a:t>
            </a:r>
          </a:p>
        </p:txBody>
      </p:sp>
    </p:spTree>
    <p:extLst>
      <p:ext uri="{BB962C8B-B14F-4D97-AF65-F5344CB8AC3E}">
        <p14:creationId xmlns:p14="http://schemas.microsoft.com/office/powerpoint/2010/main" val="19899536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NGHIÊN CỨU CHÍNH HÃNG • THIẾT BỊ HIỆN HỮU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Chọn giao tiếp theo model và quyền đã được xác minh.</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Ví dụ đã đối chiếu tài liệu hãng; tương thích tại công trình vẫn phải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28</a:t>
            </a:r>
          </a:p>
        </p:txBody>
      </p:sp>
      <p:sp xmlns:a="http://schemas.openxmlformats.org/drawingml/2006/main">
        <p:nvSpPr>
          <p:cNvPr id="35" name="Rectangle 34"/>
          <p:cNvSpPr/>
          <p:nvPr/>
        </p:nvSpPr>
        <p:spPr>
          <a:xfrm>
            <a:off x="658368" y="1965960"/>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084831"/>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Siemens Cerberus PRO</a:t>
            </a:r>
          </a:p>
        </p:txBody>
      </p:sp>
      <p:sp xmlns:a="http://schemas.openxmlformats.org/drawingml/2006/main">
        <p:nvSpPr>
          <p:cNvPr id="37" name="TextBox 36"/>
          <p:cNvSpPr txBox="1"/>
          <p:nvPr/>
        </p:nvSpPr>
        <p:spPr>
          <a:xfrm>
            <a:off x="4793284" y="207568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Một số gateway US: BACnet giám sát; khác cấu hình/chức năng giữa khu vực.</a:t>
            </a:r>
          </a:p>
        </p:txBody>
      </p:sp>
      <p:sp xmlns:a="http://schemas.openxmlformats.org/drawingml/2006/main">
        <p:nvSpPr>
          <p:cNvPr id="38" name="Rectangle 37"/>
          <p:cNvSpPr/>
          <p:nvPr/>
        </p:nvSpPr>
        <p:spPr>
          <a:xfrm>
            <a:off x="658368" y="2587752"/>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706624"/>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NOTIFIER BACNET-GW-3</a:t>
            </a:r>
          </a:p>
        </p:txBody>
      </p:sp>
      <p:sp xmlns:a="http://schemas.openxmlformats.org/drawingml/2006/main">
        <p:nvSpPr>
          <p:cNvPr id="40" name="TextBox 39"/>
          <p:cNvSpPr txBox="1"/>
          <p:nvPr/>
        </p:nvSpPr>
        <p:spPr>
          <a:xfrm>
            <a:off x="4793284" y="2697480"/>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Giao tiếp trạng thái bổ trợ; không dùng làm đường kích hoạt mass notification.</a:t>
            </a:r>
          </a:p>
        </p:txBody>
      </p:sp>
      <p:sp xmlns:a="http://schemas.openxmlformats.org/drawingml/2006/main">
        <p:nvSpPr>
          <p:cNvPr id="41" name="Rectangle 40"/>
          <p:cNvSpPr/>
          <p:nvPr/>
        </p:nvSpPr>
        <p:spPr>
          <a:xfrm>
            <a:off x="658368" y="3209544"/>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328415"/>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Tornatech GPX / GPD</a:t>
            </a:r>
          </a:p>
        </p:txBody>
      </p:sp>
      <p:sp xmlns:a="http://schemas.openxmlformats.org/drawingml/2006/main">
        <p:nvSpPr>
          <p:cNvPr id="43" name="TextBox 42"/>
          <p:cNvSpPr txBox="1"/>
          <p:nvPr/>
        </p:nvSpPr>
        <p:spPr>
          <a:xfrm>
            <a:off x="4793284" y="3319272"/>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Map bơm/áp suất/fault và đầu vào hãng; xác minh quyền ghi theo firmware.</a:t>
            </a:r>
          </a:p>
        </p:txBody>
      </p:sp>
      <p:sp xmlns:a="http://schemas.openxmlformats.org/drawingml/2006/main">
        <p:nvSpPr>
          <p:cNvPr id="44" name="Rectangle 43"/>
          <p:cNvSpPr/>
          <p:nvPr/>
        </p:nvSpPr>
        <p:spPr>
          <a:xfrm>
            <a:off x="658368" y="3831335"/>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95528" y="3950207"/>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Potter PFC-4410G3</a:t>
            </a:r>
          </a:p>
        </p:txBody>
      </p:sp>
      <p:sp xmlns:a="http://schemas.openxmlformats.org/drawingml/2006/main">
        <p:nvSpPr>
          <p:cNvPr id="46" name="TextBox 45"/>
          <p:cNvSpPr txBox="1"/>
          <p:nvPr/>
        </p:nvSpPr>
        <p:spPr>
          <a:xfrm>
            <a:off x="4793284" y="3941063"/>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Tủ releasing tại chỗ; relay trạng thái. Ethernet không chứng minh có API xả.</a:t>
            </a:r>
          </a:p>
        </p:txBody>
      </p:sp>
      <p:sp xmlns:a="http://schemas.openxmlformats.org/drawingml/2006/main">
        <p:nvSpPr>
          <p:cNvPr id="47" name="Rectangle 46"/>
          <p:cNvSpPr/>
          <p:nvPr/>
        </p:nvSpPr>
        <p:spPr>
          <a:xfrm>
            <a:off x="658368" y="4453128"/>
            <a:ext cx="10881360" cy="53949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795528" y="4572000"/>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Bosch PRAESENSA</a:t>
            </a:r>
          </a:p>
        </p:txBody>
      </p:sp>
      <p:sp xmlns:a="http://schemas.openxmlformats.org/drawingml/2006/main">
        <p:nvSpPr>
          <p:cNvPr id="49" name="TextBox 48"/>
          <p:cNvSpPr txBox="1"/>
          <p:nvPr/>
        </p:nvSpPr>
        <p:spPr>
          <a:xfrm>
            <a:off x="4793284" y="4562856"/>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Open Interface có tài liệu; phạm vi dùng khẩn cấp cần kiểm tra cấu hình/chứng nhận.</a:t>
            </a:r>
          </a:p>
        </p:txBody>
      </p:sp>
      <p:sp xmlns:a="http://schemas.openxmlformats.org/drawingml/2006/main">
        <p:nvSpPr>
          <p:cNvPr id="50" name="Rectangle 49"/>
          <p:cNvSpPr/>
          <p:nvPr/>
        </p:nvSpPr>
        <p:spPr>
          <a:xfrm>
            <a:off x="658368" y="5074920"/>
            <a:ext cx="10881360" cy="5394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795528" y="5193792"/>
            <a:ext cx="3808476" cy="42062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Shark Robotics Colossus</a:t>
            </a:r>
          </a:p>
        </p:txBody>
      </p:sp>
      <p:sp xmlns:a="http://schemas.openxmlformats.org/drawingml/2006/main">
        <p:nvSpPr>
          <p:cNvPr id="52" name="TextBox 51"/>
          <p:cNvSpPr txBox="1"/>
          <p:nvPr/>
        </p:nvSpPr>
        <p:spPr>
          <a:xfrm>
            <a:off x="4793284" y="5184648"/>
            <a:ext cx="6420002" cy="4480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Robot có thiết bị phun nước; chưa có bằng chứng API công khai để điều khiển.</a:t>
            </a:r>
          </a:p>
        </p:txBody>
      </p:sp>
      <p:sp xmlns:a="http://schemas.openxmlformats.org/drawingml/2006/main">
        <p:nvSpPr>
          <p:cNvPr id="53" name="TextBox 52"/>
          <p:cNvSpPr txBox="1"/>
          <p:nvPr/>
        </p:nvSpPr>
        <p:spPr>
          <a:xfrm>
            <a:off x="749808" y="5843016"/>
            <a:ext cx="10698480" cy="256032"/>
          </a:xfrm>
          <a:prstGeom prst="rect">
            <a:avLst/>
          </a:prstGeom>
          <a:noFill/>
        </p:spPr>
        <p:txBody>
          <a:bodyPr wrap="square" lIns="0" rIns="0" tIns="0" bIns="0">
            <a:spAutoFit/>
          </a:bodyPr>
          <a:lstStyle/>
          <a:p>
            <a:pPr>
              <a:spcBef>
                <a:spcPts val="0"/>
              </a:spcBef>
              <a:spcAft>
                <a:spcPts val="500"/>
              </a:spcAft>
              <a:defRPr sz="1200" b="0">
                <a:solidFill>
                  <a:srgbClr val="52616B"/>
                </a:solidFill>
                <a:latin typeface="Arial"/>
              </a:defRPr>
            </a:pPr>
            <a:r>
              <a:t>Hồ sơ nghiên cứu: 12 cấu hình thiết bị, nguồn chính hãng, RFI và kiểm thử theo thiết bị.</a:t>
            </a:r>
          </a:p>
        </p:txBody>
      </p:sp>
    </p:spTree>
    <p:extLst>
      <p:ext uri="{BB962C8B-B14F-4D97-AF65-F5344CB8AC3E}">
        <p14:creationId xmlns:p14="http://schemas.microsoft.com/office/powerpoint/2010/main" val="19899536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KẾT NỐI • IT / OT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Một đường tích hợp có kiểm soát đến tủ tại chỗ.</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Chuẩn hóa dữ liệu ở edge, giữ logic an toàn và interlock tại hệ thống chuyên dụng.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29</a:t>
            </a:r>
          </a:p>
        </p:txBody>
      </p:sp>
      <p:sp xmlns:a="http://schemas.openxmlformats.org/drawingml/2006/main">
        <p:nvSpPr>
          <p:cNvPr id="35" name="Rounded Rectangle 34"/>
          <p:cNvSpPr/>
          <p:nvPr/>
        </p:nvSpPr>
        <p:spPr>
          <a:xfrm>
            <a:off x="658368"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SMARTALARM</a:t>
            </a:r>
          </a:p>
        </p:txBody>
      </p:sp>
      <p:sp xmlns:a="http://schemas.openxmlformats.org/drawingml/2006/main">
        <p:nvSpPr>
          <p:cNvPr id="38" name="TextBox 37"/>
          <p:cNvSpPr txBox="1"/>
          <p:nvPr/>
        </p:nvSpPr>
        <p:spPr>
          <a:xfrm>
            <a:off x="822959"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Incident / workflow</a:t>
            </a:r>
          </a:p>
          <a:p>
            <a:pPr>
              <a:spcBef>
                <a:spcPts val="0"/>
              </a:spcBef>
              <a:spcAft>
                <a:spcPts val="500"/>
              </a:spcAft>
              <a:defRPr sz="1600" b="0">
                <a:solidFill>
                  <a:srgbClr val="20252B"/>
                </a:solidFill>
                <a:latin typeface="Arial"/>
              </a:defRPr>
            </a:pPr>
            <a:r>
              <a:t>Quyền &amp; audit</a:t>
            </a:r>
          </a:p>
          <a:p>
            <a:pPr>
              <a:spcBef>
                <a:spcPts val="0"/>
              </a:spcBef>
              <a:spcAft>
                <a:spcPts val="500"/>
              </a:spcAft>
              <a:defRPr sz="1600" b="0">
                <a:solidFill>
                  <a:srgbClr val="20252B"/>
                </a:solidFill>
                <a:latin typeface="Arial"/>
              </a:defRPr>
            </a:pPr>
            <a:r>
              <a:t>Nội dung / nhiệm vụ</a:t>
            </a:r>
          </a:p>
        </p:txBody>
      </p:sp>
      <p:sp xmlns:a="http://schemas.openxmlformats.org/drawingml/2006/main">
        <p:nvSpPr>
          <p:cNvPr id="39" name="Chevron 38"/>
          <p:cNvSpPr/>
          <p:nvPr/>
        </p:nvSpPr>
        <p:spPr>
          <a:xfrm>
            <a:off x="3246120"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ounded Rectangle 39"/>
          <p:cNvSpPr/>
          <p:nvPr/>
        </p:nvSpPr>
        <p:spPr>
          <a:xfrm>
            <a:off x="3438144"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Rectangle 40"/>
          <p:cNvSpPr/>
          <p:nvPr/>
        </p:nvSpPr>
        <p:spPr>
          <a:xfrm>
            <a:off x="3438144"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3602736"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OT DMZ / EDGE</a:t>
            </a:r>
          </a:p>
        </p:txBody>
      </p:sp>
      <p:sp xmlns:a="http://schemas.openxmlformats.org/drawingml/2006/main">
        <p:nvSpPr>
          <p:cNvPr id="43" name="TextBox 42"/>
          <p:cNvSpPr txBox="1"/>
          <p:nvPr/>
        </p:nvSpPr>
        <p:spPr>
          <a:xfrm>
            <a:off x="3602736"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mTLS / outbound</a:t>
            </a:r>
          </a:p>
          <a:p>
            <a:pPr>
              <a:spcBef>
                <a:spcPts val="0"/>
              </a:spcBef>
              <a:spcAft>
                <a:spcPts val="500"/>
              </a:spcAft>
              <a:defRPr sz="1600" b="0">
                <a:solidFill>
                  <a:srgbClr val="20252B"/>
                </a:solidFill>
                <a:latin typeface="Arial"/>
              </a:defRPr>
            </a:pPr>
            <a:r>
              <a:t>Mapping point–zone</a:t>
            </a:r>
          </a:p>
          <a:p>
            <a:pPr>
              <a:spcBef>
                <a:spcPts val="0"/>
              </a:spcBef>
              <a:spcAft>
                <a:spcPts val="500"/>
              </a:spcAft>
              <a:defRPr sz="1600" b="0">
                <a:solidFill>
                  <a:srgbClr val="20252B"/>
                </a:solidFill>
                <a:latin typeface="Arial"/>
              </a:defRPr>
            </a:pPr>
            <a:r>
              <a:t>TTL / quality / buffer</a:t>
            </a:r>
          </a:p>
        </p:txBody>
      </p:sp>
      <p:sp xmlns:a="http://schemas.openxmlformats.org/drawingml/2006/main">
        <p:nvSpPr>
          <p:cNvPr id="44" name="Chevron 43"/>
          <p:cNvSpPr/>
          <p:nvPr/>
        </p:nvSpPr>
        <p:spPr>
          <a:xfrm>
            <a:off x="6025896"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Rounded Rectangle 44"/>
          <p:cNvSpPr/>
          <p:nvPr/>
        </p:nvSpPr>
        <p:spPr>
          <a:xfrm>
            <a:off x="6217920"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6217920"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6382512"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VENDOR GATEWAY</a:t>
            </a:r>
          </a:p>
        </p:txBody>
      </p:sp>
      <p:sp xmlns:a="http://schemas.openxmlformats.org/drawingml/2006/main">
        <p:nvSpPr>
          <p:cNvPr id="48" name="TextBox 47"/>
          <p:cNvSpPr txBox="1"/>
          <p:nvPr/>
        </p:nvSpPr>
        <p:spPr>
          <a:xfrm>
            <a:off x="6382512"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BACnet / Modbus</a:t>
            </a:r>
          </a:p>
          <a:p>
            <a:pPr>
              <a:spcBef>
                <a:spcPts val="0"/>
              </a:spcBef>
              <a:spcAft>
                <a:spcPts val="500"/>
              </a:spcAft>
              <a:defRPr sz="1600" b="0">
                <a:solidFill>
                  <a:srgbClr val="20252B"/>
                </a:solidFill>
                <a:latin typeface="Arial"/>
              </a:defRPr>
            </a:pPr>
            <a:r>
              <a:t>OPC UA / API hãng</a:t>
            </a:r>
          </a:p>
          <a:p>
            <a:pPr>
              <a:spcBef>
                <a:spcPts val="0"/>
              </a:spcBef>
              <a:spcAft>
                <a:spcPts val="500"/>
              </a:spcAft>
              <a:defRPr sz="1600" b="0">
                <a:solidFill>
                  <a:srgbClr val="20252B"/>
                </a:solidFill>
                <a:latin typeface="Arial"/>
              </a:defRPr>
            </a:pPr>
            <a:r>
              <a:t>I/O được chấp thuận</a:t>
            </a:r>
          </a:p>
        </p:txBody>
      </p:sp>
      <p:sp xmlns:a="http://schemas.openxmlformats.org/drawingml/2006/main">
        <p:nvSpPr>
          <p:cNvPr id="49" name="Chevron 48"/>
          <p:cNvSpPr/>
          <p:nvPr/>
        </p:nvSpPr>
        <p:spPr>
          <a:xfrm>
            <a:off x="8805672" y="3246120"/>
            <a:ext cx="146304" cy="21031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Rounded Rectangle 49"/>
          <p:cNvSpPr/>
          <p:nvPr/>
        </p:nvSpPr>
        <p:spPr>
          <a:xfrm>
            <a:off x="8997696" y="2267712"/>
            <a:ext cx="2532888" cy="235000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8997696" y="2267712"/>
            <a:ext cx="50292" cy="235000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9162288" y="2423160"/>
            <a:ext cx="2203704"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LOCAL CONTROL</a:t>
            </a:r>
          </a:p>
        </p:txBody>
      </p:sp>
      <p:sp xmlns:a="http://schemas.openxmlformats.org/drawingml/2006/main">
        <p:nvSpPr>
          <p:cNvPr id="53" name="TextBox 52"/>
          <p:cNvSpPr txBox="1"/>
          <p:nvPr/>
        </p:nvSpPr>
        <p:spPr>
          <a:xfrm>
            <a:off x="9162288" y="3063240"/>
            <a:ext cx="2203704" cy="1453895"/>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Cause-and-effect</a:t>
            </a:r>
          </a:p>
          <a:p>
            <a:pPr>
              <a:spcBef>
                <a:spcPts val="0"/>
              </a:spcBef>
              <a:spcAft>
                <a:spcPts val="500"/>
              </a:spcAft>
              <a:defRPr sz="1600" b="0">
                <a:solidFill>
                  <a:srgbClr val="20252B"/>
                </a:solidFill>
                <a:latin typeface="Arial"/>
              </a:defRPr>
            </a:pPr>
            <a:r>
              <a:t>Interlock / ưu tiên</a:t>
            </a:r>
          </a:p>
          <a:p>
            <a:pPr>
              <a:spcBef>
                <a:spcPts val="0"/>
              </a:spcBef>
              <a:spcAft>
                <a:spcPts val="500"/>
              </a:spcAft>
              <a:defRPr sz="1600" b="0">
                <a:solidFill>
                  <a:srgbClr val="20252B"/>
                </a:solidFill>
                <a:latin typeface="Arial"/>
              </a:defRPr>
            </a:pPr>
            <a:r>
              <a:t>Thiết bị &amp; phản hồi</a:t>
            </a:r>
          </a:p>
        </p:txBody>
      </p:sp>
      <p:cxnSp xmlns:a="http://schemas.openxmlformats.org/drawingml/2006/main">
        <p:nvCxnSpPr>
          <p:cNvPr id="54" name="Connector 53"/>
          <p:cNvCxnSpPr/>
          <p:nvPr/>
        </p:nvCxnSpPr>
        <p:spPr>
          <a:xfrm>
            <a:off x="1005840" y="4910328"/>
            <a:ext cx="10149840" cy="0"/>
          </a:xfrm>
          <a:prstGeom prst="line">
            <a:avLst/>
          </a:prstGeom>
          <a:ln w="38100">
            <a:solidFill>
              <a:srgbClr val="05CDE0"/>
            </a:solidFill>
          </a:ln>
        </p:spPr>
        <p:style>
          <a:lnRef idx="2">
            <a:schemeClr val="accent1"/>
          </a:lnRef>
          <a:fillRef idx="0">
            <a:schemeClr val="accent1"/>
          </a:fillRef>
          <a:effectRef idx="1">
            <a:schemeClr val="accent1"/>
          </a:effectRef>
          <a:fontRef idx="minor">
            <a:schemeClr val="tx1"/>
          </a:fontRef>
        </p:style>
      </p:cxnSp>
      <p:sp xmlns:a="http://schemas.openxmlformats.org/drawingml/2006/main">
        <p:nvSpPr>
          <p:cNvPr id="55" name="TextBox 54"/>
          <p:cNvSpPr txBox="1"/>
          <p:nvPr/>
        </p:nvSpPr>
        <p:spPr>
          <a:xfrm>
            <a:off x="749808" y="5138928"/>
            <a:ext cx="10698480" cy="493776"/>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PHẢN HỒI THỰC • Alarm / trouble • Áp suất / waterflow • Vị trí van • Chế độ local/test</a:t>
            </a:r>
          </a:p>
        </p:txBody>
      </p:sp>
      <p:sp xmlns:a="http://schemas.openxmlformats.org/drawingml/2006/main">
        <p:nvSpPr>
          <p:cNvPr id="56" name="TextBox 55"/>
          <p:cNvSpPr txBox="1"/>
          <p:nvPr/>
        </p:nvSpPr>
        <p:spPr>
          <a:xfrm>
            <a:off x="749808" y="5779008"/>
            <a:ext cx="10698480" cy="274320"/>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Mất cloud không được làm mất chức năng bảo vệ tự động cục bộ.</a:t>
            </a:r>
          </a:p>
        </p:txBody>
      </p:sp>
    </p:spTree>
    <p:extLst>
      <p:ext uri="{BB962C8B-B14F-4D97-AF65-F5344CB8AC3E}">
        <p14:creationId xmlns:p14="http://schemas.microsoft.com/office/powerpoint/2010/main" val="198995366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TỰ ĐỘNG CHỮA CHÁY • XÁC MINH KẾT QUẢ</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Phun nước có logic tại chỗ và phản hồi thực tế.</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Phân biệt sprinkler kích hoạt do nhiệt với vùng xả điều khiển; không gom thành một nút “bật”.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30</a:t>
            </a:r>
          </a:p>
        </p:txBody>
      </p:sp>
      <p:sp xmlns:a="http://schemas.openxmlformats.org/drawingml/2006/main">
        <p:nvSpPr>
          <p:cNvPr id="35" name="Rounded Rectangle 34"/>
          <p:cNvSpPr/>
          <p:nvPr/>
        </p:nvSpPr>
        <p:spPr>
          <a:xfrm>
            <a:off x="658368" y="1984248"/>
            <a:ext cx="5257800"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1984248"/>
            <a:ext cx="50292" cy="17830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139696"/>
            <a:ext cx="492861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SPRINKLER KÍCH HOẠT DO NHIỆT</a:t>
            </a:r>
          </a:p>
        </p:txBody>
      </p:sp>
      <p:sp xmlns:a="http://schemas.openxmlformats.org/drawingml/2006/main">
        <p:nvSpPr>
          <p:cNvPr id="38" name="TextBox 37"/>
          <p:cNvSpPr txBox="1"/>
          <p:nvPr/>
        </p:nvSpPr>
        <p:spPr>
          <a:xfrm>
            <a:off x="822959" y="2779776"/>
            <a:ext cx="4928616"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Đầu phun phản ứng với nhiệt tại chỗ.</a:t>
            </a:r>
          </a:p>
          <a:p>
            <a:pPr>
              <a:spcBef>
                <a:spcPts val="0"/>
              </a:spcBef>
              <a:spcAft>
                <a:spcPts val="500"/>
              </a:spcAft>
              <a:defRPr sz="1600" b="0">
                <a:solidFill>
                  <a:srgbClr val="20252B"/>
                </a:solidFill>
                <a:latin typeface="Arial"/>
              </a:defRPr>
            </a:pPr>
            <a:r>
              <a:t>Tủ bơm và hệ thống duy trì logic riêng.</a:t>
            </a:r>
          </a:p>
          <a:p>
            <a:pPr>
              <a:spcBef>
                <a:spcPts val="0"/>
              </a:spcBef>
              <a:spcAft>
                <a:spcPts val="500"/>
              </a:spcAft>
              <a:defRPr sz="1600" b="0">
                <a:solidFill>
                  <a:srgbClr val="20252B"/>
                </a:solidFill>
                <a:latin typeface="Arial"/>
              </a:defRPr>
            </a:pPr>
            <a:r>
              <a:t>SmartAlarm nhận alarm / flow / pressure.</a:t>
            </a:r>
          </a:p>
        </p:txBody>
      </p:sp>
      <p:sp xmlns:a="http://schemas.openxmlformats.org/drawingml/2006/main">
        <p:nvSpPr>
          <p:cNvPr id="39" name="Rounded Rectangle 38"/>
          <p:cNvSpPr/>
          <p:nvPr/>
        </p:nvSpPr>
        <p:spPr>
          <a:xfrm>
            <a:off x="6172200" y="1984248"/>
            <a:ext cx="5367528" cy="178308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6172200" y="1984248"/>
            <a:ext cx="50292" cy="178308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6336792" y="2139696"/>
            <a:ext cx="5038344"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DELUGE / VÙNG XẢ ĐIỀU KHIỂN</a:t>
            </a:r>
          </a:p>
        </p:txBody>
      </p:sp>
      <p:sp xmlns:a="http://schemas.openxmlformats.org/drawingml/2006/main">
        <p:nvSpPr>
          <p:cNvPr id="42" name="TextBox 41"/>
          <p:cNvSpPr txBox="1"/>
          <p:nvPr/>
        </p:nvSpPr>
        <p:spPr>
          <a:xfrm>
            <a:off x="6336792" y="2779776"/>
            <a:ext cx="5038344" cy="88696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Releasing controller theo thiết kế site.</a:t>
            </a:r>
          </a:p>
          <a:p>
            <a:pPr>
              <a:spcBef>
                <a:spcPts val="0"/>
              </a:spcBef>
              <a:spcAft>
                <a:spcPts val="500"/>
              </a:spcAft>
              <a:defRPr sz="1600" b="0">
                <a:solidFill>
                  <a:srgbClr val="20252B"/>
                </a:solidFill>
                <a:latin typeface="Arial"/>
              </a:defRPr>
            </a:pPr>
            <a:r>
              <a:t>Lệnh từ xa chỉ khi capability được duyệt.</a:t>
            </a:r>
          </a:p>
          <a:p>
            <a:pPr>
              <a:spcBef>
                <a:spcPts val="0"/>
              </a:spcBef>
              <a:spcAft>
                <a:spcPts val="500"/>
              </a:spcAft>
              <a:defRPr sz="1600" b="0">
                <a:solidFill>
                  <a:srgbClr val="20252B"/>
                </a:solidFill>
                <a:latin typeface="Arial"/>
              </a:defRPr>
            </a:pPr>
            <a:r>
              <a:t>Interlock và local override vẫn có hiệu lực.</a:t>
            </a:r>
          </a:p>
        </p:txBody>
      </p:sp>
      <p:sp xmlns:a="http://schemas.openxmlformats.org/drawingml/2006/main">
        <p:nvSpPr>
          <p:cNvPr id="43" name="Rectangle 42"/>
          <p:cNvSpPr/>
          <p:nvPr/>
        </p:nvSpPr>
        <p:spPr>
          <a:xfrm>
            <a:off x="694944"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804672"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YÊU CẦU</a:t>
            </a:r>
          </a:p>
        </p:txBody>
      </p:sp>
      <p:sp xmlns:a="http://schemas.openxmlformats.org/drawingml/2006/main">
        <p:nvSpPr>
          <p:cNvPr id="45" name="TextBox 44"/>
          <p:cNvSpPr txBox="1"/>
          <p:nvPr/>
        </p:nvSpPr>
        <p:spPr>
          <a:xfrm>
            <a:off x="804672"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Zone / mục đích</a:t>
            </a:r>
          </a:p>
        </p:txBody>
      </p:sp>
      <p:sp xmlns:a="http://schemas.openxmlformats.org/drawingml/2006/main">
        <p:nvSpPr>
          <p:cNvPr id="46" name="Chevron 45"/>
          <p:cNvSpPr/>
          <p:nvPr/>
        </p:nvSpPr>
        <p:spPr>
          <a:xfrm>
            <a:off x="3273552"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3474720"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3584448"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KIỂM TRA</a:t>
            </a:r>
          </a:p>
        </p:txBody>
      </p:sp>
      <p:sp xmlns:a="http://schemas.openxmlformats.org/drawingml/2006/main">
        <p:nvSpPr>
          <p:cNvPr id="49" name="TextBox 48"/>
          <p:cNvSpPr txBox="1"/>
          <p:nvPr/>
        </p:nvSpPr>
        <p:spPr>
          <a:xfrm>
            <a:off x="3584448"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Quyền / điều kiện</a:t>
            </a:r>
          </a:p>
        </p:txBody>
      </p:sp>
      <p:sp xmlns:a="http://schemas.openxmlformats.org/drawingml/2006/main">
        <p:nvSpPr>
          <p:cNvPr id="50" name="Chevron 49"/>
          <p:cNvSpPr/>
          <p:nvPr/>
        </p:nvSpPr>
        <p:spPr>
          <a:xfrm>
            <a:off x="6053327"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Rectangle 50"/>
          <p:cNvSpPr/>
          <p:nvPr/>
        </p:nvSpPr>
        <p:spPr>
          <a:xfrm>
            <a:off x="6254496"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TextBox 51"/>
          <p:cNvSpPr txBox="1"/>
          <p:nvPr/>
        </p:nvSpPr>
        <p:spPr>
          <a:xfrm>
            <a:off x="6364224"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THỰC THI</a:t>
            </a:r>
          </a:p>
        </p:txBody>
      </p:sp>
      <p:sp xmlns:a="http://schemas.openxmlformats.org/drawingml/2006/main">
        <p:nvSpPr>
          <p:cNvPr id="53" name="TextBox 52"/>
          <p:cNvSpPr txBox="1"/>
          <p:nvPr/>
        </p:nvSpPr>
        <p:spPr>
          <a:xfrm>
            <a:off x="6364224"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Tủ chuyên dụng</a:t>
            </a:r>
          </a:p>
        </p:txBody>
      </p:sp>
      <p:sp xmlns:a="http://schemas.openxmlformats.org/drawingml/2006/main">
        <p:nvSpPr>
          <p:cNvPr id="54" name="Chevron 53"/>
          <p:cNvSpPr/>
          <p:nvPr/>
        </p:nvSpPr>
        <p:spPr>
          <a:xfrm>
            <a:off x="8833104" y="4261104"/>
            <a:ext cx="137160" cy="182880"/>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Rectangle 54"/>
          <p:cNvSpPr/>
          <p:nvPr/>
        </p:nvSpPr>
        <p:spPr>
          <a:xfrm>
            <a:off x="9034272" y="4151376"/>
            <a:ext cx="2542032" cy="41148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TextBox 55"/>
          <p:cNvSpPr txBox="1"/>
          <p:nvPr/>
        </p:nvSpPr>
        <p:spPr>
          <a:xfrm>
            <a:off x="9144000" y="4261104"/>
            <a:ext cx="2286000" cy="201168"/>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XÁC MINH</a:t>
            </a:r>
          </a:p>
        </p:txBody>
      </p:sp>
      <p:sp xmlns:a="http://schemas.openxmlformats.org/drawingml/2006/main">
        <p:nvSpPr>
          <p:cNvPr id="57" name="TextBox 56"/>
          <p:cNvSpPr txBox="1"/>
          <p:nvPr/>
        </p:nvSpPr>
        <p:spPr>
          <a:xfrm>
            <a:off x="9144000" y="4718304"/>
            <a:ext cx="2286000" cy="36576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Flow / pressure</a:t>
            </a:r>
          </a:p>
        </p:txBody>
      </p:sp>
      <p:sp xmlns:a="http://schemas.openxmlformats.org/drawingml/2006/main">
        <p:nvSpPr>
          <p:cNvPr id="58" name="TextBox 57"/>
          <p:cNvSpPr txBox="1"/>
          <p:nvPr/>
        </p:nvSpPr>
        <p:spPr>
          <a:xfrm>
            <a:off x="749808" y="5449824"/>
            <a:ext cx="10698480" cy="54864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Không rõ kết quả → UNKNOWN + đối soát + người phụ trách. Không tự phát lại lệnh xả.</a:t>
            </a:r>
          </a:p>
        </p:txBody>
      </p:sp>
    </p:spTree>
    <p:extLst>
      <p:ext uri="{BB962C8B-B14F-4D97-AF65-F5344CB8AC3E}">
        <p14:creationId xmlns:p14="http://schemas.microsoft.com/office/powerpoint/2010/main" val="198995366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TIÊU CHUẨN • KHẢO SÁT • NGHIỆM THU</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Từ tài liệu hãng đến kết nối đã được nghiệm thu.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Tiêu chuẩn, chứng nhận sản phẩm và chấp thuận tại địa phương là ba lớp khác nhau.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31</a:t>
            </a:r>
          </a:p>
        </p:txBody>
      </p:sp>
      <p:sp xmlns:a="http://schemas.openxmlformats.org/drawingml/2006/main">
        <p:nvSpPr>
          <p:cNvPr id="35" name="Rectangle 34"/>
          <p:cNvSpPr/>
          <p:nvPr/>
        </p:nvSpPr>
        <p:spPr>
          <a:xfrm>
            <a:off x="658368" y="1993392"/>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95528" y="2112264"/>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Hệ thống cháy / nước</a:t>
            </a:r>
          </a:p>
        </p:txBody>
      </p:sp>
      <p:sp xmlns:a="http://schemas.openxmlformats.org/drawingml/2006/main">
        <p:nvSpPr>
          <p:cNvPr id="37" name="TextBox 36"/>
          <p:cNvSpPr txBox="1"/>
          <p:nvPr/>
        </p:nvSpPr>
        <p:spPr>
          <a:xfrm>
            <a:off x="4793284" y="2103120"/>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NFPA 72 / 13 / 20 / 25; EN 54 / ISO 7240 theo thị trường và phạm vi.</a:t>
            </a:r>
          </a:p>
        </p:txBody>
      </p:sp>
      <p:sp xmlns:a="http://schemas.openxmlformats.org/drawingml/2006/main">
        <p:nvSpPr>
          <p:cNvPr id="38" name="Rectangle 37"/>
          <p:cNvSpPr/>
          <p:nvPr/>
        </p:nvSpPr>
        <p:spPr>
          <a:xfrm>
            <a:off x="658368" y="2715768"/>
            <a:ext cx="1088136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795528" y="2834640"/>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Giao tiếp &amp; dữ liệu</a:t>
            </a:r>
          </a:p>
        </p:txBody>
      </p:sp>
      <p:sp xmlns:a="http://schemas.openxmlformats.org/drawingml/2006/main">
        <p:nvSpPr>
          <p:cNvPr id="40" name="TextBox 39"/>
          <p:cNvSpPr txBox="1"/>
          <p:nvPr/>
        </p:nvSpPr>
        <p:spPr>
          <a:xfrm>
            <a:off x="4793284" y="2825496"/>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BACnet / Modbus / OPC UA; MQTT / CAP / CloudEvents theo use case.</a:t>
            </a:r>
          </a:p>
        </p:txBody>
      </p:sp>
      <p:sp xmlns:a="http://schemas.openxmlformats.org/drawingml/2006/main">
        <p:nvSpPr>
          <p:cNvPr id="41" name="Rectangle 40"/>
          <p:cNvSpPr/>
          <p:nvPr/>
        </p:nvSpPr>
        <p:spPr>
          <a:xfrm>
            <a:off x="658368" y="3438144"/>
            <a:ext cx="10881360"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795528" y="3557016"/>
            <a:ext cx="3808476" cy="521208"/>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An ninh &amp; quyền</a:t>
            </a:r>
          </a:p>
        </p:txBody>
      </p:sp>
      <p:sp xmlns:a="http://schemas.openxmlformats.org/drawingml/2006/main">
        <p:nvSpPr>
          <p:cNvPr id="43" name="TextBox 42"/>
          <p:cNvSpPr txBox="1"/>
          <p:nvPr/>
        </p:nvSpPr>
        <p:spPr>
          <a:xfrm>
            <a:off x="4793284" y="3547872"/>
            <a:ext cx="6420002" cy="548640"/>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vùng IT/OT, IEC 62443 theo phạm vi; quyền lệnh theo model/site.</a:t>
            </a:r>
          </a:p>
        </p:txBody>
      </p:sp>
      <p:sp xmlns:a="http://schemas.openxmlformats.org/drawingml/2006/main">
        <p:nvSpPr>
          <p:cNvPr id="44" name="Rectangle 43"/>
          <p:cNvSpPr/>
          <p:nvPr/>
        </p:nvSpPr>
        <p:spPr>
          <a:xfrm>
            <a:off x="694944"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786384"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KHẢO SÁT</a:t>
            </a:r>
          </a:p>
        </p:txBody>
      </p:sp>
      <p:sp xmlns:a="http://schemas.openxmlformats.org/drawingml/2006/main">
        <p:nvSpPr>
          <p:cNvPr id="46" name="TextBox 45"/>
          <p:cNvSpPr txBox="1"/>
          <p:nvPr/>
        </p:nvSpPr>
        <p:spPr>
          <a:xfrm>
            <a:off x="731520"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Asset / point list</a:t>
            </a:r>
          </a:p>
        </p:txBody>
      </p:sp>
      <p:sp xmlns:a="http://schemas.openxmlformats.org/drawingml/2006/main">
        <p:nvSpPr>
          <p:cNvPr id="47" name="Chevron 46"/>
          <p:cNvSpPr/>
          <p:nvPr/>
        </p:nvSpPr>
        <p:spPr>
          <a:xfrm>
            <a:off x="3275838"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Rectangle 47"/>
          <p:cNvSpPr/>
          <p:nvPr/>
        </p:nvSpPr>
        <p:spPr>
          <a:xfrm>
            <a:off x="3454146"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9" name="TextBox 48"/>
          <p:cNvSpPr txBox="1"/>
          <p:nvPr/>
        </p:nvSpPr>
        <p:spPr>
          <a:xfrm>
            <a:off x="3545586"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FAT</a:t>
            </a:r>
          </a:p>
        </p:txBody>
      </p:sp>
      <p:sp xmlns:a="http://schemas.openxmlformats.org/drawingml/2006/main">
        <p:nvSpPr>
          <p:cNvPr id="50" name="TextBox 49"/>
          <p:cNvSpPr txBox="1"/>
          <p:nvPr/>
        </p:nvSpPr>
        <p:spPr>
          <a:xfrm>
            <a:off x="3490722"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Mô phỏng lỗi &amp; lệnh</a:t>
            </a:r>
          </a:p>
        </p:txBody>
      </p:sp>
      <p:sp xmlns:a="http://schemas.openxmlformats.org/drawingml/2006/main">
        <p:nvSpPr>
          <p:cNvPr id="51" name="Chevron 50"/>
          <p:cNvSpPr/>
          <p:nvPr/>
        </p:nvSpPr>
        <p:spPr>
          <a:xfrm>
            <a:off x="6035040"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2" name="Rectangle 51"/>
          <p:cNvSpPr/>
          <p:nvPr/>
        </p:nvSpPr>
        <p:spPr>
          <a:xfrm>
            <a:off x="6213348" y="4526280"/>
            <a:ext cx="255803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3" name="TextBox 52"/>
          <p:cNvSpPr txBox="1"/>
          <p:nvPr/>
        </p:nvSpPr>
        <p:spPr>
          <a:xfrm>
            <a:off x="6304788"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SAT</a:t>
            </a:r>
          </a:p>
        </p:txBody>
      </p:sp>
      <p:sp xmlns:a="http://schemas.openxmlformats.org/drawingml/2006/main">
        <p:nvSpPr>
          <p:cNvPr id="54" name="TextBox 53"/>
          <p:cNvSpPr txBox="1"/>
          <p:nvPr/>
        </p:nvSpPr>
        <p:spPr>
          <a:xfrm>
            <a:off x="6249924"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Đo phản hồi tại site</a:t>
            </a:r>
          </a:p>
        </p:txBody>
      </p:sp>
      <p:sp xmlns:a="http://schemas.openxmlformats.org/drawingml/2006/main">
        <p:nvSpPr>
          <p:cNvPr id="55" name="Chevron 54"/>
          <p:cNvSpPr/>
          <p:nvPr/>
        </p:nvSpPr>
        <p:spPr>
          <a:xfrm>
            <a:off x="8794242" y="6080760"/>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6" name="Rectangle 55"/>
          <p:cNvSpPr/>
          <p:nvPr/>
        </p:nvSpPr>
        <p:spPr>
          <a:xfrm>
            <a:off x="8972550" y="4526280"/>
            <a:ext cx="255803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7" name="TextBox 56"/>
          <p:cNvSpPr txBox="1"/>
          <p:nvPr/>
        </p:nvSpPr>
        <p:spPr>
          <a:xfrm>
            <a:off x="9063990" y="4617720"/>
            <a:ext cx="2375153"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BÀN GIAO</a:t>
            </a:r>
          </a:p>
        </p:txBody>
      </p:sp>
      <p:sp xmlns:a="http://schemas.openxmlformats.org/drawingml/2006/main">
        <p:nvSpPr>
          <p:cNvPr id="58" name="TextBox 57"/>
          <p:cNvSpPr txBox="1"/>
          <p:nvPr/>
        </p:nvSpPr>
        <p:spPr>
          <a:xfrm>
            <a:off x="9009126" y="5166360"/>
            <a:ext cx="248488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Owner / runbook / bằng chứng</a:t>
            </a:r>
          </a:p>
        </p:txBody>
      </p:sp>
    </p:spTree>
    <p:extLst>
      <p:ext uri="{BB962C8B-B14F-4D97-AF65-F5344CB8AC3E}">
        <p14:creationId xmlns:p14="http://schemas.microsoft.com/office/powerpoint/2010/main" val="19899536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KIẾN TRÚC PRODUCTION • ĐA VÙNG</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Mở rộng theo vùng. Duy trì phản ứng tại hiện trường.</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Cloud điều phối quy mô lớn; edge giữ năng lực cục bộ đã được cấu hình và kiểm chứng.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32</a:t>
            </a:r>
          </a:p>
        </p:txBody>
      </p:sp>
      <p:sp xmlns:a="http://schemas.openxmlformats.org/drawingml/2006/main">
        <p:nvSpPr>
          <p:cNvPr id="35" name="Rectangle 34"/>
          <p:cNvSpPr/>
          <p:nvPr/>
        </p:nvSpPr>
        <p:spPr>
          <a:xfrm>
            <a:off x="658368" y="2011680"/>
            <a:ext cx="10881360" cy="54864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68680" y="2176272"/>
            <a:ext cx="10424160" cy="246888"/>
          </a:xfrm>
          <a:prstGeom prst="rect">
            <a:avLst/>
          </a:prstGeom>
          <a:noFill/>
        </p:spPr>
        <p:txBody>
          <a:bodyPr wrap="square" lIns="0" rIns="0" tIns="0" bIns="0">
            <a:spAutoFit/>
          </a:bodyPr>
          <a:lstStyle/>
          <a:p>
            <a:pPr>
              <a:spcBef>
                <a:spcPts val="0"/>
              </a:spcBef>
              <a:spcAft>
                <a:spcPts val="500"/>
              </a:spcAft>
              <a:defRPr sz="1600" b="1">
                <a:solidFill>
                  <a:srgbClr val="FFFFFF"/>
                </a:solidFill>
                <a:latin typeface="Arial"/>
              </a:defRPr>
            </a:pPr>
            <a:r>
              <a:t>GLOBAL CONTROL PLANE    •    Tenant directory • Policy • Catalog • Operations</a:t>
            </a:r>
          </a:p>
        </p:txBody>
      </p:sp>
      <p:sp xmlns:a="http://schemas.openxmlformats.org/drawingml/2006/main">
        <p:nvSpPr>
          <p:cNvPr id="37" name="Rounded Rectangle 36"/>
          <p:cNvSpPr/>
          <p:nvPr/>
        </p:nvSpPr>
        <p:spPr>
          <a:xfrm>
            <a:off x="65836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8" name="Rectangle 37"/>
          <p:cNvSpPr/>
          <p:nvPr/>
        </p:nvSpPr>
        <p:spPr>
          <a:xfrm>
            <a:off x="65836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5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A</a:t>
            </a:r>
          </a:p>
        </p:txBody>
      </p:sp>
      <p:sp xmlns:a="http://schemas.openxmlformats.org/drawingml/2006/main">
        <p:nvSpPr>
          <p:cNvPr id="40" name="TextBox 39"/>
          <p:cNvSpPr txBox="1"/>
          <p:nvPr/>
        </p:nvSpPr>
        <p:spPr>
          <a:xfrm>
            <a:off x="822959"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Multi-AZ services</a:t>
            </a:r>
          </a:p>
          <a:p>
            <a:pPr>
              <a:spcBef>
                <a:spcPts val="0"/>
              </a:spcBef>
              <a:spcAft>
                <a:spcPts val="500"/>
              </a:spcAft>
              <a:defRPr sz="1600" b="0">
                <a:solidFill>
                  <a:srgbClr val="20252B"/>
                </a:solidFill>
                <a:latin typeface="Arial"/>
              </a:defRPr>
            </a:pPr>
            <a:r>
              <a:t>Event bus / workflow</a:t>
            </a:r>
          </a:p>
          <a:p>
            <a:pPr>
              <a:spcBef>
                <a:spcPts val="0"/>
              </a:spcBef>
              <a:spcAft>
                <a:spcPts val="500"/>
              </a:spcAft>
              <a:defRPr sz="1600" b="0">
                <a:solidFill>
                  <a:srgbClr val="20252B"/>
                </a:solidFill>
                <a:latin typeface="Arial"/>
              </a:defRPr>
            </a:pPr>
            <a:r>
              <a:t>Data &amp; evidence trong vùng</a:t>
            </a:r>
          </a:p>
        </p:txBody>
      </p:sp>
      <p:sp xmlns:a="http://schemas.openxmlformats.org/drawingml/2006/main">
        <p:nvSpPr>
          <p:cNvPr id="41" name="Rounded Rectangle 40"/>
          <p:cNvSpPr/>
          <p:nvPr/>
        </p:nvSpPr>
        <p:spPr>
          <a:xfrm>
            <a:off x="436168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Rectangle 41"/>
          <p:cNvSpPr/>
          <p:nvPr/>
        </p:nvSpPr>
        <p:spPr>
          <a:xfrm>
            <a:off x="436168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4526279"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REGIONAL CELL B</a:t>
            </a:r>
          </a:p>
        </p:txBody>
      </p:sp>
      <p:sp xmlns:a="http://schemas.openxmlformats.org/drawingml/2006/main">
        <p:nvSpPr>
          <p:cNvPr id="44" name="TextBox 43"/>
          <p:cNvSpPr txBox="1"/>
          <p:nvPr/>
        </p:nvSpPr>
        <p:spPr>
          <a:xfrm>
            <a:off x="4526279"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Tách dữ liệu theo residency</a:t>
            </a:r>
          </a:p>
          <a:p>
            <a:pPr>
              <a:spcBef>
                <a:spcPts val="0"/>
              </a:spcBef>
              <a:spcAft>
                <a:spcPts val="500"/>
              </a:spcAft>
              <a:defRPr sz="1600" b="0">
                <a:solidFill>
                  <a:srgbClr val="20252B"/>
                </a:solidFill>
                <a:latin typeface="Arial"/>
              </a:defRPr>
            </a:pPr>
            <a:r>
              <a:t>Scale theo tenant / workload</a:t>
            </a:r>
          </a:p>
          <a:p>
            <a:pPr>
              <a:spcBef>
                <a:spcPts val="0"/>
              </a:spcBef>
              <a:spcAft>
                <a:spcPts val="500"/>
              </a:spcAft>
              <a:defRPr sz="1600" b="0">
                <a:solidFill>
                  <a:srgbClr val="20252B"/>
                </a:solidFill>
                <a:latin typeface="Arial"/>
              </a:defRPr>
            </a:pPr>
            <a:r>
              <a:t>DR theo chính sách vùng</a:t>
            </a:r>
          </a:p>
        </p:txBody>
      </p:sp>
      <p:sp xmlns:a="http://schemas.openxmlformats.org/drawingml/2006/main">
        <p:nvSpPr>
          <p:cNvPr id="45" name="Rounded Rectangle 44"/>
          <p:cNvSpPr/>
          <p:nvPr/>
        </p:nvSpPr>
        <p:spPr>
          <a:xfrm>
            <a:off x="8065008" y="2834640"/>
            <a:ext cx="3474720" cy="228600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6" name="Rectangle 45"/>
          <p:cNvSpPr/>
          <p:nvPr/>
        </p:nvSpPr>
        <p:spPr>
          <a:xfrm>
            <a:off x="8065008" y="2834640"/>
            <a:ext cx="50292" cy="228600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0" y="299008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SITE / EDGE</a:t>
            </a:r>
          </a:p>
        </p:txBody>
      </p:sp>
      <p:sp xmlns:a="http://schemas.openxmlformats.org/drawingml/2006/main">
        <p:nvSpPr>
          <p:cNvPr id="48" name="TextBox 47"/>
          <p:cNvSpPr txBox="1"/>
          <p:nvPr/>
        </p:nvSpPr>
        <p:spPr>
          <a:xfrm>
            <a:off x="8229600" y="3630168"/>
            <a:ext cx="3145536" cy="138988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Gateway • buffer sự kiện</a:t>
            </a:r>
          </a:p>
          <a:p>
            <a:pPr>
              <a:spcBef>
                <a:spcPts val="0"/>
              </a:spcBef>
              <a:spcAft>
                <a:spcPts val="500"/>
              </a:spcAft>
              <a:defRPr sz="1600" b="0">
                <a:solidFill>
                  <a:srgbClr val="20252B"/>
                </a:solidFill>
                <a:latin typeface="Arial"/>
              </a:defRPr>
            </a:pPr>
            <a:r>
              <a:t>Bản đồ / nội dung được duyệt</a:t>
            </a:r>
          </a:p>
          <a:p>
            <a:pPr>
              <a:spcBef>
                <a:spcPts val="0"/>
              </a:spcBef>
              <a:spcAft>
                <a:spcPts val="500"/>
              </a:spcAft>
              <a:defRPr sz="1600" b="0">
                <a:solidFill>
                  <a:srgbClr val="20252B"/>
                </a:solidFill>
                <a:latin typeface="Arial"/>
              </a:defRPr>
            </a:pPr>
            <a:r>
              <a:t>Ưu tiên hệ thống cục bộ</a:t>
            </a:r>
          </a:p>
        </p:txBody>
      </p:sp>
      <p:sp xmlns:a="http://schemas.openxmlformats.org/drawingml/2006/main">
        <p:nvSpPr>
          <p:cNvPr id="49" name="TextBox 48"/>
          <p:cNvSpPr txBox="1"/>
          <p:nvPr/>
        </p:nvSpPr>
        <p:spPr>
          <a:xfrm>
            <a:off x="758952" y="5449824"/>
            <a:ext cx="10698480" cy="457200"/>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Bảo mật xuyên suốt   /   Giám sát &amp; audit   /   Backup–restore   /   Diễn tập lỗi &amp; khôi phục</a:t>
            </a:r>
          </a:p>
        </p:txBody>
      </p:sp>
    </p:spTree>
    <p:extLst>
      <p:ext uri="{BB962C8B-B14F-4D97-AF65-F5344CB8AC3E}">
        <p14:creationId xmlns:p14="http://schemas.microsoft.com/office/powerpoint/2010/main" val="1797567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NIỀM TIN • QUYỀN RIÊNG TƯ • TRÁCH NHIỆM</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Dữ liệu nhạy cảm được bảo vệ ngay trong thiết kế.</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Người cứu hộ nhận đủ thông tin để hành động; truy cập được giới hạn và truy vết.</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33</a:t>
            </a:r>
          </a:p>
        </p:txBody>
      </p:sp>
      <p:sp xmlns:a="http://schemas.openxmlformats.org/drawingml/2006/main">
        <p:nvSpPr>
          <p:cNvPr id="35" name="Rounded Rectangle 34"/>
          <p:cNvSpPr/>
          <p:nvPr/>
        </p:nvSpPr>
        <p:spPr>
          <a:xfrm>
            <a:off x="65836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58368" y="2103120"/>
            <a:ext cx="50292" cy="294436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2295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ĐÚNG NGƯỜI</a:t>
            </a:r>
          </a:p>
        </p:txBody>
      </p:sp>
      <p:sp xmlns:a="http://schemas.openxmlformats.org/drawingml/2006/main">
        <p:nvSpPr>
          <p:cNvPr id="38" name="TextBox 37"/>
          <p:cNvSpPr txBox="1"/>
          <p:nvPr/>
        </p:nvSpPr>
        <p:spPr>
          <a:xfrm>
            <a:off x="822959"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Vai trò + tổ chức + địa điểm</a:t>
            </a:r>
          </a:p>
          <a:p>
            <a:pPr>
              <a:spcBef>
                <a:spcPts val="0"/>
              </a:spcBef>
              <a:spcAft>
                <a:spcPts val="500"/>
              </a:spcAft>
              <a:defRPr sz="1600" b="0">
                <a:solidFill>
                  <a:srgbClr val="20252B"/>
                </a:solidFill>
                <a:latin typeface="Arial"/>
              </a:defRPr>
            </a:pPr>
            <a:r>
              <a:t>Nhiệm vụ đang được giao</a:t>
            </a:r>
          </a:p>
          <a:p>
            <a:pPr>
              <a:spcBef>
                <a:spcPts val="0"/>
              </a:spcBef>
              <a:spcAft>
                <a:spcPts val="500"/>
              </a:spcAft>
              <a:defRPr sz="1600" b="0">
                <a:solidFill>
                  <a:srgbClr val="20252B"/>
                </a:solidFill>
                <a:latin typeface="Arial"/>
              </a:defRPr>
            </a:pPr>
            <a:r>
              <a:t>Quyền xem từng trường dữ liệu</a:t>
            </a:r>
          </a:p>
        </p:txBody>
      </p:sp>
      <p:sp xmlns:a="http://schemas.openxmlformats.org/drawingml/2006/main">
        <p:nvSpPr>
          <p:cNvPr id="39" name="Rounded Rectangle 38"/>
          <p:cNvSpPr/>
          <p:nvPr/>
        </p:nvSpPr>
        <p:spPr>
          <a:xfrm>
            <a:off x="436168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61688" y="2103120"/>
            <a:ext cx="50292" cy="2944368"/>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26279" y="2258568"/>
            <a:ext cx="3145536" cy="484632"/>
          </a:xfrm>
          <a:prstGeom prst="rect">
            <a:avLst/>
          </a:prstGeom>
          <a:noFill/>
        </p:spPr>
        <p:txBody>
          <a:bodyPr wrap="square" lIns="0" rIns="0" tIns="0" bIns="0">
            <a:spAutoFit/>
          </a:bodyPr>
          <a:lstStyle/>
          <a:p>
            <a:pPr>
              <a:spcBef>
                <a:spcPts val="0"/>
              </a:spcBef>
              <a:spcAft>
                <a:spcPts val="500"/>
              </a:spcAft>
              <a:defRPr sz="1800" b="1">
                <a:solidFill>
                  <a:srgbClr val="06283F"/>
                </a:solidFill>
                <a:latin typeface="Arial"/>
              </a:defRPr>
            </a:pPr>
            <a:r>
              <a:t>ĐÚNG MỤC ĐÍCH</a:t>
            </a:r>
          </a:p>
        </p:txBody>
      </p:sp>
      <p:sp xmlns:a="http://schemas.openxmlformats.org/drawingml/2006/main">
        <p:nvSpPr>
          <p:cNvPr id="42" name="TextBox 41"/>
          <p:cNvSpPr txBox="1"/>
          <p:nvPr/>
        </p:nvSpPr>
        <p:spPr>
          <a:xfrm>
            <a:off x="4526279"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Tách nhu cầu hỗ trợ và bệnh sử</a:t>
            </a:r>
          </a:p>
          <a:p>
            <a:pPr>
              <a:spcBef>
                <a:spcPts val="0"/>
              </a:spcBef>
              <a:spcAft>
                <a:spcPts val="500"/>
              </a:spcAft>
              <a:defRPr sz="1600" b="0">
                <a:solidFill>
                  <a:srgbClr val="20252B"/>
                </a:solidFill>
                <a:latin typeface="Arial"/>
              </a:defRPr>
            </a:pPr>
            <a:r>
              <a:t>Vị trí chi tiết theo quyền</a:t>
            </a:r>
          </a:p>
          <a:p>
            <a:pPr>
              <a:spcBef>
                <a:spcPts val="0"/>
              </a:spcBef>
              <a:spcAft>
                <a:spcPts val="500"/>
              </a:spcAft>
              <a:defRPr sz="1600" b="0">
                <a:solidFill>
                  <a:srgbClr val="20252B"/>
                </a:solidFill>
                <a:latin typeface="Arial"/>
              </a:defRPr>
            </a:pPr>
            <a:r>
              <a:t>Thời hạn lưu và căn cứ xử lý</a:t>
            </a:r>
          </a:p>
        </p:txBody>
      </p:sp>
      <p:sp xmlns:a="http://schemas.openxmlformats.org/drawingml/2006/main">
        <p:nvSpPr>
          <p:cNvPr id="43" name="Rounded Rectangle 42"/>
          <p:cNvSpPr/>
          <p:nvPr/>
        </p:nvSpPr>
        <p:spPr>
          <a:xfrm>
            <a:off x="8065008" y="2103120"/>
            <a:ext cx="3474720" cy="2944368"/>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65008" y="2103120"/>
            <a:ext cx="50292" cy="2944368"/>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29600" y="2258568"/>
            <a:ext cx="3145536" cy="484632"/>
          </a:xfrm>
          <a:prstGeom prst="rect">
            <a:avLst/>
          </a:prstGeom>
          <a:noFill/>
        </p:spPr>
        <p:txBody>
          <a:bodyPr wrap="square" lIns="0" rIns="0" tIns="0" bIns="0">
            <a:spAutoFit/>
          </a:bodyPr>
          <a:lstStyle/>
          <a:p>
            <a:pPr>
              <a:spcBef>
                <a:spcPts val="0"/>
              </a:spcBef>
              <a:spcAft>
                <a:spcPts val="500"/>
              </a:spcAft>
              <a:defRPr sz="1800" b="1">
                <a:solidFill>
                  <a:srgbClr val="147D62"/>
                </a:solidFill>
                <a:latin typeface="Arial"/>
              </a:defRPr>
            </a:pPr>
            <a:r>
              <a:t>CÓ BẰNG CHỨNG</a:t>
            </a:r>
          </a:p>
        </p:txBody>
      </p:sp>
      <p:sp xmlns:a="http://schemas.openxmlformats.org/drawingml/2006/main">
        <p:nvSpPr>
          <p:cNvPr id="46" name="TextBox 45"/>
          <p:cNvSpPr txBox="1"/>
          <p:nvPr/>
        </p:nvSpPr>
        <p:spPr>
          <a:xfrm>
            <a:off x="8229600" y="2898648"/>
            <a:ext cx="3145536" cy="2048256"/>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Ai xem / sửa / phát lệnh</a:t>
            </a:r>
          </a:p>
          <a:p>
            <a:pPr>
              <a:spcBef>
                <a:spcPts val="0"/>
              </a:spcBef>
              <a:spcAft>
                <a:spcPts val="500"/>
              </a:spcAft>
              <a:defRPr sz="1600" b="0">
                <a:solidFill>
                  <a:srgbClr val="20252B"/>
                </a:solidFill>
                <a:latin typeface="Arial"/>
              </a:defRPr>
            </a:pPr>
            <a:r>
              <a:t>Lý do truy cập khẩn cấp</a:t>
            </a:r>
          </a:p>
          <a:p>
            <a:pPr>
              <a:spcBef>
                <a:spcPts val="0"/>
              </a:spcBef>
              <a:spcAft>
                <a:spcPts val="500"/>
              </a:spcAft>
              <a:defRPr sz="1600" b="0">
                <a:solidFill>
                  <a:srgbClr val="20252B"/>
                </a:solidFill>
                <a:latin typeface="Arial"/>
              </a:defRPr>
            </a:pPr>
            <a:r>
              <a:t>Audit và rà soát sau sự cố</a:t>
            </a:r>
          </a:p>
        </p:txBody>
      </p:sp>
      <p:sp xmlns:a="http://schemas.openxmlformats.org/drawingml/2006/main">
        <p:nvSpPr>
          <p:cNvPr id="47" name="TextBox 46"/>
          <p:cNvSpPr txBox="1"/>
          <p:nvPr/>
        </p:nvSpPr>
        <p:spPr>
          <a:xfrm>
            <a:off x="731520" y="5394960"/>
            <a:ext cx="10789920" cy="658368"/>
          </a:xfrm>
          <a:prstGeom prst="rect">
            <a:avLst/>
          </a:prstGeom>
          <a:noFill/>
        </p:spPr>
        <p:txBody>
          <a:bodyPr wrap="square" lIns="0" rIns="0" tIns="0" bIns="0">
            <a:spAutoFit/>
          </a:bodyPr>
          <a:lstStyle/>
          <a:p>
            <a:pPr>
              <a:spcBef>
                <a:spcPts val="0"/>
              </a:spcBef>
              <a:spcAft>
                <a:spcPts val="500"/>
              </a:spcAft>
              <a:defRPr sz="2000" b="1">
                <a:solidFill>
                  <a:srgbClr val="C8102E"/>
                </a:solidFill>
                <a:latin typeface="Arial"/>
              </a:defRPr>
            </a:pPr>
            <a:r>
              <a:t>Thẩm định chính sách theo thị trường và mô hình vận hành của khách hàng.</a:t>
            </a:r>
          </a:p>
        </p:txBody>
      </p:sp>
    </p:spTree>
    <p:extLst>
      <p:ext uri="{BB962C8B-B14F-4D97-AF65-F5344CB8AC3E}">
        <p14:creationId xmlns:p14="http://schemas.microsoft.com/office/powerpoint/2010/main" val="55061906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VIỆT • ANH • NHẬT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Đa ngôn ngữ từ giao diện đến thông điệp cứu hộ.</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Ngôn ngữ, quốc gia và múi giờ là các cấu hình độc lập.</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34</a:t>
            </a:r>
          </a:p>
        </p:txBody>
      </p:sp>
      <p:pic xmlns:a="http://schemas.openxmlformats.org/drawingml/2006/main" xmlns:r="http://schemas.openxmlformats.org/officeDocument/2006/relationships">
        <p:nvPicPr>
          <p:cNvPr id="35" name="Picture 34" descr="C35-vi.png"/>
          <p:cNvPicPr>
            <a:picLocks noChangeAspect="1"/>
          </p:cNvPicPr>
          <p:nvPr/>
        </p:nvPicPr>
        <p:blipFill>
          <a:blip r:embed="rId3"/>
          <a:stretch>
            <a:fillRect/>
          </a:stretch>
        </p:blipFill>
        <p:spPr>
          <a:xfrm>
            <a:off x="929640" y="1920240"/>
            <a:ext cx="1752600" cy="4114800"/>
          </a:xfrm>
          <a:prstGeom prst="rect">
            <a:avLst/>
          </a:prstGeom>
        </p:spPr>
      </p:pic>
      <p:sp xmlns:a="http://schemas.openxmlformats.org/drawingml/2006/main">
        <p:nvSpPr>
          <p:cNvPr id="36" name="TextBox 35"/>
          <p:cNvSpPr txBox="1"/>
          <p:nvPr/>
        </p:nvSpPr>
        <p:spPr>
          <a:xfrm>
            <a:off x="137160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VI</a:t>
            </a:r>
          </a:p>
        </p:txBody>
      </p:sp>
      <p:pic xmlns:a="http://schemas.openxmlformats.org/drawingml/2006/main" xmlns:r="http://schemas.openxmlformats.org/officeDocument/2006/relationships">
        <p:nvPicPr>
          <p:cNvPr id="37" name="Picture 36" descr="C35-en.png"/>
          <p:cNvPicPr>
            <a:picLocks noChangeAspect="1"/>
          </p:cNvPicPr>
          <p:nvPr/>
        </p:nvPicPr>
        <p:blipFill>
          <a:blip r:embed="rId4"/>
          <a:stretch>
            <a:fillRect/>
          </a:stretch>
        </p:blipFill>
        <p:spPr>
          <a:xfrm>
            <a:off x="3809999" y="1920240"/>
            <a:ext cx="1752600" cy="4114800"/>
          </a:xfrm>
          <a:prstGeom prst="rect">
            <a:avLst/>
          </a:prstGeom>
        </p:spPr>
      </p:pic>
      <p:sp xmlns:a="http://schemas.openxmlformats.org/drawingml/2006/main">
        <p:nvSpPr>
          <p:cNvPr id="38" name="TextBox 37"/>
          <p:cNvSpPr txBox="1"/>
          <p:nvPr/>
        </p:nvSpPr>
        <p:spPr>
          <a:xfrm>
            <a:off x="425196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EN</a:t>
            </a:r>
          </a:p>
        </p:txBody>
      </p:sp>
      <p:pic xmlns:a="http://schemas.openxmlformats.org/drawingml/2006/main" xmlns:r="http://schemas.openxmlformats.org/officeDocument/2006/relationships">
        <p:nvPicPr>
          <p:cNvPr id="39" name="Picture 38" descr="C35-ja.png"/>
          <p:cNvPicPr>
            <a:picLocks noChangeAspect="1"/>
          </p:cNvPicPr>
          <p:nvPr/>
        </p:nvPicPr>
        <p:blipFill>
          <a:blip r:embed="rId5"/>
          <a:stretch>
            <a:fillRect/>
          </a:stretch>
        </p:blipFill>
        <p:spPr>
          <a:xfrm>
            <a:off x="6690360" y="1920240"/>
            <a:ext cx="1752600" cy="4114800"/>
          </a:xfrm>
          <a:prstGeom prst="rect">
            <a:avLst/>
          </a:prstGeom>
        </p:spPr>
      </p:pic>
      <p:sp xmlns:a="http://schemas.openxmlformats.org/drawingml/2006/main">
        <p:nvSpPr>
          <p:cNvPr id="40" name="TextBox 39"/>
          <p:cNvSpPr txBox="1"/>
          <p:nvPr/>
        </p:nvSpPr>
        <p:spPr>
          <a:xfrm>
            <a:off x="7132320" y="6080760"/>
            <a:ext cx="1097280" cy="228600"/>
          </a:xfrm>
          <a:prstGeom prst="rect">
            <a:avLst/>
          </a:prstGeom>
          <a:noFill/>
        </p:spPr>
        <p:txBody>
          <a:bodyPr wrap="square" lIns="0" rIns="0" tIns="0" bIns="0">
            <a:spAutoFit/>
          </a:bodyPr>
          <a:lstStyle/>
          <a:p>
            <a:pPr>
              <a:defRPr sz="1100" b="1">
                <a:solidFill>
                  <a:srgbClr val="52666F"/>
                </a:solidFill>
                <a:latin typeface="Segoe UI"/>
              </a:defRPr>
            </a:pPr>
            <a:r>
              <a:t>JA</a:t>
            </a:r>
          </a:p>
        </p:txBody>
      </p:sp>
      <p:sp xmlns:a="http://schemas.openxmlformats.org/drawingml/2006/main">
        <p:nvSpPr>
          <p:cNvPr id="41" name="TextBox 40"/>
          <p:cNvSpPr txBox="1"/>
          <p:nvPr/>
        </p:nvSpPr>
        <p:spPr>
          <a:xfrm>
            <a:off x="9372600" y="2423160"/>
            <a:ext cx="2286000" cy="3200400"/>
          </a:xfrm>
          <a:prstGeom prst="rect">
            <a:avLst/>
          </a:prstGeom>
          <a:noFill/>
        </p:spPr>
        <p:txBody>
          <a:bodyPr wrap="square" lIns="0" rIns="0" tIns="0" bIns="0">
            <a:spAutoFit/>
          </a:bodyPr>
          <a:lstStyle/>
          <a:p>
            <a:pPr>
              <a:defRPr sz="2000" b="0">
                <a:solidFill>
                  <a:srgbClr val="142B35"/>
                </a:solidFill>
                <a:latin typeface="Segoe UI"/>
              </a:defRPr>
            </a:pPr>
            <a:r>
              <a:t>Một ý nghĩa hành động.</a:t>
            </a:r>
          </a:p>
          <a:p>
            <a:pPr>
              <a:defRPr sz="2000" b="0">
                <a:solidFill>
                  <a:srgbClr val="142B35"/>
                </a:solidFill>
                <a:latin typeface="Segoe UI"/>
              </a:defRPr>
            </a:pPr>
            <a:r>
              <a:t>Ba ngôn ngữ.</a:t>
            </a:r>
          </a:p>
          <a:p>
            <a:pPr>
              <a:defRPr sz="2000" b="0">
                <a:solidFill>
                  <a:srgbClr val="142B35"/>
                </a:solidFill>
                <a:latin typeface="Segoe UI"/>
              </a:defRPr>
            </a:pPr>
          </a:p>
          <a:p>
            <a:pPr>
              <a:defRPr sz="2000" b="0">
                <a:solidFill>
                  <a:srgbClr val="142B35"/>
                </a:solidFill>
                <a:latin typeface="Segoe UI"/>
              </a:defRPr>
            </a:pPr>
            <a:r>
              <a:t>Nội dung khẩn cấp được duyệt; fallback voice có kiểm soát.</a:t>
            </a:r>
          </a:p>
        </p:txBody>
      </p:sp>
    </p:spTree>
    <p:extLst>
      <p:ext uri="{BB962C8B-B14F-4D97-AF65-F5344CB8AC3E}">
        <p14:creationId xmlns:p14="http://schemas.microsoft.com/office/powerpoint/2010/main" val="211770410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PHẠM VI SẢN PHẨM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142B35"/>
                </a:solidFill>
                <a:latin typeface="Segoe UI"/>
                <a:ea typeface="Arial"/>
                <a:cs typeface="Arial"/>
              </a:defRPr>
            </a:pPr>
            <a:r>
              <a:t>233 màn hình, thiết kế trực quan theo từng vai trò.</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lang="en-US">
                <a:solidFill>
                  <a:srgbClr val="4D4D4D"/>
                </a:solidFill>
                <a:latin typeface="Arial"/>
                <a:ea typeface="Arial"/>
                <a:cs typeface="Arial"/>
              </a:defRPr>
            </a:defPPr>
          </a:lstStyle>
          <a:p xmlns:a="http://schemas.openxmlformats.org/drawingml/2006/main">
            <a:pPr>
              <a:defRPr sz="1300" b="0" lang="en-US">
                <a:solidFill>
                  <a:srgbClr val="52666F"/>
                </a:solidFill>
                <a:latin typeface="Segoe UI"/>
                <a:ea typeface="Arial"/>
                <a:cs typeface="Arial"/>
              </a:defRPr>
            </a:pPr>
            <a:r>
              <a:t>Giữ đầy đủ phụ lục chức năng • đặc tả trực quan gắn từng mã màn hình</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35</a:t>
            </a:r>
          </a:p>
        </p:txBody>
      </p:sp>
      <p:pic xmlns:a="http://schemas.openxmlformats.org/drawingml/2006/main" xmlns:r="http://schemas.openxmlformats.org/officeDocument/2006/relationships">
        <p:nvPicPr>
          <p:cNvPr id="35" name="Picture 34" descr="F08-vi.png"/>
          <p:cNvPicPr>
            <a:picLocks noChangeAspect="1"/>
          </p:cNvPicPr>
          <p:nvPr/>
        </p:nvPicPr>
        <p:blipFill>
          <a:blip r:embed="rId3"/>
          <a:stretch>
            <a:fillRect/>
          </a:stretch>
        </p:blipFill>
        <p:spPr>
          <a:xfrm>
            <a:off x="502920" y="1920240"/>
            <a:ext cx="3657600" cy="2777066"/>
          </a:xfrm>
          <a:prstGeom prst="rect">
            <a:avLst/>
          </a:prstGeom>
        </p:spPr>
      </p:pic>
      <p:sp xmlns:a="http://schemas.openxmlformats.org/drawingml/2006/main">
        <p:nvSpPr>
          <p:cNvPr id="36" name="TextBox 35"/>
          <p:cNvSpPr txBox="1"/>
          <p:nvPr/>
        </p:nvSpPr>
        <p:spPr>
          <a:xfrm>
            <a:off x="6400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THIẾT BỊ VẬT LÝ</a:t>
            </a:r>
          </a:p>
        </p:txBody>
      </p:sp>
      <p:pic xmlns:a="http://schemas.openxmlformats.org/drawingml/2006/main" xmlns:r="http://schemas.openxmlformats.org/officeDocument/2006/relationships">
        <p:nvPicPr>
          <p:cNvPr id="37" name="Picture 36" descr="H08-vi.png"/>
          <p:cNvPicPr>
            <a:picLocks noChangeAspect="1"/>
          </p:cNvPicPr>
          <p:nvPr/>
        </p:nvPicPr>
        <p:blipFill>
          <a:blip r:embed="rId4"/>
          <a:stretch>
            <a:fillRect/>
          </a:stretch>
        </p:blipFill>
        <p:spPr>
          <a:xfrm>
            <a:off x="4389120" y="1920240"/>
            <a:ext cx="3657600" cy="1888066"/>
          </a:xfrm>
          <a:prstGeom prst="rect">
            <a:avLst/>
          </a:prstGeom>
        </p:spPr>
      </p:pic>
      <p:sp xmlns:a="http://schemas.openxmlformats.org/drawingml/2006/main">
        <p:nvSpPr>
          <p:cNvPr id="38" name="TextBox 37"/>
          <p:cNvSpPr txBox="1"/>
          <p:nvPr/>
        </p:nvSpPr>
        <p:spPr>
          <a:xfrm>
            <a:off x="45262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CỨU HỘ CHỦ ĐỘNG</a:t>
            </a:r>
          </a:p>
        </p:txBody>
      </p:sp>
      <p:pic xmlns:a="http://schemas.openxmlformats.org/drawingml/2006/main" xmlns:r="http://schemas.openxmlformats.org/officeDocument/2006/relationships">
        <p:nvPicPr>
          <p:cNvPr id="39" name="Picture 38" descr="P04-vi.png"/>
          <p:cNvPicPr>
            <a:picLocks noChangeAspect="1"/>
          </p:cNvPicPr>
          <p:nvPr/>
        </p:nvPicPr>
        <p:blipFill>
          <a:blip r:embed="rId5"/>
          <a:stretch>
            <a:fillRect/>
          </a:stretch>
        </p:blipFill>
        <p:spPr>
          <a:xfrm>
            <a:off x="8275320" y="1920240"/>
            <a:ext cx="3657600" cy="2543386"/>
          </a:xfrm>
          <a:prstGeom prst="rect">
            <a:avLst/>
          </a:prstGeom>
        </p:spPr>
      </p:pic>
      <p:sp xmlns:a="http://schemas.openxmlformats.org/drawingml/2006/main">
        <p:nvSpPr>
          <p:cNvPr id="40" name="TextBox 39"/>
          <p:cNvSpPr txBox="1"/>
          <p:nvPr/>
        </p:nvSpPr>
        <p:spPr>
          <a:xfrm>
            <a:off x="8412480" y="5440680"/>
            <a:ext cx="3474720" cy="365760"/>
          </a:xfrm>
          <a:prstGeom prst="rect">
            <a:avLst/>
          </a:prstGeom>
          <a:noFill/>
        </p:spPr>
        <p:txBody>
          <a:bodyPr wrap="square" lIns="0" rIns="0" tIns="0" bIns="0">
            <a:spAutoFit/>
          </a:bodyPr>
          <a:lstStyle/>
          <a:p>
            <a:pPr>
              <a:defRPr sz="1500" b="1">
                <a:solidFill>
                  <a:srgbClr val="B51E32"/>
                </a:solidFill>
                <a:latin typeface="Segoe UI"/>
              </a:defRPr>
            </a:pPr>
            <a:r>
              <a:t>VÙNG PHỦ LOA</a:t>
            </a:r>
          </a:p>
        </p:txBody>
      </p:sp>
      <p:sp xmlns:a="http://schemas.openxmlformats.org/drawingml/2006/main">
        <p:nvSpPr>
          <p:cNvPr id="41" name="TextBox 40"/>
          <p:cNvSpPr txBox="1"/>
          <p:nvPr/>
        </p:nvSpPr>
        <p:spPr>
          <a:xfrm>
            <a:off x="640080" y="5943600"/>
            <a:ext cx="10972800" cy="274320"/>
          </a:xfrm>
          <a:prstGeom prst="rect">
            <a:avLst/>
          </a:prstGeom>
          <a:noFill/>
        </p:spPr>
        <p:txBody>
          <a:bodyPr wrap="square" lIns="0" rIns="0" tIns="0" bIns="0">
            <a:spAutoFit/>
          </a:bodyPr>
          <a:lstStyle/>
          <a:p>
            <a:pPr>
              <a:defRPr sz="1200" b="0">
                <a:solidFill>
                  <a:srgbClr val="142B35"/>
                </a:solidFill>
                <a:latin typeface="Segoe UI"/>
              </a:defRPr>
            </a:pPr>
            <a:r>
              <a:t>CÁ NHÂN  /  HIỆN TRƯỜNG  /  ĐIỀU HÀNH  /  CẤU HÌNH     •     ĐỦ 233 MÀN HÌNH: GALLERY + PROTOTYPE</a:t>
            </a:r>
          </a:p>
        </p:txBody>
      </p:sp>
    </p:spTree>
    <p:extLst>
      <p:ext uri="{BB962C8B-B14F-4D97-AF65-F5344CB8AC3E}">
        <p14:creationId xmlns:p14="http://schemas.microsoft.com/office/powerpoint/2010/main" val="6477268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NGHIỆM THU XUYÊN SUỐT</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Chứng minh bằng tình huống, không chỉ bằng giao diện.</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Kiểm tra cùng lúc người dùng, thiết bị, dữ liệu, thao tác và khả năng phục hồi.</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36</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Cháy &amp; thoát hiểm</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Tín hiệu → tuyến/voice → loa → SOS → tiếp cận → an toàn.</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Không có SOS</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cần hỗ trợ → hiện diện → kiểm tra → phân công.</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Thiên tai diện rộng</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chính thức → vùng → update/cancel → shelter.</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Mất mạng / lỗi thiết bị</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Edge, queue, thông tin hết hiệu lực, đồng bộ và audit.</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Quyền &amp; đa ngôn ngữ</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Tenant isolation, care data, VI/EN/JA, fallback và âm thanh.</a:t>
            </a:r>
          </a:p>
        </p:txBody>
      </p:sp>
    </p:spTree>
    <p:extLst>
      <p:ext uri="{BB962C8B-B14F-4D97-AF65-F5344CB8AC3E}">
        <p14:creationId xmlns:p14="http://schemas.microsoft.com/office/powerpoint/2010/main" val="21068228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TRIỂN KHAI SẢN PHẨM HOÀN CHỈNH</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Giữ đầy đủ phạm vi, kiểm soát chất lượng từng bước.</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Các cổng nghiệm thu giúp đưa kiến trúc dài hạn vào vận hành có trách nhiệm.</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37</a:t>
            </a:r>
          </a:p>
        </p:txBody>
      </p:sp>
      <p:sp xmlns:a="http://schemas.openxmlformats.org/drawingml/2006/main">
        <p:nvSpPr>
          <p:cNvPr id="35" name="Rectangle 34"/>
          <p:cNvSpPr/>
          <p:nvPr/>
        </p:nvSpPr>
        <p:spPr>
          <a:xfrm>
            <a:off x="667512"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758952"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01  THIẾT KẾ</a:t>
            </a:r>
          </a:p>
        </p:txBody>
      </p:sp>
      <p:sp xmlns:a="http://schemas.openxmlformats.org/drawingml/2006/main">
        <p:nvSpPr>
          <p:cNvPr id="37" name="TextBox 36"/>
          <p:cNvSpPr txBox="1"/>
          <p:nvPr/>
        </p:nvSpPr>
        <p:spPr>
          <a:xfrm>
            <a:off x="704088"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Operating model</a:t>
            </a:r>
          </a:p>
          <a:p>
            <a:pPr>
              <a:spcBef>
                <a:spcPts val="0"/>
              </a:spcBef>
              <a:spcAft>
                <a:spcPts val="500"/>
              </a:spcAft>
              <a:defRPr sz="1600" b="0">
                <a:solidFill>
                  <a:srgbClr val="20252B"/>
                </a:solidFill>
                <a:latin typeface="Arial"/>
              </a:defRPr>
            </a:pPr>
            <a:r>
              <a:t>Dữ liệu &amp; quyền</a:t>
            </a:r>
          </a:p>
          <a:p>
            <a:pPr>
              <a:spcBef>
                <a:spcPts val="0"/>
              </a:spcBef>
              <a:spcAft>
                <a:spcPts val="500"/>
              </a:spcAft>
              <a:defRPr sz="1600" b="0">
                <a:solidFill>
                  <a:srgbClr val="20252B"/>
                </a:solidFill>
                <a:latin typeface="Arial"/>
              </a:defRPr>
            </a:pPr>
            <a:r>
              <a:t>Khảo sát thiết bị</a:t>
            </a:r>
          </a:p>
        </p:txBody>
      </p:sp>
      <p:sp xmlns:a="http://schemas.openxmlformats.org/drawingml/2006/main">
        <p:nvSpPr>
          <p:cNvPr id="38" name="Chevron 37"/>
          <p:cNvSpPr/>
          <p:nvPr/>
        </p:nvSpPr>
        <p:spPr>
          <a:xfrm>
            <a:off x="3259836"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Rectangle 38"/>
          <p:cNvSpPr/>
          <p:nvPr/>
        </p:nvSpPr>
        <p:spPr>
          <a:xfrm>
            <a:off x="3438144"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TextBox 39"/>
          <p:cNvSpPr txBox="1"/>
          <p:nvPr/>
        </p:nvSpPr>
        <p:spPr>
          <a:xfrm>
            <a:off x="3529584"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02  PHÁT TRIỂN</a:t>
            </a:r>
          </a:p>
        </p:txBody>
      </p:sp>
      <p:sp xmlns:a="http://schemas.openxmlformats.org/drawingml/2006/main">
        <p:nvSpPr>
          <p:cNvPr id="41" name="TextBox 40"/>
          <p:cNvSpPr txBox="1"/>
          <p:nvPr/>
        </p:nvSpPr>
        <p:spPr>
          <a:xfrm>
            <a:off x="3474720"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Đủ domain &amp; vai trò</a:t>
            </a:r>
          </a:p>
          <a:p>
            <a:pPr>
              <a:spcBef>
                <a:spcPts val="0"/>
              </a:spcBef>
              <a:spcAft>
                <a:spcPts val="500"/>
              </a:spcAft>
              <a:defRPr sz="1600" b="0">
                <a:solidFill>
                  <a:srgbClr val="20252B"/>
                </a:solidFill>
                <a:latin typeface="Arial"/>
              </a:defRPr>
            </a:pPr>
            <a:r>
              <a:t>Đủ tích hợp / locale</a:t>
            </a:r>
          </a:p>
          <a:p>
            <a:pPr>
              <a:spcBef>
                <a:spcPts val="0"/>
              </a:spcBef>
              <a:spcAft>
                <a:spcPts val="500"/>
              </a:spcAft>
              <a:defRPr sz="1600" b="0">
                <a:solidFill>
                  <a:srgbClr val="20252B"/>
                </a:solidFill>
                <a:latin typeface="Arial"/>
              </a:defRPr>
            </a:pPr>
            <a:r>
              <a:t>Bảo mật &amp; tự động hóa</a:t>
            </a:r>
          </a:p>
        </p:txBody>
      </p:sp>
      <p:sp xmlns:a="http://schemas.openxmlformats.org/drawingml/2006/main">
        <p:nvSpPr>
          <p:cNvPr id="42" name="Chevron 41"/>
          <p:cNvSpPr/>
          <p:nvPr/>
        </p:nvSpPr>
        <p:spPr>
          <a:xfrm>
            <a:off x="6030468"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Rectangle 42"/>
          <p:cNvSpPr/>
          <p:nvPr/>
        </p:nvSpPr>
        <p:spPr>
          <a:xfrm>
            <a:off x="6208776" y="2194560"/>
            <a:ext cx="2569464" cy="402336"/>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TextBox 43"/>
          <p:cNvSpPr txBox="1"/>
          <p:nvPr/>
        </p:nvSpPr>
        <p:spPr>
          <a:xfrm>
            <a:off x="6300216"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03  KIỂM CHỨNG</a:t>
            </a:r>
          </a:p>
        </p:txBody>
      </p:sp>
      <p:sp xmlns:a="http://schemas.openxmlformats.org/drawingml/2006/main">
        <p:nvSpPr>
          <p:cNvPr id="45" name="TextBox 44"/>
          <p:cNvSpPr txBox="1"/>
          <p:nvPr/>
        </p:nvSpPr>
        <p:spPr>
          <a:xfrm>
            <a:off x="6245352"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UAT xuyên suốt</a:t>
            </a:r>
          </a:p>
          <a:p>
            <a:pPr>
              <a:spcBef>
                <a:spcPts val="0"/>
              </a:spcBef>
              <a:spcAft>
                <a:spcPts val="500"/>
              </a:spcAft>
              <a:defRPr sz="1600" b="0">
                <a:solidFill>
                  <a:srgbClr val="20252B"/>
                </a:solidFill>
                <a:latin typeface="Arial"/>
              </a:defRPr>
            </a:pPr>
            <a:r>
              <a:t>Tải &amp; lỗi / DR</a:t>
            </a:r>
          </a:p>
          <a:p>
            <a:pPr>
              <a:spcBef>
                <a:spcPts val="0"/>
              </a:spcBef>
              <a:spcAft>
                <a:spcPts val="500"/>
              </a:spcAft>
              <a:defRPr sz="1600" b="0">
                <a:solidFill>
                  <a:srgbClr val="20252B"/>
                </a:solidFill>
                <a:latin typeface="Arial"/>
              </a:defRPr>
            </a:pPr>
            <a:r>
              <a:t>Diễn tập tại site</a:t>
            </a:r>
          </a:p>
        </p:txBody>
      </p:sp>
      <p:sp xmlns:a="http://schemas.openxmlformats.org/drawingml/2006/main">
        <p:nvSpPr>
          <p:cNvPr id="46" name="Chevron 45"/>
          <p:cNvSpPr/>
          <p:nvPr/>
        </p:nvSpPr>
        <p:spPr>
          <a:xfrm>
            <a:off x="8801100" y="3749039"/>
            <a:ext cx="155448" cy="164592"/>
          </a:xfrm>
          <a:prstGeom prst="chevron">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Rectangle 46"/>
          <p:cNvSpPr/>
          <p:nvPr/>
        </p:nvSpPr>
        <p:spPr>
          <a:xfrm>
            <a:off x="8979408" y="2194560"/>
            <a:ext cx="2569464" cy="402336"/>
          </a:xfrm>
          <a:prstGeom prst="rect">
            <a:avLst/>
          </a:prstGeom>
          <a:solidFill>
            <a:srgbClr val="147D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9070848" y="2286000"/>
            <a:ext cx="2386584" cy="22860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04  VẬN HÀNH</a:t>
            </a:r>
          </a:p>
        </p:txBody>
      </p:sp>
      <p:sp xmlns:a="http://schemas.openxmlformats.org/drawingml/2006/main">
        <p:nvSpPr>
          <p:cNvPr id="49" name="TextBox 48"/>
          <p:cNvSpPr txBox="1"/>
          <p:nvPr/>
        </p:nvSpPr>
        <p:spPr>
          <a:xfrm>
            <a:off x="9015984" y="2834639"/>
            <a:ext cx="2496312" cy="1097280"/>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Đào tạo &amp; bàn giao</a:t>
            </a:r>
          </a:p>
          <a:p>
            <a:pPr>
              <a:spcBef>
                <a:spcPts val="0"/>
              </a:spcBef>
              <a:spcAft>
                <a:spcPts val="500"/>
              </a:spcAft>
              <a:defRPr sz="1600" b="0">
                <a:solidFill>
                  <a:srgbClr val="20252B"/>
                </a:solidFill>
                <a:latin typeface="Arial"/>
              </a:defRPr>
            </a:pPr>
            <a:r>
              <a:t>Trực &amp; hỗ trợ</a:t>
            </a:r>
          </a:p>
          <a:p>
            <a:pPr>
              <a:spcBef>
                <a:spcPts val="0"/>
              </a:spcBef>
              <a:spcAft>
                <a:spcPts val="500"/>
              </a:spcAft>
              <a:defRPr sz="1600" b="0">
                <a:solidFill>
                  <a:srgbClr val="20252B"/>
                </a:solidFill>
                <a:latin typeface="Arial"/>
              </a:defRPr>
            </a:pPr>
            <a:r>
              <a:t>Cải tiến có kiểm soát</a:t>
            </a:r>
          </a:p>
        </p:txBody>
      </p:sp>
      <p:sp xmlns:a="http://schemas.openxmlformats.org/drawingml/2006/main">
        <p:nvSpPr>
          <p:cNvPr id="50" name="Rectangle 49"/>
          <p:cNvSpPr/>
          <p:nvPr/>
        </p:nvSpPr>
        <p:spPr>
          <a:xfrm>
            <a:off x="667512" y="4882896"/>
            <a:ext cx="10881360" cy="822960"/>
          </a:xfrm>
          <a:prstGeom prst="rect">
            <a:avLst/>
          </a:prstGeom>
          <a:solidFill>
            <a:srgbClr val="0628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96112" y="5111496"/>
            <a:ext cx="10424160" cy="365760"/>
          </a:xfrm>
          <a:prstGeom prst="rect">
            <a:avLst/>
          </a:prstGeom>
          <a:noFill/>
        </p:spPr>
        <p:txBody>
          <a:bodyPr wrap="square" lIns="0" rIns="0" tIns="0" bIns="0">
            <a:spAutoFit/>
          </a:bodyPr>
          <a:lstStyle/>
          <a:p>
            <a:pPr>
              <a:spcBef>
                <a:spcPts val="0"/>
              </a:spcBef>
              <a:spcAft>
                <a:spcPts val="500"/>
              </a:spcAft>
              <a:defRPr sz="1800" b="1">
                <a:solidFill>
                  <a:srgbClr val="FFFFFF"/>
                </a:solidFill>
                <a:latin typeface="Arial"/>
              </a:defRPr>
            </a:pPr>
            <a:r>
              <a:t>Kiến trúc production ngay từ đầu • Phạm vi sản phẩm đầy đủ • Cổng chất lượng trước go-live</a:t>
            </a:r>
          </a:p>
        </p:txBody>
      </p:sp>
    </p:spTree>
    <p:extLst>
      <p:ext uri="{BB962C8B-B14F-4D97-AF65-F5344CB8AC3E}">
        <p14:creationId xmlns:p14="http://schemas.microsoft.com/office/powerpoint/2010/main" val="80187265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GIÁ TRỊ ĐẦU TƯ • PHẠM VI HỢP TÁC</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Đầu tư vào năng lực phối hợp có thể đo được.</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Giá trị được đánh giá theo kết quả vận hành, cùng phạm vi và trách nhiệm rõ ràng.</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txBody xmlns:a="http://schemas.openxmlformats.org/drawingml/2006/main">
          <a:bodyPr/>
          <a:p/>
        </p:txBody>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lang="en-US">
                <a:solidFill>
                  <a:srgbClr val="4D4D4D"/>
                </a:solidFill>
                <a:latin typeface="Arial"/>
                <a:ea typeface="Arial"/>
                <a:cs typeface="Arial"/>
              </a:defRPr>
            </a:defPPr>
          </a:lstStyle>
          <a:p xmlns:a="http://schemas.openxmlformats.org/drawingml/2006/main">
            <a:pPr>
              <a:defRPr sz="975" b="0" lang="en-US">
                <a:solidFill>
                  <a:srgbClr val="4D4D4D"/>
                </a:solidFill>
                <a:latin typeface="Arial"/>
                <a:ea typeface="Arial"/>
                <a:cs typeface="Arial"/>
              </a:defRPr>
            </a:pPr>
            <a:r>
              <a:rPr sz="975" b="0" lang="en-US">
                <a:solidFill>
                  <a:srgbClr val="4D4D4D"/>
                </a:solidFill>
                <a:latin typeface="Arial"/>
                <a:ea typeface="Arial"/>
                <a:cs typeface="Arial"/>
              </a:rPr>
              <a:t>38</a:t>
            </a:r>
          </a:p>
        </p:txBody>
      </p:sp>
      <p:sp xmlns:a="http://schemas.openxmlformats.org/drawingml/2006/main">
        <p:nvSpPr>
          <p:cNvPr id="35" name="Rectangle 34"/>
          <p:cNvSpPr/>
          <p:nvPr/>
        </p:nvSpPr>
        <p:spPr>
          <a:xfrm>
            <a:off x="667512" y="1984248"/>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TextBox 35"/>
          <p:cNvSpPr txBox="1"/>
          <p:nvPr/>
        </p:nvSpPr>
        <p:spPr>
          <a:xfrm>
            <a:off x="804672" y="2103120"/>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Nhận biết sớm hơn</a:t>
            </a:r>
          </a:p>
        </p:txBody>
      </p:sp>
      <p:sp xmlns:a="http://schemas.openxmlformats.org/drawingml/2006/main">
        <p:nvSpPr>
          <p:cNvPr id="37" name="TextBox 36"/>
          <p:cNvSpPr txBox="1"/>
          <p:nvPr/>
        </p:nvSpPr>
        <p:spPr>
          <a:xfrm>
            <a:off x="4802428" y="2093976"/>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thời gian từ tín hiệu đến xác minh theo loại sự cố.</a:t>
            </a:r>
          </a:p>
        </p:txBody>
      </p:sp>
      <p:sp xmlns:a="http://schemas.openxmlformats.org/drawingml/2006/main">
        <p:nvSpPr>
          <p:cNvPr id="38" name="Rectangle 37"/>
          <p:cNvSpPr/>
          <p:nvPr/>
        </p:nvSpPr>
        <p:spPr>
          <a:xfrm>
            <a:off x="667512" y="2697480"/>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04672" y="2816352"/>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Tiếp cận rõ hơn</a:t>
            </a:r>
          </a:p>
        </p:txBody>
      </p:sp>
      <p:sp xmlns:a="http://schemas.openxmlformats.org/drawingml/2006/main">
        <p:nvSpPr>
          <p:cNvPr id="40" name="TextBox 39"/>
          <p:cNvSpPr txBox="1"/>
          <p:nvPr/>
        </p:nvSpPr>
        <p:spPr>
          <a:xfrm>
            <a:off x="4802428" y="2807208"/>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người/đội nhận việc, tiếp cận và các trường hợp chưa rõ.</a:t>
            </a:r>
          </a:p>
        </p:txBody>
      </p:sp>
      <p:sp xmlns:a="http://schemas.openxmlformats.org/drawingml/2006/main">
        <p:nvSpPr>
          <p:cNvPr id="41" name="Rectangle 40"/>
          <p:cNvSpPr/>
          <p:nvPr/>
        </p:nvSpPr>
        <p:spPr>
          <a:xfrm>
            <a:off x="667512" y="3410712"/>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2" name="TextBox 41"/>
          <p:cNvSpPr txBox="1"/>
          <p:nvPr/>
        </p:nvSpPr>
        <p:spPr>
          <a:xfrm>
            <a:off x="804672" y="3529584"/>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Phối hợp nhất quán</a:t>
            </a:r>
          </a:p>
        </p:txBody>
      </p:sp>
      <p:sp xmlns:a="http://schemas.openxmlformats.org/drawingml/2006/main">
        <p:nvSpPr>
          <p:cNvPr id="43" name="TextBox 42"/>
          <p:cNvSpPr txBox="1"/>
          <p:nvPr/>
        </p:nvSpPr>
        <p:spPr>
          <a:xfrm>
            <a:off x="4802428" y="3520440"/>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đồng bộ thông điệp, bàn giao và kết quả diễn tập.</a:t>
            </a:r>
          </a:p>
        </p:txBody>
      </p:sp>
      <p:sp xmlns:a="http://schemas.openxmlformats.org/drawingml/2006/main">
        <p:nvSpPr>
          <p:cNvPr id="44" name="Rectangle 43"/>
          <p:cNvSpPr/>
          <p:nvPr/>
        </p:nvSpPr>
        <p:spPr>
          <a:xfrm>
            <a:off x="667512" y="4123944"/>
            <a:ext cx="10881360" cy="6309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04672" y="4242816"/>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Mở rộng thuận lợi</a:t>
            </a:r>
          </a:p>
        </p:txBody>
      </p:sp>
      <p:sp xmlns:a="http://schemas.openxmlformats.org/drawingml/2006/main">
        <p:nvSpPr>
          <p:cNvPr id="46" name="TextBox 45"/>
          <p:cNvSpPr txBox="1"/>
          <p:nvPr/>
        </p:nvSpPr>
        <p:spPr>
          <a:xfrm>
            <a:off x="4802428" y="4233672"/>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Đo công sức tích hợp, version compatibility, health.</a:t>
            </a:r>
          </a:p>
        </p:txBody>
      </p:sp>
      <p:sp xmlns:a="http://schemas.openxmlformats.org/drawingml/2006/main">
        <p:nvSpPr>
          <p:cNvPr id="47" name="Rectangle 46"/>
          <p:cNvSpPr/>
          <p:nvPr/>
        </p:nvSpPr>
        <p:spPr>
          <a:xfrm>
            <a:off x="667512" y="4837176"/>
            <a:ext cx="10881360" cy="630936"/>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8" name="TextBox 47"/>
          <p:cNvSpPr txBox="1"/>
          <p:nvPr/>
        </p:nvSpPr>
        <p:spPr>
          <a:xfrm>
            <a:off x="804672" y="4956048"/>
            <a:ext cx="3808476" cy="512064"/>
          </a:xfrm>
          <a:prstGeom prst="rect">
            <a:avLst/>
          </a:prstGeom>
          <a:noFill/>
        </p:spPr>
        <p:txBody>
          <a:bodyPr wrap="square" lIns="0" rIns="0" tIns="0" bIns="0">
            <a:spAutoFit/>
          </a:bodyPr>
          <a:lstStyle/>
          <a:p>
            <a:pPr>
              <a:spcBef>
                <a:spcPts val="0"/>
              </a:spcBef>
              <a:spcAft>
                <a:spcPts val="500"/>
              </a:spcAft>
              <a:defRPr sz="1600" b="1">
                <a:solidFill>
                  <a:srgbClr val="C8102E"/>
                </a:solidFill>
                <a:latin typeface="Arial"/>
              </a:defRPr>
            </a:pPr>
            <a:r>
              <a:t>Thống nhất trước triển khai</a:t>
            </a:r>
          </a:p>
        </p:txBody>
      </p:sp>
      <p:sp xmlns:a="http://schemas.openxmlformats.org/drawingml/2006/main">
        <p:nvSpPr>
          <p:cNvPr id="49" name="TextBox 48"/>
          <p:cNvSpPr txBox="1"/>
          <p:nvPr/>
        </p:nvSpPr>
        <p:spPr>
          <a:xfrm>
            <a:off x="4802428" y="4946904"/>
            <a:ext cx="6420002" cy="53949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Số site/user/device, vùng dữ liệu, kênh, lực lượng và SLA.</a:t>
            </a:r>
          </a:p>
        </p:txBody>
      </p:sp>
    </p:spTree>
    <p:extLst>
      <p:ext uri="{BB962C8B-B14F-4D97-AF65-F5344CB8AC3E}">
        <p14:creationId xmlns:p14="http://schemas.microsoft.com/office/powerpoint/2010/main" val="970924340"/>
      </p:ext>
    </p:extLst>
  </p:cSld>
</p:sld>
</file>

<file path=ppt/slides/slide39.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34" name="">
            <ns1:extLst>
              <ns1:ext uri="{FF2B5EF4-FFF2-40B4-BE49-F238E27FC236}">
                <ns2:creationId id="{9C7C363B-B4FA-49A6-982A-9350B5F01548}"/>
              </ns1:ext>
            </ns1:extLst>
          </ns0:cNvPr>
          <ns0:cNvSpPr>
            <ns1:spLocks noGrp="1"/>
          </ns0:cNvSpPr>
          <ns0:nvPr/>
        </ns0:nvSpPr>
        <ns0:spPr>
          <ns1:xfrm>
            <ns1:off x="0" y="0"/>
            <ns1:ext cx="12192000" cy="95250"/>
          </ns1:xfrm>
          <ns1:prstGeom prst="rect">
            <ns1:avLst/>
          </ns1:prstGeom>
          <ns1:solidFill>
            <ns1:srgbClr val="C8102E"/>
          </ns1:solidFill>
          <ns1:ln w="0">
            <ns1:noFill/>
          </ns1:ln>
        </ns0:spPr>
        <ns0:txBody>
          <ns1:bodyPr/>
          <ns1:p/>
        </ns0:txBody>
      </ns0:sp>
      <ns0:sp>
        <ns0:nvSpPr>
          <ns0:cNvPr id="2" name="">
            <ns1:extLst>
              <ns1:ext uri="{FF2B5EF4-FFF2-40B4-BE49-F238E27FC236}">
                <ns2:creationId id="{AD9FAADC-810E-4595-833E-715EF48B02AF}"/>
              </ns1:ext>
            </ns1:extLst>
          </ns0:cNvPr>
          <ns0:cNvSpPr>
            <ns1:spLocks noGrp="1"/>
          </ns0:cNvSpPr>
          <ns0:nvPr/>
        </ns0:nvSpPr>
        <ns0:spPr>
          <ns1:xfrm>
            <ns1:off x="3857625" y="0"/>
            <ns1:ext cx="2000250" cy="95250"/>
          </ns1:xfrm>
          <ns1:prstGeom prst="rect">
            <ns1:avLst/>
          </ns1:prstGeom>
          <ns1:solidFill>
            <ns1:srgbClr val="FF383C"/>
          </ns1:solidFill>
          <ns1:ln w="0">
            <ns1:noFill/>
          </ns1:ln>
        </ns0:spPr>
        <ns0:txBody>
          <ns1:bodyPr/>
          <ns1:p/>
        </ns0:txBody>
      </ns0:sp>
      <ns0:sp>
        <ns0:nvSpPr>
          <ns0:cNvPr id="3" name="">
            <ns1:extLst>
              <ns1:ext uri="{FF2B5EF4-FFF2-40B4-BE49-F238E27FC236}">
                <ns2:creationId id="{26430B17-7848-4D31-8CAF-00E32363DD65}"/>
              </ns1:ext>
            </ns1:extLst>
          </ns0:cNvPr>
          <ns0:cNvSpPr>
            <ns1:spLocks noGrp="1"/>
          </ns0:cNvSpPr>
          <ns0:nvPr/>
        </ns0:nvSpPr>
        <ns0:spPr>
          <ns1:xfrm>
            <ns1:off x="571500" y="276225"/>
            <ns1:ext cx="8572500" cy="228600"/>
          </ns1:xfrm>
          <ns1:prstGeom prst="rect">
            <ns1:avLst/>
          </ns1:prstGeom>
          <ns1:noFill/>
          <ns1:ln w="0">
            <ns1:noFill/>
          </ns1:ln>
        </ns0:spPr>
        <ns0:txBody>
          <ns1:bodyPr lIns="0" tIns="0" rIns="0" bIns="0"/>
          <ns1:lstStyle>
            <ns1:defPPr>
              <ns1:defRPr sz="1050" b="1">
                <ns1:solidFill>
                  <ns1:srgbClr val="C8102E"/>
                </ns1:solidFill>
                <ns1:latin typeface="Arial"/>
                <ns1:ea typeface="Arial"/>
                <ns1:cs typeface="Arial"/>
              </ns1:defRPr>
            </ns1:defPPr>
          </ns1:lstStyle>
          <ns1:p>
            <ns1:pPr>
              <ns1:defRPr sz="1050" b="1">
                <ns1:solidFill>
                  <ns1:srgbClr val="C8102E"/>
                </ns1:solidFill>
                <ns1:latin typeface="Arial"/>
                <ns1:ea typeface="Arial"/>
                <ns1:cs typeface="Arial"/>
              </ns1:defRPr>
            </ns1:pPr>
            <ns1:r>
              <ns1:rPr sz="1050" b="1">
                <ns1:solidFill>
                  <ns1:srgbClr val="C8102E"/>
                </ns1:solidFill>
                <ns1:latin typeface="Arial"/>
                <ns1:ea typeface="Arial"/>
                <ns1:cs typeface="Arial"/>
              </ns1:rPr>
              <ns1:t>NỀN TẢNG KẾ THỪA • CƠ SỞ ĐỀ XUẤT</ns1:t>
            </ns1:r>
          </ns1:p>
        </ns0:txBody>
      </ns0:sp>
      <ns0:sp>
        <ns0:nvSpPr>
          <ns0:cNvPr id="4" name="">
            <ns1:extLst>
              <ns1:ext uri="{FF2B5EF4-FFF2-40B4-BE49-F238E27FC236}">
                <ns2:creationId id="{E773F526-5891-4DFB-86B7-7E0223ED193C}"/>
              </ns1:ext>
            </ns1:extLst>
          </ns0:cNvPr>
          <ns0:cNvSpPr>
            <ns1:spLocks noGrp="1"/>
          </ns0:cNvSpPr>
          <ns0:nvPr/>
        </ns0:nvSpPr>
        <ns0:spPr>
          <ns1:xfrm>
            <ns1:off x="9810750" y="238125"/>
            <ns1:ext cx="1905000" cy="342900"/>
          </ns1:xfrm>
          <ns1:prstGeom prst="rect">
            <ns1:avLst/>
          </ns1:prstGeom>
          <ns1:noFill/>
          <ns1:ln w="0">
            <ns1:noFill/>
          </ns1:ln>
        </ns0:spPr>
        <ns0:txBody>
          <ns1:bodyPr lIns="0" tIns="0" rIns="0" bIns="0"/>
          <ns1:lstStyle>
            <ns1:defPPr>
              <ns1:defRPr sz="2025" b="1">
                <ns1:solidFill>
                  <ns1:srgbClr val="C8102E"/>
                </ns1:solidFill>
                <ns1:latin typeface="Arial"/>
                <ns1:ea typeface="Arial"/>
                <ns1:cs typeface="Arial"/>
              </ns1:defRPr>
            </ns1:defPPr>
          </ns1:lstStyle>
          <ns1:p>
            <ns1:pPr>
              <ns1:defRPr sz="2025" b="1">
                <ns1:solidFill>
                  <ns1:srgbClr val="C8102E"/>
                </ns1:solidFill>
                <ns1:latin typeface="Arial"/>
                <ns1:ea typeface="Arial"/>
                <ns1:cs typeface="Arial"/>
              </ns1:defRPr>
            </ns1:pPr>
            <ns1:r>
              <ns1:rPr sz="2025" b="1">
                <ns1:solidFill>
                  <ns1:srgbClr val="C8102E"/>
                </ns1:solidFill>
                <ns1:latin typeface="Arial"/>
                <ns1:ea typeface="Arial"/>
                <ns1:cs typeface="Arial"/>
              </ns1:rPr>
              <ns1:t>SmartAlarm</ns1:t>
            </ns1:r>
          </ns1:p>
        </ns0:txBody>
      </ns0:sp>
      <ns0:sp>
        <ns0:nvSpPr>
          <ns0:cNvPr id="5" name="">
            <ns1:extLst>
              <ns1:ext uri="{FF2B5EF4-FFF2-40B4-BE49-F238E27FC236}">
                <ns2:creationId id="{C4C79359-0FF2-4CD9-A5C7-7C2E4715FA08}"/>
              </ns1:ext>
            </ns1:extLst>
          </ns0:cNvPr>
          <ns0:cNvSpPr>
            <ns1:spLocks noGrp="1"/>
          </ns0:cNvSpPr>
          <ns0:nvPr/>
        </ns0:nvSpPr>
        <ns0:spPr>
          <ns1:xfrm>
            <ns1:off x="571500" y="600075"/>
            <ns1:ext cx="11049000" cy="809625"/>
          </ns1:xfrm>
          <ns1:prstGeom prst="rect">
            <ns1:avLst/>
          </ns1:prstGeom>
          <ns1:noFill/>
          <ns1:ln w="0">
            <ns1:noFill/>
          </ns1:ln>
        </ns0:spPr>
        <ns0:txBody>
          <ns1:bodyPr lIns="0" tIns="0" rIns="0" bIns="0"/>
          <ns1:lstStyle>
            <ns1:defPPr>
              <ns1:defRPr sz="2700" b="1">
                <ns1:solidFill>
                  <ns1:srgbClr val="C8102E"/>
                </ns1:solidFill>
                <ns1:latin typeface="Arial"/>
                <ns1:ea typeface="Arial"/>
                <ns1:cs typeface="Arial"/>
              </ns1:defRPr>
            </ns1:defPPr>
          </ns1:lstStyle>
          <ns1:p>
            <ns1:pPr>
              <ns1:defRPr sz="2700" b="1">
                <ns1:solidFill>
                  <ns1:srgbClr val="C8102E"/>
                </ns1:solidFill>
                <ns1:latin typeface="Arial"/>
                <ns1:ea typeface="Arial"/>
                <ns1:cs typeface="Arial"/>
              </ns1:defRPr>
            </ns1:pPr>
            <ns1:r>
              <ns1:rPr sz="2700" b="1">
                <ns1:solidFill>
                  <ns1:srgbClr val="C8102E"/>
                </ns1:solidFill>
                <ns1:latin typeface="Arial"/>
                <ns1:ea typeface="Arial"/>
                <ns1:cs typeface="Arial"/>
              </ns1:rPr>
              <ns1:t>Từ FireEscape đến SmartAlarm: mở rộng có căn cứ.</ns1:t>
            </ns1:r>
          </ns1:p>
        </ns0:txBody>
      </ns0:sp>
      <ns0:sp>
        <ns0:nvSpPr>
          <ns0:cNvPr id="6" name="">
            <ns1:extLst>
              <ns1:ext uri="{FF2B5EF4-FFF2-40B4-BE49-F238E27FC236}">
                <ns2:creationId id="{CF28658E-3722-469C-BDBF-60596E5764D7}"/>
              </ns1:ext>
            </ns1:extLst>
          </ns0:cNvPr>
          <ns0:cNvSpPr>
            <ns1:spLocks noGrp="1"/>
          </ns0:cNvSpPr>
          <ns0:nvPr/>
        </ns0:nvSpPr>
        <ns0:spPr>
          <ns1:xfrm>
            <ns1:off x="581025" y="1381125"/>
            <ns1:ext cx="10953750" cy="476250"/>
          </ns1:xfrm>
          <ns1:prstGeom prst="rect">
            <ns1:avLst/>
          </ns1:prstGeom>
          <ns1:noFill/>
          <ns1:ln w="0">
            <ns1:noFill/>
          </ns1:ln>
        </ns0:spPr>
        <ns0:txBody>
          <ns1:bodyPr lIns="0" tIns="0" rIns="0" bIns="0"/>
          <ns1:lstStyle>
            <ns1:defPPr>
              <ns1:defRPr sz="1425" b="0">
                <ns1:solidFill>
                  <ns1:srgbClr val="4D4D4D"/>
                </ns1:solidFill>
                <ns1:latin typeface="Arial"/>
                <ns1:ea typeface="Arial"/>
                <ns1:cs typeface="Arial"/>
              </ns1:defRPr>
            </ns1:defPPr>
          </ns1:lstStyle>
          <ns1:p>
            <ns1:pPr>
              <ns1:defRPr sz="1425" b="0">
                <ns1:solidFill>
                  <ns1:srgbClr val="4D4D4D"/>
                </ns1:solidFill>
                <ns1:latin typeface="Arial"/>
                <ns1:ea typeface="Arial"/>
                <ns1:cs typeface="Arial"/>
              </ns1:defRPr>
            </ns1:pPr>
            <ns1:r>
              <ns1:rPr sz="1425" b="0">
                <ns1:solidFill>
                  <ns1:srgbClr val="4D4D4D"/>
                </ns1:solidFill>
                <ns1:latin typeface="Arial"/>
                <ns1:ea typeface="Arial"/>
                <ns1:cs typeface="Arial"/>
              </ns1:rPr>
              <ns1:t>Giữ vòng phối hợp đã có, bổ sung những năng lực người dùng đã yêu cầu.</ns1:t>
            </ns1:r>
          </ns1:p>
        </ns0:txBody>
      </ns0:sp>
      <ns0:sp>
        <ns0:nvSpPr>
          <ns0:cNvPr id="7" name="">
            <ns1:extLst>
              <ns1:ext uri="{FF2B5EF4-FFF2-40B4-BE49-F238E27FC236}">
                <ns2:creationId id="{7D61DBF3-1A13-41F4-BB71-52F56133D84D}"/>
              </ns1:ext>
            </ns1:extLst>
          </ns0:cNvPr>
          <ns0:cNvSpPr>
            <ns1:spLocks noGrp="1"/>
          </ns0:cNvSpPr>
          <ns0:nvPr/>
        </ns0:nvSpPr>
        <ns0:spPr>
          <ns1:xfrm>
            <ns1:off x="571500" y="6400800"/>
            <ns1:ext cx="11049000" cy="9525"/>
          </ns1:xfrm>
          <ns1:prstGeom prst="rect">
            <ns1:avLst/>
          </ns1:prstGeom>
          <ns1:solidFill>
            <ns1:srgbClr val="F0CFD3"/>
          </ns1:solidFill>
          <ns1:ln w="0">
            <ns1:noFill/>
          </ns1:ln>
        </ns0:spPr>
        <ns0:txBody>
          <ns1:bodyPr/>
          <ns1:p/>
        </ns0:txBody>
      </ns0:sp>
      <ns0:sp>
        <ns0:nvSpPr>
          <ns0:cNvPr id="8" name="">
            <ns1:extLst>
              <ns1:ext uri="{FF2B5EF4-FFF2-40B4-BE49-F238E27FC236}">
                <ns2:creationId id="{B62B3784-9D48-430F-979A-BC4D407586CA}"/>
              </ns1:ext>
            </ns1:extLst>
          </ns0:cNvPr>
          <ns0:cNvSpPr>
            <ns1:spLocks noGrp="1"/>
          </ns0:cNvSpPr>
          <ns0:nvPr/>
        </ns0:nvSpPr>
        <ns0:spPr>
          <ns1:xfrm>
            <ns1:off x="581025" y="6553200"/>
            <ns1:ext cx="10477500" cy="190500"/>
          </ns1:xfrm>
          <ns1:prstGeom prst="rect">
            <ns1:avLst/>
          </ns1:prstGeom>
          <ns1:noFill/>
          <ns1:ln w="0">
            <ns1:noFill/>
          </ns1:ln>
        </ns0:spPr>
        <ns0:txBody>
          <ns1:bodyPr lIns="0" tIns="0" rIns="0" bIns="0"/>
          <ns1:lstStyle>
            <ns1:defPPr>
              <ns1:defRPr sz="825" b="0">
                <ns1:solidFill>
                  <ns1:srgbClr val="4D4D4D"/>
                </ns1:solidFill>
                <ns1:latin typeface="Arial"/>
                <ns1:ea typeface="Arial"/>
                <ns1:cs typeface="Arial"/>
              </ns1:defRPr>
            </ns1:defPPr>
          </ns1:lstStyle>
          <ns1:p>
            <ns1:pPr>
              <ns1:defRPr sz="825" b="0">
                <ns1:solidFill>
                  <ns1:srgbClr val="4D4D4D"/>
                </ns1:solidFill>
                <ns1:latin typeface="Arial"/>
                <ns1:ea typeface="Arial"/>
                <ns1:cs typeface="Arial"/>
              </ns1:defRPr>
            </ns1:pPr>
            <ns1:r>
              <ns1:rPr sz="825" b="0">
                <ns1:solidFill>
                  <ns1:srgbClr val="4D4D4D"/>
                </ns1:solidFill>
                <ns1:latin typeface="Arial"/>
                <ns1:ea typeface="Arial"/>
                <ns1:cs typeface="Arial"/>
              </ns1:rPr>
              <ns1:t>AIPOWER  |  SmartAlarm solution proposal  |  International • Multi-industry</ns1:t>
            </ns1:r>
          </ns1:p>
        </ns0:txBody>
      </ns0:sp>
      <ns0:sp>
        <ns0:nvSpPr>
          <ns0:cNvPr id="9" name="">
            <ns1:extLst>
              <ns1:ext uri="{FF2B5EF4-FFF2-40B4-BE49-F238E27FC236}">
                <ns2:creationId id="{F89C71A7-586E-4255-8104-F402B2A46D54}"/>
              </ns1:ext>
            </ns1:extLst>
          </ns0:cNvPr>
          <ns0:cNvSpPr>
            <ns1:spLocks noGrp="1"/>
          </ns0:cNvSpPr>
          <ns0:nvPr/>
        </ns0:nvSpPr>
        <ns0:spPr>
          <ns1:xfrm>
            <ns1:off x="11391900" y="6524625"/>
            <ns1:ext cx="333375" cy="228600"/>
          </ns1:xfrm>
          <ns1:prstGeom prst="rect">
            <ns1:avLst/>
          </ns1:prstGeom>
          <ns1:noFill/>
          <ns1:ln w="0">
            <ns1:noFill/>
          </ns1:ln>
        </ns0:spPr>
        <ns0:txBody>
          <ns1:bodyPr lIns="0" tIns="0" rIns="0" bIns="0"/>
          <ns1:lstStyle>
            <ns1:defPPr>
              <ns1:defRPr sz="975" b="0" lang="en-US">
                <ns1:solidFill>
                  <ns1:srgbClr val="4D4D4D"/>
                </ns1:solidFill>
                <ns1:latin typeface="Arial"/>
                <ns1:ea typeface="Arial"/>
                <ns1:cs typeface="Arial"/>
              </ns1:defRPr>
            </ns1:defPPr>
          </ns1:lstStyle>
          <ns1:p>
            <ns1:pPr>
              <ns1:defRPr sz="975" b="0" lang="en-US">
                <ns1:solidFill>
                  <ns1:srgbClr val="4D4D4D"/>
                </ns1:solidFill>
                <ns1:latin typeface="Arial"/>
                <ns1:ea typeface="Arial"/>
                <ns1:cs typeface="Arial"/>
              </ns1:defRPr>
            </ns1:pPr>
            <ns1:r>
              <ns1:rPr sz="975" b="0" lang="en-US">
                <ns1:solidFill>
                  <ns1:srgbClr val="4D4D4D"/>
                </ns1:solidFill>
                <ns1:latin typeface="Arial"/>
                <ns1:ea typeface="Arial"/>
                <ns1:cs typeface="Arial"/>
              </ns1:rPr>
              <ns1:t>39</ns1:t>
            </ns1:r>
          </ns1:p>
        </ns0:txBody>
      </ns0:sp>
      <ns0:pic>
        <ns0:nvPicPr>
          <ns0:cNvPr id="35" name="Picture 34" descr="image.png"/>
          <ns0:cNvPicPr>
            <ns1:picLocks noChangeAspect="1"/>
          </ns0:cNvPicPr>
          <ns0:nvPr/>
        </ns0:nvPicPr>
        <ns0:blipFill>
          <ns1:blip ns3:embed="rId5"/>
          <ns1:stretch>
            <ns1:fillRect/>
          </ns1:stretch>
        </ns0:blipFill>
        <ns0:spPr>
          <ns1:xfrm>
            <ns1:off x="667512" y="2066948"/>
            <ns1:ext cx="4937760" cy="2778966"/>
          </ns1:xfrm>
          <ns1:prstGeom prst="rect">
            <ns1:avLst/>
          </ns1:prstGeom>
        </ns0:spPr>
      </ns0:pic>
      <ns0:sp>
        <ns0:nvSpPr>
          <ns0:cNvPr id="36" name="TextBox 35"/>
          <ns0:cNvSpPr txBox="1"/>
          <ns0:nvPr/>
        </ns0:nvSpPr>
        <ns0:spPr>
          <ns1:xfrm>
            <ns1:off x="749808" y="5065776"/>
            <ns1:ext cx="4663440" cy="320040"/>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FIRESCAPE • TÀI LIỆU GỐC</ns1:t>
            </ns1:r>
          </ns1:p>
        </ns0:txBody>
      </ns0:sp>
      <ns0:sp>
        <ns0:nvSpPr>
          <ns0:cNvPr id="37" name="Rectangle 36"/>
          <ns0:cNvSpPr/>
          <ns0:nvPr/>
        </ns0:nvSpPr>
        <ns0:spPr>
          <ns1:xfrm>
            <ns1:off x="5870448" y="2075688"/>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38" name="TextBox 37"/>
          <ns0:cNvSpPr txBox="1"/>
          <ns0:nvPr/>
        </ns0:nvSpPr>
        <ns0:spPr>
          <ns1:xfrm>
            <ns1:off x="6007608" y="2194560"/>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Kế thừa</ns1:t>
            </ns1:r>
          </ns1:p>
        </ns0:txBody>
      </ns0:sp>
      <ns0:sp>
        <ns0:nvSpPr>
          <ns0:cNvPr id="39" name="TextBox 38"/>
          <ns0:cNvSpPr txBox="1"/>
          <ns0:nvPr/>
        </ns0:nvSpPr>
        <ns0:spPr>
          <ns1:xfrm>
            <ns1:off x="8024774" y="2185416"/>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Camera, tầng/zone, map/voice, SOS, hub, nhóm, báo an toàn.</ns1:t>
            </ns1:r>
          </ns1:p>
        </ns0:txBody>
      </ns0:sp>
      <ns0:sp>
        <ns0:nvSpPr>
          <ns0:cNvPr id="40" name="Rectangle 39"/>
          <ns0:cNvSpPr/>
          <ns0:nvPr/>
        </ns0:nvSpPr>
        <ns0:spPr>
          <ns1:xfrm>
            <ns1:off x="5870448" y="3072384"/>
            <ns1:ext cx="5669280" cy="914400"/>
          </ns1:xfrm>
          <ns1:prstGeom prst="rect">
            <ns1:avLst/>
          </ns1:prstGeom>
          <ns1:solidFill>
            <ns1:srgbClr val="FFFFFF"/>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1" name="TextBox 40"/>
          <ns0:cNvSpPr txBox="1"/>
          <ns0:nvPr/>
        </ns0:nvSpPr>
        <ns0:spPr>
          <ns1:xfrm>
            <ns1:off x="6007608" y="3191256"/>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Mở rộng</ns1:t>
            </ns1:r>
          </ns1:p>
        </ns0:txBody>
      </ns0:sp>
      <ns0:sp>
        <ns0:nvSpPr>
          <ns0:cNvPr id="42" name="TextBox 41"/>
          <ns0:cNvSpPr txBox="1"/>
          <ns0:nvPr/>
        </ns0:nvSpPr>
        <ns0:spPr>
          <ns1:xfrm>
            <ns1:off x="8024774" y="3182112"/>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Đa nguy cơ, care/proactive, PA/drone, định vị/routing, AI.</ns1:t>
            </ns1:r>
          </ns1:p>
        </ns0:txBody>
      </ns0:sp>
      <ns0:sp>
        <ns0:nvSpPr>
          <ns0:cNvPr id="43" name="Rectangle 42"/>
          <ns0:cNvSpPr/>
          <ns0:nvPr/>
        </ns0:nvSpPr>
        <ns0:spPr>
          <ns1:xfrm>
            <ns1:off x="5870448" y="4069080"/>
            <ns1:ext cx="5669280" cy="914400"/>
          </ns1:xfrm>
          <ns1:prstGeom prst="rect">
            <ns1:avLst/>
          </ns1:prstGeom>
          <ns1:solidFill>
            <ns1:srgbClr val="F3F6F8"/>
          </ns1:solidFill>
          <ns1:ln>
            <ns1:noFill/>
          </ns1:ln>
        </ns0:spPr>
        <ns0:style>
          <ns1:lnRef idx="1">
            <ns1:schemeClr val="accent1"/>
          </ns1:lnRef>
          <ns1:fillRef idx="3">
            <ns1:schemeClr val="accent1"/>
          </ns1:fillRef>
          <ns1:effectRef idx="2">
            <ns1:schemeClr val="accent1"/>
          </ns1:effectRef>
          <ns1:fontRef idx="minor">
            <ns1:schemeClr val="lt1"/>
          </ns1:fontRef>
        </ns0:style>
        <ns0:txBody>
          <ns1:bodyPr rtlCol="0" anchor="ctr"/>
          <ns1:lstStyle/>
          <ns1:p>
            <ns1:pPr algn="ctr"/>
          </ns1:p>
        </ns0:txBody>
      </ns0:sp>
      <ns0:sp>
        <ns0:nvSpPr>
          <ns0:cNvPr id="44" name="TextBox 43"/>
          <ns0:cNvSpPr txBox="1"/>
          <ns0:nvPr/>
        </ns0:nvSpPr>
        <ns0:spPr>
          <ns1:xfrm>
            <ns1:off x="6007608" y="4187952"/>
            <ns1:ext cx="1984248" cy="795528"/>
          </ns1:xfrm>
          <ns1:prstGeom prst="rect">
            <ns1:avLst/>
          </ns1:prstGeom>
          <ns1:noFill/>
        </ns0:spPr>
        <ns0:txBody>
          <ns1:bodyPr wrap="square" lIns="0" rIns="0" tIns="0" bIns="0">
            <ns1:spAutoFit/>
          </ns1:bodyPr>
          <ns1:lstStyle/>
          <ns1:p>
            <ns1:pPr>
              <ns1:spcBef>
                <ns1:spcPts val="0"/>
              </ns1:spcBef>
              <ns1:spcAft>
                <ns1:spcPts val="500"/>
              </ns1:spcAft>
              <ns1:defRPr sz="1600" b="1">
                <ns1:solidFill>
                  <ns1:srgbClr val="C8102E"/>
                </ns1:solidFill>
                <ns1:latin typeface="Arial"/>
              </ns1:defRPr>
            </ns1:pPr>
            <ns1:r>
              <ns1:t>Nền tảng dài hạn</ns1:t>
            </ns1:r>
          </ns1:p>
        </ns0:txBody>
      </ns0:sp>
      <ns0:sp>
        <ns0:nvSpPr>
          <ns0:cNvPr id="45" name="TextBox 44"/>
          <ns0:cNvSpPr txBox="1"/>
          <ns0:nvPr/>
        </ns0:nvSpPr>
        <ns0:spPr>
          <ns1:xfrm>
            <ns1:off x="8024774" y="4178808"/>
            <ns1:ext cx="3344875" cy="822960"/>
          </ns1:xfrm>
          <ns1:prstGeom prst="rect">
            <ns1:avLst/>
          </ns1:prstGeom>
          <ns1:noFill/>
        </ns0:spPr>
        <ns0:txBody>
          <ns1:bodyPr wrap="square" lIns="0" rIns="0" tIns="0" bIns="0">
            <ns1:spAutoFit/>
          </ns1:bodyPr>
          <ns1:lstStyle/>
          <ns1:p>
            <ns1:pPr>
              <ns1:spcBef>
                <ns1:spcPts val="0"/>
              </ns1:spcBef>
              <ns1:spcAft>
                <ns1:spcPts val="500"/>
              </ns1:spcAft>
              <ns1:defRPr sz="1500" b="0">
                <ns1:solidFill>
                  <ns1:srgbClr val="20252B"/>
                </ns1:solidFill>
                <ns1:latin typeface="Arial"/>
              </ns1:defRPr>
            </ns1:pPr>
            <ns1:r>
              <ns1:t>Đa tenant/ngành/vùng; VI/EN/JA; bảo mật và vận hành.</ns1:t>
            </ns1:r>
          </ns1:p>
        </ns0:txBody>
      </ns0:sp>
      <ns0:sp>
        <ns0:nvSpPr>
          <ns0:cNvPr id="46" name="TextBox 45"/>
          <ns0:cNvSpPr txBox="1"/>
          <ns0:nvPr/>
        </ns0:nvSpPr>
        <ns0:spPr>
          <ns1:xfrm>
            <ns1:off x="5989320" y="5404104"/>
            <ns1:ext cx="5440680" cy="448056"/>
          </ns1:xfrm>
          <ns1:prstGeom prst="rect">
            <ns1:avLst/>
          </ns1:prstGeom>
          <ns1:noFill/>
        </ns0:spPr>
        <ns0:txBody>
          <ns1:bodyPr wrap="square" lIns="0" rIns="0" tIns="0" bIns="0">
            <ns1:spAutoFit/>
          </ns1:bodyPr>
          <ns1:lstStyle/>
          <ns1:p>
            <ns1:pPr>
              <ns1:spcBef>
                <ns1:spcPts val="0"/>
              </ns1:spcBef>
              <ns1:spcAft>
                <ns1:spcPts val="500"/>
              </ns1:spcAft>
              <ns1:defRPr sz="1200" b="0">
                <ns1:solidFill>
                  <ns1:srgbClr val="52616B"/>
                </ns1:solidFill>
                <ns1:latin typeface="Arial"/>
              </ns1:defRPr>
            </ns1:pPr>
            <ns1:r>
              <ns1:t>Hình và giao diện là mô phỏng đề xuất. Deck này không khẳng định phần mở rộng đã được triển khai.</ns1:t>
            </ns1:r>
          </ns1:p>
        </ns0:txBody>
      </ns0:sp>
    </ns0:spTree>
    <ns0:extLst>
      <ns0:ext uri="{BB962C8B-B14F-4D97-AF65-F5344CB8AC3E}">
        <ns4:creationId val="2119301327"/>
      </ns0:ext>
    </ns0:extLst>
  </ns0:cSld>
</ns0: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 name="Rectangle 1"/>
          <p:cNvSpPr/>
          <p:nvPr/>
        </p:nvSpPr>
        <p:spPr>
          <a:xfrm>
            <a:off x="0" y="0"/>
            <a:ext cx="12191999" cy="68580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Rectangle 2"/>
          <p:cNvSpPr/>
          <p:nvPr/>
        </p:nvSpPr>
        <p:spPr>
          <a:xfrm>
            <a:off x="594360" y="457200"/>
            <a:ext cx="214884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xmlns:a="http://schemas.openxmlformats.org/drawingml/2006/main" xmlns:r="http://schemas.openxmlformats.org/officeDocument/2006/relationships">
        <p:nvPicPr>
          <p:cNvPr id="4" name="Picture 3" descr="image.png"/>
          <p:cNvPicPr>
            <a:picLocks noChangeAspect="1"/>
          </p:cNvPicPr>
          <p:nvPr/>
        </p:nvPicPr>
        <p:blipFill>
          <a:blip r:embed="rId4"/>
          <a:stretch>
            <a:fillRect/>
          </a:stretch>
        </p:blipFill>
        <p:spPr>
          <a:xfrm>
            <a:off x="594581" y="457200"/>
            <a:ext cx="2148396" cy="914400"/>
          </a:xfrm>
          <a:prstGeom prst="rect">
            <a:avLst/>
          </a:prstGeom>
        </p:spPr>
      </p:pic>
      <p:sp xmlns:a="http://schemas.openxmlformats.org/drawingml/2006/main">
        <p:nvSpPr>
          <p:cNvPr id="5" name="TextBox 4"/>
          <p:cNvSpPr txBox="1"/>
          <p:nvPr/>
        </p:nvSpPr>
        <p:spPr>
          <a:xfrm>
            <a:off x="640080" y="1874519"/>
            <a:ext cx="10789920" cy="749808"/>
          </a:xfrm>
          <a:prstGeom prst="rect">
            <a:avLst/>
          </a:prstGeom>
          <a:noFill/>
        </p:spPr>
        <p:txBody>
          <a:bodyPr wrap="square" lIns="0" rIns="0" tIns="0" bIns="0">
            <a:spAutoFit/>
          </a:bodyPr>
          <a:lstStyle/>
          <a:p>
            <a:pPr>
              <a:spcBef>
                <a:spcPts val="0"/>
              </a:spcBef>
              <a:spcAft>
                <a:spcPts val="500"/>
              </a:spcAft>
              <a:defRPr sz="4700" b="1">
                <a:solidFill>
                  <a:srgbClr val="FFFFFF"/>
                </a:solidFill>
                <a:latin typeface="Arial"/>
              </a:defRPr>
            </a:pPr>
            <a:r>
              <a:t>SmartAlarm</a:t>
            </a:r>
          </a:p>
        </p:txBody>
      </p:sp>
      <p:sp xmlns:a="http://schemas.openxmlformats.org/drawingml/2006/main">
        <p:nvSpPr>
          <p:cNvPr id="6" name="TextBox 5"/>
          <p:cNvSpPr txBox="1"/>
          <p:nvPr/>
        </p:nvSpPr>
        <p:spPr>
          <a:xfrm>
            <a:off x="667512" y="3017520"/>
            <a:ext cx="10789920" cy="621792"/>
          </a:xfrm>
          <a:prstGeom prst="rect">
            <a:avLst/>
          </a:prstGeom>
          <a:noFill/>
        </p:spPr>
        <p:txBody>
          <a:bodyPr wrap="square" lIns="0" rIns="0" tIns="0" bIns="0">
            <a:spAutoFit/>
          </a:bodyPr>
          <a:lstStyle/>
          <a:p>
            <a:pPr>
              <a:spcBef>
                <a:spcPts val="0"/>
              </a:spcBef>
              <a:spcAft>
                <a:spcPts val="500"/>
              </a:spcAft>
              <a:defRPr sz="2900" b="1">
                <a:solidFill>
                  <a:srgbClr val="FFFFFF"/>
                </a:solidFill>
                <a:latin typeface="Arial"/>
              </a:defRPr>
            </a:pPr>
            <a:r>
              <a:t>Phát hiện. Hướng dẫn. Cứu hộ. Xác nhận.</a:t>
            </a:r>
          </a:p>
        </p:txBody>
      </p:sp>
      <p:sp xmlns:a="http://schemas.openxmlformats.org/drawingml/2006/main">
        <p:nvSpPr>
          <p:cNvPr id="7" name="TextBox 6"/>
          <p:cNvSpPr txBox="1"/>
          <p:nvPr/>
        </p:nvSpPr>
        <p:spPr>
          <a:xfrm>
            <a:off x="667512" y="4361688"/>
            <a:ext cx="10607040" cy="960120"/>
          </a:xfrm>
          <a:prstGeom prst="rect">
            <a:avLst/>
          </a:prstGeom>
          <a:noFill/>
        </p:spPr>
        <p:txBody>
          <a:bodyPr wrap="square" lIns="0" rIns="0" tIns="0" bIns="0">
            <a:spAutoFit/>
          </a:bodyPr>
          <a:lstStyle/>
          <a:p>
            <a:pPr>
              <a:spcBef>
                <a:spcPts val="0"/>
              </a:spcBef>
              <a:spcAft>
                <a:spcPts val="500"/>
              </a:spcAft>
              <a:defRPr sz="2500" b="0">
                <a:solidFill>
                  <a:srgbClr val="FFFFFF"/>
                </a:solidFill>
                <a:latin typeface="Arial"/>
              </a:defRPr>
            </a:pPr>
            <a:r>
              <a:t>Kết nối thiết bị với con người —</a:t>
            </a:r>
          </a:p>
          <a:p>
            <a:pPr>
              <a:spcBef>
                <a:spcPts val="0"/>
              </a:spcBef>
              <a:spcAft>
                <a:spcPts val="500"/>
              </a:spcAft>
              <a:defRPr sz="2500" b="0">
                <a:solidFill>
                  <a:srgbClr val="FFFFFF"/>
                </a:solidFill>
                <a:latin typeface="Arial"/>
              </a:defRPr>
            </a:pPr>
            <a:r>
              <a:t>và nhìn thấy người cần giúp, kể cả khi chưa có SOS.</a:t>
            </a:r>
          </a:p>
        </p:txBody>
      </p:sp>
      <p:sp xmlns:a="http://schemas.openxmlformats.org/drawingml/2006/main">
        <p:nvSpPr>
          <p:cNvPr id="8" name="TextBox 7"/>
          <p:cNvSpPr txBox="1"/>
          <p:nvPr/>
        </p:nvSpPr>
        <p:spPr>
          <a:xfrm>
            <a:off x="667512" y="6217920"/>
            <a:ext cx="10789920" cy="274320"/>
          </a:xfrm>
          <a:prstGeom prst="rect">
            <a:avLst/>
          </a:prstGeom>
          <a:noFill/>
        </p:spPr>
        <p:txBody>
          <a:bodyPr wrap="square" lIns="0" rIns="0" tIns="0" bIns="0">
            <a:spAutoFit/>
          </a:bodyPr>
          <a:lstStyle/>
          <a:p>
            <a:pPr>
              <a:spcBef>
                <a:spcPts val="0"/>
              </a:spcBef>
              <a:spcAft>
                <a:spcPts val="500"/>
              </a:spcAft>
              <a:defRPr sz="1200" b="1">
                <a:solidFill>
                  <a:srgbClr val="FFFFFF"/>
                </a:solidFill>
                <a:latin typeface="Arial"/>
              </a:defRPr>
            </a:pPr>
            <a:r>
              <a:t>CONNECTED SAFETY &amp; RESCUE  /  INTERNATIONAL  /  VI • EN • JA</a:t>
            </a:r>
          </a:p>
        </p:txBody>
      </p:sp>
    </p:spTree>
    <p:extLst>
      <p:ext uri="{BB962C8B-B14F-4D97-AF65-F5344CB8AC3E}">
        <p14:creationId xmlns:p14="http://schemas.microsoft.com/office/powerpoint/2010/main" val="337414566"/>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 DANH MỤC CHỨC NĂNG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Toàn bộ phạm vi, có mã để đối chiếu.</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Không chỉ là màn hình chính: gồm luồng nghiệp vụ, chức năng chi tiết và xử lý nền.</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41</a:t>
            </a:r>
          </a:p>
        </p:txBody>
      </p:sp>
      <p:sp xmlns:a="http://schemas.openxmlformats.org/drawingml/2006/main">
        <p:nvSpPr>
          <p:cNvPr id="35" name="Rounded Rectangle 34"/>
          <p:cNvSpPr/>
          <p:nvPr/>
        </p:nvSpPr>
        <p:spPr>
          <a:xfrm>
            <a:off x="68580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6" name="Rectangle 35"/>
          <p:cNvSpPr/>
          <p:nvPr/>
        </p:nvSpPr>
        <p:spPr>
          <a:xfrm>
            <a:off x="68580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7" name="TextBox 36"/>
          <p:cNvSpPr txBox="1"/>
          <p:nvPr/>
        </p:nvSpPr>
        <p:spPr>
          <a:xfrm>
            <a:off x="85039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33</a:t>
            </a:r>
          </a:p>
        </p:txBody>
      </p:sp>
      <p:sp xmlns:a="http://schemas.openxmlformats.org/drawingml/2006/main">
        <p:nvSpPr>
          <p:cNvPr id="38" name="TextBox 37"/>
          <p:cNvSpPr txBox="1"/>
          <p:nvPr/>
        </p:nvSpPr>
        <p:spPr>
          <a:xfrm>
            <a:off x="85039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LUỒNG NGHIỆP VỤ</a:t>
            </a:r>
          </a:p>
        </p:txBody>
      </p:sp>
      <p:sp xmlns:a="http://schemas.openxmlformats.org/drawingml/2006/main">
        <p:nvSpPr>
          <p:cNvPr id="39" name="Rounded Rectangle 38"/>
          <p:cNvSpPr/>
          <p:nvPr/>
        </p:nvSpPr>
        <p:spPr>
          <a:xfrm>
            <a:off x="438912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Rectangle 39"/>
          <p:cNvSpPr/>
          <p:nvPr/>
        </p:nvSpPr>
        <p:spPr>
          <a:xfrm>
            <a:off x="438912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1" name="TextBox 40"/>
          <p:cNvSpPr txBox="1"/>
          <p:nvPr/>
        </p:nvSpPr>
        <p:spPr>
          <a:xfrm>
            <a:off x="4553712"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233</a:t>
            </a:r>
          </a:p>
        </p:txBody>
      </p:sp>
      <p:sp xmlns:a="http://schemas.openxmlformats.org/drawingml/2006/main">
        <p:nvSpPr>
          <p:cNvPr id="42" name="TextBox 41"/>
          <p:cNvSpPr txBox="1"/>
          <p:nvPr/>
        </p:nvSpPr>
        <p:spPr>
          <a:xfrm>
            <a:off x="4553712"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CHỨC NĂNG THEO FR / MÀN HÌNH</a:t>
            </a:r>
          </a:p>
        </p:txBody>
      </p:sp>
      <p:sp xmlns:a="http://schemas.openxmlformats.org/drawingml/2006/main">
        <p:nvSpPr>
          <p:cNvPr id="43" name="Rounded Rectangle 42"/>
          <p:cNvSpPr/>
          <p:nvPr/>
        </p:nvSpPr>
        <p:spPr>
          <a:xfrm>
            <a:off x="8092440" y="2148840"/>
            <a:ext cx="3474720" cy="1645920"/>
          </a:xfrm>
          <a:prstGeom prst="roundRect">
            <a:avLst>
              <a:gd name="adj" fmla="val 6000"/>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Rectangle 43"/>
          <p:cNvSpPr/>
          <p:nvPr/>
        </p:nvSpPr>
        <p:spPr>
          <a:xfrm>
            <a:off x="8092440" y="2148840"/>
            <a:ext cx="50292" cy="1645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5" name="TextBox 44"/>
          <p:cNvSpPr txBox="1"/>
          <p:nvPr/>
        </p:nvSpPr>
        <p:spPr>
          <a:xfrm>
            <a:off x="8257031" y="2304288"/>
            <a:ext cx="3145536" cy="484632"/>
          </a:xfrm>
          <a:prstGeom prst="rect">
            <a:avLst/>
          </a:prstGeom>
          <a:noFill/>
        </p:spPr>
        <p:txBody>
          <a:bodyPr wrap="square" lIns="0" rIns="0" tIns="0" bIns="0">
            <a:spAutoFit/>
          </a:bodyPr>
          <a:lstStyle/>
          <a:p>
            <a:pPr>
              <a:spcBef>
                <a:spcPts val="0"/>
              </a:spcBef>
              <a:spcAft>
                <a:spcPts val="500"/>
              </a:spcAft>
              <a:defRPr sz="1800" b="1">
                <a:solidFill>
                  <a:srgbClr val="C8102E"/>
                </a:solidFill>
                <a:latin typeface="Arial"/>
              </a:defRPr>
            </a:pPr>
            <a:r>
              <a:t>261</a:t>
            </a:r>
          </a:p>
        </p:txBody>
      </p:sp>
      <p:sp xmlns:a="http://schemas.openxmlformats.org/drawingml/2006/main">
        <p:nvSpPr>
          <p:cNvPr id="46" name="TextBox 45"/>
          <p:cNvSpPr txBox="1"/>
          <p:nvPr/>
        </p:nvSpPr>
        <p:spPr>
          <a:xfrm>
            <a:off x="8257031" y="2944368"/>
            <a:ext cx="3145536" cy="749808"/>
          </a:xfrm>
          <a:prstGeom prst="rect">
            <a:avLst/>
          </a:prstGeom>
          <a:noFill/>
        </p:spPr>
        <p:txBody>
          <a:bodyPr wrap="square" lIns="0" rIns="0" tIns="0" bIns="0">
            <a:spAutoFit/>
          </a:bodyPr>
          <a:lstStyle/>
          <a:p>
            <a:pPr>
              <a:spcBef>
                <a:spcPts val="0"/>
              </a:spcBef>
              <a:spcAft>
                <a:spcPts val="500"/>
              </a:spcAft>
              <a:defRPr sz="1600" b="0">
                <a:solidFill>
                  <a:srgbClr val="20252B"/>
                </a:solidFill>
                <a:latin typeface="Arial"/>
              </a:defRPr>
            </a:pPr>
            <a:r>
              <a:t>YÊU CẦU NỀN / HỆ THỐNG</a:t>
            </a:r>
          </a:p>
        </p:txBody>
      </p:sp>
      <p:sp xmlns:a="http://schemas.openxmlformats.org/drawingml/2006/main">
        <p:nvSpPr>
          <p:cNvPr id="47" name="TextBox 46"/>
          <p:cNvSpPr txBox="1"/>
          <p:nvPr/>
        </p:nvSpPr>
        <p:spPr>
          <a:xfrm>
            <a:off x="822960" y="4251960"/>
            <a:ext cx="10607040" cy="1234440"/>
          </a:xfrm>
          <a:prstGeom prst="rect">
            <a:avLst/>
          </a:prstGeom>
          <a:noFill/>
        </p:spPr>
        <p:txBody>
          <a:bodyPr wrap="square" lIns="0" rIns="0" tIns="0" bIns="0">
            <a:spAutoFit/>
          </a:bodyPr>
          <a:lstStyle/>
          <a:p>
            <a:pPr>
              <a:spcBef>
                <a:spcPts val="0"/>
              </a:spcBef>
              <a:spcAft>
                <a:spcPts val="500"/>
              </a:spcAft>
              <a:defRPr sz="2000" b="0">
                <a:solidFill>
                  <a:srgbClr val="20252B"/>
                </a:solidFill>
                <a:latin typeface="Arial"/>
              </a:defRPr>
            </a:pPr>
            <a:r>
              <a:t>A · Luồng đầu-cuối</a:t>
            </a:r>
          </a:p>
          <a:p>
            <a:pPr>
              <a:spcBef>
                <a:spcPts val="0"/>
              </a:spcBef>
              <a:spcAft>
                <a:spcPts val="500"/>
              </a:spcAft>
              <a:defRPr sz="2000" b="0">
                <a:solidFill>
                  <a:srgbClr val="20252B"/>
                </a:solidFill>
                <a:latin typeface="Arial"/>
              </a:defRPr>
            </a:pPr>
            <a:r>
              <a:t>B · Toàn bộ chức năng chi tiết, chia theo phân hệ</a:t>
            </a:r>
          </a:p>
          <a:p>
            <a:pPr>
              <a:spcBef>
                <a:spcPts val="0"/>
              </a:spcBef>
              <a:spcAft>
                <a:spcPts val="500"/>
              </a:spcAft>
              <a:defRPr sz="2000" b="0">
                <a:solidFill>
                  <a:srgbClr val="20252B"/>
                </a:solidFill>
                <a:latin typeface="Arial"/>
              </a:defRPr>
            </a:pPr>
            <a:r>
              <a:t>C · Xử lý nền, tích hợp, kiểm soát và yêu cầu chất lượng</a:t>
            </a:r>
          </a:p>
        </p:txBody>
      </p:sp>
    </p:spTree>
    <p:extLst>
      <p:ext uri="{BB962C8B-B14F-4D97-AF65-F5344CB8AC3E}">
        <p14:creationId xmlns:p14="http://schemas.microsoft.com/office/powerpoint/2010/main" val="198995366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1/7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lập tenant/region, SSO/MFA, invitation và workspace, chống lộ tài khoản.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site/tầng/zone, sơ đồ có duyệt và vị trí kèm chất lượng.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event đa nguồn bền vững, xác thực tenant/source, dedupe và quarantine.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Review evidence, tạo/liên kết/tách incident giữ audit và trách nhiệm.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Gửi SOS theo nhu cầu, vị trí thủ công, pending offline và hủy có review.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2/7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Check-in possible fall với server timer và chuyển cấp khi không phản hồi.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Báo/điều phối tai nạn theo vị trí, hướng đường và thương tích chưa rõ.</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CAP/thiên tai đúng issuer, mode, polygon, lineage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và duyệt warning đúng version nội dung/audience/ngôn ngữ.</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delivery từng kênh, callback, retry/fallback và escalation.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3/7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công đội đủ khả năng, nhận atomically, cập nhật và bàn giao task.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17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Ghi trạng thái cá nhân có nguồn, chia sẻ nhóm/liên hệ theo consent.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12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shelter và guidance đã duyệt, offline pack có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Enroll/chứng chỉ thiết bị, health, bảo trì/calibration và coverage gap.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thiết bị theo capability/interlock/TTL và bằng chứng kết quả.</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4/7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Lập/duyệt nhiệm vụ drone, pilot authority, telemetry và lost-link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connector từ manifest, sandbox tới activate/rotate/deprecate.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14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Đa locale/timezone, residency và danh bạ emergency theo site/quốc gia.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Retention, legal hold, export/delete đúng scope và audit bất biến.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11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Đóng incident, analytics, cải tiến, drill cách ly và bàn giao ca.</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30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5/7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PA cho người không smartphone: duyệt vùng/nội dung, playback, live và fallback.</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9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navigation từng chặng theo graph/hazard/accessibility, reroute và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10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Hợp nhất định vị có uncertainty, phân biệt presence và đăng ký.</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Tối ưu tuyến khả thi với hard constraints, capacity và cohort balancing.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tóm tắt grounded, đối chiếu SOP và draft; con người duyệt, không actuation.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4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6/7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lý profile trợ giúp, caregiver authority, emergency subset và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7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Chủ động tìm/ưu tiên người cần hỗ trợ trước SOS bằng presence và evidence.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Ràng buộc model/firmware/capability, mapping point/zone và cause-effect.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6 màn hình</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tín hiệu vật lý có provenance/freshness, bảo vệ cục bộ độc lập.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Duyệt/thi hành lệnh có thẩm quyền, đối soát UNKNOWN và local takeover.</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5 màn hình</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A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Luồng nghiệp vụ xuyên hệ thống  |  7/7</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Impairment/test cách ly, biện pháp bù và khôi phục có xác minh.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2 màn hình</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tương thích/chứng nhận, FAT/SAT và cổng bật capability theo cấu hình.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3 màn hình</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WF-33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Giao nhiệm vụ robot/water-monitor có operator, giới hạn và kết quả xác minh.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1 màn hình</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Truy cập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vùng và ngôn ngữ: Chọn vùng và ngôn ngữ để bắt đầu đăng nhập.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nhập: Đăng nhập bằng passkey hoặc SSO của tổ chức.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danh tính: Xác minh phiên đăng nhập bằng phương thức được cấp.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không gian làm việc: Chọn tổ chức và vào phạm vi điều hành được phép.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Khôi phục truy cập: Gửi liên kết phục hồi mà không tiết lộ tài khoản tồn tại.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Truy cập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Chấp nhận lời mời: Kiểm tra tổ chức/vai trò và chấp nhận lời mời còn hạn.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truy cập và đồng ý: Lưu lựa chọn thông báo, vị trí, camera và chia sẻ.</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Phiên và thiết bị đăng nhập: Xem phiên/thiết bị có quyền và chọn phiên cần thu hồi.</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 hồi phiên đăng nhập: Thu hồi phiên thiết bị đã chọn, yêu cầu đăng nhập lại.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FR-A10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và khả năng tiếp cận: Lưu ngôn ngữ, cỡ chữ, giảm chuyển động và múi giờ.</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An toàn của bạn: Mở cảnh báo đang hoạt động từ tổng quan cá nhân.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cảnh báo: Xem nguồn, mức độ và chỉ dẫn của cảnh báo.</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sơ tán: Xem sơ đồ được duyệt hoặc yêu cầu hỗ trợ sơ tán.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Hướng dẫn bằng giọng nói: Nghe/đọc cùng chỉ dẫn và quay lại sơ đồ.</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Chọn loại trợ giúp: Chọn loại trợ giúp trước khi bổ sung vị trí.</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Vị trí và nội dung SOS: Nhập vị trí, số người và ghi chú rồi xem lại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nhận gửi SOS: Xác nhận phạm vi chia sẻ và gửi SOS tới đơn vị nhận.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yêu cầu trợ giúp: Theo dõi biên nhận, ACK, phân công và liên hệ đội.</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Trao đổi với đội ứng cứu: Trao đổi tin nhắn sự cố với đội ứng cứu được giao.</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hoặc đề nghị hủy SOS: Cập nhật hoặc yêu cầu hủy SOS để operator xem xét.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trạng thái an toàn: Tự báo trạng thái an toàn và chọn phạm vi chia sẻ.</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nhận báo an toàn: Xem biên nhận báo an toàn và kết quả gửi nhóm/liên hệ.</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Hộp thông báo: Mở thông báo và phân biệt đã gửi, nhận, đọc.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Nguy cơ gần bạn: Xem nguy cơ lân cận theo nguồn và khoảng cách.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tin thiên tai: Đọc cảnh báo thiên tai và tìm điểm hỗ trợ.</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Nơi trú ẩn và điểm tập kết: Tìm shelter/điểm tập kết theo trạng thái và accessibility.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nơi trú ẩn: Xem sức chứa/địa chỉ và lưu shelter dùng offline.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tin an toàn ngoại tuyến: Đọc sơ đồ, liên hệ, chỉ dẫn đã cache kèm revision.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nhóm của tôi: Mở nhóm được đăng ký nhận cập nhật an toàn.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Trò chuyện trong nhóm: Trao đổi trong nhóm và xem trạng thái thành viên.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Tạo hoặc sửa nhóm: Lưu thành viên, cách mời và quy tắc chia sẻ nhóm.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thành viên: Xem trạng thái có nguồn và gửi yêu cầu check-in.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Liên hệ khẩn cấp: Lưu liên hệ khẩn cấp, kênh và phạm vi thông tin.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Chăm sóc và phát hiện té ngã: Cấu hình detector té ngã được hỗ trợ và thử cảnh báo.</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sau nghi ngờ té ngã: Phản hồi check-in té ngã hoặc yêu cầu trợ giúp ngay.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sự cố giao thông: Báo vị trí, hướng đường và thông tin tai nạn chưa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Yêu cầu trợ giúp kín đáo: Gửi yêu cầu kín đáo qua giao diện yên lặng.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sử yêu cầu: Xem lịch sử báo cáo và mở yêu cầu trợ giúp.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riêng tư và dữ liệu: Điều chỉnh chia sẻ tùy chọn và yêu cầu dữ liệu.</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nhận yêu cầu dữ liệu: Xem biên nhận yêu cầu dữ liệu, không coi đã xử lý xong.</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Thành viên và lời mời nhóm: Quản lý membership và lời mời nhóm.</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Mời thành viên nhóm: Tạo lời mời người tin cậy vào nhóm.</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cáo hoặc chặn hội thoại: Báo cáo hoặc chặn liên lạc xã hội không mong muốn.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Tùy chọn thông báo: Lưu kênh thông báo và giờ yên lặng.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Dẫn đường thoát hiểm bằng giọng nói: Theo dõi từng chặng hướng dẫn voice đã review.</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Người dân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Chặng dẫn đường và phương hướng: Đọc mốc định hướng và phát lại chỉ dẫn.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Thông báo thay đổi tuyến: Thông báo tuyến cũ bị rút và xem tuyến mới.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Chưa rõ vị trí hoặc không có tuyến: Hiện vị trí/route chưa xác minh và yêu cầu trợ giúp.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FR-C39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 chuyển khỏi vùng nguy hiểm: Theo hướng dẫn ngoài trời tránh vùng hạn chế.</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FR-C40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Ngôn ngữ và tùy chọn giọng đọc: Lưu ngôn ngữ/cách nhận voice guidance.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 trực và trạng thái sẵn sàng: Khai báo ca trực/sẵn sàng và xem nhiệm vụ.</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được giao: Mở nhiệm vụ được đề nghị cho đội.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Tiếp nhận nhiệm vụ: Nhận hoặc từ chối nhiệm vụ theo version hiện hành.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Đường tiếp cận và đến nơi: Xem lối tiếp cận và báo đã đến hiện trường.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Tình hình hiện trường: Xem bối cảnh hiện trường và hồ sơ cần trợ giúp.</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hỗ trợ tại hiện trường: Ghi quan sát hỗ trợ/triage, không suy thành chẩn đoán.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và bàn giao nhiệm vụ: Cập nhật nhiệm vụ và gửi hồ sơ bàn giao.</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Hoàn tất nhiệm vụ: Xem hoàn tất nhiệm vụ rồi trở về ca trực.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Trao đổi trong đội: Trao đổi qua kênh liên lạc đội theo sự cố.</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Ghi nhận bằng chứng: Đính kèm bằng chứng quan sát và đưa vào outbox.</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Lực lượng cứu hộ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Dữ liệu chờ đồng bộ: Xem cập nhật chờ sync và xử lý xung đột.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FR-R12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xung đột đồng bộ: Giữ ghi chú hiện trường, tải lại trạng thái phân công.</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1/8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điều hành: Mở sự cố ưu tiên từ tổng quan điều hành.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 đồ tình hình: Xem bản đồ sự cố trong region được cấp quyền.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Hàng đợi xác minh tín hiệu: Phân loại tín hiệu và mở bằng chứng để kiểm tra.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gian xử lý sự cố: Điều hành một incident với evidence, người và dispatch.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bằng chứng: Kiểm bằng chứng camera/cảm biến trước lập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2/8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Tạo sự cố: Lập incident với hazard, vị trí và owner.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Liên kết hoặc tách sự cố: Liên kết/tách báo cáo trùng, giữ bằng chứng và audit.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Bảng điều phối: Chọn đội theo khả năng, sẵn sàng và quyền site.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công đội ứng cứu: Xác nhận giao nhiệm vụ và owner chịu trách nhiệm.</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Dòng thời gian ứng cứu: Xem timeline quyết định và kiểm trạng thái con người.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3/8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trạng thái con người: Phân biệt người có báo cáo với người chưa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yêu cầu hỗ trợ: Xem nhu cầu cá nhân và phân công trợ giúp.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cảnh báo: Soạn cảnh báo có incident, nội dung, vùng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Xem trước nội dung và người nhận: Xem trước thông điệp/audience và gửi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cảnh báo: Duyệt độc lập đúng version cảnh báo và audience.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4/8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Gửi tin và chuyển cấp: Theo dõi từng kênh gửi, ACK và chuyển cấp.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gửi tin thất bại: Xem lỗi gửi và lập fallback theo policy.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lệnh thiết bị: Duyệt hành động thiết bị theo capability/interlock.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thực thi lệnh: Đọc bằng chứng controller, giữ unknown nếu thiếu feedback.</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trước khi đóng sự cố: Kiểm SOS/task/người chưa rõ trước đóng incident.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5/8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Đánh giá sau sự cố: Đánh giá sau sự cố và tạo việc cải tiến.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Hành động cải tiến: Giao owner, hạn và nội dung cho việc cải tiến.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lịch diễn tập: Lập lịch diễn tập tách người nhận thật.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hành diễn tập: Điều hành bài diễn tập và xem báo cáo kết quả.</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Bàn giao ca trực: Bàn giao trách nhiệm vận hành có người nhận.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6/8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Vận hành nơi trú ẩn: Xem trạng thái/sức chứa shelter và cập nhật.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nơi trú ẩn: Công bố trạng thái shelter có thời điểm/hiệu lực.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Nguồn cảnh báo thiên tai: Xem feed thiên tai từ nguồn được cho phép.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FR-O29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thông điệp CAP: Kiểm CAP và tạo phản ứng cục bộ, giữ context nguồn.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Tìm kiếm và lịch sử kiểm toán: Tìm event/audit mà không sửa lịch sử.</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7/8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Lưu trữ và mở lại sự cố: Xem incident đã đóng và lịch sử trước reopen.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Mở lại sự cố: Mở lại incident với lý do được ghi nhận.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Chia sẻ sự cố liên tổ chức: Chia sẻ projection incident theo thỏa thuận.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Hàng đợi hỗ trợ tiếp cận: Phân đội đủ khả năng theo nhu cầu accessibility.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nguy hiểm và hạn chế di chuyển: Công bố hạn chế di chuyển có thời hạn.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Trung tâm điều hành  |  8/8</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69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FR-O36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phối hướng dẫn và biên nhận: Đối chiếu guidance version/receipt app và loa.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địa điểm: Tìm site trong mô hình vị trí dùng chung.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Cấu trúc địa điểm: Xem cây site/building/floor/zone và chọn vị trí.</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Chỉnh sửa vị trí: Lưu vị trí gắn tenant, tọa độ và cấu trúc vật lý.</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sơ đồ tầng: Biên tập sơ đồ có exits/accessibility để gửi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và phiên bản sơ đồ: Duyệt và xuất bản revision sơ đồ có truy vết.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thiết bị: Xem inventory thiết bị và mở health detail.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và sức khỏe thiết bị: Xem health, source binding và cấu hình thiết bị.</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ký thiết bị: Enroll thiết bị vào tenant bằng token/chứng chỉ.</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camera: Xem camera được chọn và mở evidence phát hiện.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và hiệu chuẩn: Lập bảo trì/calibration và hiển thị vùng thiếu bảo vệ.</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Thư viện quy tắc: Chọn rule phát hiện theo hazard/site để sửa.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và mô phỏng quy tắc: Mô phỏng rule trên event đã ghi trước khi duyệt.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thử và duyệt quy tắc: Kiểm kết quả test và trả rule cần sửa.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mô hình AI: Theo dõi detector/model theo site và queue review.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mạng lưới thoát hiểm: Biên tập graph tuyến indoor/outdoor có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Công trình và bản đồ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FR-S16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Mô phỏng và phê duyệt tuyến: Thử hazard/accessibility/uncertainty trước duyệt graph.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kết nối: Chọn connector theo capability khai báo.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lập kết nối: Cấu hình kết nối có scope và kiểm tra.</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dữ liệu: Ánh xạ schema nguồn sang event có version.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thử kết nối: Chạy contract tests trước kích hoạt connector.</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các kết nối: Theo dõi transport/processing và dead letters.</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lỗi và phát lại sự kiện: Kiểm lỗi, replay event giữ ID gốc và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client và phạm vi quyền: Cấp API client đúng scope cần thiết.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Đăng ký webhook: Đăng ký webhook lọc sự kiện và gửi payload test.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Thỏa thuận trao đổi dữ liệu: Lập thỏa thuận chia sẻ xuyên tổ chức.</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sử trao đổi IOC: Kiểm payload và lịch sử đối tác thực nhận.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Tích hợp thiết bị và hệ thống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Đội drone: Xem đội drone/health và lập nhiệm vụ.</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nhiệm vụ drone: Lập mục đích, vùng bay, pilot và điều kiện nhiệm vụ.</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trước bay và phê duyệt: Kiểm preflight/clearance trước duyệt, pilot giữ quyền.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Theo dõi nhiệm vụ drone: Theo dõi telemetry/media drone và độ mới.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FR-I15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nhiệm vụ drone: Giữ hồ sơ/bằng chứng nhiệm vụ drone.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tổ chức: Xem tenant và quản trị tổ chức/region.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 chức và vùng dữ liệu: Thiết lập residency, locale và mặc định tổ chức.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dùng và lời mời: Quản lý user, invitation và membership.</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Vai trò và phạm vi quyền: Lưu role/site scope, tách nhiệm vụ vận hành.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Lịch trực và chuyển cấp: Cấu hình on-call và chuyển cấp khi thiếu ACK.</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Mẫu nội dung và ngôn ngữ: Quản lý template được duyệt theo ngôn ngữ.</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loại nguy cơ và quy trình: Biên tập taxonomy hazard và playbook bản nháp.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quy trình: Duyệt và công bố trình tự playbook.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Lưu trữ và bảo toàn pháp lý: Lập retention/hold theo class và region.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Xử lý yêu cầu quyền riêng tư: Kiểm danh tính/scope/ngoại lệ yêu cầu privacy.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79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Bản ghi kiểm toán: Đọc audit bất biến có actor/object/version/reason.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dịch vụ và khôi phục: Giám sát service suy giảm và mở recovery runbook.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 trình khôi phục: Ghi kết quả diễn tập phục hồi dữ liệu region.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Sử dụng và gói dịch vụ: Xem usage/subscription và policy năng lực.</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Dung lượng và giới hạn: Lập quota bảo vệ traffic khẩn cấp khi tải đột biến.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tổ chức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tích và xuất báo cáo: Đo response với denominator rõ và xuất báo cáo.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FR-T17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lịch báo cáo: Lập lịch gửi báo cáo tới người đủ quyền.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Trạng thái và xử lý ngoại lệ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Mất mạng · SOS chưa gửi: Hiện SOS chưa tới server và mở outbox.</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quyền vị trí: Cho nhập vị trí bằng tay khi thiếu permission.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sự cố đang mở: Phân biệt không có incident với health thiết bị.</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quyền truy cập: Không lộ record ngoài scope; chọn lại workspace.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Dịch vụ tạm gián đoạn: Hiện service unavailable và mở gói offline.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Trạng thái và xử lý ngoại lệ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Thay đổi chưa lưu và xung đột: Giữ draft và so phiên bản khi có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kết quả tìm kiếm: Hiện không có kết quả và reset bộ lọc.</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Phiên đăng nhập hết hạn: Yêu cầu đăng nhập lại khi phiên hết hạn.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Đang tải và dữ liệu cũ: Hiện loading/stale mà không giả dữ liệu mới.</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FR-X10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Tệp đính kèm bị từ chối: Giải thích attachment bị từ chối và chọn lại.</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Vận hành các vùng dữ liệu: Xem vận hành các production cell độc lập.</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regional cell: Kiểm cell region và mức sẵn sàng recovery.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Diễn tập khôi phục thảm họa: Ghi bằng chứng diễn tập disaster recovery.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khôi phục: Xác minh dữ liệu/writer ownership trước đổi routing.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Khởi tạo tổ chức: Lập kế hoạch provision boundary tenant production.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tổ chức: Quản lý lifecycle tenant và yêu cầu support access.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Truy cập hỗ trợ có thời hạn: Yêu cầu support scope nhỏ nhất với thời hạn.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Duyệt quyền hỗ trợ: Duyệt session support có scope và expiry.</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Phát hành và tương thích schema: Kiểm release với API/schema compatibility.</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Cổng phát hành và rollback: Ghi quyết định promotion/rollback theo release gate.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Quản trị nền tảng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Sự cố an ninh nền tảng: Theo dõi incident an ninh nền tảng.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FR-G12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an ninh và cô lập: Contain nguồn sự cố mà không che coverage gap.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Nhà phát triển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gian nhà phát triển: Mở workspace phát triển theo contract rõ.</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Khám phá API: Thử API trong sandbox, không tác động production.</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quả yêu cầu sandbox: Đọc đầy đủ request receipt và mở schema.</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schema: Theo dõi schema/version trước nâng cấp.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manifest kết nối: Khai báo manifest capability để kiểm conformance.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Nhà phát triển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tính tương thích: Kiểm adapter dưới lỗi trước duyệt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Truy vết gửi webhook: Theo dấu từng attempt webhook.</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FR-D08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Luân chuyển thông tin xác thực: Yêu cầu rotate credential không lộ secret.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TextBox 49"/>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Ngôn ngữ và bản địa hóa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Mức độ hoàn thiện ngôn ngữ: Theo dõi coverage Việt/Anh/Nhật và bản thiếu.</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Biên tập bản dịch: Biên tập bản dịch message có version để review.</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bản dịch: Duyệt thuật ngữ và ý nghĩa khẩn cấp bản dịch.</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Giọng đọc và phát âm: Lưu voice/pronunciation khớp text đã duyệt.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 tắc ngôn ngữ dự phòng: Lập fallback policy làm rõ bản dịch thiếu.</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Ngôn ngữ và bản địa hóa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89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FR-L06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Thuật ngữ khẩn cấp: Quản lý thuật ngữ khẩn cấp nhất quán đa kênh.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Loa và hướng dẫn giọng nói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Vùng loa và độ bao phủ: Chọn vùng loa và xem khoảng trống coverage.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Soạn thông báo cứu hộ: Soạn nội dung cứu hộ cho đúng vùng/ngôn ngữ.</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Nghe thử và duyệt thông báo: Duyệt message, vùng và hành vi playback.</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phát loa: Giám sát playback riêng với command receipt.</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loa và tự kiểm tra: Kiểm speaker self-test và chuyển fallback coverage.</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Loa và hướng dẫn giọng nói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Micro cứu hộ trực tiếp: Review live session microphone cho vùng được duyệt.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Loa trên drone hoặc phương tiện: Phối hợp loa drone/xe với nhiệm vụ được duyệt.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Thư viện âm thanh và duyệt TTS: Quản lý audio/TTS đã review theo ngôn ngữ.</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và điều phối phát loa: Lập priority/zone arbitration tránh phát chồng.</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1/3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hỗ trợ cứu hộ của tôi: Ghi nhu cầu hỗ trợ cứu hộ và xem sharing.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Chia sẻ thông tin hỗ trợ và sức khỏe: Chọn subset health/assistance chia sẻ khẩn cấp.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chăm sóc được ủy quyền: Xem quan hệ caregiver và phạm vi quyền.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Xác minh quyền người chăm sóc: Xác minh authority trước cấp quan hệ theo scope.</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người được chăm sóc: Xem kế hoạch hỗ trợ người phụ thuộc.</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2/3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Cập nhật và kiểm tra hồ sơ: Cập nhật/review profile theo nguồn và version.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người cần hỗ trợ: Tìm người có thể cần chủ động trợ giúp.</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Chủ động ưu tiên cứu hộ: Xếp queue cứu hộ trước SOS với reason/evidence.</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Căn cứ ưu tiên và quyết định: Xem lý do priority và phân công trợ giúp.</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Hiện diện và kiểm đếm: Phân biệt presence thực ghi nhận và đăng ký.</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Hồ sơ hỗ trợ và cứu hộ  |  3/3</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y tế hạn chế truy cập: Đọc emergency medical subset có audit/scope.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FR-H12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quả chủ động kiểm tra: Ghi kết quả welfare check kể cả chưa có SOS.</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TextBox 45"/>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Phân tích và AI  |  1/2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Sức khỏe nguồn định vị: Giám sát nguồn định vị và chất lượng.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Chất lượng và lịch sử vị trí: Xem lịch sử vị trí, uncertainty và assistance context.</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Hiệu chuẩn định vị trong nhà: Hiệu chuẩn anchor với floor plan có revision.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Tối ưu phương án thoát hiểm: So sánh phương án sơ tán khả thi dưới constraints.</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 sánh và chọn tuyến: Duyệt trade-off tuyến và công bố guidance version.</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Phân tích và AI  |  2/2</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Trợ lý AI xử lý sự cố: Tóm tắt AI có nguồn, cutoff và uncertainty.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Bằng chứng và duyệt đề xuất AI: Review evidence/đề xuất AI trước quyết định.</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Chính sách AI và đánh giá mô hình: Đánh giá model/policy bằng scenario và metric.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Quản trị triển khai AI: Quản trị phiên bản model/prompt đã review.</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FR-Q10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Mô phỏng dòng người và kịch bản: Mô phỏng crowd/chiến lược, không khẳng định thực địa.</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1/4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Tổng quan hệ thống vật lý: Giám sát controller/vùng và freshness, không gộp stale thành an toàn.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mục bộ điều khiển: Kiểm inventory đúng model/firmware/site; discovery không cấp quyền ghi.</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khả năng bộ điều khiển: Đối chiếu capability; thiếu tài liệu giữ chỉ đọc.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điểm tín hiệu: Ánh xạ point, cực tính và ý nghĩa theo dây/test chứng kiến.</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Ánh xạ vùng vật lý: Ánh xạ zone đúng tầng/tenant và revision sơ đồ.</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2/4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 trận nguyên nhân–tác động: Review cause-and-effect được site duyệt trước thay đổi.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Chi tiết sự kiện vật lý: Giữ source sequence, alarm/trouble/test và incident linkage.</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Trạng thái nước chữa cháy: Tách pump/pressure/valve/flow và khả năng cấp nước.</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FR-F09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Xem xét kích hoạt có kiểm soát: Review release có phép site, capability và interlock đã xác minh.</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lệnh thiết bị: Duyệt độc lập đúng digest/target/operation/expiry.</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3/4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99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FR-F11</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Phản hồi thực thi: Tách ACK và phản hồi vật lý; thiếu feedback thành UNKNOWN.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FR-F12</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Đối soát kết quả chưa rõ: Đối soát bằng readback/quan sát, không retry release mù.</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FR-F13</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cục bộ và bàn giao: Thu hồi remote lease khi local override; bàn giao có xác nhận.</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FR-F14</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Suy giảm và chế độ kiểm thử: Lập impairment/test permit, cách ly và biện pháp bù.</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FR-F15</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 hoạch nghiệm thu: Khóa cấu hình và kế hoạch FAT/SAT có witness/abort.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B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Hệ thống bảo vệ vật lý  |  4/4</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FR-F16</a:t>
            </a:r>
          </a:p>
        </p:txBody>
      </p:sp>
      <p:sp xmlns:a="http://schemas.openxmlformats.org/drawingml/2006/main">
        <p:nvSpPr>
          <p:cNvPr id="40" name="TextBox 39"/>
          <p:cNvSpPr txBox="1"/>
          <p:nvPr/>
        </p:nvSpPr>
        <p:spPr>
          <a:xfrm>
            <a:off x="2011680" y="2331720"/>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Bằng chứng lần kiểm thử: Ghi expected/observed độc lập và bằng chứng từng test.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2953512"/>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07238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FR-F17</a:t>
            </a:r>
          </a:p>
        </p:txBody>
      </p:sp>
      <p:sp xmlns:a="http://schemas.openxmlformats.org/drawingml/2006/main">
        <p:nvSpPr>
          <p:cNvPr id="44" name="TextBox 43"/>
          <p:cNvSpPr txBox="1"/>
          <p:nvPr/>
        </p:nvSpPr>
        <p:spPr>
          <a:xfrm>
            <a:off x="2011680" y="3044952"/>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Hồ sơ tương thích và chứng nhận: Đối chiếu certificate/BOM/firmware/SAT trước bật capability.</a:t>
            </a:r>
          </a:p>
        </p:txBody>
      </p:sp>
      <p:sp xmlns:a="http://schemas.openxmlformats.org/drawingml/2006/main">
        <p:nvSpPr>
          <p:cNvPr id="45" name="TextBox 44"/>
          <p:cNvSpPr txBox="1"/>
          <p:nvPr/>
        </p:nvSpPr>
        <p:spPr>
          <a:xfrm>
            <a:off x="10287000" y="306324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3666744"/>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3785615"/>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FR-F18</a:t>
            </a:r>
          </a:p>
        </p:txBody>
      </p:sp>
      <p:sp xmlns:a="http://schemas.openxmlformats.org/drawingml/2006/main">
        <p:nvSpPr>
          <p:cNvPr id="48" name="TextBox 47"/>
          <p:cNvSpPr txBox="1"/>
          <p:nvPr/>
        </p:nvSpPr>
        <p:spPr>
          <a:xfrm>
            <a:off x="2011680" y="3758183"/>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và khôi phục: Xác minh khôi phục vật lý và site duyệt trước xóa impairment.</a:t>
            </a:r>
          </a:p>
        </p:txBody>
      </p:sp>
      <p:sp xmlns:a="http://schemas.openxmlformats.org/drawingml/2006/main">
        <p:nvSpPr>
          <p:cNvPr id="49" name="TextBox 48"/>
          <p:cNvSpPr txBox="1"/>
          <p:nvPr/>
        </p:nvSpPr>
        <p:spPr>
          <a:xfrm>
            <a:off x="10287000" y="377647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379976"/>
            <a:ext cx="10817352"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449884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FR-F19</a:t>
            </a:r>
          </a:p>
        </p:txBody>
      </p:sp>
      <p:sp xmlns:a="http://schemas.openxmlformats.org/drawingml/2006/main">
        <p:nvSpPr>
          <p:cNvPr id="52" name="TextBox 51"/>
          <p:cNvSpPr txBox="1"/>
          <p:nvPr/>
        </p:nvSpPr>
        <p:spPr>
          <a:xfrm>
            <a:off x="2011680" y="4471416"/>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thiết bị cứu hộ: Giao robot cho operator đủ năng lực; API chưa rõ không điều khiển cloud.</a:t>
            </a:r>
          </a:p>
        </p:txBody>
      </p:sp>
      <p:sp xmlns:a="http://schemas.openxmlformats.org/drawingml/2006/main">
        <p:nvSpPr>
          <p:cNvPr id="53" name="TextBox 52"/>
          <p:cNvSpPr txBox="1"/>
          <p:nvPr/>
        </p:nvSpPr>
        <p:spPr>
          <a:xfrm>
            <a:off x="10287000" y="448970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Rectangle 53"/>
          <p:cNvSpPr/>
          <p:nvPr/>
        </p:nvSpPr>
        <p:spPr>
          <a:xfrm>
            <a:off x="694944" y="5093208"/>
            <a:ext cx="10817352" cy="64008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5" name="TextBox 54"/>
          <p:cNvSpPr txBox="1"/>
          <p:nvPr/>
        </p:nvSpPr>
        <p:spPr>
          <a:xfrm>
            <a:off x="822960" y="5212080"/>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FR-F20</a:t>
            </a:r>
          </a:p>
        </p:txBody>
      </p:sp>
      <p:sp xmlns:a="http://schemas.openxmlformats.org/drawingml/2006/main">
        <p:nvSpPr>
          <p:cNvPr id="56" name="TextBox 55"/>
          <p:cNvSpPr txBox="1"/>
          <p:nvPr/>
        </p:nvSpPr>
        <p:spPr>
          <a:xfrm>
            <a:off x="2011680" y="5184648"/>
            <a:ext cx="8028431" cy="49377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Kết nối hệ thống vật lý: Onboard connector chỉ đọc, vault credential và capability ký duyệt.</a:t>
            </a:r>
          </a:p>
        </p:txBody>
      </p:sp>
      <p:sp xmlns:a="http://schemas.openxmlformats.org/drawingml/2006/main">
        <p:nvSpPr>
          <p:cNvPr id="57" name="TextBox 56"/>
          <p:cNvSpPr txBox="1"/>
          <p:nvPr/>
        </p:nvSpPr>
        <p:spPr>
          <a:xfrm>
            <a:off x="10287000" y="5202936"/>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8" name="TextBox 57"/>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Signal/Event: quan sát từ nguồn, immutable; có observed_at và received_at.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hồ sơ vận hành tập hợp bằng chứng, có severity và owner.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yêu cầu trợ giúp theo người/nhóm, có trạng thái riêng và có thể liên kết incident.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thông điệp phát hành theo version và audience.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Delivery: một lần gửi qua một kênh.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nhiệm vụ của đơn vị.</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Personal status: lời khai/trạng thái có nguồn, không phải suy luận an toàn tuyệt đối.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lệnh đến thiết bị, tách khỏi event.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Signal — received → validated → correlated / quarantined / rejected — Gateway xác thực schema/source/tenant; invalid không vào live workflow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 new → triaging → active → contained → resolved → closed — Operator triage; supervisor đóng khi checklist hoàn tất; có reopen với reason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Incident exception — new/triaging → dismissed; bất kỳ incident chưa closed → linked — Dismiss phải có reason; linking không xóa ID hoặc evidence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 submitted → acknowledged → assigned → assisting → resolved — Server receipt khác operator ACK; responder chỉ cập nhật task được giao</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SOS cancel — submitted/acknowledged/assigned → cancellation_requested → canceled hoặc tiếp tục — Sau dispatch cần operator quyết định; citizen không xóa hồ sơ</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Person status — unknown, in_danger, help_requested, self_reported_safe, responder_confirmed_assisted — Append observation với timestamp/source; có thể đổi lại danger; safe không đóng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 draft → review → approved → sending → active → expired / canceled — Version mới cần duyệt lại; tác giả không duyệt chính mình khi policy yêu cầu</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Task — offered → accepted → en_route → on_scene → completed — Hết hạn offer → expired → reassign; decline có reason; task có một owner hiện 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 requested → approved → dispatched → accepted → executing → succeeded / failed / unknown / expired — Device acceptance không đủ chứng minh success; timeout không tự coi failed vật lý</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Tài sản vật lý: controller, bơm, van, hệ xả hoặc thiết bị cứu hộ đang lắp, ràng buộc cấu hình.</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quyền quan sát/điều khiển được duyệt riêng cho thao tác chính xác.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Phản hồi vật lý: bằng chứng quan sát, khác acknowledgment truyền tải/thiết bị.</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giảm bảo vệ có thẩm quyền, cần biện pháp bù và khôi phục xác minh.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vận hành thiết bị có giám sát, quyền tại chỗ và bàn giao.</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Nhãn UI UNKNOWN ánh xạ trạng thái máy unknown hiện có, không phải trạng thái kết thúc thành công/thất bại mới.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impairment: requested → approved → active → restoration_pending → verified_closed; hết hạn chưa khôi phục giữ restoration_pending và escalation.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Vòng đời mission: draft → review → approved → locally_accepted → executing → completed / aborted / unknown; hoàn tất cần bằng chứng kết quả.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Mọi endpoint kiểm tra principal, tenant membership, region, site scope, object ownership và action permission ở server.</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Frontend ẩn nút không phải kiểm soát bảo mật.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thân chỉ thấy trường được chia sẻ; operator xem thông tin phục vụ incident; platform admin không mặc nhiên đọc data.</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approver và command approver có quyền riêng.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yêu cầu lý do, thời hạn, audit và thông báo người giám sát; không bỏ tenant boundary.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Từ chối truy cập object ngoài scope trả 404 hoặc lỗi không tiết lộ tồn tại.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Danh sách phân trang cursor, sort ổn định (created_at,id), tối đa 100 bản ghi/trang.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109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Tất cả mutation có validation, idempotency khi tạo tác động và optimistic concurrency khi cập nhật.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màn list có search/filter theo trường phù hợp, trạng thái loading/empty/error/denied; form có required/invalid/conflict/unsaved; detail có stale/not-found.</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Dữ liệu prototype không phải telemetry thật.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khiển vật lý kiểm tra thêm capability site/controller, quyền hãng, policy truy cập OT, impairment/lockout hiện tại, thẩm quyền tại chỗ và phê duyệt theo thao tác.</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phân biệt chỉ giám sát, đủ điều kiện điều khiển, bị khóa, cũ và UNKNOWN.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Quyền kỹ thuật không mặc nhiên là quyền chỉ huy sự cố.</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đoạn OT khỏi mạng công cộng; allowlist endpoint/thao tác hỗ trợ, kiểm soát truy cập bảo trì, giữ audit credential/thay đổi.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Phát hiện, khởi động bơm và bảo vệ xả tự động cục bộ không phụ thuộc duyệt/kết nối cloud.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Actor admin tạo tenant với immutable home_region; chọn locale/timezone, thiết lập SSO/MFA, mời membership theo site.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chọn workspace trước khi vào console.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Email chưa tồn tại và tồn tại trả cùng thông điệp recovery để giảm enumeration.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Invite dùng một lần, TTL, đúng email/domain policy.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SSO không khả dụng có break-glass account được kiểm soát ở tenant phù hợp; không tự bypass MFA.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invite hết hạn bị từ chối; role đã revoke không được dùng token cũ sau hạn revocation propagation 60 s đề xuất; switch workspace không hiển thị cache tenant cũ.</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Site admin tạo graph country/region/site/building/floor/zone/road-segment/geofence.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bắt buộc mọi site có tầng.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Device binding kiểm tra thuộc cùng tenant.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Floor plan có revision, scale, exits, accessibility và người duyệt.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Mỗi incident lưu plan revision đã sử dụng.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Vị trí mang method, accuracy, age; GPS không tự suy ra tầng.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định vị thì user nhập vị trí thủ công và gửi SOS.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không publish plan thiếu reviewer; zone có incident active không hard-delete; route thiếu freshness hiện “not verified”, không hiển thị là tuyến chắc chắn an toàn.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Adapter kiểm tra credential, tenant binding, schema, clock skew, payload limit rồi ghi event bền vững trước receipt.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Duplicate key (tenant,source,event_id) trả receipt cũ.</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Event trễ vẫn lưu để audit nhưng rule live xét TTL theo hazard.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Unknown source/quyền/unit/location bị quarantine.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Input hỗ trợ HTTPS/CloudEvents, MQTT adapter, CAP, camera metadata, wearable, telematics và manual.</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replay 100 lần cùng ID tạo một event; hai tenant cùng event ID không collision; source có tenant spoof bị chặn; event stale không khởi động command.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Rule versioned cung cấp candidate incident theo khoảng thời gian, zone, hazard và source.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 xem evidence và confidence, tạo hoặc liên kết; split giữ audit và liên kết nguồn.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gom khác hazard chỉ vì gần nhau; cross-hazard relationship có type (caused_by/nearby/possible_duplicate).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Camera detection được gọi “possible fire”; fire panel policy có thể lập tức mở response theo site-approved workflow, không phải đợi AI.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merge không mất SOS/task; split không nhân dispatch; rule thay đổi không sửa lịch sử; có reason khi dismiss.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chọn category hoặc Other/Unknown; nhập/cập nhật vị trí, ghi chú và số người.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Emergency flow không buộc điền hết profile.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Server trả SOS ID và received_at sau commit.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Client hiển thị pending khi chỉ lưu local.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gửi lại dùng client_request_id, TTL và trạng thái đã reconcile.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Với threat/discreet, mặc định không âm thanh và không fan-out nhóm; với hỗ trợ thông thường severity theo rule, không coi mọi SOS là P1.</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mất mạng không hiện “đã nhận”; gửi lại không tạo SOS thứ hai; người không cấp GPS vẫn gửi vị trí bằng tay; đổi category không mất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19/66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119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Detector được phê duyệt phát possible_fall; app hiện check-in 30 s đề xuất, có “I'm OK” và “Get help now”.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Nếu không có phản hồi, server timer tiếp tục kể cả app bị đóng; tạo yêu cầu operator/caregiver theo consent.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offline tạo trạng thái unknown, không kết luận người đã té.</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Thời gian check-in được cấu hình theo dịch vụ/nhóm, có accessibility alternative; không tự dùng làm chẩn đoán.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 bị kill vẫn escalation; late “I'm OK” cập nhật chứ không rút task đang xử lý âm thầm; false positive lưu review reason.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Report/telematics cung cấp position, heading nếu có, road segment, vehicle count và injuries=unknown.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Correlation phân biệt hai chiều đường hoặc tầng cầu.</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User có thể gửi nhanh tối thiểu, bổ sung sau.</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phối tới đơn vị được cấu hình; chưa có hợp đồng không tự gọi emergency public endpoint.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injury data được chấp nhận dưới dạng unknown; không auto-confirm collision từ một mẫu gia tốc; dữ liệu nhạy cảm chỉ vào assigned team.</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allowlist issuer, kiểm tra XML/schema, identifiers, sent, status, scope, info/area và expiry.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sender+identifier; Update/Cancel tham chiếu bản trước và phải giữ lineage.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Official warning và local response là hai object.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Warning hết hạn không tiếp tục live broadcast; cancel không xóa bản đã gửi.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Polygon dùng đúng thứ tự tọa độ của CAP, chuyển explicit sang GeoJSON; không đảo lat/lon ngầm.</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Test/Exercise không vào luồng Actual; issuer không cho phép bị quarantine; Update thay active version nhưng lưu trước; user ngoài polygon không bị chọn do lỗi tọa độ.</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Author chọn incident, vùng/site/group, severity, ngôn ngữ, nội dung và expiry.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Preview audience là snapshot gồm recipients đủ điều kiện và lý do loại trừ; approver độc lập ký version.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Thay nội dung/audience sau approval bắt buộc duyệt lại.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Break-glass phát nhanh chỉ theo quyền đặc biệt và audit; không yêu cầu mọi P1 phải chờ duyệt nếu site playbook cho phép template preapproved.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Translation máy chỉ draft, nội dung an toàn phải reviewed.</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approve v3 không cho send v4; gửi nhầm tenant bằng audience ID bị chặn; scheduled warning tái kiểm tra expiry và permission lúc phát.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WF-09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Notification tạo từng delivery attempt theo recipient/channel/version; trạng thái queued/submitted/provider_accepted/delivered/read/human_ack/failed/unknown không bị gộp.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Provider callback xác thực và chống replay.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Deadline không ACK kích hoạt escalation bền vững, có owner và max steps.</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Channel fallback không tự gửi nội dung riêng tư qua SMS; template SMS tối thiểu, link xác thực khi cần.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APP-SYS-099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Push không bảo đảm vượt chế độ im lặng của hệ điều hành.</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provider accepted không tăng human ACK count; callback trùng không nhân escalation; provider lỗi có retry bounded và alternate provider, 429 tôn trọng retry_after.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Dispatcher lọc unit theo capability, availability, site authorization và vị trí mới nhất.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ETA chỉ là ước tính có timestamp.</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Offer có deadline; unit accept atomically bằng version.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ai nhận thì escalate; không tự đánh dấu dispatched hoàn thành.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Responder chuyển en_route/on_scene, ghi observations, handover, task complete; task completion không đóng incident.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hai dispatcher không gán hai owner cho một task; offline acceptance chưa server confirm phải ghi pending; reassignment giữ note của responder cũ dưới observation.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Safety report lưu status, person, incident scope, observed_at, reporter và location precision.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Fan-out đến tất cả nhóm đăng ký đủ điều kiện tại thời điểm báo, cộng contacts đã xác minh; mỗi recipient được dedupe.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Mỗi nhóm nhận status, vị trí chi tiết chỉ khi consent cụ thể.</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Revoked membership/consent được kiểm tra lại trước delivery.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Group chat có membership, report abuse, block cá nhân cho social; block không được tắt mandatory site warning theo policy đã công bố.</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3 nhóm cùng một contact không gửi 3 SMS giống nhau; consent location off không rò tọa độ; safe report không đóng building incident; unknown không đếm safe.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29/66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129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Operator duy trì shelter status, capacity estimate, timestamp, accessibility và valid_until.</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Offline pack lưu plan/guidance/contact có version và expiry, không đảm bảo live route.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Voice dùng cùng approved text với transcript, có pause/replay; không autoplay gây lộ discreet mode.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có route verified thì chỉ trình bày plan và hướng dẫn được phê duyệt, không tự vẽ tuyến tối ưu tránh cháy.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shelter hết valid_until thành unknown; capacity không có dữ liệu không hiện 0; offline plan hiển thị age.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Enrollment token một lần; device certificate có rotate/revoke.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Heartbeat thresholds theo device class; stale/disconnected khác trạng thái an toàn của khu vực.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Maintenance suppression có start/end, reason, approver và coverage thay thế; luôn hiển thị khoảng mù.</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Hết maintenance tự phục hồi monitoring và log.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cert revoked không ingest; hết maintenance không tiếp tục suppress; firmware upgrade không tự động đồng loạt trong active incident.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Bảo trì vật lý áp dụng thêm WF-31: hết cửa sổ suppress phần mềm không chứng minh bảo vệ vật lý đã khôi phục; vẫn bắt buộc kiểm tra tại chỗ và acknowledgment cần thiết.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Command chỉ cho capability đã khai báo; parameter schema, zone, expiry, interlock, authorized approver và local controller policy đều bắt buộc.</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gửi raw arbitrary command từ web.</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receipt, device accepted, executing và verified result riêng.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Timeout unknown không blind retry lệnh không idempotent.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Actuation cloud không thay vòng bảo vệ cục bộ được chứng nhận.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Sprinkler đầu kín thường hoạt động nhiệt; prototype không giả định phần mềm mở từng đầu phun.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command hết TTL không execute sau reconnect; zone mismatch reject; accepted mà không feedback giữ unknown/awaiting confirmation; simulator không có credential live.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WF-30 chi tiết hóa workflow lệnh này cho thiết bị chữa cháy/cứu hộ đang lắp.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Giám sát wet-pipe, yêu cầu tủ xả, yêu cầu bơm và tác động thiết bị di động là capability riêng; dùng ràng buộc WF-28 và nghiệm thu WF-32 trước khi bật điều khiển.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Fleet adapter trước hết cung cấp telemetry/media và health.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Mission draft có purpose, incident, route/geofence, altitude reference, pilot, clearance, weather check và lost-link policy.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Local pilot quyết định triển khai theo năng lực hệ thống được tích hợp.</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Approval không đồng nghĩa đã cất cánh.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tự động phát TAKEOFF dựa trên AI detector.</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Lệnh abort/return phải có capability và xác nhận của flight stack; UI không hứa cancel phổ quát.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APP-SYS-139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pilot/clearance không approve; stale telemetry vô hiệu command phụ thuộc vị trí; mất link hiện unknown và local policy tiếp tục; mission evidence có hash/provenance.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Install manifest → configure secret reference → map → sandbox test → approve → activate → monitor → rotate/deprecate.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Connector chạy quyền tối thiểu, allowlist outbound, quota/backpressure và kill switch.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Replay DLQ cần reason, schema đúng và giữ original ID; replay command bị chặn mặc định.</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Cross-tenant exchange chỉ qua agreement và payload allowlist.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adapter lỗi không ngăn SOS trực tiếp; payload quá lớn reject 413; incompatible major schema quarantine; secret không lộ trong logs/export.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UTC cho lưu trữ, IANA timezone cho hiển thị/lịch, BCP47 locale, Unicode, E.164 cho số điện thoại theo quốc gia.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UI có RTL layout test, pluralization và pseudo-localization.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hardcode số emergency toàn cầu; emergency contact registry được xác minh theo quốc gia/site.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Residency áp dụng DB, object store, backup, logs, support và export; global routing không mang raw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APP-SYS-149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lịch qua DST không gửi hai lần nhờ schedule occurrence ID; locale dài không che CTA; changing region là migration có review, không chỉ sửa dropdown.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Data class có retention policy, legal hold và delete job có report.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Export/deletion phải xác minh requester, scope và ngoại lệ; không xóa evidence có hold.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Audit append-only với actor, action, object/version, reason, time, correlation, before/after digest.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39/66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139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nhúng token, raw secret hoặc toàn bộ medical note vào audit.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truy cập precise location được log; delete không xóa record held; export không chứa tenant khác; break-glass hết TTL tự revoke.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WF-19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Closure cần open SOS/task check, unknown-person disposition, partner handover, reason và supervisor.</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“All clear” warning là hành động riêng.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Drill có environment+mode isolation ở broker, credentials và recipient directory; banner alone không đủ.</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Báo cáo tách transport latency, operator latency và response latency; mẫu thiếu dữ liệu ghi denominator rõ.</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APP-SYS-159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safety check-in không close; drill không gọi live webhook/actuator; shift handover có incoming acknowledgment; report chỉ deidentified nếu user không có quyền PII.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Ràng buộc model khu vực đang lắp, serial, firmware, gateway, license, quyền hãng và hồ sơ tương thích trước khi bật adapter.</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Nhập và review độc lập địa chỉ điểm, trạng thái ngữ nghĩa, đơn vị/scaling, site/zone và revision cause-and-effect.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Phân biệt tài sản wet-pipe, pre-action/deluge, bơm và cứu hộ di động.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Capability chưa biết mặc định chỉ giám sát; onboarding không tạo quyền điều khiển.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FR-PHY-01</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FR-PHY-01: giữ định danh thiết bị/giao diện chính xác và revision bằng chứng được duyệt.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FR-PHY-02</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FR-PHY-02: xác thực mapping điểm/zone với nhãn vật lý, từ chối khác tenant, trùng hoặc chưa giải quyết.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FR-PHY-03</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FR-PHY-03: version cause-and-effect và hợp đồng capability đọc/điều khiển; thay đổi phải review tác động và nghiệm thu lại phần ảnh hưởng.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thay firmware/license chưa ràng buộc đình chỉ điều khiển phụ thuộc; mapping sai zone không được bật; đầu wet-pipe không được đưa ra như output điều khiển riêng.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WF-28</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Nhận trạng thái tủ, bơm, van, xả, waterflow, nguồn và link được hãng hỗ trợ, có provenance/chất lượng.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APP-SYS-169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Giữ ưu tiên cảnh báo controller và bảo vệ cục bộ khi cloud/edge không hoạt động.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nhu cầu, motor chạy, output xả, vị trí van, waterflow và quan sát hiện trường đã xác nhận.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Giá trị thiếu/cũ giữ unknown; không biến lỗi link thành chỉ thị an toàn.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FR-PHY-04: lưu thời gian nguồn/nhận, địa chỉ nguồn, đơn vị, chất lượng, revision mapping và tham chiếu bằng chứng gốc cho mỗi quan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FR-PHY-05: giám sát freshness/sức khỏe link bằng ngưỡng thiết bị/site được duyệt, hiển thị khoảng trống bảo vệ và biện pháp bù.</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FR-PHY-06: tương quan không ngăn bảo vệ cục bộ; dedupe replay truyền tải nhưng giữ chuyển trạng thái và bằng chứng phục hồi.</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dữ liệu bơm chạy cũ hiện chưa chắc chắn; áp suất riêng lẻ không xác nhận xả; mất cloud vẫn có bảo vệ tự động tại chỗ; telemetry trùng không tạo incident trùng.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WF-29</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Chỉ thao tác đã nghiệm thu site, được xác định rõ có quyền điều khiển mới tạo yêu cầu vật lý.</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tra thẩm quyền actor, incident/site/zone, giới hạn tham số được duyệt, mức sẵn sàng vật lý hiện tại, interlock cục bộ, expiry lệnh và yêu cầu phê duyệt độc lập theo policy.</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Thẩm quyền site/controller ưu tiên.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APP-SYS-179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giả định ghi BACnet/Modbus, relay hay ACK mạng cấp quyền hoặc chứng minh chữa cháy.</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không tự khởi tạo tác động xả/khởi động/chuyển động.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FR-PHY-07: từ chối thao tác chỉ giám sát hoặc thiếu tài liệu ở server và edge; giữ yêu cầu đã duyệt và version policy lệnh.</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FR-PHY-08: thực thi TTL, request ID duy nhất, chống tác động trùng và truyền có giới hạn; không replay yêu cầu hết hạn sau reconnect hoặc blind retry thao tác không idempotent.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FR-PHY-09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FR-PHY-09: tách receipt truyền tải, thiết bị chấp nhận, thực thi và phản hồi vật lý; chỉ đánh giá thành công theo bằng chứng được duyệt riêng cho thao tác.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FR-PHY-10: hiện UNKNOWN khi kết quả thiếu/mâu thuẫn; giao đối soát cho người có tên, hỗ trợ ưu tiên cục bộ và bàn giao thủ công có acknowledgment, không xóa lịch sử.</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ACK thiếu phản hồi bắt buộc không thành succeeded; yêu cầu trùng/hết hạn không tạo tác động mới; mất phản hồi mở đối soát; local override chặn điều khiển từ xa xung đột.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WF-30</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Impairment được phép xác định thiết bị, zone ảnh hưởng, cửa sổ thời gian, lý do, chủ sở hữu, bảo vệ bù và bố trí test/lockout tại chỗ.</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credential, route và output test/production; banner UI không đủ.</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Hết hạn yêu cầu xác minh khôi phục và escalation, không tự tuyên bố bảo vệ đã trở lại.</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APP-SYS-189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Trách nhiệm an toàn tại chỗ luôn rõ khi bàn giao ca.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FR-PHY-11: yêu cầu impairment được duyệt và bằng chứng cách ly/lockout vật lý trước thử liên quan; chặn lệnh production không được phép, giữ bố trí bảo vệ cục bộ đã thỏa thuận.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FR-PHY-12: chỉ đóng impairment sau kiểm tra trạng thái vật lý, bằng chứng khôi phục và xác nhận người chịu trách nhiệm; theo dõi khôi phục quá hạn/khoảng trống còn lại.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thử mô phỏng không tới output thật; hết hạn chưa xác minh vẫn impaired/awaiting restoration; bàn giao bảo trì có người nhận trách nhiệm.</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49/66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149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Duy trì hồ sơ theo cấu hình gồm tài liệu hãng, quyền giao diện, listing/giới hạn khu vực, point map, phụ thuộc điện/thủy lực, cause-and-effect được duyệt, FAT, SAT, commissioning, hiệu chuẩn và đào tạo.</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Nghiên cứu hãng/kết quả simulator không phải nghiệm thu hiện trường.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suy chứng nhận toàn hệ từ listing thành phần.</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FR-PHY-13: theo dõi revision tài liệu, provenance, reviewer, expiry khi áp dụng và phạm vi nghiệm thu theo model/firmware/site/capability.</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FR-PHY-14: chặn bật capability production tới khi có kiểm thử/phê duyệt bắt buộc ký duyệt; thay thiết bị, firmware, mapping hoặc policy kích hoạt đánh giá tác động, làm mất hiệu lực nghiệm thu phần ảnh hưởng tới khi kiểm chứng lại.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SAT chặn điều khiển production dù simulator PASS; chứng nhận site khác không vượt cổng; firmware thay đổi chỉ giữ capability đọc không ảnh hưởng nếu hợp đồng còn hợp lệ.</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APP-SYS-199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Nhiệm vụ ràng buộc giao diện robot/water-monitor được hỗ trợ thực tế, mục đích, incident, người điều khiển đủ năng lực, vùng vận hành, tuyến/vùng cấm, nguồn nước/năng lượng, freshness telemetry và policy mất link/khẩn cấp cục bộ.</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Thiết bị chỉ quan sát vẫn chỉ quan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Phê duyệt không phải đã chuyển động/xả.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Người tại chỗ quyết định triển khai và tiếp quản theo thiết kế được hãng hỗ trợ; không hứa chức năng stop/return phổ quát.</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FR-PHY-15: yêu cầu thẩm quyền theo nhiệm vụ, bằng chứng capability, giới hạn vận hành và kiểm tra sẵn sàng; tách quyền chuyển động, ngắm và xả nước.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FR-PHY-16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FR-PHY-16: ghi telemetry/phản hồi tác động, thực thi hành vi mất link đã duyệt tại chỗ, có bàn giao thủ công được xác nhận và bằng chứng kết quả; không suy hoàn tất cứu hộ từ lệnh được nhận.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 thiếu điều khiển được hãng hỗ trợ hoặc người điều khiển chặn phát tác động vật lý; vị trí cũ chặn ngắm/chuyển động phụ thuộc; mất link hiện UNKNOWN và policy cục bộ đã duyệt; bàn giao giữ trách nhiệm/bằng chứng.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WF-33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NFR-01</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NFR-01 — Production regional core 99.95% tháng — Synthetic + server metrics; tính cả lỗi dependency ảnh hưởng người dùng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NFR-02</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NFR-02 — Ingest p95 ≤ 2 s; fan-out enqueue p95 ≤ 5 s — Tải 100 event/s steady, 1,000 event/s trong 60 s; 10,000 recipients/incident; payload metadata ≤ 64 KB</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NFR-03</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NFR-03 — Priority fairness — P1 reserved queues; tenant noisy-neighbor test; không để telemetry bulk chặn SOS</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NFR-04</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NFR-04 — Multi-AZ RPO mục tiêu 0 cho committed records, RTO ≤ 15 phút — Kill primary, verify durable commit và failover; chỉ cam kết sau test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NFR-05</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NFR-05 — Regional disaster RPO ≤ 5 phút, RTO ≤ 60 phút — Restore/cold-region drill trong residency policy; immutable backup restore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NFR-06</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NFR-06 — WCAG 2.2 AA target — Keyboard, screen reader, zoom, contrast và error announcements; chưa claim certified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NFR-07</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NFR-07 — Web interactive p95 ≤ 3 s ở mạng tham chiếu — 4G simulation, representative low-end device; map loads tách core content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NFR-08</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NFR-08 — Offline durable outbox và stale visibility — Airplane mode, app kill, reconnect, clock skew và reassignment conflict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NFR-09</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NFR-09 — Security isolation — Tenant/object permission tests, upload validation, credential revocation, audit coverage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NFR-10</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NFR-10 — Backward compatibility — API/event contract tests; additive minor changes; major versions song song có sunset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Tải tham chiếu là mục tiêu engineering, không phải đo benchmark.</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Media upload qua object store tách khỏi critical event pipeline.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Các mục NFR áp dụng sản phẩm cần xây, prototype tĩnh không chứng minh đạt các mục này.</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NFR-11 — Bảo vệ tự động cục bộ độc lập cloud/edge — Chứng kiến mất cloud/link/adapter không ngăn trình tự bảo vệ cục bộ được duyệt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NFR-12 — Thời gian/chất lượng telemetry và phản hồi theo cấu hình — Ký ngưỡng freshness, truyền và phản hồi theo thiết bị/site; đo riêng; UNKNOWN khi quá hạn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NFR-13 — Cách ly OT và lệnh — Chứng minh chỉ giám sát, từ chối ghi, quyền tối thiểu, truy cập bảo trì kiểm soát và không có đường test-to-live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NFR-14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NFR-14 — Bảo đảm vật lý theo cấu hình — Đủ provenance và FAT/SAT bắt buộc ký duyệt; thay đổi làm hết hiệu lực nghiệm thu capability bị ảnh hưởng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NFR vật lý không dùng mục tiêu độ trễ phần mềm thay hiệu năng phản ứng vật lý/thủy lực.</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Thời gian và tiêu chí đạt theo thiết bị/site phải duyệt trước thử, kết quả ghi firmware, phần cứng và điều kiện vận hành.</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57/66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157</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Phải chạy đủ flow Fire, Disaster, Fall, Road, discreet SOS và generic assistance; test duplicate, late data, out-of-order, expiry, network partition, unauthorized tenant, quota saturation, provider failure và restore.</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Với physical/drone, simulator PASS không thay acceptance hiện trường.</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Ma trận chi tiết trong Acceptance-Matrix.csv.</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Screen-level acceptance nằm trong Screen-Specifications.md và gắn từng mockup ID.</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58/66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158</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Cổng vật lý thực thi thêm PHY-01–PHY-16 và AC-F01–AC-F20, kiểm đủ FR-PHY-01–FR-PHY-16, cần bố trí thử vật lý được duyệt và đội site được ủy quyền.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Acceptance-Matrix.csv có 65 ca xuyên hệ thống và 233 ca màn hình (tổng 298).</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 thiết kế không phải bằng chứng thực thi.</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APP-SYS-232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Hỗ trợ hãng, giấy phép vật lý, người tại chỗ sẵn sàng và FAT/SAT ký duyệt là phụ thuộc để bật điều khiển production; thiếu bằng chứng giữ capability liên quan không khả dụng hoặc chỉ giám sát.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Toàn hệ thống</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59/66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159</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Điều phối PA theo exact message/zone digest, priority, repeat và expiry; giữ lease tránh phát chồng.</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controller ACK, buffering/playing/completed và acoustic evidence; lỗi sinh coverage gap/fallback.</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Live mic cần thao tác rõ, zone approval, token ngắn hạn, chỉ báo, heartbeat và timeout dừng.</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Gateway media chuyển WebRTC sang giao thức hãng đã hỗ trợ; OT cách ly; cache audio có checksum/version.</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60/66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160</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Ưu tiên fire alarm cục bộ; stop chỉ đúng broadcast; reconnect không phát lại thông điệp hết hạn.</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WF-21</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Kiểm floor/heading quality; thiếu tin cậy dùng landmark/SOS, không chỉ trái/phải giả.</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Graph loại cạnh cấm/blocked/unknown-critical và đích hết hạn; accessibility là hard constraint.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Dijkstra/A* chỉ chọn tuyến khả thi; penalty không vượt hard exclusion; không có đường thì assistance/refuge.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61/66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161</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APP-SUP-09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Hazard mới cắt tuyến rút ngay; replan có hysteresis, hủy TTS cũ; cache stale chỉ dùng procedure đã duyệt.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APP-SUP-10</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Đồng bộ text/voice vi/en/ja, lexicon, pronunciation, transcript và visual/haptic alternative.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APP-SUP-11</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API route trả LOCATION_UNCERTAIN/NO_VERIFIED_ROUTE khi thiếu bằng chứng; arrival không tự safe.</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WF-22</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APP-SUP-12</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Thu GNSS/QR/NFC/BLE/UWB/Wi-Fi/manual theo capability/permission, calibration và coordinate frame.</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62/66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162</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APP-SUP-13</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Fusion dùng floor hypothesis/outlier/motion/quality; không trung bình hai tầng hoặc bỏ provenance khi sửa.</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APP-SUP-14</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Presence tách registered/expected/observed/last-seen/absent/unknown; mất beacon không suy absent/safe.</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WF-23</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APP-SUP-15</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Lập 1 primary và tối đa2 alternatives, reason/assumption/validity; tránh chung bottleneck khi có thể.</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APP-SUP-16</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Cân bằng cohort/capacity theo occupancy/throughput có uncertainty; đổi chiến lược vùng cần operator duyệt.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63/66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163</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APP-SUP-17</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Simulation tách observed hazard, ghi assumptions; ETA interval/confidence, không chính xác giả.</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WF-24</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APP-SUP-18</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retrieve SOP được duyệt, trả structured claims/evidence/cutoff/uncertainty; unsupported không thành instruction.</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APP-SUP-19</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chỉ compare_routes read-only từ planner; không sửa graph, ký warning, command, chẩn đoán hoặc đóng incident.</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APP-SUP-20</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Policy proxy chặn injection/tool vượt scope; model theo residency, health tối thiểu, log redacted không chain-of-thought.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64/66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164</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APP-SUP-21</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Đánh giá grounding/injection/leakage/unsafe action/locale/abstention trước promotion; feedback cần review.</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APP-SUP-22</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AI timeout không ngăn alarm/SOS/dispatch; text streaming không phát loa trước validation/approval.</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WF-25</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APP-SUP-23</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Tách identity khỏi functional-needs profile; giữ source/verification/review/consent; self-report không medical verified.</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APP-SUP-24</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Guardian/caregiver phải verified, field-scoped/revocable; dispatcher/responder chỉ emergency subset cần thiết.</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65/66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165</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APP-SUP-25</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Health access có audit/break-glass scope/time/reason; social group không thấy medical note/impairment.</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WF-26</a:t>
            </a:r>
          </a:p>
        </p:txBody>
      </p:sp>
      <p:sp xmlns:a="http://schemas.openxmlformats.org/drawingml/2006/main">
        <p:nvSpPr>
          <p:cNvPr id="42" name="Rectangle 41"/>
          <p:cNvSpPr/>
          <p:nvPr/>
        </p:nvSpPr>
        <p:spPr>
          <a:xfrm>
            <a:off x="694944" y="3136392"/>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3" name="TextBox 42"/>
          <p:cNvSpPr txBox="1"/>
          <p:nvPr/>
        </p:nvSpPr>
        <p:spPr>
          <a:xfrm>
            <a:off x="822960" y="3255264"/>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APP-SUP-26</a:t>
            </a:r>
          </a:p>
        </p:txBody>
      </p:sp>
      <p:sp xmlns:a="http://schemas.openxmlformats.org/drawingml/2006/main">
        <p:nvSpPr>
          <p:cNvPr id="44" name="TextBox 43"/>
          <p:cNvSpPr txBox="1"/>
          <p:nvPr/>
        </p:nvSpPr>
        <p:spPr>
          <a:xfrm>
            <a:off x="2011680" y="3227832"/>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Candidate từ presence+impact+needs+no recent confirmation; uncertain presence tạo welfare check, không khẳng định vị trí.</a:t>
            </a:r>
          </a:p>
        </p:txBody>
      </p:sp>
      <p:sp xmlns:a="http://schemas.openxmlformats.org/drawingml/2006/main">
        <p:nvSpPr>
          <p:cNvPr id="45" name="TextBox 44"/>
          <p:cNvSpPr txBox="1"/>
          <p:nvPr/>
        </p:nvSpPr>
        <p:spPr>
          <a:xfrm>
            <a:off x="10287000" y="3246120"/>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6" name="Rectangle 45"/>
          <p:cNvSpPr/>
          <p:nvPr/>
        </p:nvSpPr>
        <p:spPr>
          <a:xfrm>
            <a:off x="694944" y="4032504"/>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7" name="TextBox 46"/>
          <p:cNvSpPr txBox="1"/>
          <p:nvPr/>
        </p:nvSpPr>
        <p:spPr>
          <a:xfrm>
            <a:off x="822960" y="4151376"/>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APP-SUP-27</a:t>
            </a:r>
          </a:p>
        </p:txBody>
      </p:sp>
      <p:sp xmlns:a="http://schemas.openxmlformats.org/drawingml/2006/main">
        <p:nvSpPr>
          <p:cNvPr id="48" name="TextBox 47"/>
          <p:cNvSpPr txBox="1"/>
          <p:nvPr/>
        </p:nvSpPr>
        <p:spPr>
          <a:xfrm>
            <a:off x="2011680" y="4123944"/>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Priority có exposure/ability/isolation/route/contact/confidence; không wealth/nationality hoặc tuổi đơn lẻ.</a:t>
            </a:r>
          </a:p>
        </p:txBody>
      </p:sp>
      <p:sp xmlns:a="http://schemas.openxmlformats.org/drawingml/2006/main">
        <p:nvSpPr>
          <p:cNvPr id="49" name="TextBox 48"/>
          <p:cNvSpPr txBox="1"/>
          <p:nvPr/>
        </p:nvSpPr>
        <p:spPr>
          <a:xfrm>
            <a:off x="10287000" y="4142232"/>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0" name="Rectangle 49"/>
          <p:cNvSpPr/>
          <p:nvPr/>
        </p:nvSpPr>
        <p:spPr>
          <a:xfrm>
            <a:off x="694944" y="4928616"/>
            <a:ext cx="10817352"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1" name="TextBox 50"/>
          <p:cNvSpPr txBox="1"/>
          <p:nvPr/>
        </p:nvSpPr>
        <p:spPr>
          <a:xfrm>
            <a:off x="822960" y="5047488"/>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APP-SUP-28</a:t>
            </a:r>
          </a:p>
        </p:txBody>
      </p:sp>
      <p:sp xmlns:a="http://schemas.openxmlformats.org/drawingml/2006/main">
        <p:nvSpPr>
          <p:cNvPr id="52" name="TextBox 51"/>
          <p:cNvSpPr txBox="1"/>
          <p:nvPr/>
        </p:nvSpPr>
        <p:spPr>
          <a:xfrm>
            <a:off x="2011680" y="5020056"/>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Dedupe ProactiveCase theo incident+person+policyVersion; SOS tới sau liên kết case, không dispatch trùng.</a:t>
            </a:r>
          </a:p>
        </p:txBody>
      </p:sp>
      <p:sp xmlns:a="http://schemas.openxmlformats.org/drawingml/2006/main">
        <p:nvSpPr>
          <p:cNvPr id="53" name="TextBox 52"/>
          <p:cNvSpPr txBox="1"/>
          <p:nvPr/>
        </p:nvSpPr>
        <p:spPr>
          <a:xfrm>
            <a:off x="10287000" y="5038344"/>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54" name="TextBox 53"/>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7C363B-B4FA-49A6-982A-9350B5F0154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C8102E"/>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9FAADC-810E-4595-833E-715EF48B02AF}"/>
              </a:ext>
            </a:extLst>
          </p:cNvPr>
          <p:cNvSpPr>
            <a:spLocks xmlns:a="http://schemas.openxmlformats.org/drawingml/2006/main" noGrp="1"/>
          </p:cNvSpPr>
          <p:nvPr/>
        </p:nvSpPr>
        <p:spPr>
          <a:xfrm xmlns:a="http://schemas.openxmlformats.org/drawingml/2006/main">
            <a:off x="3857625" y="0"/>
            <a:ext cx="2000250" cy="95250"/>
          </a:xfrm>
          <a:prstGeom xmlns:a="http://schemas.openxmlformats.org/drawingml/2006/main" prst="rect">
            <a:avLst/>
          </a:prstGeom>
          <a:solidFill xmlns:a="http://schemas.openxmlformats.org/drawingml/2006/main">
            <a:srgbClr val="FF383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6430B17-7848-4D31-8CAF-00E32363DD65}"/>
              </a:ext>
            </a:extLst>
          </p:cNvPr>
          <p:cNvSpPr>
            <a:spLocks xmlns:a="http://schemas.openxmlformats.org/drawingml/2006/main" noGrp="1"/>
          </p:cNvSpPr>
          <p:nvPr/>
        </p:nvSpPr>
        <p:spPr>
          <a:xfrm xmlns:a="http://schemas.openxmlformats.org/drawingml/2006/main">
            <a:off x="571500" y="27622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50" b="1">
                <a:solidFill>
                  <a:srgbClr val="C8102E"/>
                </a:solidFill>
                <a:latin typeface="Arial"/>
                <a:ea typeface="Arial"/>
                <a:cs typeface="Arial"/>
              </a:defRPr>
            </a:defPPr>
          </a:lstStyle>
          <a:p xmlns:a="http://schemas.openxmlformats.org/drawingml/2006/main">
            <a:pPr>
              <a:defRPr sz="1050" b="1">
                <a:solidFill>
                  <a:srgbClr val="C8102E"/>
                </a:solidFill>
                <a:latin typeface="Arial"/>
                <a:ea typeface="Arial"/>
                <a:cs typeface="Arial"/>
              </a:defRPr>
            </a:pPr>
            <a:r>
              <a:rPr sz="1050" b="1">
                <a:solidFill>
                  <a:srgbClr val="C8102E"/>
                </a:solidFill>
                <a:latin typeface="Arial"/>
                <a:ea typeface="Arial"/>
                <a:cs typeface="Arial"/>
              </a:rPr>
              <a:t>PHỤ LỤC C · DANH MỤC ĐẦY ĐỦ</a:t>
            </a:r>
          </a:p>
        </p:txBody>
      </p:sp>
      <p:sp>
        <p:nvSpPr>
          <p:cNvPr id="4" name="">
            <a:extLst xmlns:a="http://schemas.openxmlformats.org/drawingml/2006/main">
              <a:ext uri="{FF2B5EF4-FFF2-40B4-BE49-F238E27FC236}">
                <a16:creationId xmlns:a16="http://schemas.microsoft.com/office/drawing/2014/main" id="{E773F526-5891-4DFB-86B7-7E0223ED193C}"/>
              </a:ext>
            </a:extLst>
          </p:cNvPr>
          <p:cNvSpPr>
            <a:spLocks xmlns:a="http://schemas.openxmlformats.org/drawingml/2006/main" noGrp="1"/>
          </p:cNvSpPr>
          <p:nvPr/>
        </p:nvSpPr>
        <p:spPr>
          <a:xfrm xmlns:a="http://schemas.openxmlformats.org/drawingml/2006/main">
            <a:off x="9810750" y="238125"/>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C8102E"/>
                </a:solidFill>
                <a:latin typeface="Arial"/>
                <a:ea typeface="Arial"/>
                <a:cs typeface="Arial"/>
              </a:defRPr>
            </a:defPPr>
          </a:lstStyle>
          <a:p xmlns:a="http://schemas.openxmlformats.org/drawingml/2006/main">
            <a:pPr>
              <a:defRPr sz="2025" b="1">
                <a:solidFill>
                  <a:srgbClr val="C8102E"/>
                </a:solidFill>
                <a:latin typeface="Arial"/>
                <a:ea typeface="Arial"/>
                <a:cs typeface="Arial"/>
              </a:defRPr>
            </a:pPr>
            <a:r>
              <a:rPr sz="2025" b="1">
                <a:solidFill>
                  <a:srgbClr val="C8102E"/>
                </a:solidFill>
                <a:latin typeface="Arial"/>
                <a:ea typeface="Arial"/>
                <a:cs typeface="Arial"/>
              </a:rPr>
              <a:t>SmartAlarm</a:t>
            </a:r>
          </a:p>
        </p:txBody>
      </p:sp>
      <p:sp>
        <p:nvSpPr>
          <p:cNvPr id="5" name="">
            <a:extLst xmlns:a="http://schemas.openxmlformats.org/drawingml/2006/main">
              <a:ext uri="{FF2B5EF4-FFF2-40B4-BE49-F238E27FC236}">
                <a16:creationId xmlns:a16="http://schemas.microsoft.com/office/drawing/2014/main" id="{C4C79359-0FF2-4CD9-A5C7-7C2E4715FA08}"/>
              </a:ext>
            </a:extLst>
          </p:cNvPr>
          <p:cNvSpPr>
            <a:spLocks xmlns:a="http://schemas.openxmlformats.org/drawingml/2006/main" noGrp="1"/>
          </p:cNvSpPr>
          <p:nvPr/>
        </p:nvSpPr>
        <p:spPr>
          <a:xfrm xmlns:a="http://schemas.openxmlformats.org/drawingml/2006/main">
            <a:off x="571500" y="6000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C8102E"/>
                </a:solidFill>
                <a:latin typeface="Arial"/>
                <a:ea typeface="Arial"/>
                <a:cs typeface="Arial"/>
              </a:defRPr>
            </a:defPPr>
          </a:lstStyle>
          <a:p xmlns:a="http://schemas.openxmlformats.org/drawingml/2006/main">
            <a:pPr>
              <a:defRPr sz="2700" b="1">
                <a:solidFill>
                  <a:srgbClr val="C8102E"/>
                </a:solidFill>
                <a:latin typeface="Arial"/>
                <a:ea typeface="Arial"/>
                <a:cs typeface="Arial"/>
              </a:defRPr>
            </a:pPr>
            <a:r>
              <a:rPr sz="2700" b="1">
                <a:solidFill>
                  <a:srgbClr val="C8102E"/>
                </a:solidFill>
                <a:latin typeface="Arial"/>
                <a:ea typeface="Arial"/>
                <a:cs typeface="Arial"/>
              </a:rPr>
              <a:t>Chức năng nền và yêu cầu hệ thống  |  66/66</a:t>
            </a:r>
          </a:p>
        </p:txBody>
      </p:sp>
      <p:sp>
        <p:nvSpPr>
          <p:cNvPr id="6" name="">
            <a:extLst xmlns:a="http://schemas.openxmlformats.org/drawingml/2006/main">
              <a:ext uri="{FF2B5EF4-FFF2-40B4-BE49-F238E27FC236}">
                <a16:creationId xmlns:a16="http://schemas.microsoft.com/office/drawing/2014/main" id="{CF28658E-3722-469C-BDBF-60596E5764D7}"/>
              </a:ext>
            </a:extLst>
          </p:cNvPr>
          <p:cNvSpPr>
            <a:spLocks xmlns:a="http://schemas.openxmlformats.org/drawingml/2006/main" noGrp="1"/>
          </p:cNvSpPr>
          <p:nvPr/>
        </p:nvSpPr>
        <p:spPr>
          <a:xfrm xmlns:a="http://schemas.openxmlformats.org/drawingml/2006/main">
            <a:off x="581025"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0">
                <a:solidFill>
                  <a:srgbClr val="4D4D4D"/>
                </a:solidFill>
                <a:latin typeface="Arial"/>
                <a:ea typeface="Arial"/>
                <a:cs typeface="Arial"/>
              </a:defRPr>
            </a:defPPr>
          </a:lstStyle>
          <a:p xmlns:a="http://schemas.openxmlformats.org/drawingml/2006/main">
            <a:pPr>
              <a:defRPr sz="1425" b="0">
                <a:solidFill>
                  <a:srgbClr val="4D4D4D"/>
                </a:solidFill>
                <a:latin typeface="Arial"/>
                <a:ea typeface="Arial"/>
                <a:cs typeface="Arial"/>
              </a:defRPr>
            </a:pPr>
            <a:r>
              <a:rPr sz="1425" b="0">
                <a:solidFill>
                  <a:srgbClr val="4D4D4D"/>
                </a:solidFill>
                <a:latin typeface="Arial"/>
                <a:ea typeface="Arial"/>
                <a:cs typeface="Arial"/>
              </a:rPr>
              <a:t>Mã yêu cầu giúp đối chiếu từ proposal đến tài liệu thiết kế và nghiệm thu.</a:t>
            </a:r>
          </a:p>
        </p:txBody>
      </p:sp>
      <p:sp>
        <p:nvSpPr>
          <p:cNvPr id="7" name="">
            <a:extLst xmlns:a="http://schemas.openxmlformats.org/drawingml/2006/main">
              <a:ext uri="{FF2B5EF4-FFF2-40B4-BE49-F238E27FC236}">
                <a16:creationId xmlns:a16="http://schemas.microsoft.com/office/drawing/2014/main" id="{7D61DBF3-1A13-41F4-BB71-52F56133D84D}"/>
              </a:ext>
            </a:extLst>
          </p:cNvPr>
          <p:cNvSpPr>
            <a:spLocks xmlns:a="http://schemas.openxmlformats.org/drawingml/2006/main" noGrp="1"/>
          </p:cNvSpPr>
          <p:nvPr/>
        </p:nvSpPr>
        <p:spPr>
          <a:xfrm xmlns:a="http://schemas.openxmlformats.org/drawingml/2006/main">
            <a:off x="571500" y="6400800"/>
            <a:ext cx="11049000" cy="9525"/>
          </a:xfrm>
          <a:prstGeom xmlns:a="http://schemas.openxmlformats.org/drawingml/2006/main" prst="rect">
            <a:avLst/>
          </a:prstGeom>
          <a:solidFill xmlns:a="http://schemas.openxmlformats.org/drawingml/2006/main">
            <a:srgbClr val="F0CFD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62B3784-9D48-430F-979A-BC4D407586CA}"/>
              </a:ext>
            </a:extLst>
          </p:cNvPr>
          <p:cNvSpPr>
            <a:spLocks xmlns:a="http://schemas.openxmlformats.org/drawingml/2006/main" noGrp="1"/>
          </p:cNvSpPr>
          <p:nvPr/>
        </p:nvSpPr>
        <p:spPr>
          <a:xfrm xmlns:a="http://schemas.openxmlformats.org/drawingml/2006/main">
            <a:off x="581025" y="655320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25" b="0">
                <a:solidFill>
                  <a:srgbClr val="4D4D4D"/>
                </a:solidFill>
                <a:latin typeface="Arial"/>
                <a:ea typeface="Arial"/>
                <a:cs typeface="Arial"/>
              </a:defRPr>
            </a:defPPr>
          </a:lstStyle>
          <a:p xmlns:a="http://schemas.openxmlformats.org/drawingml/2006/main">
            <a:pPr>
              <a:defRPr sz="825" b="0">
                <a:solidFill>
                  <a:srgbClr val="4D4D4D"/>
                </a:solidFill>
                <a:latin typeface="Arial"/>
                <a:ea typeface="Arial"/>
                <a:cs typeface="Arial"/>
              </a:defRPr>
            </a:pPr>
            <a:r>
              <a:rPr sz="825" b="0">
                <a:solidFill>
                  <a:srgbClr val="4D4D4D"/>
                </a:solidFill>
                <a:latin typeface="Arial"/>
                <a:ea typeface="Arial"/>
                <a:cs typeface="Arial"/>
              </a:rPr>
              <a:t>AIPOWER  |  SmartAlarm solution proposal  |  International • Multi-industry</a:t>
            </a:r>
          </a:p>
        </p:txBody>
      </p:sp>
      <p:sp>
        <p:nvSpPr>
          <p:cNvPr id="9" name="">
            <a:extLst xmlns:a="http://schemas.openxmlformats.org/drawingml/2006/main">
              <a:ext uri="{FF2B5EF4-FFF2-40B4-BE49-F238E27FC236}">
                <a16:creationId xmlns:a16="http://schemas.microsoft.com/office/drawing/2014/main" id="{F89C71A7-586E-4255-8104-F402B2A46D54}"/>
              </a:ext>
            </a:extLst>
          </p:cNvPr>
          <p:cNvSpPr>
            <a:spLocks xmlns:a="http://schemas.openxmlformats.org/drawingml/2006/main" noGrp="1"/>
          </p:cNvSpPr>
          <p:nvPr/>
        </p:nvSpPr>
        <p:spPr>
          <a:xfrm xmlns:a="http://schemas.openxmlformats.org/drawingml/2006/main">
            <a:off x="11391900" y="6524625"/>
            <a:ext cx="333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975" b="0">
                <a:solidFill>
                  <a:srgbClr val="4D4D4D"/>
                </a:solidFill>
                <a:latin typeface="Arial"/>
                <a:ea typeface="Arial"/>
                <a:cs typeface="Arial"/>
              </a:defRPr>
            </a:defPPr>
          </a:lstStyle>
          <a:p xmlns:a="http://schemas.openxmlformats.org/drawingml/2006/main">
            <a:pPr>
              <a:defRPr sz="975" b="0">
                <a:solidFill>
                  <a:srgbClr val="4D4D4D"/>
                </a:solidFill>
                <a:latin typeface="Arial"/>
                <a:ea typeface="Arial"/>
                <a:cs typeface="Arial"/>
              </a:defRPr>
            </a:pPr>
            <a:r>
              <a:rPr sz="975" b="0">
                <a:solidFill>
                  <a:srgbClr val="4D4D4D"/>
                </a:solidFill>
                <a:latin typeface="Arial"/>
                <a:ea typeface="Arial"/>
                <a:cs typeface="Arial"/>
              </a:rPr>
              <a:t>166</a:t>
            </a:r>
          </a:p>
        </p:txBody>
      </p:sp>
      <p:sp xmlns:a="http://schemas.openxmlformats.org/drawingml/2006/main">
        <p:nvSpPr>
          <p:cNvPr id="35" name="TextBox 34"/>
          <p:cNvSpPr txBox="1"/>
          <p:nvPr/>
        </p:nvSpPr>
        <p:spPr>
          <a:xfrm>
            <a:off x="82296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ID</a:t>
            </a:r>
          </a:p>
        </p:txBody>
      </p:sp>
      <p:sp xmlns:a="http://schemas.openxmlformats.org/drawingml/2006/main">
        <p:nvSpPr>
          <p:cNvPr id="36" name="TextBox 35"/>
          <p:cNvSpPr txBox="1"/>
          <p:nvPr/>
        </p:nvSpPr>
        <p:spPr>
          <a:xfrm>
            <a:off x="2011680" y="1865376"/>
            <a:ext cx="8046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CHỨC NĂNG / KẾT QUẢ</a:t>
            </a:r>
          </a:p>
        </p:txBody>
      </p:sp>
      <p:sp xmlns:a="http://schemas.openxmlformats.org/drawingml/2006/main">
        <p:nvSpPr>
          <p:cNvPr id="37" name="TextBox 36"/>
          <p:cNvSpPr txBox="1"/>
          <p:nvPr/>
        </p:nvSpPr>
        <p:spPr>
          <a:xfrm>
            <a:off x="10287000" y="1865376"/>
            <a:ext cx="1188720" cy="256032"/>
          </a:xfrm>
          <a:prstGeom prst="rect">
            <a:avLst/>
          </a:prstGeom>
          <a:noFill/>
        </p:spPr>
        <p:txBody>
          <a:bodyPr wrap="square" lIns="0" rIns="0" tIns="0" bIns="0">
            <a:spAutoFit/>
          </a:bodyPr>
          <a:lstStyle/>
          <a:p>
            <a:pPr>
              <a:spcBef>
                <a:spcPts val="0"/>
              </a:spcBef>
              <a:spcAft>
                <a:spcPts val="500"/>
              </a:spcAft>
              <a:defRPr sz="1200" b="1">
                <a:solidFill>
                  <a:srgbClr val="52616B"/>
                </a:solidFill>
                <a:latin typeface="Arial"/>
              </a:defRPr>
            </a:pPr>
            <a:r>
              <a:t>LIÊN KẾT</a:t>
            </a:r>
          </a:p>
        </p:txBody>
      </p:sp>
      <p:sp xmlns:a="http://schemas.openxmlformats.org/drawingml/2006/main">
        <p:nvSpPr>
          <p:cNvPr id="38" name="Rectangle 37"/>
          <p:cNvSpPr/>
          <p:nvPr/>
        </p:nvSpPr>
        <p:spPr>
          <a:xfrm>
            <a:off x="694944" y="2240280"/>
            <a:ext cx="10817352" cy="822960"/>
          </a:xfrm>
          <a:prstGeom prst="rect">
            <a:avLst/>
          </a:prstGeom>
          <a:solidFill>
            <a:srgbClr val="F3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TextBox 38"/>
          <p:cNvSpPr txBox="1"/>
          <p:nvPr/>
        </p:nvSpPr>
        <p:spPr>
          <a:xfrm>
            <a:off x="822960" y="2359152"/>
            <a:ext cx="1143000" cy="429768"/>
          </a:xfrm>
          <a:prstGeom prst="rect">
            <a:avLst/>
          </a:prstGeom>
          <a:noFill/>
        </p:spPr>
        <p:txBody>
          <a:bodyPr wrap="square" lIns="0" rIns="0" tIns="0" bIns="0">
            <a:spAutoFit/>
          </a:bodyPr>
          <a:lstStyle/>
          <a:p>
            <a:pPr>
              <a:spcBef>
                <a:spcPts val="0"/>
              </a:spcBef>
              <a:spcAft>
                <a:spcPts val="500"/>
              </a:spcAft>
              <a:defRPr sz="1400" b="1">
                <a:solidFill>
                  <a:srgbClr val="C8102E"/>
                </a:solidFill>
                <a:latin typeface="Arial"/>
              </a:defRPr>
            </a:pPr>
            <a:r>
              <a:t>APP-SUP-29</a:t>
            </a:r>
          </a:p>
        </p:txBody>
      </p:sp>
      <p:sp xmlns:a="http://schemas.openxmlformats.org/drawingml/2006/main">
        <p:nvSpPr>
          <p:cNvPr id="40" name="TextBox 39"/>
          <p:cNvSpPr txBox="1"/>
          <p:nvPr/>
        </p:nvSpPr>
        <p:spPr>
          <a:xfrm>
            <a:off x="2011680" y="2331720"/>
            <a:ext cx="8028431" cy="676656"/>
          </a:xfrm>
          <a:prstGeom prst="rect">
            <a:avLst/>
          </a:prstGeom>
          <a:noFill/>
        </p:spPr>
        <p:txBody>
          <a:bodyPr wrap="square" lIns="0" rIns="0" tIns="0" bIns="0">
            <a:spAutoFit/>
          </a:bodyPr>
          <a:lstStyle/>
          <a:p>
            <a:pPr>
              <a:spcBef>
                <a:spcPts val="0"/>
              </a:spcBef>
              <a:spcAft>
                <a:spcPts val="500"/>
              </a:spcAft>
              <a:defRPr sz="1500" b="0">
                <a:solidFill>
                  <a:srgbClr val="20252B"/>
                </a:solidFill>
                <a:latin typeface="Arial"/>
              </a:defRPr>
            </a:pPr>
            <a:r>
              <a:t>Không phản hồi thì escalate, không xác nhận injured; sửa vị trí giữ evidence/audit và đánh giá lại.</a:t>
            </a:r>
          </a:p>
        </p:txBody>
      </p:sp>
      <p:sp xmlns:a="http://schemas.openxmlformats.org/drawingml/2006/main">
        <p:nvSpPr>
          <p:cNvPr id="41" name="TextBox 40"/>
          <p:cNvSpPr txBox="1"/>
          <p:nvPr/>
        </p:nvSpPr>
        <p:spPr>
          <a:xfrm>
            <a:off x="10287000" y="2350008"/>
            <a:ext cx="1051560" cy="45720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WF-27</a:t>
            </a:r>
          </a:p>
        </p:txBody>
      </p:sp>
      <p:sp xmlns:a="http://schemas.openxmlformats.org/drawingml/2006/main">
        <p:nvSpPr>
          <p:cNvPr id="42" name="TextBox 41"/>
          <p:cNvSpPr txBox="1"/>
          <p:nvPr/>
        </p:nvSpPr>
        <p:spPr>
          <a:xfrm>
            <a:off x="758952" y="5989320"/>
            <a:ext cx="10698480" cy="274320"/>
          </a:xfrm>
          <a:prstGeom prst="rect">
            <a:avLst/>
          </a:prstGeom>
          <a:noFill/>
        </p:spPr>
        <p:txBody>
          <a:bodyPr wrap="square" lIns="0" rIns="0" tIns="0" bIns="0">
            <a:spAutoFit/>
          </a:bodyPr>
          <a:lstStyle/>
          <a:p>
            <a:pPr>
              <a:spcBef>
                <a:spcPts val="0"/>
              </a:spcBef>
              <a:spcAft>
                <a:spcPts val="500"/>
              </a:spcAft>
              <a:defRPr sz="1100" b="0">
                <a:solidFill>
                  <a:srgbClr val="52616B"/>
                </a:solidFill>
                <a:latin typeface="Arial"/>
              </a:defRPr>
            </a:pPr>
            <a:r>
              <a:t>Phạm vi thiết kế đã xác định · Chi tiết điều kiện, lỗi và nghiệm thu: FRD + Screen Specifications.</a:t>
            </a:r>
          </a:p>
        </p:txBody>
      </p:sp>
    </p:spTree>
    <p:extLst>
      <p:ext uri="{BB962C8B-B14F-4D97-AF65-F5344CB8AC3E}">
        <p14:creationId xmlns:p14="http://schemas.microsoft.com/office/powerpoint/2010/main" val="1989953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AIPOWER / SmartAlarm Solution Design</dc:creator>
  <lastModifiedBy>Walnut Exporter</lastModifiedBy>
  <dc:title>SmartAlarm — Đề án giải pháp đầy đủ</dc:title>
  <dcterms:created xsi:type="dcterms:W3CDTF">2026-10-17T11:28:17.6480000Z</dcterms:created>
  <dcterms:modified xsi:type="dcterms:W3CDTF">2026-10-17T11:28:17.6490000Z</dcterms:modified>
  <dc:subject>Revision 1.0 — researched physical fire protection and rescue integration</dc:subject>
  <keywords>SmartAlarm, FireEscape, rescue, multi-hazard, all-in-one</keywords>
</coreProperties>
</file>